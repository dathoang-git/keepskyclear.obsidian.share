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87179" autoAdjust="0"/>
  </p:normalViewPr>
  <p:slideViewPr>
    <p:cSldViewPr>
      <p:cViewPr varScale="1">
        <p:scale>
          <a:sx n="58" d="100"/>
          <a:sy n="58" d="100"/>
        </p:scale>
        <p:origin x="1248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03708" y="2495804"/>
            <a:ext cx="5034280" cy="264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FB6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FB6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FB6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FB6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FB6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83481" y="403860"/>
            <a:ext cx="390652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5472" y="2105659"/>
            <a:ext cx="9536430" cy="1903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84698" y="6369444"/>
            <a:ext cx="308609" cy="264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FFB60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jp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jp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63.png"/><Relationship Id="rId12" Type="http://schemas.openxmlformats.org/officeDocument/2006/relationships/image" Target="../media/image55.png"/><Relationship Id="rId17" Type="http://schemas.openxmlformats.org/officeDocument/2006/relationships/image" Target="../media/image64.jp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1.png"/><Relationship Id="rId4" Type="http://schemas.openxmlformats.org/officeDocument/2006/relationships/image" Target="../media/image57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5.png"/><Relationship Id="rId17" Type="http://schemas.openxmlformats.org/officeDocument/2006/relationships/image" Target="../media/image65.jp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63.png"/><Relationship Id="rId17" Type="http://schemas.openxmlformats.org/officeDocument/2006/relationships/image" Target="../media/image66.jp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57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48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7.jp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57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8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6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68.png"/><Relationship Id="rId10" Type="http://schemas.openxmlformats.org/officeDocument/2006/relationships/image" Target="../media/image54.png"/><Relationship Id="rId4" Type="http://schemas.openxmlformats.org/officeDocument/2006/relationships/image" Target="../media/image57.png"/><Relationship Id="rId9" Type="http://schemas.openxmlformats.org/officeDocument/2006/relationships/image" Target="../media/image53.png"/><Relationship Id="rId1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43112" y="1992375"/>
            <a:ext cx="8155940" cy="182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60245">
              <a:lnSpc>
                <a:spcPct val="112000"/>
              </a:lnSpc>
              <a:spcBef>
                <a:spcPts val="100"/>
              </a:spcBef>
              <a:tabLst>
                <a:tab pos="5484495" algn="l"/>
              </a:tabLst>
            </a:pPr>
            <a:r>
              <a:rPr dirty="0">
                <a:solidFill>
                  <a:srgbClr val="434343"/>
                </a:solidFill>
              </a:rPr>
              <a:t>NLP</a:t>
            </a:r>
            <a:r>
              <a:rPr spc="-95" dirty="0"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Basic</a:t>
            </a:r>
            <a:r>
              <a:rPr spc="-85">
                <a:solidFill>
                  <a:srgbClr val="434343"/>
                </a:solidFill>
              </a:rPr>
              <a:t> </a:t>
            </a:r>
            <a:r>
              <a:rPr sz="5500" smtClean="0">
                <a:solidFill>
                  <a:srgbClr val="434343"/>
                </a:solidFill>
              </a:rPr>
              <a:t>Distributed</a:t>
            </a:r>
            <a:r>
              <a:rPr sz="5500" spc="-185" smtClean="0">
                <a:solidFill>
                  <a:srgbClr val="434343"/>
                </a:solidFill>
              </a:rPr>
              <a:t> </a:t>
            </a:r>
            <a:r>
              <a:rPr sz="5500" spc="-10" dirty="0">
                <a:solidFill>
                  <a:srgbClr val="434343"/>
                </a:solidFill>
              </a:rPr>
              <a:t>Representation</a:t>
            </a:r>
            <a:endParaRPr sz="5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47494" y="2280856"/>
            <a:ext cx="8128000" cy="509270"/>
            <a:chOff x="2047494" y="2280856"/>
            <a:chExt cx="8128000" cy="509270"/>
          </a:xfrm>
        </p:grpSpPr>
        <p:sp>
          <p:nvSpPr>
            <p:cNvPr id="4" name="object 4"/>
            <p:cNvSpPr/>
            <p:nvPr/>
          </p:nvSpPr>
          <p:spPr>
            <a:xfrm>
              <a:off x="2047494" y="2287206"/>
              <a:ext cx="8128000" cy="502920"/>
            </a:xfrm>
            <a:custGeom>
              <a:avLst/>
              <a:gdLst/>
              <a:ahLst/>
              <a:cxnLst/>
              <a:rect l="l" t="t" r="r" b="b"/>
              <a:pathLst>
                <a:path w="8128000" h="502919">
                  <a:moveTo>
                    <a:pt x="3168307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3168307" y="502920"/>
                  </a:lnTo>
                  <a:lnTo>
                    <a:pt x="3168307" y="0"/>
                  </a:lnTo>
                  <a:close/>
                </a:path>
                <a:path w="8128000" h="502919">
                  <a:moveTo>
                    <a:pt x="8128000" y="0"/>
                  </a:moveTo>
                  <a:lnTo>
                    <a:pt x="3168319" y="0"/>
                  </a:lnTo>
                  <a:lnTo>
                    <a:pt x="3168319" y="502920"/>
                  </a:lnTo>
                  <a:lnTo>
                    <a:pt x="8128000" y="50292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8B81D2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47494" y="2287206"/>
              <a:ext cx="8128000" cy="0"/>
            </a:xfrm>
            <a:custGeom>
              <a:avLst/>
              <a:gdLst/>
              <a:ahLst/>
              <a:cxnLst/>
              <a:rect l="l" t="t" r="r" b="b"/>
              <a:pathLst>
                <a:path w="8128000">
                  <a:moveTo>
                    <a:pt x="0" y="0"/>
                  </a:moveTo>
                  <a:lnTo>
                    <a:pt x="8128004" y="0"/>
                  </a:lnTo>
                </a:path>
              </a:pathLst>
            </a:custGeom>
            <a:ln w="12700">
              <a:solidFill>
                <a:srgbClr val="8B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047494" y="3293046"/>
            <a:ext cx="8128000" cy="509270"/>
            <a:chOff x="2047494" y="3293046"/>
            <a:chExt cx="8128000" cy="509270"/>
          </a:xfrm>
        </p:grpSpPr>
        <p:sp>
          <p:nvSpPr>
            <p:cNvPr id="7" name="object 7"/>
            <p:cNvSpPr/>
            <p:nvPr/>
          </p:nvSpPr>
          <p:spPr>
            <a:xfrm>
              <a:off x="2047494" y="3293046"/>
              <a:ext cx="8128000" cy="502920"/>
            </a:xfrm>
            <a:custGeom>
              <a:avLst/>
              <a:gdLst/>
              <a:ahLst/>
              <a:cxnLst/>
              <a:rect l="l" t="t" r="r" b="b"/>
              <a:pathLst>
                <a:path w="8128000" h="502920">
                  <a:moveTo>
                    <a:pt x="3168307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3168307" y="502920"/>
                  </a:lnTo>
                  <a:lnTo>
                    <a:pt x="3168307" y="0"/>
                  </a:lnTo>
                  <a:close/>
                </a:path>
                <a:path w="8128000" h="502920">
                  <a:moveTo>
                    <a:pt x="8128000" y="0"/>
                  </a:moveTo>
                  <a:lnTo>
                    <a:pt x="3168319" y="0"/>
                  </a:lnTo>
                  <a:lnTo>
                    <a:pt x="3168319" y="502920"/>
                  </a:lnTo>
                  <a:lnTo>
                    <a:pt x="8128000" y="50292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8B81D2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47494" y="3795967"/>
              <a:ext cx="8128000" cy="0"/>
            </a:xfrm>
            <a:custGeom>
              <a:avLst/>
              <a:gdLst/>
              <a:ahLst/>
              <a:cxnLst/>
              <a:rect l="l" t="t" r="r" b="b"/>
              <a:pathLst>
                <a:path w="8128000">
                  <a:moveTo>
                    <a:pt x="0" y="0"/>
                  </a:moveTo>
                  <a:lnTo>
                    <a:pt x="8128004" y="0"/>
                  </a:lnTo>
                </a:path>
              </a:pathLst>
            </a:custGeom>
            <a:ln w="12700">
              <a:solidFill>
                <a:srgbClr val="8B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5392" rIns="0" bIns="0" rtlCol="0">
            <a:spAutoFit/>
          </a:bodyPr>
          <a:lstStyle/>
          <a:p>
            <a:pPr marL="4681220" indent="-1761489">
              <a:lnSpc>
                <a:spcPct val="100000"/>
              </a:lnSpc>
              <a:spcBef>
                <a:spcPts val="820"/>
              </a:spcBef>
              <a:buAutoNum type="arabicPlain"/>
              <a:tabLst>
                <a:tab pos="4681220" algn="l"/>
              </a:tabLst>
            </a:pPr>
            <a:r>
              <a:rPr sz="2700" b="1" dirty="0">
                <a:latin typeface="Times New Roman"/>
                <a:cs typeface="Times New Roman"/>
              </a:rPr>
              <a:t>Distributed</a:t>
            </a:r>
            <a:r>
              <a:rPr sz="2700" b="1" spc="-7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Representation</a:t>
            </a:r>
            <a:endParaRPr sz="2700">
              <a:latin typeface="Times New Roman"/>
              <a:cs typeface="Times New Roman"/>
            </a:endParaRPr>
          </a:p>
          <a:p>
            <a:pPr marL="4681220" indent="-1761489">
              <a:lnSpc>
                <a:spcPct val="100000"/>
              </a:lnSpc>
              <a:spcBef>
                <a:spcPts val="720"/>
              </a:spcBef>
              <a:buAutoNum type="arabicPlain"/>
              <a:tabLst>
                <a:tab pos="4681220" algn="l"/>
              </a:tabLst>
            </a:pPr>
            <a:r>
              <a:rPr sz="2700" b="1" spc="-10" dirty="0">
                <a:latin typeface="Times New Roman"/>
                <a:cs typeface="Times New Roman"/>
              </a:rPr>
              <a:t>Word2Vec</a:t>
            </a:r>
            <a:endParaRPr sz="2700">
              <a:latin typeface="Times New Roman"/>
              <a:cs typeface="Times New Roman"/>
            </a:endParaRPr>
          </a:p>
          <a:p>
            <a:pPr marL="4681220" indent="-1761489">
              <a:lnSpc>
                <a:spcPct val="100000"/>
              </a:lnSpc>
              <a:spcBef>
                <a:spcPts val="720"/>
              </a:spcBef>
              <a:buAutoNum type="arabicPlain"/>
              <a:tabLst>
                <a:tab pos="4681220" algn="l"/>
              </a:tabLst>
            </a:pPr>
            <a:r>
              <a:rPr sz="2700" b="1" dirty="0">
                <a:latin typeface="Times New Roman"/>
                <a:cs typeface="Times New Roman"/>
              </a:rPr>
              <a:t>CBOW</a:t>
            </a:r>
            <a:r>
              <a:rPr sz="2700" b="1" spc="-1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-</a:t>
            </a:r>
            <a:r>
              <a:rPr sz="2700" b="1" spc="-10" dirty="0">
                <a:latin typeface="Times New Roman"/>
                <a:cs typeface="Times New Roman"/>
              </a:rPr>
              <a:t> Training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4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636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3948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3948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Text</a:t>
            </a:r>
            <a:r>
              <a:rPr sz="2700" b="1" spc="-4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Representation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0117" y="2558351"/>
            <a:ext cx="2834640" cy="3657600"/>
          </a:xfrm>
          <a:custGeom>
            <a:avLst/>
            <a:gdLst/>
            <a:ahLst/>
            <a:cxnLst/>
            <a:rect l="l" t="t" r="r" b="b"/>
            <a:pathLst>
              <a:path w="2834640" h="3657600">
                <a:moveTo>
                  <a:pt x="0" y="472448"/>
                </a:moveTo>
                <a:lnTo>
                  <a:pt x="2439" y="424143"/>
                </a:lnTo>
                <a:lnTo>
                  <a:pt x="9598" y="377233"/>
                </a:lnTo>
                <a:lnTo>
                  <a:pt x="21240" y="331956"/>
                </a:lnTo>
                <a:lnTo>
                  <a:pt x="37127" y="288550"/>
                </a:lnTo>
                <a:lnTo>
                  <a:pt x="57021" y="247251"/>
                </a:lnTo>
                <a:lnTo>
                  <a:pt x="80686" y="208297"/>
                </a:lnTo>
                <a:lnTo>
                  <a:pt x="107884" y="171927"/>
                </a:lnTo>
                <a:lnTo>
                  <a:pt x="138376" y="138376"/>
                </a:lnTo>
                <a:lnTo>
                  <a:pt x="171927" y="107884"/>
                </a:lnTo>
                <a:lnTo>
                  <a:pt x="208297" y="80686"/>
                </a:lnTo>
                <a:lnTo>
                  <a:pt x="247251" y="57021"/>
                </a:lnTo>
                <a:lnTo>
                  <a:pt x="288550" y="37127"/>
                </a:lnTo>
                <a:lnTo>
                  <a:pt x="331956" y="21240"/>
                </a:lnTo>
                <a:lnTo>
                  <a:pt x="377233" y="9598"/>
                </a:lnTo>
                <a:lnTo>
                  <a:pt x="424143" y="2439"/>
                </a:lnTo>
                <a:lnTo>
                  <a:pt x="472448" y="0"/>
                </a:lnTo>
                <a:lnTo>
                  <a:pt x="2362191" y="0"/>
                </a:lnTo>
                <a:lnTo>
                  <a:pt x="2410497" y="2439"/>
                </a:lnTo>
                <a:lnTo>
                  <a:pt x="2457407" y="9598"/>
                </a:lnTo>
                <a:lnTo>
                  <a:pt x="2502684" y="21240"/>
                </a:lnTo>
                <a:lnTo>
                  <a:pt x="2546091" y="37127"/>
                </a:lnTo>
                <a:lnTo>
                  <a:pt x="2587390" y="57021"/>
                </a:lnTo>
                <a:lnTo>
                  <a:pt x="2626344" y="80686"/>
                </a:lnTo>
                <a:lnTo>
                  <a:pt x="2662714" y="107884"/>
                </a:lnTo>
                <a:lnTo>
                  <a:pt x="2696265" y="138376"/>
                </a:lnTo>
                <a:lnTo>
                  <a:pt x="2726757" y="171927"/>
                </a:lnTo>
                <a:lnTo>
                  <a:pt x="2753955" y="208297"/>
                </a:lnTo>
                <a:lnTo>
                  <a:pt x="2777620" y="247251"/>
                </a:lnTo>
                <a:lnTo>
                  <a:pt x="2797514" y="288550"/>
                </a:lnTo>
                <a:lnTo>
                  <a:pt x="2813401" y="331956"/>
                </a:lnTo>
                <a:lnTo>
                  <a:pt x="2825043" y="377233"/>
                </a:lnTo>
                <a:lnTo>
                  <a:pt x="2832202" y="424143"/>
                </a:lnTo>
                <a:lnTo>
                  <a:pt x="2834641" y="472448"/>
                </a:lnTo>
                <a:lnTo>
                  <a:pt x="2834641" y="3185151"/>
                </a:lnTo>
                <a:lnTo>
                  <a:pt x="2832202" y="3233457"/>
                </a:lnTo>
                <a:lnTo>
                  <a:pt x="2825043" y="3280367"/>
                </a:lnTo>
                <a:lnTo>
                  <a:pt x="2813401" y="3325645"/>
                </a:lnTo>
                <a:lnTo>
                  <a:pt x="2797514" y="3369052"/>
                </a:lnTo>
                <a:lnTo>
                  <a:pt x="2777620" y="3410351"/>
                </a:lnTo>
                <a:lnTo>
                  <a:pt x="2753955" y="3449304"/>
                </a:lnTo>
                <a:lnTo>
                  <a:pt x="2726757" y="3485675"/>
                </a:lnTo>
                <a:lnTo>
                  <a:pt x="2696265" y="3519225"/>
                </a:lnTo>
                <a:lnTo>
                  <a:pt x="2662714" y="3549718"/>
                </a:lnTo>
                <a:lnTo>
                  <a:pt x="2626344" y="3576915"/>
                </a:lnTo>
                <a:lnTo>
                  <a:pt x="2587390" y="3600580"/>
                </a:lnTo>
                <a:lnTo>
                  <a:pt x="2546091" y="3620475"/>
                </a:lnTo>
                <a:lnTo>
                  <a:pt x="2502684" y="3636361"/>
                </a:lnTo>
                <a:lnTo>
                  <a:pt x="2457407" y="3648003"/>
                </a:lnTo>
                <a:lnTo>
                  <a:pt x="2410497" y="3655162"/>
                </a:lnTo>
                <a:lnTo>
                  <a:pt x="2362191" y="3657602"/>
                </a:lnTo>
                <a:lnTo>
                  <a:pt x="472448" y="3657602"/>
                </a:lnTo>
                <a:lnTo>
                  <a:pt x="424143" y="3655162"/>
                </a:lnTo>
                <a:lnTo>
                  <a:pt x="377233" y="3648003"/>
                </a:lnTo>
                <a:lnTo>
                  <a:pt x="331956" y="3636361"/>
                </a:lnTo>
                <a:lnTo>
                  <a:pt x="288550" y="3620475"/>
                </a:lnTo>
                <a:lnTo>
                  <a:pt x="247251" y="3600580"/>
                </a:lnTo>
                <a:lnTo>
                  <a:pt x="208297" y="3576915"/>
                </a:lnTo>
                <a:lnTo>
                  <a:pt x="171927" y="3549718"/>
                </a:lnTo>
                <a:lnTo>
                  <a:pt x="138376" y="3519225"/>
                </a:lnTo>
                <a:lnTo>
                  <a:pt x="107884" y="3485675"/>
                </a:lnTo>
                <a:lnTo>
                  <a:pt x="80686" y="3449304"/>
                </a:lnTo>
                <a:lnTo>
                  <a:pt x="57021" y="3410351"/>
                </a:lnTo>
                <a:lnTo>
                  <a:pt x="37127" y="3369052"/>
                </a:lnTo>
                <a:lnTo>
                  <a:pt x="21240" y="3325645"/>
                </a:lnTo>
                <a:lnTo>
                  <a:pt x="9598" y="3280367"/>
                </a:lnTo>
                <a:lnTo>
                  <a:pt x="2439" y="3233457"/>
                </a:lnTo>
                <a:lnTo>
                  <a:pt x="0" y="3185151"/>
                </a:lnTo>
                <a:lnTo>
                  <a:pt x="0" y="472448"/>
                </a:lnTo>
                <a:close/>
              </a:path>
            </a:pathLst>
          </a:custGeom>
          <a:ln w="25400">
            <a:solidFill>
              <a:srgbClr val="D8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6446" y="2717799"/>
            <a:ext cx="230124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95580">
              <a:lnSpc>
                <a:spcPct val="101099"/>
              </a:lnSpc>
              <a:spcBef>
                <a:spcPts val="75"/>
              </a:spcBef>
            </a:pPr>
            <a:r>
              <a:rPr sz="1900" b="1" dirty="0">
                <a:latin typeface="Times New Roman"/>
                <a:cs typeface="Times New Roman"/>
              </a:rPr>
              <a:t>Natural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Language </a:t>
            </a:r>
            <a:r>
              <a:rPr sz="1900" b="1" dirty="0">
                <a:latin typeface="Times New Roman"/>
                <a:cs typeface="Times New Roman"/>
              </a:rPr>
              <a:t>Understanding</a:t>
            </a:r>
            <a:r>
              <a:rPr sz="1900" b="1" spc="-95" dirty="0">
                <a:latin typeface="Times New Roman"/>
                <a:cs typeface="Times New Roman"/>
              </a:rPr>
              <a:t> </a:t>
            </a:r>
            <a:r>
              <a:rPr sz="1900" b="1" spc="-20" dirty="0">
                <a:latin typeface="Times New Roman"/>
                <a:cs typeface="Times New Roman"/>
              </a:rPr>
              <a:t>(NLU)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8008" y="3592576"/>
            <a:ext cx="219900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06045" marR="5080" indent="-939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computer’s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ability</a:t>
            </a:r>
            <a:r>
              <a:rPr sz="1900" spc="-25" dirty="0">
                <a:latin typeface="Times New Roman"/>
                <a:cs typeface="Times New Roman"/>
              </a:rPr>
              <a:t> to </a:t>
            </a:r>
            <a:r>
              <a:rPr sz="1900" dirty="0">
                <a:latin typeface="Times New Roman"/>
                <a:cs typeface="Times New Roman"/>
              </a:rPr>
              <a:t>understand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language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7234" y="4458207"/>
            <a:ext cx="1575435" cy="147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1900" spc="-10" dirty="0">
                <a:latin typeface="Times New Roman"/>
                <a:cs typeface="Times New Roman"/>
              </a:rPr>
              <a:t>Syntax</a:t>
            </a:r>
            <a:endParaRPr sz="19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1900" spc="-10" dirty="0">
                <a:latin typeface="Times New Roman"/>
                <a:cs typeface="Times New Roman"/>
              </a:rPr>
              <a:t>Semantics</a:t>
            </a:r>
            <a:endParaRPr sz="19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Wingdings"/>
              <a:buChar char=""/>
              <a:tabLst>
                <a:tab pos="354965" algn="l"/>
              </a:tabLst>
            </a:pPr>
            <a:r>
              <a:rPr sz="1900" spc="-10" dirty="0">
                <a:latin typeface="Times New Roman"/>
                <a:cs typeface="Times New Roman"/>
              </a:rPr>
              <a:t>Phonology</a:t>
            </a:r>
            <a:endParaRPr sz="1900">
              <a:latin typeface="Times New Roman"/>
              <a:cs typeface="Times New Roman"/>
            </a:endParaRPr>
          </a:p>
          <a:p>
            <a:pPr marL="354965" indent="-342265">
              <a:lnSpc>
                <a:spcPts val="2245"/>
              </a:lnSpc>
              <a:spcBef>
                <a:spcPts val="20"/>
              </a:spcBef>
              <a:buFont typeface="Wingdings"/>
              <a:buChar char=""/>
              <a:tabLst>
                <a:tab pos="354965" algn="l"/>
              </a:tabLst>
            </a:pPr>
            <a:r>
              <a:rPr sz="1900" spc="-10" dirty="0">
                <a:latin typeface="Times New Roman"/>
                <a:cs typeface="Times New Roman"/>
              </a:rPr>
              <a:t>Pragmatics</a:t>
            </a:r>
            <a:endParaRPr sz="1900">
              <a:latin typeface="Times New Roman"/>
              <a:cs typeface="Times New Roman"/>
            </a:endParaRPr>
          </a:p>
          <a:p>
            <a:pPr marL="354965" indent="-342265">
              <a:lnSpc>
                <a:spcPts val="2245"/>
              </a:lnSpc>
              <a:buFont typeface="Wingdings"/>
              <a:buChar char=""/>
              <a:tabLst>
                <a:tab pos="354965" algn="l"/>
              </a:tabLst>
            </a:pPr>
            <a:r>
              <a:rPr sz="1900" spc="-10" dirty="0">
                <a:latin typeface="Times New Roman"/>
                <a:cs typeface="Times New Roman"/>
              </a:rPr>
              <a:t>Morphology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57247" y="2558351"/>
            <a:ext cx="2834640" cy="3657600"/>
          </a:xfrm>
          <a:custGeom>
            <a:avLst/>
            <a:gdLst/>
            <a:ahLst/>
            <a:cxnLst/>
            <a:rect l="l" t="t" r="r" b="b"/>
            <a:pathLst>
              <a:path w="2834640" h="3657600">
                <a:moveTo>
                  <a:pt x="0" y="472448"/>
                </a:moveTo>
                <a:lnTo>
                  <a:pt x="2439" y="424143"/>
                </a:lnTo>
                <a:lnTo>
                  <a:pt x="9598" y="377233"/>
                </a:lnTo>
                <a:lnTo>
                  <a:pt x="21240" y="331956"/>
                </a:lnTo>
                <a:lnTo>
                  <a:pt x="37127" y="288550"/>
                </a:lnTo>
                <a:lnTo>
                  <a:pt x="57021" y="247251"/>
                </a:lnTo>
                <a:lnTo>
                  <a:pt x="80686" y="208297"/>
                </a:lnTo>
                <a:lnTo>
                  <a:pt x="107884" y="171927"/>
                </a:lnTo>
                <a:lnTo>
                  <a:pt x="138376" y="138376"/>
                </a:lnTo>
                <a:lnTo>
                  <a:pt x="171927" y="107884"/>
                </a:lnTo>
                <a:lnTo>
                  <a:pt x="208297" y="80686"/>
                </a:lnTo>
                <a:lnTo>
                  <a:pt x="247251" y="57021"/>
                </a:lnTo>
                <a:lnTo>
                  <a:pt x="288550" y="37127"/>
                </a:lnTo>
                <a:lnTo>
                  <a:pt x="331956" y="21240"/>
                </a:lnTo>
                <a:lnTo>
                  <a:pt x="377233" y="9598"/>
                </a:lnTo>
                <a:lnTo>
                  <a:pt x="424143" y="2439"/>
                </a:lnTo>
                <a:lnTo>
                  <a:pt x="472448" y="0"/>
                </a:lnTo>
                <a:lnTo>
                  <a:pt x="2362191" y="0"/>
                </a:lnTo>
                <a:lnTo>
                  <a:pt x="2410497" y="2439"/>
                </a:lnTo>
                <a:lnTo>
                  <a:pt x="2457407" y="9598"/>
                </a:lnTo>
                <a:lnTo>
                  <a:pt x="2502684" y="21240"/>
                </a:lnTo>
                <a:lnTo>
                  <a:pt x="2546091" y="37127"/>
                </a:lnTo>
                <a:lnTo>
                  <a:pt x="2587390" y="57021"/>
                </a:lnTo>
                <a:lnTo>
                  <a:pt x="2626344" y="80686"/>
                </a:lnTo>
                <a:lnTo>
                  <a:pt x="2662714" y="107884"/>
                </a:lnTo>
                <a:lnTo>
                  <a:pt x="2696265" y="138376"/>
                </a:lnTo>
                <a:lnTo>
                  <a:pt x="2726757" y="171927"/>
                </a:lnTo>
                <a:lnTo>
                  <a:pt x="2753955" y="208297"/>
                </a:lnTo>
                <a:lnTo>
                  <a:pt x="2777620" y="247251"/>
                </a:lnTo>
                <a:lnTo>
                  <a:pt x="2797514" y="288550"/>
                </a:lnTo>
                <a:lnTo>
                  <a:pt x="2813401" y="331956"/>
                </a:lnTo>
                <a:lnTo>
                  <a:pt x="2825043" y="377233"/>
                </a:lnTo>
                <a:lnTo>
                  <a:pt x="2832202" y="424143"/>
                </a:lnTo>
                <a:lnTo>
                  <a:pt x="2834641" y="472448"/>
                </a:lnTo>
                <a:lnTo>
                  <a:pt x="2834641" y="3185151"/>
                </a:lnTo>
                <a:lnTo>
                  <a:pt x="2832202" y="3233457"/>
                </a:lnTo>
                <a:lnTo>
                  <a:pt x="2825043" y="3280367"/>
                </a:lnTo>
                <a:lnTo>
                  <a:pt x="2813401" y="3325645"/>
                </a:lnTo>
                <a:lnTo>
                  <a:pt x="2797514" y="3369052"/>
                </a:lnTo>
                <a:lnTo>
                  <a:pt x="2777620" y="3410351"/>
                </a:lnTo>
                <a:lnTo>
                  <a:pt x="2753955" y="3449304"/>
                </a:lnTo>
                <a:lnTo>
                  <a:pt x="2726757" y="3485675"/>
                </a:lnTo>
                <a:lnTo>
                  <a:pt x="2696265" y="3519225"/>
                </a:lnTo>
                <a:lnTo>
                  <a:pt x="2662714" y="3549718"/>
                </a:lnTo>
                <a:lnTo>
                  <a:pt x="2626344" y="3576915"/>
                </a:lnTo>
                <a:lnTo>
                  <a:pt x="2587390" y="3600580"/>
                </a:lnTo>
                <a:lnTo>
                  <a:pt x="2546091" y="3620475"/>
                </a:lnTo>
                <a:lnTo>
                  <a:pt x="2502684" y="3636361"/>
                </a:lnTo>
                <a:lnTo>
                  <a:pt x="2457407" y="3648003"/>
                </a:lnTo>
                <a:lnTo>
                  <a:pt x="2410497" y="3655162"/>
                </a:lnTo>
                <a:lnTo>
                  <a:pt x="2362191" y="3657602"/>
                </a:lnTo>
                <a:lnTo>
                  <a:pt x="472448" y="3657602"/>
                </a:lnTo>
                <a:lnTo>
                  <a:pt x="424143" y="3655162"/>
                </a:lnTo>
                <a:lnTo>
                  <a:pt x="377233" y="3648003"/>
                </a:lnTo>
                <a:lnTo>
                  <a:pt x="331956" y="3636361"/>
                </a:lnTo>
                <a:lnTo>
                  <a:pt x="288550" y="3620475"/>
                </a:lnTo>
                <a:lnTo>
                  <a:pt x="247251" y="3600580"/>
                </a:lnTo>
                <a:lnTo>
                  <a:pt x="208297" y="3576915"/>
                </a:lnTo>
                <a:lnTo>
                  <a:pt x="171927" y="3549718"/>
                </a:lnTo>
                <a:lnTo>
                  <a:pt x="138376" y="3519225"/>
                </a:lnTo>
                <a:lnTo>
                  <a:pt x="107884" y="3485675"/>
                </a:lnTo>
                <a:lnTo>
                  <a:pt x="80686" y="3449304"/>
                </a:lnTo>
                <a:lnTo>
                  <a:pt x="57021" y="3410351"/>
                </a:lnTo>
                <a:lnTo>
                  <a:pt x="37127" y="3369052"/>
                </a:lnTo>
                <a:lnTo>
                  <a:pt x="21240" y="3325645"/>
                </a:lnTo>
                <a:lnTo>
                  <a:pt x="9598" y="3280367"/>
                </a:lnTo>
                <a:lnTo>
                  <a:pt x="2439" y="3233457"/>
                </a:lnTo>
                <a:lnTo>
                  <a:pt x="0" y="3185151"/>
                </a:lnTo>
                <a:lnTo>
                  <a:pt x="0" y="472448"/>
                </a:lnTo>
                <a:close/>
              </a:path>
            </a:pathLst>
          </a:custGeom>
          <a:ln w="25400">
            <a:solidFill>
              <a:srgbClr val="D8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906979" y="2717799"/>
            <a:ext cx="193484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2700">
              <a:lnSpc>
                <a:spcPct val="101099"/>
              </a:lnSpc>
              <a:spcBef>
                <a:spcPts val="75"/>
              </a:spcBef>
            </a:pPr>
            <a:r>
              <a:rPr sz="1900" b="1" dirty="0">
                <a:latin typeface="Times New Roman"/>
                <a:cs typeface="Times New Roman"/>
              </a:rPr>
              <a:t>Natural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Language </a:t>
            </a:r>
            <a:r>
              <a:rPr sz="1900" b="1" dirty="0">
                <a:latin typeface="Times New Roman"/>
                <a:cs typeface="Times New Roman"/>
              </a:rPr>
              <a:t>Generation</a:t>
            </a:r>
            <a:r>
              <a:rPr sz="1900" b="1" spc="-85" dirty="0">
                <a:latin typeface="Times New Roman"/>
                <a:cs typeface="Times New Roman"/>
              </a:rPr>
              <a:t> </a:t>
            </a:r>
            <a:r>
              <a:rPr sz="1900" b="1" spc="-20" dirty="0">
                <a:latin typeface="Times New Roman"/>
                <a:cs typeface="Times New Roman"/>
              </a:rPr>
              <a:t>(NLG)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08542" y="3592576"/>
            <a:ext cx="233172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381635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Times New Roman"/>
                <a:cs typeface="Times New Roman"/>
              </a:rPr>
              <a:t>generate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natural </a:t>
            </a:r>
            <a:r>
              <a:rPr sz="1900" dirty="0">
                <a:latin typeface="Times New Roman"/>
                <a:cs typeface="Times New Roman"/>
              </a:rPr>
              <a:t>language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computer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9160" y="2767583"/>
            <a:ext cx="10393680" cy="3306445"/>
            <a:chOff x="899160" y="2767583"/>
            <a:chExt cx="10393680" cy="33064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160" y="3401567"/>
              <a:ext cx="2840736" cy="1066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41673" y="3434943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1" y="1"/>
                  </a:lnTo>
                </a:path>
              </a:pathLst>
            </a:custGeom>
            <a:ln w="25400">
              <a:solidFill>
                <a:srgbClr val="D8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5152" y="3386327"/>
              <a:ext cx="2837688" cy="10972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496566" y="3421621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1" y="1"/>
                  </a:lnTo>
                </a:path>
              </a:pathLst>
            </a:custGeom>
            <a:ln w="25400">
              <a:solidFill>
                <a:srgbClr val="D8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2939" y="4240275"/>
              <a:ext cx="1268361" cy="8481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35097" y="4284903"/>
              <a:ext cx="1788972" cy="17889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15839" y="2776727"/>
              <a:ext cx="2560319" cy="5212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9031" y="2767583"/>
              <a:ext cx="1773936" cy="61569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877549" y="2818396"/>
            <a:ext cx="2437130" cy="400685"/>
          </a:xfrm>
          <a:prstGeom prst="rect">
            <a:avLst/>
          </a:prstGeom>
          <a:solidFill>
            <a:srgbClr val="8B81D2"/>
          </a:solidFill>
          <a:ln w="381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24510">
              <a:lnSpc>
                <a:spcPct val="100000"/>
              </a:lnSpc>
              <a:spcBef>
                <a:spcPts val="26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go to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school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64849" y="4681067"/>
            <a:ext cx="2462530" cy="426084"/>
            <a:chOff x="4864849" y="4681067"/>
            <a:chExt cx="2462530" cy="426084"/>
          </a:xfrm>
        </p:grpSpPr>
        <p:sp>
          <p:nvSpPr>
            <p:cNvPr id="22" name="object 22"/>
            <p:cNvSpPr/>
            <p:nvPr/>
          </p:nvSpPr>
          <p:spPr>
            <a:xfrm>
              <a:off x="4877549" y="4693767"/>
              <a:ext cx="2437130" cy="400685"/>
            </a:xfrm>
            <a:custGeom>
              <a:avLst/>
              <a:gdLst/>
              <a:ahLst/>
              <a:cxnLst/>
              <a:rect l="l" t="t" r="r" b="b"/>
              <a:pathLst>
                <a:path w="2437129" h="400685">
                  <a:moveTo>
                    <a:pt x="2436901" y="0"/>
                  </a:moveTo>
                  <a:lnTo>
                    <a:pt x="0" y="0"/>
                  </a:lnTo>
                  <a:lnTo>
                    <a:pt x="0" y="400113"/>
                  </a:lnTo>
                  <a:lnTo>
                    <a:pt x="2436901" y="400113"/>
                  </a:lnTo>
                  <a:lnTo>
                    <a:pt x="2436901" y="0"/>
                  </a:lnTo>
                  <a:close/>
                </a:path>
              </a:pathLst>
            </a:custGeom>
            <a:solidFill>
              <a:srgbClr val="D8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77549" y="4693767"/>
              <a:ext cx="2437130" cy="400685"/>
            </a:xfrm>
            <a:custGeom>
              <a:avLst/>
              <a:gdLst/>
              <a:ahLst/>
              <a:cxnLst/>
              <a:rect l="l" t="t" r="r" b="b"/>
              <a:pathLst>
                <a:path w="2437129" h="400685">
                  <a:moveTo>
                    <a:pt x="0" y="0"/>
                  </a:moveTo>
                  <a:lnTo>
                    <a:pt x="2436901" y="0"/>
                  </a:lnTo>
                  <a:lnTo>
                    <a:pt x="2436901" y="400110"/>
                  </a:lnTo>
                  <a:lnTo>
                    <a:pt x="0" y="40011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9E74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41912" y="4713732"/>
            <a:ext cx="1908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[0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0 0 0 1 0 1 0 1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17976" y="3197351"/>
            <a:ext cx="4956175" cy="1771014"/>
            <a:chOff x="3617976" y="3197351"/>
            <a:chExt cx="4956175" cy="1771014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77127" y="3197351"/>
              <a:ext cx="237744" cy="163372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057900" y="3218497"/>
              <a:ext cx="76200" cy="1475740"/>
            </a:xfrm>
            <a:custGeom>
              <a:avLst/>
              <a:gdLst/>
              <a:ahLst/>
              <a:cxnLst/>
              <a:rect l="l" t="t" r="r" b="b"/>
              <a:pathLst>
                <a:path w="76200" h="1475739">
                  <a:moveTo>
                    <a:pt x="25400" y="1399070"/>
                  </a:moveTo>
                  <a:lnTo>
                    <a:pt x="0" y="1399070"/>
                  </a:lnTo>
                  <a:lnTo>
                    <a:pt x="38100" y="1475270"/>
                  </a:lnTo>
                  <a:lnTo>
                    <a:pt x="69850" y="1411770"/>
                  </a:lnTo>
                  <a:lnTo>
                    <a:pt x="25400" y="1411770"/>
                  </a:lnTo>
                  <a:lnTo>
                    <a:pt x="25400" y="1399070"/>
                  </a:lnTo>
                  <a:close/>
                </a:path>
                <a:path w="76200" h="1475739">
                  <a:moveTo>
                    <a:pt x="50800" y="0"/>
                  </a:moveTo>
                  <a:lnTo>
                    <a:pt x="25400" y="0"/>
                  </a:lnTo>
                  <a:lnTo>
                    <a:pt x="25400" y="1411770"/>
                  </a:lnTo>
                  <a:lnTo>
                    <a:pt x="50800" y="1411770"/>
                  </a:lnTo>
                  <a:lnTo>
                    <a:pt x="50800" y="0"/>
                  </a:lnTo>
                  <a:close/>
                </a:path>
                <a:path w="76200" h="1475739">
                  <a:moveTo>
                    <a:pt x="76200" y="1399070"/>
                  </a:moveTo>
                  <a:lnTo>
                    <a:pt x="50800" y="1399070"/>
                  </a:lnTo>
                  <a:lnTo>
                    <a:pt x="50800" y="1411770"/>
                  </a:lnTo>
                  <a:lnTo>
                    <a:pt x="69850" y="1411770"/>
                  </a:lnTo>
                  <a:lnTo>
                    <a:pt x="76200" y="1399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17976" y="4288535"/>
              <a:ext cx="1307591" cy="67970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34752" y="4383201"/>
              <a:ext cx="1148080" cy="522605"/>
            </a:xfrm>
            <a:custGeom>
              <a:avLst/>
              <a:gdLst/>
              <a:ahLst/>
              <a:cxnLst/>
              <a:rect l="l" t="t" r="r" b="b"/>
              <a:pathLst>
                <a:path w="1148079" h="522604">
                  <a:moveTo>
                    <a:pt x="74812" y="23217"/>
                  </a:moveTo>
                  <a:lnTo>
                    <a:pt x="64516" y="46447"/>
                  </a:lnTo>
                  <a:lnTo>
                    <a:pt x="1137653" y="522236"/>
                  </a:lnTo>
                  <a:lnTo>
                    <a:pt x="1147940" y="499021"/>
                  </a:lnTo>
                  <a:lnTo>
                    <a:pt x="74812" y="23217"/>
                  </a:lnTo>
                  <a:close/>
                </a:path>
                <a:path w="1148079" h="522604">
                  <a:moveTo>
                    <a:pt x="85102" y="0"/>
                  </a:moveTo>
                  <a:lnTo>
                    <a:pt x="0" y="3949"/>
                  </a:lnTo>
                  <a:lnTo>
                    <a:pt x="54229" y="69659"/>
                  </a:lnTo>
                  <a:lnTo>
                    <a:pt x="64516" y="46447"/>
                  </a:lnTo>
                  <a:lnTo>
                    <a:pt x="52908" y="41300"/>
                  </a:lnTo>
                  <a:lnTo>
                    <a:pt x="63207" y="18072"/>
                  </a:lnTo>
                  <a:lnTo>
                    <a:pt x="77092" y="18072"/>
                  </a:lnTo>
                  <a:lnTo>
                    <a:pt x="85102" y="0"/>
                  </a:lnTo>
                  <a:close/>
                </a:path>
                <a:path w="1148079" h="522604">
                  <a:moveTo>
                    <a:pt x="63207" y="18072"/>
                  </a:moveTo>
                  <a:lnTo>
                    <a:pt x="52908" y="41300"/>
                  </a:lnTo>
                  <a:lnTo>
                    <a:pt x="64516" y="46447"/>
                  </a:lnTo>
                  <a:lnTo>
                    <a:pt x="74812" y="23217"/>
                  </a:lnTo>
                  <a:lnTo>
                    <a:pt x="63207" y="18072"/>
                  </a:lnTo>
                  <a:close/>
                </a:path>
                <a:path w="1148079" h="522604">
                  <a:moveTo>
                    <a:pt x="77092" y="18072"/>
                  </a:moveTo>
                  <a:lnTo>
                    <a:pt x="63207" y="18072"/>
                  </a:lnTo>
                  <a:lnTo>
                    <a:pt x="74812" y="23217"/>
                  </a:lnTo>
                  <a:lnTo>
                    <a:pt x="77092" y="18072"/>
                  </a:lnTo>
                  <a:close/>
                </a:path>
              </a:pathLst>
            </a:custGeom>
            <a:solidFill>
              <a:srgbClr val="D8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66432" y="4288535"/>
              <a:ext cx="1307592" cy="67970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309307" y="4383201"/>
              <a:ext cx="1148080" cy="522605"/>
            </a:xfrm>
            <a:custGeom>
              <a:avLst/>
              <a:gdLst/>
              <a:ahLst/>
              <a:cxnLst/>
              <a:rect l="l" t="t" r="r" b="b"/>
              <a:pathLst>
                <a:path w="1148079" h="522604">
                  <a:moveTo>
                    <a:pt x="1073127" y="23217"/>
                  </a:moveTo>
                  <a:lnTo>
                    <a:pt x="0" y="499021"/>
                  </a:lnTo>
                  <a:lnTo>
                    <a:pt x="10287" y="522236"/>
                  </a:lnTo>
                  <a:lnTo>
                    <a:pt x="1083423" y="46447"/>
                  </a:lnTo>
                  <a:lnTo>
                    <a:pt x="1073127" y="23217"/>
                  </a:lnTo>
                  <a:close/>
                </a:path>
                <a:path w="1148079" h="522604">
                  <a:moveTo>
                    <a:pt x="1136285" y="18072"/>
                  </a:moveTo>
                  <a:lnTo>
                    <a:pt x="1084732" y="18072"/>
                  </a:lnTo>
                  <a:lnTo>
                    <a:pt x="1095032" y="41300"/>
                  </a:lnTo>
                  <a:lnTo>
                    <a:pt x="1083423" y="46447"/>
                  </a:lnTo>
                  <a:lnTo>
                    <a:pt x="1093711" y="69659"/>
                  </a:lnTo>
                  <a:lnTo>
                    <a:pt x="1136285" y="18072"/>
                  </a:lnTo>
                  <a:close/>
                </a:path>
                <a:path w="1148079" h="522604">
                  <a:moveTo>
                    <a:pt x="1084732" y="18072"/>
                  </a:moveTo>
                  <a:lnTo>
                    <a:pt x="1073127" y="23217"/>
                  </a:lnTo>
                  <a:lnTo>
                    <a:pt x="1083423" y="46447"/>
                  </a:lnTo>
                  <a:lnTo>
                    <a:pt x="1095032" y="41300"/>
                  </a:lnTo>
                  <a:lnTo>
                    <a:pt x="1084732" y="18072"/>
                  </a:lnTo>
                  <a:close/>
                </a:path>
                <a:path w="1148079" h="522604">
                  <a:moveTo>
                    <a:pt x="1062837" y="0"/>
                  </a:moveTo>
                  <a:lnTo>
                    <a:pt x="1073127" y="23217"/>
                  </a:lnTo>
                  <a:lnTo>
                    <a:pt x="1084732" y="18072"/>
                  </a:lnTo>
                  <a:lnTo>
                    <a:pt x="1136285" y="18072"/>
                  </a:lnTo>
                  <a:lnTo>
                    <a:pt x="1147940" y="3949"/>
                  </a:lnTo>
                  <a:lnTo>
                    <a:pt x="1062837" y="0"/>
                  </a:lnTo>
                  <a:close/>
                </a:path>
              </a:pathLst>
            </a:custGeom>
            <a:solidFill>
              <a:srgbClr val="D8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221285" y="3774948"/>
            <a:ext cx="843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Convert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63882" y="5323471"/>
            <a:ext cx="1064234" cy="845572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4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3672204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3672204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Review:</a:t>
            </a:r>
            <a:r>
              <a:rPr sz="2700" b="1" spc="-45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Basic</a:t>
            </a:r>
            <a:r>
              <a:rPr sz="2700" b="1" spc="-45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Representation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468" y="2050796"/>
            <a:ext cx="4638675" cy="190944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4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One-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hot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encoding,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BOW,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 TF-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IDF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4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Sparse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Representation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Not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capture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meaning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OOV</a:t>
            </a:r>
            <a:r>
              <a:rPr sz="2400" spc="-5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Problem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1781" y="2828300"/>
            <a:ext cx="5367245" cy="27439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4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469" y="1538732"/>
            <a:ext cx="8260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Distributional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Similarity: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meaning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of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defined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by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context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469" y="3407155"/>
            <a:ext cx="80619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Distributional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Hypothesis: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similar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context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=&gt;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similar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meaning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4951" y="2115311"/>
            <a:ext cx="6102350" cy="1201420"/>
            <a:chOff x="3044951" y="2115311"/>
            <a:chExt cx="6102350" cy="12014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4951" y="2136647"/>
              <a:ext cx="6102096" cy="1066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0671" y="2115311"/>
              <a:ext cx="6010656" cy="12009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2246" y="2164080"/>
              <a:ext cx="6007506" cy="9733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092246" y="2164079"/>
            <a:ext cx="6007735" cy="97345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ts val="3215"/>
              </a:lnSpc>
              <a:spcBef>
                <a:spcPts val="490"/>
              </a:spcBef>
            </a:pPr>
            <a:r>
              <a:rPr sz="2700" dirty="0">
                <a:latin typeface="Times New Roman"/>
                <a:cs typeface="Times New Roman"/>
              </a:rPr>
              <a:t>Mùa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xuân</a:t>
            </a:r>
            <a:r>
              <a:rPr sz="2700" b="1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là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tết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trồng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cây</a:t>
            </a: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ts val="3215"/>
              </a:lnSpc>
            </a:pPr>
            <a:r>
              <a:rPr sz="2700" dirty="0">
                <a:latin typeface="Times New Roman"/>
                <a:cs typeface="Times New Roman"/>
              </a:rPr>
              <a:t>Làm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cho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đất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nước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càng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ngày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càng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b="1" spc="-20" dirty="0">
                <a:latin typeface="Times New Roman"/>
                <a:cs typeface="Times New Roman"/>
              </a:rPr>
              <a:t>xuân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44951" y="4047744"/>
            <a:ext cx="6102350" cy="1201420"/>
            <a:chOff x="3044951" y="4047744"/>
            <a:chExt cx="6102350" cy="120142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4951" y="4072128"/>
              <a:ext cx="6102096" cy="10637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5343" y="4047744"/>
              <a:ext cx="4401311" cy="12009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2246" y="4096994"/>
              <a:ext cx="6007506" cy="97339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092246" y="4096994"/>
            <a:ext cx="6007735" cy="97345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124585" marR="1040765" indent="-76200">
              <a:lnSpc>
                <a:spcPts val="3220"/>
              </a:lnSpc>
              <a:spcBef>
                <a:spcPts val="610"/>
              </a:spcBef>
            </a:pPr>
            <a:r>
              <a:rPr sz="2700" dirty="0">
                <a:latin typeface="Times New Roman"/>
                <a:cs typeface="Times New Roman"/>
              </a:rPr>
              <a:t>Hai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cha</a:t>
            </a:r>
            <a:r>
              <a:rPr sz="2700" b="1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bước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đi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trên</a:t>
            </a:r>
            <a:r>
              <a:rPr sz="2700" spc="-25" dirty="0">
                <a:latin typeface="Times New Roman"/>
                <a:cs typeface="Times New Roman"/>
              </a:rPr>
              <a:t> cát </a:t>
            </a:r>
            <a:r>
              <a:rPr sz="2700" dirty="0">
                <a:latin typeface="Times New Roman"/>
                <a:cs typeface="Times New Roman"/>
              </a:rPr>
              <a:t>Hai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bố</a:t>
            </a:r>
            <a:r>
              <a:rPr sz="2700" b="1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bước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đi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trên</a:t>
            </a:r>
            <a:r>
              <a:rPr sz="2700" spc="-25" dirty="0">
                <a:latin typeface="Times New Roman"/>
                <a:cs typeface="Times New Roman"/>
              </a:rPr>
              <a:t> cát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4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469" y="1435100"/>
            <a:ext cx="10351135" cy="14338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Distributional</a:t>
            </a:r>
            <a:r>
              <a:rPr sz="2400" spc="-5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Representation: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dense</a:t>
            </a:r>
            <a:r>
              <a:rPr sz="2400" spc="-5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vectors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(low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dimensional,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hardly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any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zeros)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Embedding: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map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words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into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distributed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representation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space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Vector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Semantics: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based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on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distributional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properties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of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words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large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corpus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853" y="3520659"/>
            <a:ext cx="4780912" cy="22491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9158" y="3484308"/>
            <a:ext cx="4737636" cy="22866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4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469" y="1435100"/>
            <a:ext cx="7410450" cy="14338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Based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on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neural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network: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Word2Vec,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Glove,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Fasttext,…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Word2Vec:</a:t>
            </a:r>
            <a:r>
              <a:rPr sz="24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embedding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dimension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(50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–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100)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Capture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analogy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relationships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4538" y="3042147"/>
            <a:ext cx="4264699" cy="34021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00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5250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5250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Embedding</a:t>
            </a:r>
            <a:r>
              <a:rPr sz="2700" b="1" spc="-65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Layer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169" y="2249077"/>
            <a:ext cx="4001082" cy="33502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5226" y="2303434"/>
            <a:ext cx="4684140" cy="38654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00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5250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5250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Embedding</a:t>
            </a:r>
            <a:r>
              <a:rPr sz="2700" b="1" spc="-65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Layer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18616" y="3468623"/>
            <a:ext cx="2441575" cy="728980"/>
            <a:chOff x="1118616" y="3468623"/>
            <a:chExt cx="2441575" cy="7289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8616" y="3468623"/>
              <a:ext cx="2441448" cy="6979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9888" y="3505199"/>
              <a:ext cx="1895856" cy="6918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4732" y="3495992"/>
              <a:ext cx="2348405" cy="6055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64732" y="3495992"/>
              <a:ext cx="2348865" cy="605790"/>
            </a:xfrm>
            <a:custGeom>
              <a:avLst/>
              <a:gdLst/>
              <a:ahLst/>
              <a:cxnLst/>
              <a:rect l="l" t="t" r="r" b="b"/>
              <a:pathLst>
                <a:path w="2348865" h="605789">
                  <a:moveTo>
                    <a:pt x="0" y="0"/>
                  </a:moveTo>
                  <a:lnTo>
                    <a:pt x="2348401" y="0"/>
                  </a:lnTo>
                  <a:lnTo>
                    <a:pt x="2348401" y="605550"/>
                  </a:lnTo>
                  <a:lnTo>
                    <a:pt x="0" y="6055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3A5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6664" y="3604259"/>
              <a:ext cx="1764664" cy="416559"/>
            </a:xfrm>
            <a:custGeom>
              <a:avLst/>
              <a:gdLst/>
              <a:ahLst/>
              <a:cxnLst/>
              <a:rect l="l" t="t" r="r" b="b"/>
              <a:pathLst>
                <a:path w="1764664" h="416560">
                  <a:moveTo>
                    <a:pt x="5902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405130"/>
                  </a:lnTo>
                  <a:lnTo>
                    <a:pt x="0" y="416560"/>
                  </a:lnTo>
                  <a:lnTo>
                    <a:pt x="59029" y="416560"/>
                  </a:lnTo>
                  <a:lnTo>
                    <a:pt x="59029" y="405130"/>
                  </a:lnTo>
                  <a:lnTo>
                    <a:pt x="22948" y="405130"/>
                  </a:lnTo>
                  <a:lnTo>
                    <a:pt x="22948" y="10160"/>
                  </a:lnTo>
                  <a:lnTo>
                    <a:pt x="59029" y="10160"/>
                  </a:lnTo>
                  <a:lnTo>
                    <a:pt x="59029" y="0"/>
                  </a:lnTo>
                  <a:close/>
                </a:path>
                <a:path w="1764664" h="416560">
                  <a:moveTo>
                    <a:pt x="1764360" y="0"/>
                  </a:moveTo>
                  <a:lnTo>
                    <a:pt x="1705330" y="0"/>
                  </a:lnTo>
                  <a:lnTo>
                    <a:pt x="1705330" y="10160"/>
                  </a:lnTo>
                  <a:lnTo>
                    <a:pt x="1741411" y="10160"/>
                  </a:lnTo>
                  <a:lnTo>
                    <a:pt x="1741411" y="405130"/>
                  </a:lnTo>
                  <a:lnTo>
                    <a:pt x="1705330" y="405130"/>
                  </a:lnTo>
                  <a:lnTo>
                    <a:pt x="1705330" y="416560"/>
                  </a:lnTo>
                  <a:lnTo>
                    <a:pt x="1764360" y="416560"/>
                  </a:lnTo>
                  <a:lnTo>
                    <a:pt x="1764360" y="405130"/>
                  </a:lnTo>
                  <a:lnTo>
                    <a:pt x="1764360" y="10160"/>
                  </a:lnTo>
                  <a:lnTo>
                    <a:pt x="1764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417212" y="2762757"/>
          <a:ext cx="1794510" cy="277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170"/>
                <a:gridCol w="598170"/>
                <a:gridCol w="598170"/>
              </a:tblGrid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14152" y="2092451"/>
            <a:ext cx="5367020" cy="251904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3459479">
              <a:lnSpc>
                <a:spcPct val="100000"/>
              </a:lnSpc>
              <a:spcBef>
                <a:spcPts val="1490"/>
              </a:spcBef>
            </a:pPr>
            <a:r>
              <a:rPr sz="2000" dirty="0">
                <a:latin typeface="Times New Roman"/>
                <a:cs typeface="Times New Roman"/>
              </a:rPr>
              <a:t>Embedding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matrix</a:t>
            </a:r>
            <a:endParaRPr sz="2000">
              <a:latin typeface="Times New Roman"/>
              <a:cs typeface="Times New Roman"/>
            </a:endParaRPr>
          </a:p>
          <a:p>
            <a:pPr marR="2508885" algn="ctr">
              <a:lnSpc>
                <a:spcPct val="100000"/>
              </a:lnSpc>
              <a:spcBef>
                <a:spcPts val="1395"/>
              </a:spcBef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matrix</a:t>
            </a:r>
            <a:endParaRPr sz="2000">
              <a:latin typeface="Times New Roman"/>
              <a:cs typeface="Times New Roman"/>
            </a:endParaRPr>
          </a:p>
          <a:p>
            <a:pPr marR="2508885" algn="ctr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Index-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  <a:p>
            <a:pPr marL="607060">
              <a:lnSpc>
                <a:spcPts val="2365"/>
              </a:lnSpc>
              <a:spcBef>
                <a:spcPts val="960"/>
              </a:spcBef>
              <a:tabLst>
                <a:tab pos="1002030" algn="l"/>
                <a:tab pos="1397635" algn="l"/>
                <a:tab pos="1705610" algn="l"/>
                <a:tab pos="2100580" algn="l"/>
              </a:tabLst>
            </a:pPr>
            <a:r>
              <a:rPr sz="2000" spc="50" dirty="0">
                <a:latin typeface="FreeSerif"/>
                <a:cs typeface="FreeSerif"/>
              </a:rPr>
              <a:t>0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4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2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3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1</a:t>
            </a:r>
            <a:endParaRPr sz="2000">
              <a:latin typeface="FreeSerif"/>
              <a:cs typeface="FreeSerif"/>
            </a:endParaRPr>
          </a:p>
          <a:p>
            <a:pPr marL="607060">
              <a:lnSpc>
                <a:spcPts val="2365"/>
              </a:lnSpc>
              <a:tabLst>
                <a:tab pos="1002030" algn="l"/>
                <a:tab pos="1397635" algn="l"/>
                <a:tab pos="1705610" algn="l"/>
                <a:tab pos="2100580" algn="l"/>
              </a:tabLst>
            </a:pPr>
            <a:r>
              <a:rPr sz="2000" spc="50" dirty="0">
                <a:latin typeface="FreeSerif"/>
                <a:cs typeface="FreeSerif"/>
              </a:rPr>
              <a:t>5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6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1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2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3</a:t>
            </a:r>
            <a:endParaRPr sz="2000">
              <a:latin typeface="FreeSerif"/>
              <a:cs typeface="FreeSerif"/>
            </a:endParaRPr>
          </a:p>
          <a:p>
            <a:pPr marR="2508885" algn="ctr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shape: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2x5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7595" y="5751302"/>
            <a:ext cx="2055495" cy="40068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latin typeface="Times New Roman"/>
                <a:cs typeface="Times New Roman"/>
              </a:rPr>
              <a:t>Vocab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87420" y="5504573"/>
            <a:ext cx="1356360" cy="271145"/>
          </a:xfrm>
          <a:custGeom>
            <a:avLst/>
            <a:gdLst/>
            <a:ahLst/>
            <a:cxnLst/>
            <a:rect l="l" t="t" r="r" b="b"/>
            <a:pathLst>
              <a:path w="1356360" h="271145">
                <a:moveTo>
                  <a:pt x="68313" y="195826"/>
                </a:moveTo>
                <a:lnTo>
                  <a:pt x="0" y="246729"/>
                </a:lnTo>
                <a:lnTo>
                  <a:pt x="81711" y="270838"/>
                </a:lnTo>
                <a:lnTo>
                  <a:pt x="76248" y="240254"/>
                </a:lnTo>
                <a:lnTo>
                  <a:pt x="63347" y="240254"/>
                </a:lnTo>
                <a:lnTo>
                  <a:pt x="61671" y="230877"/>
                </a:lnTo>
                <a:lnTo>
                  <a:pt x="74175" y="228644"/>
                </a:lnTo>
                <a:lnTo>
                  <a:pt x="68313" y="195826"/>
                </a:lnTo>
                <a:close/>
              </a:path>
              <a:path w="1356360" h="271145">
                <a:moveTo>
                  <a:pt x="74175" y="228644"/>
                </a:moveTo>
                <a:lnTo>
                  <a:pt x="61671" y="230877"/>
                </a:lnTo>
                <a:lnTo>
                  <a:pt x="63347" y="240254"/>
                </a:lnTo>
                <a:lnTo>
                  <a:pt x="75850" y="238022"/>
                </a:lnTo>
                <a:lnTo>
                  <a:pt x="74175" y="228644"/>
                </a:lnTo>
                <a:close/>
              </a:path>
              <a:path w="1356360" h="271145">
                <a:moveTo>
                  <a:pt x="75850" y="238022"/>
                </a:moveTo>
                <a:lnTo>
                  <a:pt x="63347" y="240254"/>
                </a:lnTo>
                <a:lnTo>
                  <a:pt x="76248" y="240254"/>
                </a:lnTo>
                <a:lnTo>
                  <a:pt x="75850" y="238022"/>
                </a:lnTo>
                <a:close/>
              </a:path>
              <a:path w="1356360" h="271145">
                <a:moveTo>
                  <a:pt x="1354505" y="0"/>
                </a:moveTo>
                <a:lnTo>
                  <a:pt x="74175" y="228644"/>
                </a:lnTo>
                <a:lnTo>
                  <a:pt x="75850" y="238022"/>
                </a:lnTo>
                <a:lnTo>
                  <a:pt x="1356182" y="9372"/>
                </a:lnTo>
                <a:lnTo>
                  <a:pt x="13545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00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5250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5250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Embedding</a:t>
            </a:r>
            <a:r>
              <a:rPr sz="2700" b="1" spc="-65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Layer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18616" y="3468623"/>
            <a:ext cx="2441575" cy="728980"/>
            <a:chOff x="1118616" y="3468623"/>
            <a:chExt cx="2441575" cy="7289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8616" y="3468623"/>
              <a:ext cx="2441448" cy="6979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9888" y="3505199"/>
              <a:ext cx="1895856" cy="6918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4732" y="3495992"/>
              <a:ext cx="2348405" cy="6055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64732" y="3495992"/>
              <a:ext cx="2348865" cy="605790"/>
            </a:xfrm>
            <a:custGeom>
              <a:avLst/>
              <a:gdLst/>
              <a:ahLst/>
              <a:cxnLst/>
              <a:rect l="l" t="t" r="r" b="b"/>
              <a:pathLst>
                <a:path w="2348865" h="605789">
                  <a:moveTo>
                    <a:pt x="0" y="0"/>
                  </a:moveTo>
                  <a:lnTo>
                    <a:pt x="2348401" y="0"/>
                  </a:lnTo>
                  <a:lnTo>
                    <a:pt x="2348401" y="605550"/>
                  </a:lnTo>
                  <a:lnTo>
                    <a:pt x="0" y="6055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3A5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6664" y="3604259"/>
              <a:ext cx="1764664" cy="416559"/>
            </a:xfrm>
            <a:custGeom>
              <a:avLst/>
              <a:gdLst/>
              <a:ahLst/>
              <a:cxnLst/>
              <a:rect l="l" t="t" r="r" b="b"/>
              <a:pathLst>
                <a:path w="1764664" h="416560">
                  <a:moveTo>
                    <a:pt x="5902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405130"/>
                  </a:lnTo>
                  <a:lnTo>
                    <a:pt x="0" y="416560"/>
                  </a:lnTo>
                  <a:lnTo>
                    <a:pt x="59029" y="416560"/>
                  </a:lnTo>
                  <a:lnTo>
                    <a:pt x="59029" y="405130"/>
                  </a:lnTo>
                  <a:lnTo>
                    <a:pt x="22948" y="405130"/>
                  </a:lnTo>
                  <a:lnTo>
                    <a:pt x="22948" y="10160"/>
                  </a:lnTo>
                  <a:lnTo>
                    <a:pt x="59029" y="10160"/>
                  </a:lnTo>
                  <a:lnTo>
                    <a:pt x="59029" y="0"/>
                  </a:lnTo>
                  <a:close/>
                </a:path>
                <a:path w="1764664" h="416560">
                  <a:moveTo>
                    <a:pt x="1764360" y="0"/>
                  </a:moveTo>
                  <a:lnTo>
                    <a:pt x="1705330" y="0"/>
                  </a:lnTo>
                  <a:lnTo>
                    <a:pt x="1705330" y="10160"/>
                  </a:lnTo>
                  <a:lnTo>
                    <a:pt x="1741411" y="10160"/>
                  </a:lnTo>
                  <a:lnTo>
                    <a:pt x="1741411" y="405130"/>
                  </a:lnTo>
                  <a:lnTo>
                    <a:pt x="1705330" y="405130"/>
                  </a:lnTo>
                  <a:lnTo>
                    <a:pt x="1705330" y="416560"/>
                  </a:lnTo>
                  <a:lnTo>
                    <a:pt x="1764360" y="416560"/>
                  </a:lnTo>
                  <a:lnTo>
                    <a:pt x="1764360" y="405130"/>
                  </a:lnTo>
                  <a:lnTo>
                    <a:pt x="1764360" y="10160"/>
                  </a:lnTo>
                  <a:lnTo>
                    <a:pt x="1764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80883" y="3482340"/>
            <a:ext cx="1716405" cy="1129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ts val="2365"/>
              </a:lnSpc>
              <a:spcBef>
                <a:spcPts val="100"/>
              </a:spcBef>
              <a:tabLst>
                <a:tab pos="435609" algn="l"/>
                <a:tab pos="830580" algn="l"/>
                <a:tab pos="1138555" algn="l"/>
                <a:tab pos="1534160" algn="l"/>
              </a:tabLst>
            </a:pPr>
            <a:r>
              <a:rPr sz="2000" spc="50" dirty="0">
                <a:latin typeface="FreeSerif"/>
                <a:cs typeface="FreeSerif"/>
              </a:rPr>
              <a:t>0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4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2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3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1</a:t>
            </a:r>
            <a:endParaRPr sz="2000">
              <a:latin typeface="FreeSerif"/>
              <a:cs typeface="FreeSerif"/>
            </a:endParaRPr>
          </a:p>
          <a:p>
            <a:pPr marL="40005">
              <a:lnSpc>
                <a:spcPts val="2365"/>
              </a:lnSpc>
              <a:tabLst>
                <a:tab pos="435609" algn="l"/>
                <a:tab pos="830580" algn="l"/>
                <a:tab pos="1138555" algn="l"/>
                <a:tab pos="1534160" algn="l"/>
              </a:tabLst>
            </a:pPr>
            <a:r>
              <a:rPr sz="2000" spc="50" dirty="0">
                <a:latin typeface="FreeSerif"/>
                <a:cs typeface="FreeSerif"/>
              </a:rPr>
              <a:t>5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6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1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2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3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shape: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2x5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152" y="2750820"/>
            <a:ext cx="28498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matrix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Index-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417212" y="2762757"/>
          <a:ext cx="1794510" cy="277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170"/>
                <a:gridCol w="598170"/>
                <a:gridCol w="598170"/>
              </a:tblGrid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361319" y="2266188"/>
            <a:ext cx="19196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Embedding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matrix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7595" y="5751302"/>
            <a:ext cx="2055495" cy="40068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latin typeface="Times New Roman"/>
                <a:cs typeface="Times New Roman"/>
              </a:rPr>
              <a:t>Vocab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87420" y="5504573"/>
            <a:ext cx="1356360" cy="271145"/>
          </a:xfrm>
          <a:custGeom>
            <a:avLst/>
            <a:gdLst/>
            <a:ahLst/>
            <a:cxnLst/>
            <a:rect l="l" t="t" r="r" b="b"/>
            <a:pathLst>
              <a:path w="1356360" h="271145">
                <a:moveTo>
                  <a:pt x="68313" y="195826"/>
                </a:moveTo>
                <a:lnTo>
                  <a:pt x="0" y="246729"/>
                </a:lnTo>
                <a:lnTo>
                  <a:pt x="81711" y="270838"/>
                </a:lnTo>
                <a:lnTo>
                  <a:pt x="76248" y="240254"/>
                </a:lnTo>
                <a:lnTo>
                  <a:pt x="63347" y="240254"/>
                </a:lnTo>
                <a:lnTo>
                  <a:pt x="61671" y="230877"/>
                </a:lnTo>
                <a:lnTo>
                  <a:pt x="74175" y="228644"/>
                </a:lnTo>
                <a:lnTo>
                  <a:pt x="68313" y="195826"/>
                </a:lnTo>
                <a:close/>
              </a:path>
              <a:path w="1356360" h="271145">
                <a:moveTo>
                  <a:pt x="74175" y="228644"/>
                </a:moveTo>
                <a:lnTo>
                  <a:pt x="61671" y="230877"/>
                </a:lnTo>
                <a:lnTo>
                  <a:pt x="63347" y="240254"/>
                </a:lnTo>
                <a:lnTo>
                  <a:pt x="75850" y="238022"/>
                </a:lnTo>
                <a:lnTo>
                  <a:pt x="74175" y="228644"/>
                </a:lnTo>
                <a:close/>
              </a:path>
              <a:path w="1356360" h="271145">
                <a:moveTo>
                  <a:pt x="75850" y="238022"/>
                </a:moveTo>
                <a:lnTo>
                  <a:pt x="63347" y="240254"/>
                </a:lnTo>
                <a:lnTo>
                  <a:pt x="76248" y="240254"/>
                </a:lnTo>
                <a:lnTo>
                  <a:pt x="75850" y="238022"/>
                </a:lnTo>
                <a:close/>
              </a:path>
              <a:path w="1356360" h="271145">
                <a:moveTo>
                  <a:pt x="1354505" y="0"/>
                </a:moveTo>
                <a:lnTo>
                  <a:pt x="74175" y="228644"/>
                </a:lnTo>
                <a:lnTo>
                  <a:pt x="75850" y="238022"/>
                </a:lnTo>
                <a:lnTo>
                  <a:pt x="1356182" y="9372"/>
                </a:lnTo>
                <a:lnTo>
                  <a:pt x="13545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7620000" y="2703576"/>
            <a:ext cx="4008120" cy="847725"/>
            <a:chOff x="7620000" y="2703576"/>
            <a:chExt cx="4008120" cy="84772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000" y="2703576"/>
              <a:ext cx="4008120" cy="7833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0207" y="2727960"/>
              <a:ext cx="3779520" cy="8229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67687" y="2731186"/>
              <a:ext cx="3914711" cy="68935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67688" y="2731185"/>
              <a:ext cx="3914775" cy="689610"/>
            </a:xfrm>
            <a:custGeom>
              <a:avLst/>
              <a:gdLst/>
              <a:ahLst/>
              <a:cxnLst/>
              <a:rect l="l" t="t" r="r" b="b"/>
              <a:pathLst>
                <a:path w="3914775" h="689610">
                  <a:moveTo>
                    <a:pt x="0" y="0"/>
                  </a:moveTo>
                  <a:lnTo>
                    <a:pt x="3914712" y="0"/>
                  </a:lnTo>
                  <a:lnTo>
                    <a:pt x="3914712" y="689356"/>
                  </a:lnTo>
                  <a:lnTo>
                    <a:pt x="0" y="68935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D79C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02270" y="2832099"/>
              <a:ext cx="3644900" cy="505459"/>
            </a:xfrm>
            <a:custGeom>
              <a:avLst/>
              <a:gdLst/>
              <a:ahLst/>
              <a:cxnLst/>
              <a:rect l="l" t="t" r="r" b="b"/>
              <a:pathLst>
                <a:path w="3644900" h="505460">
                  <a:moveTo>
                    <a:pt x="6238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494030"/>
                  </a:lnTo>
                  <a:lnTo>
                    <a:pt x="0" y="505460"/>
                  </a:lnTo>
                  <a:lnTo>
                    <a:pt x="62382" y="505460"/>
                  </a:lnTo>
                  <a:lnTo>
                    <a:pt x="62382" y="494030"/>
                  </a:lnTo>
                  <a:lnTo>
                    <a:pt x="24307" y="494030"/>
                  </a:lnTo>
                  <a:lnTo>
                    <a:pt x="24307" y="11430"/>
                  </a:lnTo>
                  <a:lnTo>
                    <a:pt x="62382" y="11430"/>
                  </a:lnTo>
                  <a:lnTo>
                    <a:pt x="62382" y="0"/>
                  </a:lnTo>
                  <a:close/>
                </a:path>
                <a:path w="3644900" h="505460">
                  <a:moveTo>
                    <a:pt x="3644328" y="0"/>
                  </a:moveTo>
                  <a:lnTo>
                    <a:pt x="3581946" y="0"/>
                  </a:lnTo>
                  <a:lnTo>
                    <a:pt x="3581946" y="11430"/>
                  </a:lnTo>
                  <a:lnTo>
                    <a:pt x="3620020" y="11430"/>
                  </a:lnTo>
                  <a:lnTo>
                    <a:pt x="3620020" y="494030"/>
                  </a:lnTo>
                  <a:lnTo>
                    <a:pt x="3581946" y="494030"/>
                  </a:lnTo>
                  <a:lnTo>
                    <a:pt x="3581946" y="505460"/>
                  </a:lnTo>
                  <a:lnTo>
                    <a:pt x="3644328" y="505460"/>
                  </a:lnTo>
                  <a:lnTo>
                    <a:pt x="3644328" y="494030"/>
                  </a:lnTo>
                  <a:lnTo>
                    <a:pt x="3644328" y="11430"/>
                  </a:lnTo>
                  <a:lnTo>
                    <a:pt x="3644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57553" y="2720340"/>
            <a:ext cx="5416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latin typeface="FreeSerif"/>
                <a:cs typeface="FreeSerif"/>
              </a:rPr>
              <a:t>w[0]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latin typeface="FreeSerif"/>
                <a:cs typeface="FreeSerif"/>
              </a:rPr>
              <a:t>w[5]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27491" y="2720340"/>
            <a:ext cx="5416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latin typeface="FreeSerif"/>
                <a:cs typeface="FreeSerif"/>
              </a:rPr>
              <a:t>w[4]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latin typeface="FreeSerif"/>
                <a:cs typeface="FreeSerif"/>
              </a:rPr>
              <a:t>w[6]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97428" y="2720340"/>
            <a:ext cx="1224280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4690" algn="l"/>
              </a:tabLst>
            </a:pPr>
            <a:r>
              <a:rPr sz="2000" spc="65" dirty="0">
                <a:latin typeface="FreeSerif"/>
                <a:cs typeface="FreeSerif"/>
              </a:rPr>
              <a:t>w[2]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65" dirty="0">
                <a:latin typeface="FreeSerif"/>
                <a:cs typeface="FreeSerif"/>
              </a:rPr>
              <a:t>w[3]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690" algn="l"/>
              </a:tabLst>
            </a:pPr>
            <a:r>
              <a:rPr sz="2000" spc="65" dirty="0">
                <a:latin typeface="FreeSerif"/>
                <a:cs typeface="FreeSerif"/>
              </a:rPr>
              <a:t>w[1]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65" dirty="0">
                <a:latin typeface="FreeSerif"/>
                <a:cs typeface="FreeSerif"/>
              </a:rPr>
              <a:t>w[2]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49991" y="2720340"/>
            <a:ext cx="5416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latin typeface="FreeSerif"/>
                <a:cs typeface="FreeSerif"/>
              </a:rPr>
              <a:t>w[1]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latin typeface="FreeSerif"/>
                <a:cs typeface="FreeSerif"/>
              </a:rPr>
              <a:t>w[3]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49034" y="2870708"/>
            <a:ext cx="94043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77800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Times New Roman"/>
                <a:cs typeface="Times New Roman"/>
              </a:rPr>
              <a:t>Select Operation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78296" y="3072383"/>
            <a:ext cx="1606550" cy="238125"/>
            <a:chOff x="6178296" y="3072383"/>
            <a:chExt cx="1606550" cy="238125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78296" y="3072383"/>
              <a:ext cx="1606296" cy="23774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218364" y="3133420"/>
              <a:ext cx="1449705" cy="76200"/>
            </a:xfrm>
            <a:custGeom>
              <a:avLst/>
              <a:gdLst/>
              <a:ahLst/>
              <a:cxnLst/>
              <a:rect l="l" t="t" r="r" b="b"/>
              <a:pathLst>
                <a:path w="1449704" h="76200">
                  <a:moveTo>
                    <a:pt x="1373124" y="50799"/>
                  </a:moveTo>
                  <a:lnTo>
                    <a:pt x="1373124" y="76200"/>
                  </a:lnTo>
                  <a:lnTo>
                    <a:pt x="1423924" y="50800"/>
                  </a:lnTo>
                  <a:lnTo>
                    <a:pt x="1373124" y="50799"/>
                  </a:lnTo>
                  <a:close/>
                </a:path>
                <a:path w="1449704" h="76200">
                  <a:moveTo>
                    <a:pt x="1373124" y="25399"/>
                  </a:moveTo>
                  <a:lnTo>
                    <a:pt x="1373124" y="50799"/>
                  </a:lnTo>
                  <a:lnTo>
                    <a:pt x="1385824" y="50800"/>
                  </a:lnTo>
                  <a:lnTo>
                    <a:pt x="1385824" y="25400"/>
                  </a:lnTo>
                  <a:lnTo>
                    <a:pt x="1373124" y="25399"/>
                  </a:lnTo>
                  <a:close/>
                </a:path>
                <a:path w="1449704" h="76200">
                  <a:moveTo>
                    <a:pt x="1373124" y="0"/>
                  </a:moveTo>
                  <a:lnTo>
                    <a:pt x="1373124" y="25399"/>
                  </a:lnTo>
                  <a:lnTo>
                    <a:pt x="1385824" y="25400"/>
                  </a:lnTo>
                  <a:lnTo>
                    <a:pt x="1385824" y="50800"/>
                  </a:lnTo>
                  <a:lnTo>
                    <a:pt x="1423949" y="50787"/>
                  </a:lnTo>
                  <a:lnTo>
                    <a:pt x="1449324" y="38100"/>
                  </a:lnTo>
                  <a:lnTo>
                    <a:pt x="1373124" y="0"/>
                  </a:lnTo>
                  <a:close/>
                </a:path>
                <a:path w="1449704" h="76200">
                  <a:moveTo>
                    <a:pt x="0" y="25387"/>
                  </a:moveTo>
                  <a:lnTo>
                    <a:pt x="0" y="50787"/>
                  </a:lnTo>
                  <a:lnTo>
                    <a:pt x="1373124" y="50799"/>
                  </a:lnTo>
                  <a:lnTo>
                    <a:pt x="1373124" y="25399"/>
                  </a:lnTo>
                  <a:lnTo>
                    <a:pt x="0" y="25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490" y="403860"/>
            <a:ext cx="83686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Distributed</a:t>
            </a:r>
            <a:r>
              <a:rPr spc="-100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5250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5250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Embedding</a:t>
            </a:r>
            <a:r>
              <a:rPr sz="2700" b="1" spc="-65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Layer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18616" y="3468623"/>
            <a:ext cx="2441575" cy="728980"/>
            <a:chOff x="1118616" y="3468623"/>
            <a:chExt cx="2441575" cy="7289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8616" y="3468623"/>
              <a:ext cx="2441448" cy="6979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9888" y="3505199"/>
              <a:ext cx="1895856" cy="6918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4732" y="3495992"/>
              <a:ext cx="2348405" cy="6055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64732" y="3495992"/>
              <a:ext cx="2348865" cy="605790"/>
            </a:xfrm>
            <a:custGeom>
              <a:avLst/>
              <a:gdLst/>
              <a:ahLst/>
              <a:cxnLst/>
              <a:rect l="l" t="t" r="r" b="b"/>
              <a:pathLst>
                <a:path w="2348865" h="605789">
                  <a:moveTo>
                    <a:pt x="0" y="0"/>
                  </a:moveTo>
                  <a:lnTo>
                    <a:pt x="2348401" y="0"/>
                  </a:lnTo>
                  <a:lnTo>
                    <a:pt x="2348401" y="605550"/>
                  </a:lnTo>
                  <a:lnTo>
                    <a:pt x="0" y="6055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3A5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6664" y="3604259"/>
              <a:ext cx="1764664" cy="416559"/>
            </a:xfrm>
            <a:custGeom>
              <a:avLst/>
              <a:gdLst/>
              <a:ahLst/>
              <a:cxnLst/>
              <a:rect l="l" t="t" r="r" b="b"/>
              <a:pathLst>
                <a:path w="1764664" h="416560">
                  <a:moveTo>
                    <a:pt x="5902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405130"/>
                  </a:lnTo>
                  <a:lnTo>
                    <a:pt x="0" y="416560"/>
                  </a:lnTo>
                  <a:lnTo>
                    <a:pt x="59029" y="416560"/>
                  </a:lnTo>
                  <a:lnTo>
                    <a:pt x="59029" y="405130"/>
                  </a:lnTo>
                  <a:lnTo>
                    <a:pt x="22948" y="405130"/>
                  </a:lnTo>
                  <a:lnTo>
                    <a:pt x="22948" y="10160"/>
                  </a:lnTo>
                  <a:lnTo>
                    <a:pt x="59029" y="10160"/>
                  </a:lnTo>
                  <a:lnTo>
                    <a:pt x="59029" y="0"/>
                  </a:lnTo>
                  <a:close/>
                </a:path>
                <a:path w="1764664" h="416560">
                  <a:moveTo>
                    <a:pt x="1764360" y="0"/>
                  </a:moveTo>
                  <a:lnTo>
                    <a:pt x="1705330" y="0"/>
                  </a:lnTo>
                  <a:lnTo>
                    <a:pt x="1705330" y="10160"/>
                  </a:lnTo>
                  <a:lnTo>
                    <a:pt x="1741411" y="10160"/>
                  </a:lnTo>
                  <a:lnTo>
                    <a:pt x="1741411" y="405130"/>
                  </a:lnTo>
                  <a:lnTo>
                    <a:pt x="1705330" y="405130"/>
                  </a:lnTo>
                  <a:lnTo>
                    <a:pt x="1705330" y="416560"/>
                  </a:lnTo>
                  <a:lnTo>
                    <a:pt x="1764360" y="416560"/>
                  </a:lnTo>
                  <a:lnTo>
                    <a:pt x="1764360" y="405130"/>
                  </a:lnTo>
                  <a:lnTo>
                    <a:pt x="1764360" y="10160"/>
                  </a:lnTo>
                  <a:lnTo>
                    <a:pt x="1764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21282" y="3482340"/>
            <a:ext cx="1647189" cy="62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365"/>
              </a:lnSpc>
              <a:spcBef>
                <a:spcPts val="100"/>
              </a:spcBef>
              <a:tabLst>
                <a:tab pos="394970" algn="l"/>
                <a:tab pos="789940" algn="l"/>
                <a:tab pos="1097915" algn="l"/>
                <a:tab pos="1493520" algn="l"/>
              </a:tabLst>
            </a:pPr>
            <a:r>
              <a:rPr sz="2000" spc="50" dirty="0">
                <a:latin typeface="FreeSerif"/>
                <a:cs typeface="FreeSerif"/>
              </a:rPr>
              <a:t>0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4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2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3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1</a:t>
            </a:r>
            <a:endParaRPr sz="2000">
              <a:latin typeface="FreeSerif"/>
              <a:cs typeface="FreeSerif"/>
            </a:endParaRPr>
          </a:p>
          <a:p>
            <a:pPr>
              <a:lnSpc>
                <a:spcPts val="2365"/>
              </a:lnSpc>
              <a:tabLst>
                <a:tab pos="394970" algn="l"/>
                <a:tab pos="789940" algn="l"/>
                <a:tab pos="1097915" algn="l"/>
                <a:tab pos="1493520" algn="l"/>
              </a:tabLst>
            </a:pPr>
            <a:r>
              <a:rPr sz="2000" spc="50" dirty="0">
                <a:latin typeface="FreeSerif"/>
                <a:cs typeface="FreeSerif"/>
              </a:rPr>
              <a:t>5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6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1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2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50" dirty="0">
                <a:latin typeface="FreeSerif"/>
                <a:cs typeface="FreeSerif"/>
              </a:rPr>
              <a:t>3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152" y="2750820"/>
            <a:ext cx="28498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matrix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Index-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0883" y="4280916"/>
            <a:ext cx="17164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shape: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2x5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417212" y="2762757"/>
          <a:ext cx="1794510" cy="277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170"/>
                <a:gridCol w="598170"/>
                <a:gridCol w="598170"/>
              </a:tblGrid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28575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28575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  <a:solidFill>
                      <a:srgbClr val="8B81D2">
                        <a:alpha val="1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8B81D2"/>
                      </a:solidFill>
                      <a:prstDash val="solid"/>
                    </a:lnL>
                    <a:lnR w="12700">
                      <a:solidFill>
                        <a:srgbClr val="8B81D2"/>
                      </a:solidFill>
                      <a:prstDash val="solid"/>
                    </a:lnR>
                    <a:lnT w="12700">
                      <a:solidFill>
                        <a:srgbClr val="8B81D2"/>
                      </a:solidFill>
                      <a:prstDash val="solid"/>
                    </a:lnT>
                    <a:lnB w="12700">
                      <a:solidFill>
                        <a:srgbClr val="8B81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361319" y="2266188"/>
            <a:ext cx="19196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Embedding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matrix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7595" y="5751302"/>
            <a:ext cx="2055495" cy="40068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latin typeface="Times New Roman"/>
                <a:cs typeface="Times New Roman"/>
              </a:rPr>
              <a:t>Vocab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87420" y="5504573"/>
            <a:ext cx="1356360" cy="271145"/>
          </a:xfrm>
          <a:custGeom>
            <a:avLst/>
            <a:gdLst/>
            <a:ahLst/>
            <a:cxnLst/>
            <a:rect l="l" t="t" r="r" b="b"/>
            <a:pathLst>
              <a:path w="1356360" h="271145">
                <a:moveTo>
                  <a:pt x="68313" y="195826"/>
                </a:moveTo>
                <a:lnTo>
                  <a:pt x="0" y="246729"/>
                </a:lnTo>
                <a:lnTo>
                  <a:pt x="81711" y="270838"/>
                </a:lnTo>
                <a:lnTo>
                  <a:pt x="76248" y="240254"/>
                </a:lnTo>
                <a:lnTo>
                  <a:pt x="63347" y="240254"/>
                </a:lnTo>
                <a:lnTo>
                  <a:pt x="61671" y="230877"/>
                </a:lnTo>
                <a:lnTo>
                  <a:pt x="74175" y="228644"/>
                </a:lnTo>
                <a:lnTo>
                  <a:pt x="68313" y="195826"/>
                </a:lnTo>
                <a:close/>
              </a:path>
              <a:path w="1356360" h="271145">
                <a:moveTo>
                  <a:pt x="74175" y="228644"/>
                </a:moveTo>
                <a:lnTo>
                  <a:pt x="61671" y="230877"/>
                </a:lnTo>
                <a:lnTo>
                  <a:pt x="63347" y="240254"/>
                </a:lnTo>
                <a:lnTo>
                  <a:pt x="75850" y="238022"/>
                </a:lnTo>
                <a:lnTo>
                  <a:pt x="74175" y="228644"/>
                </a:lnTo>
                <a:close/>
              </a:path>
              <a:path w="1356360" h="271145">
                <a:moveTo>
                  <a:pt x="75850" y="238022"/>
                </a:moveTo>
                <a:lnTo>
                  <a:pt x="63347" y="240254"/>
                </a:lnTo>
                <a:lnTo>
                  <a:pt x="76248" y="240254"/>
                </a:lnTo>
                <a:lnTo>
                  <a:pt x="75850" y="238022"/>
                </a:lnTo>
                <a:close/>
              </a:path>
              <a:path w="1356360" h="271145">
                <a:moveTo>
                  <a:pt x="1354505" y="0"/>
                </a:moveTo>
                <a:lnTo>
                  <a:pt x="74175" y="228644"/>
                </a:lnTo>
                <a:lnTo>
                  <a:pt x="75850" y="238022"/>
                </a:lnTo>
                <a:lnTo>
                  <a:pt x="1356182" y="9372"/>
                </a:lnTo>
                <a:lnTo>
                  <a:pt x="13545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7620000" y="2703576"/>
            <a:ext cx="4008120" cy="847725"/>
            <a:chOff x="7620000" y="2703576"/>
            <a:chExt cx="4008120" cy="84772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000" y="2703576"/>
              <a:ext cx="4008120" cy="7833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0207" y="2727960"/>
              <a:ext cx="3779520" cy="8229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67687" y="2731186"/>
              <a:ext cx="3914711" cy="68935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67688" y="2731185"/>
              <a:ext cx="3914775" cy="689610"/>
            </a:xfrm>
            <a:custGeom>
              <a:avLst/>
              <a:gdLst/>
              <a:ahLst/>
              <a:cxnLst/>
              <a:rect l="l" t="t" r="r" b="b"/>
              <a:pathLst>
                <a:path w="3914775" h="689610">
                  <a:moveTo>
                    <a:pt x="0" y="0"/>
                  </a:moveTo>
                  <a:lnTo>
                    <a:pt x="3914712" y="0"/>
                  </a:lnTo>
                  <a:lnTo>
                    <a:pt x="3914712" y="689356"/>
                  </a:lnTo>
                  <a:lnTo>
                    <a:pt x="0" y="68935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D79C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02270" y="2832099"/>
              <a:ext cx="3644900" cy="505459"/>
            </a:xfrm>
            <a:custGeom>
              <a:avLst/>
              <a:gdLst/>
              <a:ahLst/>
              <a:cxnLst/>
              <a:rect l="l" t="t" r="r" b="b"/>
              <a:pathLst>
                <a:path w="3644900" h="505460">
                  <a:moveTo>
                    <a:pt x="6238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494030"/>
                  </a:lnTo>
                  <a:lnTo>
                    <a:pt x="0" y="505460"/>
                  </a:lnTo>
                  <a:lnTo>
                    <a:pt x="62382" y="505460"/>
                  </a:lnTo>
                  <a:lnTo>
                    <a:pt x="62382" y="494030"/>
                  </a:lnTo>
                  <a:lnTo>
                    <a:pt x="24307" y="494030"/>
                  </a:lnTo>
                  <a:lnTo>
                    <a:pt x="24307" y="11430"/>
                  </a:lnTo>
                  <a:lnTo>
                    <a:pt x="62382" y="11430"/>
                  </a:lnTo>
                  <a:lnTo>
                    <a:pt x="62382" y="0"/>
                  </a:lnTo>
                  <a:close/>
                </a:path>
                <a:path w="3644900" h="505460">
                  <a:moveTo>
                    <a:pt x="3644328" y="0"/>
                  </a:moveTo>
                  <a:lnTo>
                    <a:pt x="3581946" y="0"/>
                  </a:lnTo>
                  <a:lnTo>
                    <a:pt x="3581946" y="11430"/>
                  </a:lnTo>
                  <a:lnTo>
                    <a:pt x="3620020" y="11430"/>
                  </a:lnTo>
                  <a:lnTo>
                    <a:pt x="3620020" y="494030"/>
                  </a:lnTo>
                  <a:lnTo>
                    <a:pt x="3581946" y="494030"/>
                  </a:lnTo>
                  <a:lnTo>
                    <a:pt x="3581946" y="505460"/>
                  </a:lnTo>
                  <a:lnTo>
                    <a:pt x="3644328" y="505460"/>
                  </a:lnTo>
                  <a:lnTo>
                    <a:pt x="3644328" y="494030"/>
                  </a:lnTo>
                  <a:lnTo>
                    <a:pt x="3644328" y="11430"/>
                  </a:lnTo>
                  <a:lnTo>
                    <a:pt x="3644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57553" y="2720340"/>
            <a:ext cx="5416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latin typeface="FreeSerif"/>
                <a:cs typeface="FreeSerif"/>
              </a:rPr>
              <a:t>w[0]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latin typeface="FreeSerif"/>
                <a:cs typeface="FreeSerif"/>
              </a:rPr>
              <a:t>w[5]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27491" y="2720340"/>
            <a:ext cx="5416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latin typeface="FreeSerif"/>
                <a:cs typeface="FreeSerif"/>
              </a:rPr>
              <a:t>w[4]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latin typeface="FreeSerif"/>
                <a:cs typeface="FreeSerif"/>
              </a:rPr>
              <a:t>w[6]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97428" y="2720340"/>
            <a:ext cx="1224280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4690" algn="l"/>
              </a:tabLst>
            </a:pPr>
            <a:r>
              <a:rPr sz="2000" spc="65" dirty="0">
                <a:latin typeface="FreeSerif"/>
                <a:cs typeface="FreeSerif"/>
              </a:rPr>
              <a:t>w[2]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65" dirty="0">
                <a:latin typeface="FreeSerif"/>
                <a:cs typeface="FreeSerif"/>
              </a:rPr>
              <a:t>w[3]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4690" algn="l"/>
              </a:tabLst>
            </a:pPr>
            <a:r>
              <a:rPr sz="2000" spc="65" dirty="0">
                <a:latin typeface="FreeSerif"/>
                <a:cs typeface="FreeSerif"/>
              </a:rPr>
              <a:t>w[1]</a:t>
            </a:r>
            <a:r>
              <a:rPr sz="2000" dirty="0">
                <a:latin typeface="FreeSerif"/>
                <a:cs typeface="FreeSerif"/>
              </a:rPr>
              <a:t>	</a:t>
            </a:r>
            <a:r>
              <a:rPr sz="2000" spc="65" dirty="0">
                <a:latin typeface="FreeSerif"/>
                <a:cs typeface="FreeSerif"/>
              </a:rPr>
              <a:t>w[2]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49991" y="2720340"/>
            <a:ext cx="5416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latin typeface="FreeSerif"/>
                <a:cs typeface="FreeSerif"/>
              </a:rPr>
              <a:t>w[1]</a:t>
            </a:r>
            <a:endParaRPr sz="20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latin typeface="FreeSerif"/>
                <a:cs typeface="FreeSerif"/>
              </a:rPr>
              <a:t>w[3]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49034" y="2870708"/>
            <a:ext cx="94043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77800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Times New Roman"/>
                <a:cs typeface="Times New Roman"/>
              </a:rPr>
              <a:t>Select Operation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78296" y="3072383"/>
            <a:ext cx="1606550" cy="238125"/>
            <a:chOff x="6178296" y="3072383"/>
            <a:chExt cx="1606550" cy="238125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78296" y="3072383"/>
              <a:ext cx="1606296" cy="23774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218364" y="3133420"/>
              <a:ext cx="1449705" cy="76200"/>
            </a:xfrm>
            <a:custGeom>
              <a:avLst/>
              <a:gdLst/>
              <a:ahLst/>
              <a:cxnLst/>
              <a:rect l="l" t="t" r="r" b="b"/>
              <a:pathLst>
                <a:path w="1449704" h="76200">
                  <a:moveTo>
                    <a:pt x="1373124" y="50799"/>
                  </a:moveTo>
                  <a:lnTo>
                    <a:pt x="1373124" y="76200"/>
                  </a:lnTo>
                  <a:lnTo>
                    <a:pt x="1423924" y="50800"/>
                  </a:lnTo>
                  <a:lnTo>
                    <a:pt x="1373124" y="50799"/>
                  </a:lnTo>
                  <a:close/>
                </a:path>
                <a:path w="1449704" h="76200">
                  <a:moveTo>
                    <a:pt x="1373124" y="25399"/>
                  </a:moveTo>
                  <a:lnTo>
                    <a:pt x="1373124" y="50799"/>
                  </a:lnTo>
                  <a:lnTo>
                    <a:pt x="1385824" y="50800"/>
                  </a:lnTo>
                  <a:lnTo>
                    <a:pt x="1385824" y="25400"/>
                  </a:lnTo>
                  <a:lnTo>
                    <a:pt x="1373124" y="25399"/>
                  </a:lnTo>
                  <a:close/>
                </a:path>
                <a:path w="1449704" h="76200">
                  <a:moveTo>
                    <a:pt x="1373124" y="0"/>
                  </a:moveTo>
                  <a:lnTo>
                    <a:pt x="1373124" y="25399"/>
                  </a:lnTo>
                  <a:lnTo>
                    <a:pt x="1385824" y="25400"/>
                  </a:lnTo>
                  <a:lnTo>
                    <a:pt x="1385824" y="50800"/>
                  </a:lnTo>
                  <a:lnTo>
                    <a:pt x="1423949" y="50787"/>
                  </a:lnTo>
                  <a:lnTo>
                    <a:pt x="1449324" y="38100"/>
                  </a:lnTo>
                  <a:lnTo>
                    <a:pt x="1373124" y="0"/>
                  </a:lnTo>
                  <a:close/>
                </a:path>
                <a:path w="1449704" h="76200">
                  <a:moveTo>
                    <a:pt x="0" y="25387"/>
                  </a:moveTo>
                  <a:lnTo>
                    <a:pt x="0" y="50787"/>
                  </a:lnTo>
                  <a:lnTo>
                    <a:pt x="1373124" y="50799"/>
                  </a:lnTo>
                  <a:lnTo>
                    <a:pt x="1373124" y="25399"/>
                  </a:lnTo>
                  <a:lnTo>
                    <a:pt x="0" y="25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7727378" y="4818097"/>
          <a:ext cx="3276596" cy="1075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059"/>
                <a:gridCol w="579120"/>
                <a:gridCol w="579119"/>
                <a:gridCol w="579119"/>
                <a:gridCol w="579119"/>
                <a:gridCol w="480060"/>
              </a:tblGrid>
              <a:tr h="339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218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97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38455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32" name="object 32"/>
          <p:cNvGrpSpPr/>
          <p:nvPr/>
        </p:nvGrpSpPr>
        <p:grpSpPr>
          <a:xfrm>
            <a:off x="7507223" y="4523232"/>
            <a:ext cx="3371215" cy="765175"/>
            <a:chOff x="7507223" y="4523232"/>
            <a:chExt cx="3371215" cy="765175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7223" y="4523232"/>
              <a:ext cx="902207" cy="66751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547419" y="4622901"/>
              <a:ext cx="743585" cy="506095"/>
            </a:xfrm>
            <a:custGeom>
              <a:avLst/>
              <a:gdLst/>
              <a:ahLst/>
              <a:cxnLst/>
              <a:rect l="l" t="t" r="r" b="b"/>
              <a:pathLst>
                <a:path w="743584" h="506095">
                  <a:moveTo>
                    <a:pt x="672837" y="32022"/>
                  </a:moveTo>
                  <a:lnTo>
                    <a:pt x="0" y="484924"/>
                  </a:lnTo>
                  <a:lnTo>
                    <a:pt x="14185" y="506006"/>
                  </a:lnTo>
                  <a:lnTo>
                    <a:pt x="687023" y="53092"/>
                  </a:lnTo>
                  <a:lnTo>
                    <a:pt x="672837" y="32022"/>
                  </a:lnTo>
                  <a:close/>
                </a:path>
                <a:path w="743584" h="506095">
                  <a:moveTo>
                    <a:pt x="729042" y="24930"/>
                  </a:moveTo>
                  <a:lnTo>
                    <a:pt x="683374" y="24930"/>
                  </a:lnTo>
                  <a:lnTo>
                    <a:pt x="697560" y="45999"/>
                  </a:lnTo>
                  <a:lnTo>
                    <a:pt x="687023" y="53092"/>
                  </a:lnTo>
                  <a:lnTo>
                    <a:pt x="701205" y="74155"/>
                  </a:lnTo>
                  <a:lnTo>
                    <a:pt x="729042" y="24930"/>
                  </a:lnTo>
                  <a:close/>
                </a:path>
                <a:path w="743584" h="506095">
                  <a:moveTo>
                    <a:pt x="683374" y="24930"/>
                  </a:moveTo>
                  <a:lnTo>
                    <a:pt x="672837" y="32022"/>
                  </a:lnTo>
                  <a:lnTo>
                    <a:pt x="687023" y="53092"/>
                  </a:lnTo>
                  <a:lnTo>
                    <a:pt x="697560" y="45999"/>
                  </a:lnTo>
                  <a:lnTo>
                    <a:pt x="683374" y="24930"/>
                  </a:lnTo>
                  <a:close/>
                </a:path>
                <a:path w="743584" h="506095">
                  <a:moveTo>
                    <a:pt x="743140" y="0"/>
                  </a:moveTo>
                  <a:lnTo>
                    <a:pt x="658647" y="10947"/>
                  </a:lnTo>
                  <a:lnTo>
                    <a:pt x="672837" y="32022"/>
                  </a:lnTo>
                  <a:lnTo>
                    <a:pt x="683374" y="24930"/>
                  </a:lnTo>
                  <a:lnTo>
                    <a:pt x="729042" y="24930"/>
                  </a:lnTo>
                  <a:lnTo>
                    <a:pt x="7431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13319" y="5050536"/>
              <a:ext cx="3364991" cy="23774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554506" y="5110746"/>
              <a:ext cx="3205480" cy="76200"/>
            </a:xfrm>
            <a:custGeom>
              <a:avLst/>
              <a:gdLst/>
              <a:ahLst/>
              <a:cxnLst/>
              <a:rect l="l" t="t" r="r" b="b"/>
              <a:pathLst>
                <a:path w="3205479" h="76200">
                  <a:moveTo>
                    <a:pt x="3128733" y="0"/>
                  </a:moveTo>
                  <a:lnTo>
                    <a:pt x="3128733" y="76200"/>
                  </a:lnTo>
                  <a:lnTo>
                    <a:pt x="3179533" y="50800"/>
                  </a:lnTo>
                  <a:lnTo>
                    <a:pt x="3141433" y="50800"/>
                  </a:lnTo>
                  <a:lnTo>
                    <a:pt x="3141433" y="25400"/>
                  </a:lnTo>
                  <a:lnTo>
                    <a:pt x="3179533" y="25400"/>
                  </a:lnTo>
                  <a:lnTo>
                    <a:pt x="3128733" y="0"/>
                  </a:lnTo>
                  <a:close/>
                </a:path>
                <a:path w="3205479" h="76200">
                  <a:moveTo>
                    <a:pt x="3128733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3128733" y="50800"/>
                  </a:lnTo>
                  <a:lnTo>
                    <a:pt x="3128733" y="25400"/>
                  </a:lnTo>
                  <a:close/>
                </a:path>
                <a:path w="3205479" h="76200">
                  <a:moveTo>
                    <a:pt x="3179533" y="25400"/>
                  </a:moveTo>
                  <a:lnTo>
                    <a:pt x="3141433" y="25400"/>
                  </a:lnTo>
                  <a:lnTo>
                    <a:pt x="3141433" y="50800"/>
                  </a:lnTo>
                  <a:lnTo>
                    <a:pt x="3179533" y="50800"/>
                  </a:lnTo>
                  <a:lnTo>
                    <a:pt x="3204933" y="38100"/>
                  </a:lnTo>
                  <a:lnTo>
                    <a:pt x="317953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7437119" y="5096255"/>
            <a:ext cx="234950" cy="990600"/>
            <a:chOff x="7437119" y="5096255"/>
            <a:chExt cx="234950" cy="990600"/>
          </a:xfrm>
        </p:grpSpPr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37119" y="5096255"/>
              <a:ext cx="234696" cy="9906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516405" y="5118366"/>
              <a:ext cx="76200" cy="829944"/>
            </a:xfrm>
            <a:custGeom>
              <a:avLst/>
              <a:gdLst/>
              <a:ahLst/>
              <a:cxnLst/>
              <a:rect l="l" t="t" r="r" b="b"/>
              <a:pathLst>
                <a:path w="76200" h="829945">
                  <a:moveTo>
                    <a:pt x="25400" y="753479"/>
                  </a:moveTo>
                  <a:lnTo>
                    <a:pt x="0" y="753479"/>
                  </a:lnTo>
                  <a:lnTo>
                    <a:pt x="38100" y="829680"/>
                  </a:lnTo>
                  <a:lnTo>
                    <a:pt x="69849" y="766180"/>
                  </a:lnTo>
                  <a:lnTo>
                    <a:pt x="25400" y="766180"/>
                  </a:lnTo>
                  <a:lnTo>
                    <a:pt x="25400" y="753479"/>
                  </a:lnTo>
                  <a:close/>
                </a:path>
                <a:path w="76200" h="829945">
                  <a:moveTo>
                    <a:pt x="50800" y="0"/>
                  </a:moveTo>
                  <a:lnTo>
                    <a:pt x="25400" y="0"/>
                  </a:lnTo>
                  <a:lnTo>
                    <a:pt x="25400" y="766180"/>
                  </a:lnTo>
                  <a:lnTo>
                    <a:pt x="50800" y="766180"/>
                  </a:lnTo>
                  <a:lnTo>
                    <a:pt x="50800" y="0"/>
                  </a:lnTo>
                  <a:close/>
                </a:path>
                <a:path w="76200" h="829945">
                  <a:moveTo>
                    <a:pt x="76200" y="753479"/>
                  </a:moveTo>
                  <a:lnTo>
                    <a:pt x="50800" y="753479"/>
                  </a:lnTo>
                  <a:lnTo>
                    <a:pt x="50800" y="766180"/>
                  </a:lnTo>
                  <a:lnTo>
                    <a:pt x="69849" y="766180"/>
                  </a:lnTo>
                  <a:lnTo>
                    <a:pt x="76200" y="753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719769" y="3939540"/>
            <a:ext cx="14547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matrix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21395" y="6003036"/>
            <a:ext cx="19704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shape: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2x5x2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506968" y="3444240"/>
            <a:ext cx="238125" cy="1155700"/>
            <a:chOff x="8506968" y="3444240"/>
            <a:chExt cx="238125" cy="1155700"/>
          </a:xfrm>
        </p:grpSpPr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06968" y="3444240"/>
              <a:ext cx="237744" cy="115519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587740" y="3465512"/>
              <a:ext cx="76200" cy="995680"/>
            </a:xfrm>
            <a:custGeom>
              <a:avLst/>
              <a:gdLst/>
              <a:ahLst/>
              <a:cxnLst/>
              <a:rect l="l" t="t" r="r" b="b"/>
              <a:pathLst>
                <a:path w="76200" h="995679">
                  <a:moveTo>
                    <a:pt x="25400" y="919403"/>
                  </a:moveTo>
                  <a:lnTo>
                    <a:pt x="0" y="919403"/>
                  </a:lnTo>
                  <a:lnTo>
                    <a:pt x="38100" y="995603"/>
                  </a:lnTo>
                  <a:lnTo>
                    <a:pt x="69850" y="932103"/>
                  </a:lnTo>
                  <a:lnTo>
                    <a:pt x="25400" y="932103"/>
                  </a:lnTo>
                  <a:lnTo>
                    <a:pt x="25400" y="919403"/>
                  </a:lnTo>
                  <a:close/>
                </a:path>
                <a:path w="76200" h="995679">
                  <a:moveTo>
                    <a:pt x="50800" y="0"/>
                  </a:moveTo>
                  <a:lnTo>
                    <a:pt x="25400" y="0"/>
                  </a:lnTo>
                  <a:lnTo>
                    <a:pt x="25400" y="932103"/>
                  </a:lnTo>
                  <a:lnTo>
                    <a:pt x="50800" y="932103"/>
                  </a:lnTo>
                  <a:lnTo>
                    <a:pt x="50800" y="0"/>
                  </a:lnTo>
                  <a:close/>
                </a:path>
                <a:path w="76200" h="995679">
                  <a:moveTo>
                    <a:pt x="76200" y="919403"/>
                  </a:moveTo>
                  <a:lnTo>
                    <a:pt x="50800" y="919403"/>
                  </a:lnTo>
                  <a:lnTo>
                    <a:pt x="50800" y="932103"/>
                  </a:lnTo>
                  <a:lnTo>
                    <a:pt x="69850" y="932103"/>
                  </a:lnTo>
                  <a:lnTo>
                    <a:pt x="76200" y="919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25472" y="1494536"/>
            <a:ext cx="6661150" cy="360426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40"/>
              </a:spcBef>
              <a:buClr>
                <a:srgbClr val="FFC000"/>
              </a:buClr>
              <a:buFont typeface="Wingdings"/>
              <a:buChar char=""/>
              <a:tabLst>
                <a:tab pos="355600" algn="l"/>
              </a:tabLst>
            </a:pPr>
            <a:r>
              <a:rPr sz="2700" b="1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Times New Roman"/>
                <a:cs typeface="Times New Roman"/>
              </a:rPr>
              <a:t>Paper</a:t>
            </a:r>
            <a:r>
              <a:rPr sz="2700" b="1" u="none" spc="-30" dirty="0">
                <a:solidFill>
                  <a:srgbClr val="1155CC"/>
                </a:solidFill>
                <a:latin typeface="Times New Roman"/>
                <a:cs typeface="Times New Roman"/>
              </a:rPr>
              <a:t> </a:t>
            </a:r>
            <a:r>
              <a:rPr sz="2700" b="1" u="none" dirty="0">
                <a:latin typeface="Times New Roman"/>
                <a:cs typeface="Times New Roman"/>
              </a:rPr>
              <a:t>-</a:t>
            </a:r>
            <a:r>
              <a:rPr sz="2700" b="1" u="none" spc="-30" dirty="0">
                <a:latin typeface="Times New Roman"/>
                <a:cs typeface="Times New Roman"/>
              </a:rPr>
              <a:t> </a:t>
            </a:r>
            <a:r>
              <a:rPr sz="2700" b="1" u="none" spc="-10" dirty="0">
                <a:latin typeface="Times New Roman"/>
                <a:cs typeface="Times New Roman"/>
              </a:rPr>
              <a:t>Word2Vec</a:t>
            </a:r>
            <a:r>
              <a:rPr sz="2700" u="none" spc="-10" dirty="0">
                <a:latin typeface="Times New Roman"/>
                <a:cs typeface="Times New Roman"/>
              </a:rPr>
              <a:t>:</a:t>
            </a:r>
            <a:endParaRPr sz="2700">
              <a:latin typeface="Times New Roman"/>
              <a:cs typeface="Times New Roman"/>
            </a:endParaRPr>
          </a:p>
          <a:p>
            <a:pPr marL="650240" lvl="1" indent="-226695">
              <a:lnSpc>
                <a:spcPct val="100000"/>
              </a:lnSpc>
              <a:spcBef>
                <a:spcPts val="745"/>
              </a:spcBef>
              <a:buClr>
                <a:srgbClr val="FFC000"/>
              </a:buClr>
              <a:buFont typeface="Wingdings"/>
              <a:buChar char=""/>
              <a:tabLst>
                <a:tab pos="650240" algn="l"/>
              </a:tabLst>
            </a:pPr>
            <a:r>
              <a:rPr sz="2700" dirty="0">
                <a:latin typeface="Times New Roman"/>
                <a:cs typeface="Times New Roman"/>
              </a:rPr>
              <a:t>2 </a:t>
            </a:r>
            <a:r>
              <a:rPr sz="2700" spc="-10" dirty="0">
                <a:latin typeface="Times New Roman"/>
                <a:cs typeface="Times New Roman"/>
              </a:rPr>
              <a:t>algorithms:</a:t>
            </a:r>
            <a:endParaRPr sz="2700">
              <a:latin typeface="Times New Roman"/>
              <a:cs typeface="Times New Roman"/>
            </a:endParaRPr>
          </a:p>
          <a:p>
            <a:pPr marL="1790700" marR="5080">
              <a:lnSpc>
                <a:spcPct val="1237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Continuous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bag-</a:t>
            </a:r>
            <a:r>
              <a:rPr sz="2700" spc="-20" dirty="0">
                <a:latin typeface="Times New Roman"/>
                <a:cs typeface="Times New Roman"/>
              </a:rPr>
              <a:t>of-</a:t>
            </a:r>
            <a:r>
              <a:rPr sz="2700" dirty="0">
                <a:latin typeface="Times New Roman"/>
                <a:cs typeface="Times New Roman"/>
              </a:rPr>
              <a:t>words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(CBOW) Skip-</a:t>
            </a:r>
            <a:r>
              <a:rPr sz="2700" spc="-20" dirty="0">
                <a:latin typeface="Times New Roman"/>
                <a:cs typeface="Times New Roman"/>
              </a:rPr>
              <a:t>gram</a:t>
            </a:r>
            <a:endParaRPr sz="2700">
              <a:latin typeface="Times New Roman"/>
              <a:cs typeface="Times New Roman"/>
            </a:endParaRPr>
          </a:p>
          <a:p>
            <a:pPr marL="650240" lvl="1" indent="-226695">
              <a:lnSpc>
                <a:spcPct val="100000"/>
              </a:lnSpc>
              <a:spcBef>
                <a:spcPts val="860"/>
              </a:spcBef>
              <a:buClr>
                <a:srgbClr val="FFC000"/>
              </a:buClr>
              <a:buFont typeface="Wingdings"/>
              <a:buChar char=""/>
              <a:tabLst>
                <a:tab pos="650240" algn="l"/>
              </a:tabLst>
            </a:pPr>
            <a:r>
              <a:rPr sz="2700" dirty="0">
                <a:latin typeface="Times New Roman"/>
                <a:cs typeface="Times New Roman"/>
              </a:rPr>
              <a:t>2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training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methods:</a:t>
            </a:r>
            <a:endParaRPr sz="2700">
              <a:latin typeface="Times New Roman"/>
              <a:cs typeface="Times New Roman"/>
            </a:endParaRPr>
          </a:p>
          <a:p>
            <a:pPr marL="1790700" marR="1880870">
              <a:lnSpc>
                <a:spcPts val="4010"/>
              </a:lnSpc>
              <a:spcBef>
                <a:spcPts val="75"/>
              </a:spcBef>
            </a:pPr>
            <a:r>
              <a:rPr sz="2700" dirty="0">
                <a:latin typeface="Times New Roman"/>
                <a:cs typeface="Times New Roman"/>
              </a:rPr>
              <a:t>Negative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Sampling </a:t>
            </a:r>
            <a:r>
              <a:rPr sz="2700" dirty="0">
                <a:latin typeface="Times New Roman"/>
                <a:cs typeface="Times New Roman"/>
              </a:rPr>
              <a:t>Hierarchical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SoftMax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4202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4202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3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CBOW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5"/>
              </a:spcBef>
              <a:buClr>
                <a:srgbClr val="FFC000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/>
              <a:t>Predict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center</a:t>
            </a:r>
            <a:r>
              <a:rPr spc="-20" dirty="0"/>
              <a:t> </a:t>
            </a:r>
            <a:r>
              <a:rPr dirty="0"/>
              <a:t>word</a:t>
            </a:r>
            <a:r>
              <a:rPr spc="-25" dirty="0"/>
              <a:t> </a:t>
            </a:r>
            <a:r>
              <a:rPr dirty="0"/>
              <a:t>from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surrounding</a:t>
            </a:r>
            <a:r>
              <a:rPr spc="-20" dirty="0"/>
              <a:t> </a:t>
            </a:r>
            <a:r>
              <a:rPr dirty="0"/>
              <a:t>context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term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word</a:t>
            </a:r>
            <a:r>
              <a:rPr spc="-25" dirty="0"/>
              <a:t> </a:t>
            </a:r>
            <a:r>
              <a:rPr spc="-10" dirty="0"/>
              <a:t>vectors</a:t>
            </a:r>
          </a:p>
          <a:p>
            <a:pPr marL="354965" marR="3199765" indent="-342265">
              <a:lnSpc>
                <a:spcPct val="128299"/>
              </a:lnSpc>
              <a:buClr>
                <a:srgbClr val="FFC000"/>
              </a:buClr>
              <a:buFont typeface="Wingdings"/>
              <a:buChar char=""/>
              <a:tabLst>
                <a:tab pos="876300" algn="l"/>
              </a:tabLst>
            </a:pPr>
            <a:r>
              <a:rPr dirty="0"/>
              <a:t>Example:</a:t>
            </a:r>
            <a:r>
              <a:rPr spc="-35" dirty="0"/>
              <a:t> </a:t>
            </a:r>
            <a:r>
              <a:rPr dirty="0"/>
              <a:t>“</a:t>
            </a:r>
            <a:r>
              <a:rPr b="1" dirty="0">
                <a:latin typeface="Times New Roman"/>
                <a:cs typeface="Times New Roman"/>
              </a:rPr>
              <a:t>Muốn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lấy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mật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thì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đừng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phá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tổ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spc="-20" dirty="0">
                <a:latin typeface="Times New Roman"/>
                <a:cs typeface="Times New Roman"/>
              </a:rPr>
              <a:t>ong</a:t>
            </a:r>
            <a:r>
              <a:rPr spc="-20" dirty="0"/>
              <a:t>” 	</a:t>
            </a:r>
            <a:r>
              <a:rPr dirty="0"/>
              <a:t>“đừng”: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central</a:t>
            </a:r>
            <a:r>
              <a:rPr spc="-20" dirty="0"/>
              <a:t> </a:t>
            </a:r>
            <a:r>
              <a:rPr dirty="0"/>
              <a:t>target</a:t>
            </a:r>
            <a:r>
              <a:rPr spc="-25" dirty="0"/>
              <a:t> </a:t>
            </a:r>
            <a:r>
              <a:rPr spc="-20" dirty="0"/>
              <a:t>word</a:t>
            </a:r>
          </a:p>
          <a:p>
            <a:pPr marL="876300">
              <a:lnSpc>
                <a:spcPct val="100000"/>
              </a:lnSpc>
              <a:spcBef>
                <a:spcPts val="815"/>
              </a:spcBef>
            </a:pPr>
            <a:r>
              <a:rPr dirty="0"/>
              <a:t>“mật”,</a:t>
            </a:r>
            <a:r>
              <a:rPr spc="-25" dirty="0"/>
              <a:t> </a:t>
            </a:r>
            <a:r>
              <a:rPr dirty="0"/>
              <a:t>“thì”,</a:t>
            </a:r>
            <a:r>
              <a:rPr spc="-20" dirty="0"/>
              <a:t> </a:t>
            </a:r>
            <a:r>
              <a:rPr dirty="0"/>
              <a:t>“phá”,</a:t>
            </a:r>
            <a:r>
              <a:rPr spc="-25" dirty="0"/>
              <a:t> </a:t>
            </a:r>
            <a:r>
              <a:rPr dirty="0"/>
              <a:t>“tổ”: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context</a:t>
            </a:r>
            <a:r>
              <a:rPr spc="-25" dirty="0"/>
              <a:t> </a:t>
            </a:r>
            <a:r>
              <a:rPr dirty="0"/>
              <a:t>window</a:t>
            </a:r>
            <a:r>
              <a:rPr spc="-25" dirty="0"/>
              <a:t> </a:t>
            </a:r>
            <a:r>
              <a:rPr dirty="0"/>
              <a:t>size</a:t>
            </a:r>
            <a:r>
              <a:rPr spc="-2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spc="-50" dirty="0"/>
              <a:t>2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3909" y="4275734"/>
            <a:ext cx="7160970" cy="110713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4202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4202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3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CBOW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3909" y="4275734"/>
            <a:ext cx="7160970" cy="11071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5472" y="2209291"/>
            <a:ext cx="10360025" cy="193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CBOW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concerned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target </a:t>
            </a:r>
            <a:r>
              <a:rPr sz="2400" dirty="0">
                <a:latin typeface="Times New Roman"/>
                <a:cs typeface="Times New Roman"/>
              </a:rPr>
              <a:t>word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“đừng”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“mật”,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“thì”,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“phá”,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“tổ”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400">
              <a:latin typeface="Times New Roman"/>
              <a:cs typeface="Times New Roman"/>
            </a:endParaRPr>
          </a:p>
          <a:p>
            <a:pPr marL="610235" algn="ctr">
              <a:lnSpc>
                <a:spcPct val="100000"/>
              </a:lnSpc>
            </a:pPr>
            <a:r>
              <a:rPr sz="2400" spc="105" dirty="0">
                <a:latin typeface="FreeSerif"/>
                <a:cs typeface="FreeSerif"/>
              </a:rPr>
              <a:t>P(đừng|mật,</a:t>
            </a:r>
            <a:r>
              <a:rPr sz="2400" spc="-145" dirty="0">
                <a:latin typeface="FreeSerif"/>
                <a:cs typeface="FreeSerif"/>
              </a:rPr>
              <a:t> </a:t>
            </a:r>
            <a:r>
              <a:rPr sz="2400" dirty="0">
                <a:latin typeface="FreeSerif"/>
                <a:cs typeface="FreeSerif"/>
              </a:rPr>
              <a:t>thì,</a:t>
            </a:r>
            <a:r>
              <a:rPr sz="2400" spc="-145" dirty="0">
                <a:latin typeface="FreeSerif"/>
                <a:cs typeface="FreeSerif"/>
              </a:rPr>
              <a:t> </a:t>
            </a:r>
            <a:r>
              <a:rPr sz="2400" spc="60" dirty="0">
                <a:latin typeface="FreeSerif"/>
                <a:cs typeface="FreeSerif"/>
              </a:rPr>
              <a:t>phá,</a:t>
            </a:r>
            <a:r>
              <a:rPr sz="2400" spc="-145" dirty="0">
                <a:latin typeface="FreeSerif"/>
                <a:cs typeface="FreeSerif"/>
              </a:rPr>
              <a:t> </a:t>
            </a:r>
            <a:r>
              <a:rPr sz="2400" spc="100" dirty="0">
                <a:latin typeface="FreeSerif"/>
                <a:cs typeface="FreeSerif"/>
              </a:rPr>
              <a:t>tổ)</a:t>
            </a:r>
            <a:endParaRPr sz="2400">
              <a:latin typeface="FreeSerif"/>
              <a:cs typeface="Free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2" y="2209291"/>
            <a:ext cx="616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Example: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“Muốn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lấy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mật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thì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đừng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phá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tổ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ong”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4202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4202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3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CBOW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8475" y="2988602"/>
            <a:ext cx="8835015" cy="314307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4202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4202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3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CBOW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4085" y="2094784"/>
            <a:ext cx="6896276" cy="46164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4202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4202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3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CBOW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417" y="2105659"/>
            <a:ext cx="7277734" cy="19151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15"/>
              </a:spcBef>
              <a:buClr>
                <a:srgbClr val="FFC000"/>
              </a:buClr>
              <a:buFont typeface="Wingdings"/>
              <a:buChar char=""/>
              <a:tabLst>
                <a:tab pos="380365" algn="l"/>
              </a:tabLst>
            </a:pP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w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i</a:t>
            </a:r>
            <a:r>
              <a:rPr sz="2400" i="1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from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vocabulary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solidFill>
                  <a:srgbClr val="434343"/>
                </a:solidFill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  <a:p>
            <a:pPr marL="380365" indent="-3422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3803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each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w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i</a:t>
            </a:r>
            <a:r>
              <a:rPr sz="2400" i="1" spc="262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is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represented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as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two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d-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dimension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vectors:</a:t>
            </a:r>
            <a:endParaRPr sz="2400">
              <a:latin typeface="Times New Roman"/>
              <a:cs typeface="Times New Roman"/>
            </a:endParaRPr>
          </a:p>
          <a:p>
            <a:pPr marL="1078865" lvl="1" indent="-17716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1078865" algn="l"/>
              </a:tabLst>
            </a:pPr>
            <a:r>
              <a:rPr sz="2400" spc="165" dirty="0">
                <a:solidFill>
                  <a:srgbClr val="434343"/>
                </a:solidFill>
                <a:latin typeface="FreeSerif"/>
                <a:cs typeface="FreeSerif"/>
              </a:rPr>
              <a:t>𝑣</a:t>
            </a:r>
            <a:r>
              <a:rPr sz="2700" spc="247" baseline="-15432" dirty="0">
                <a:solidFill>
                  <a:srgbClr val="434343"/>
                </a:solidFill>
                <a:latin typeface="FreeSerif"/>
                <a:cs typeface="FreeSerif"/>
              </a:rPr>
              <a:t>𝑖</a:t>
            </a:r>
            <a:r>
              <a:rPr sz="2700" spc="509" baseline="-15432" dirty="0">
                <a:solidFill>
                  <a:srgbClr val="434343"/>
                </a:solidFill>
                <a:latin typeface="FreeSerif"/>
                <a:cs typeface="FreeSerif"/>
              </a:rPr>
              <a:t> </a:t>
            </a:r>
            <a:r>
              <a:rPr sz="2400" spc="204" dirty="0">
                <a:solidFill>
                  <a:srgbClr val="434343"/>
                </a:solidFill>
                <a:latin typeface="FreeSerif"/>
                <a:cs typeface="FreeSerif"/>
              </a:rPr>
              <a:t>∈</a:t>
            </a:r>
            <a:r>
              <a:rPr sz="2400" spc="65" dirty="0">
                <a:solidFill>
                  <a:srgbClr val="434343"/>
                </a:solidFill>
                <a:latin typeface="FreeSerif"/>
                <a:cs typeface="FreeSerif"/>
              </a:rPr>
              <a:t> </a:t>
            </a:r>
            <a:r>
              <a:rPr sz="2400" spc="110" dirty="0">
                <a:solidFill>
                  <a:srgbClr val="434343"/>
                </a:solidFill>
                <a:latin typeface="FreeSerif"/>
                <a:cs typeface="FreeSerif"/>
              </a:rPr>
              <a:t>ℝ</a:t>
            </a:r>
            <a:r>
              <a:rPr sz="2700" spc="165" baseline="27777" dirty="0">
                <a:solidFill>
                  <a:srgbClr val="434343"/>
                </a:solidFill>
                <a:latin typeface="FreeSerif"/>
                <a:cs typeface="FreeSerif"/>
              </a:rPr>
              <a:t>𝑑</a:t>
            </a:r>
            <a:r>
              <a:rPr sz="2400" spc="110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context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 vector</a:t>
            </a:r>
            <a:endParaRPr sz="2400">
              <a:latin typeface="Times New Roman"/>
              <a:cs typeface="Times New Roman"/>
            </a:endParaRPr>
          </a:p>
          <a:p>
            <a:pPr marL="1078865" lvl="1" indent="-177165">
              <a:lnSpc>
                <a:spcPct val="100000"/>
              </a:lnSpc>
              <a:spcBef>
                <a:spcPts val="915"/>
              </a:spcBef>
              <a:buFont typeface="Times New Roman"/>
              <a:buChar char="-"/>
              <a:tabLst>
                <a:tab pos="1078865" algn="l"/>
              </a:tabLst>
            </a:pPr>
            <a:r>
              <a:rPr sz="2400" spc="145" dirty="0">
                <a:solidFill>
                  <a:srgbClr val="434343"/>
                </a:solidFill>
                <a:latin typeface="FreeSerif"/>
                <a:cs typeface="FreeSerif"/>
              </a:rPr>
              <a:t>𝑢</a:t>
            </a:r>
            <a:r>
              <a:rPr sz="2700" spc="217" baseline="-15432" dirty="0">
                <a:solidFill>
                  <a:srgbClr val="434343"/>
                </a:solidFill>
                <a:latin typeface="FreeSerif"/>
                <a:cs typeface="FreeSerif"/>
              </a:rPr>
              <a:t>𝑖</a:t>
            </a:r>
            <a:r>
              <a:rPr sz="2700" spc="502" baseline="-15432" dirty="0">
                <a:solidFill>
                  <a:srgbClr val="434343"/>
                </a:solidFill>
                <a:latin typeface="FreeSerif"/>
                <a:cs typeface="FreeSerif"/>
              </a:rPr>
              <a:t> </a:t>
            </a:r>
            <a:r>
              <a:rPr sz="2400" spc="204" dirty="0">
                <a:solidFill>
                  <a:srgbClr val="434343"/>
                </a:solidFill>
                <a:latin typeface="FreeSerif"/>
                <a:cs typeface="FreeSerif"/>
              </a:rPr>
              <a:t>∈</a:t>
            </a:r>
            <a:r>
              <a:rPr sz="2400" spc="60" dirty="0">
                <a:solidFill>
                  <a:srgbClr val="434343"/>
                </a:solidFill>
                <a:latin typeface="FreeSerif"/>
                <a:cs typeface="FreeSerif"/>
              </a:rPr>
              <a:t> </a:t>
            </a:r>
            <a:r>
              <a:rPr sz="2400" spc="110" dirty="0">
                <a:solidFill>
                  <a:srgbClr val="434343"/>
                </a:solidFill>
                <a:latin typeface="FreeSerif"/>
                <a:cs typeface="FreeSerif"/>
              </a:rPr>
              <a:t>ℝ</a:t>
            </a:r>
            <a:r>
              <a:rPr sz="2700" spc="165" baseline="26234" dirty="0">
                <a:solidFill>
                  <a:srgbClr val="434343"/>
                </a:solidFill>
                <a:latin typeface="FreeSerif"/>
                <a:cs typeface="FreeSerif"/>
              </a:rPr>
              <a:t>𝑑</a:t>
            </a:r>
            <a:r>
              <a:rPr sz="2400" spc="110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central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target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 vector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4202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4202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3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CBOW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417" y="2105659"/>
            <a:ext cx="11169015" cy="14338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15"/>
              </a:spcBef>
              <a:buClr>
                <a:srgbClr val="FFC000"/>
              </a:buClr>
              <a:buFont typeface="Wingdings"/>
              <a:buChar char=""/>
              <a:tabLst>
                <a:tab pos="380365" algn="l"/>
              </a:tabLst>
            </a:pP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w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central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target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word,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indexed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as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solidFill>
                  <a:srgbClr val="434343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380365" indent="-3422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380365" algn="l"/>
              </a:tabLst>
            </a:pP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w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o1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,…,w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o2m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context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words,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indexed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as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o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1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,…,</a:t>
            </a:r>
            <a:r>
              <a:rPr sz="2400" i="1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o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2m</a:t>
            </a:r>
            <a:r>
              <a:rPr sz="2400" i="1" spc="240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vocabulary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with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m: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window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size</a:t>
            </a:r>
            <a:endParaRPr sz="2400">
              <a:latin typeface="Times New Roman"/>
              <a:cs typeface="Times New Roman"/>
            </a:endParaRPr>
          </a:p>
          <a:p>
            <a:pPr marL="380365" indent="-3422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3803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conditional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probability: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48" y="3886200"/>
            <a:ext cx="7477125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4202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4202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3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CBOW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817" y="2105659"/>
            <a:ext cx="4453890" cy="96456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CBOW</a:t>
            </a:r>
            <a:r>
              <a:rPr sz="2400" b="1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Model</a:t>
            </a:r>
            <a:r>
              <a:rPr sz="2400" b="1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Training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Optimization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objective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function: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946" y="3433379"/>
            <a:ext cx="10864215" cy="21461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385"/>
              </a:spcBef>
              <a:buClr>
                <a:srgbClr val="FFC000"/>
              </a:buClr>
              <a:buFont typeface="Wingdings"/>
              <a:buChar char=""/>
              <a:tabLst>
                <a:tab pos="507365" algn="l"/>
              </a:tabLst>
            </a:pPr>
            <a:endParaRPr lang="en-US" sz="2400" smtClean="0">
              <a:solidFill>
                <a:srgbClr val="434343"/>
              </a:solidFill>
              <a:latin typeface="Times New Roman"/>
              <a:cs typeface="Times New Roman"/>
            </a:endParaRPr>
          </a:p>
          <a:p>
            <a:pPr marL="507365" indent="-456565">
              <a:lnSpc>
                <a:spcPct val="100000"/>
              </a:lnSpc>
              <a:spcBef>
                <a:spcPts val="385"/>
              </a:spcBef>
              <a:buClr>
                <a:srgbClr val="FFC000"/>
              </a:buClr>
              <a:buFont typeface="Wingdings"/>
              <a:buChar char=""/>
              <a:tabLst>
                <a:tab pos="507365" algn="l"/>
              </a:tabLst>
            </a:pPr>
            <a:endParaRPr lang="en-US" sz="2400">
              <a:solidFill>
                <a:srgbClr val="434343"/>
              </a:solidFill>
              <a:latin typeface="Times New Roman"/>
              <a:cs typeface="Times New Roman"/>
            </a:endParaRPr>
          </a:p>
          <a:p>
            <a:pPr marL="507365" indent="-456565">
              <a:lnSpc>
                <a:spcPct val="100000"/>
              </a:lnSpc>
              <a:spcBef>
                <a:spcPts val="385"/>
              </a:spcBef>
              <a:buClr>
                <a:srgbClr val="FFC000"/>
              </a:buClr>
              <a:buFont typeface="Wingdings"/>
              <a:buChar char=""/>
              <a:tabLst>
                <a:tab pos="507365" algn="l"/>
              </a:tabLst>
            </a:pPr>
            <a:r>
              <a:rPr sz="2400" smtClean="0">
                <a:solidFill>
                  <a:srgbClr val="434343"/>
                </a:solidFill>
                <a:latin typeface="Times New Roman"/>
                <a:cs typeface="Times New Roman"/>
              </a:rPr>
              <a:t>Use</a:t>
            </a:r>
            <a:r>
              <a:rPr sz="2400" spc="-30" smtClean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SGD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to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update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all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relevant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vectors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v</a:t>
            </a:r>
            <a:r>
              <a:rPr sz="2400" i="1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solidFill>
                  <a:srgbClr val="434343"/>
                </a:solidFill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  <a:p>
            <a:pPr marL="508000" marR="55880" indent="-457200">
              <a:lnSpc>
                <a:spcPts val="2780"/>
              </a:lnSpc>
              <a:spcBef>
                <a:spcPts val="995"/>
              </a:spcBef>
              <a:buClr>
                <a:srgbClr val="FFC000"/>
              </a:buClr>
              <a:buFont typeface="Wingdings"/>
              <a:buChar char=""/>
              <a:tabLst>
                <a:tab pos="508000" algn="l"/>
              </a:tabLst>
            </a:pP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NOTE:</a:t>
            </a:r>
            <a:r>
              <a:rPr sz="2400" b="1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CBOW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model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use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context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vector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as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representation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vector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for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434343"/>
                </a:solidFill>
                <a:latin typeface="Times New Roman"/>
                <a:cs typeface="Times New Roman"/>
              </a:rPr>
              <a:t>a 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762" y="3276600"/>
            <a:ext cx="608647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420235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420235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3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CBOW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817" y="2105659"/>
            <a:ext cx="2234565" cy="96456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b="1" dirty="0">
                <a:latin typeface="Times New Roman"/>
                <a:cs typeface="Times New Roman"/>
              </a:rPr>
              <a:t>Cross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entropy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Loss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117" y="4190492"/>
            <a:ext cx="68973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8196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 is 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one-</a:t>
            </a:r>
            <a:r>
              <a:rPr sz="2400" dirty="0">
                <a:latin typeface="Times New Roman"/>
                <a:cs typeface="Times New Roman"/>
              </a:rPr>
              <a:t>hot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vector</a:t>
            </a:r>
            <a:r>
              <a:rPr sz="2400" spc="-10" smtClean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22" y="2895600"/>
            <a:ext cx="3552825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1821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1821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1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Skip-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gram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472" y="2105659"/>
            <a:ext cx="9298305" cy="19030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5"/>
              </a:spcBef>
              <a:buClr>
                <a:srgbClr val="FFC000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Predict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(probability)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word</a:t>
            </a:r>
            <a:endParaRPr sz="2400">
              <a:latin typeface="Times New Roman"/>
              <a:cs typeface="Times New Roman"/>
            </a:endParaRPr>
          </a:p>
          <a:p>
            <a:pPr marL="354965" marR="2962275" indent="-342265">
              <a:lnSpc>
                <a:spcPct val="128299"/>
              </a:lnSpc>
              <a:buClr>
                <a:srgbClr val="FFC000"/>
              </a:buClr>
              <a:buFont typeface="Wingdings"/>
              <a:buChar char=""/>
              <a:tabLst>
                <a:tab pos="876300" algn="l"/>
              </a:tabLst>
            </a:pPr>
            <a:r>
              <a:rPr sz="2400" dirty="0">
                <a:latin typeface="Times New Roman"/>
                <a:cs typeface="Times New Roman"/>
              </a:rPr>
              <a:t>Example: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b="1" dirty="0">
                <a:latin typeface="Times New Roman"/>
                <a:cs typeface="Times New Roman"/>
              </a:rPr>
              <a:t>Muốn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lấy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mật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thì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đừng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phá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tổ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ong</a:t>
            </a:r>
            <a:r>
              <a:rPr sz="2400" spc="-20" dirty="0">
                <a:latin typeface="Times New Roman"/>
                <a:cs typeface="Times New Roman"/>
              </a:rPr>
              <a:t>” 	</a:t>
            </a:r>
            <a:r>
              <a:rPr sz="2400" dirty="0">
                <a:latin typeface="Times New Roman"/>
                <a:cs typeface="Times New Roman"/>
              </a:rPr>
              <a:t>“đừng”: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target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word</a:t>
            </a:r>
            <a:endParaRPr sz="2400">
              <a:latin typeface="Times New Roman"/>
              <a:cs typeface="Times New Roman"/>
            </a:endParaRPr>
          </a:p>
          <a:p>
            <a:pPr marL="876300">
              <a:lnSpc>
                <a:spcPct val="100000"/>
              </a:lnSpc>
              <a:spcBef>
                <a:spcPts val="815"/>
              </a:spcBef>
            </a:pPr>
            <a:r>
              <a:rPr sz="2400" dirty="0">
                <a:latin typeface="Times New Roman"/>
                <a:cs typeface="Times New Roman"/>
              </a:rPr>
              <a:t>“mật”,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“thì”,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“phá”,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“tổ”: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size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7230" y="4311479"/>
            <a:ext cx="7086365" cy="10975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1821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1821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1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Skip-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gram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7230" y="4801598"/>
            <a:ext cx="7086365" cy="10975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25472" y="2209291"/>
            <a:ext cx="10892155" cy="17466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Skip-</a:t>
            </a:r>
            <a:r>
              <a:rPr sz="2400" dirty="0">
                <a:latin typeface="Times New Roman"/>
                <a:cs typeface="Times New Roman"/>
              </a:rPr>
              <a:t>gram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“mật”, </a:t>
            </a:r>
            <a:r>
              <a:rPr sz="2400" dirty="0">
                <a:latin typeface="Times New Roman"/>
                <a:cs typeface="Times New Roman"/>
              </a:rPr>
              <a:t>“thì”,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“phá”,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“tổ”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“đừng”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endParaRPr lang="en-US" sz="2400" smtClean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smtClean="0">
                <a:latin typeface="Times New Roman"/>
                <a:cs typeface="Times New Roman"/>
              </a:rPr>
              <a:t>Assume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independently</a:t>
            </a:r>
            <a:r>
              <a:rPr sz="2400" spc="-10" smtClean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033222"/>
            <a:ext cx="7239000" cy="581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653" y="3038475"/>
            <a:ext cx="3686175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1821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1821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1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Skip-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gram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472" y="2209291"/>
            <a:ext cx="616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Example: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“Muốn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lấy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mật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thì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đừng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phá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tổ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ong”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8651" y="2994946"/>
            <a:ext cx="8954683" cy="324342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1821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1821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1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Skip-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gram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887" y="2302442"/>
            <a:ext cx="6265608" cy="44295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1821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1821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1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Skip-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gram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417" y="2110231"/>
            <a:ext cx="8141334" cy="20828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65"/>
              </a:spcBef>
              <a:buClr>
                <a:srgbClr val="FFC000"/>
              </a:buClr>
              <a:buFont typeface="Wingdings"/>
              <a:buChar char=""/>
              <a:tabLst>
                <a:tab pos="381000" algn="l"/>
              </a:tabLst>
            </a:pPr>
            <a:r>
              <a:rPr sz="2700" i="1" dirty="0">
                <a:solidFill>
                  <a:srgbClr val="434343"/>
                </a:solidFill>
                <a:latin typeface="Times New Roman"/>
                <a:cs typeface="Times New Roman"/>
              </a:rPr>
              <a:t>w</a:t>
            </a:r>
            <a:r>
              <a:rPr sz="2700" i="1" baseline="-18518" dirty="0">
                <a:solidFill>
                  <a:srgbClr val="434343"/>
                </a:solidFill>
                <a:latin typeface="Times New Roman"/>
                <a:cs typeface="Times New Roman"/>
              </a:rPr>
              <a:t>i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7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7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434343"/>
                </a:solidFill>
                <a:latin typeface="Times New Roman"/>
                <a:cs typeface="Times New Roman"/>
              </a:rPr>
              <a:t>i</a:t>
            </a:r>
            <a:r>
              <a:rPr sz="2700" i="1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from</a:t>
            </a:r>
            <a:r>
              <a:rPr sz="27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vocabulary</a:t>
            </a:r>
            <a:r>
              <a:rPr sz="27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i="1" spc="-50" dirty="0">
                <a:solidFill>
                  <a:srgbClr val="434343"/>
                </a:solidFill>
                <a:latin typeface="Times New Roman"/>
                <a:cs typeface="Times New Roman"/>
              </a:rPr>
              <a:t>V</a:t>
            </a:r>
            <a:endParaRPr sz="27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770"/>
              </a:spcBef>
              <a:buClr>
                <a:srgbClr val="FFC000"/>
              </a:buClr>
              <a:buFont typeface="Wingdings"/>
              <a:buChar char=""/>
              <a:tabLst>
                <a:tab pos="381000" algn="l"/>
              </a:tabLst>
            </a:pP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each</a:t>
            </a:r>
            <a:r>
              <a:rPr sz="27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7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434343"/>
                </a:solidFill>
                <a:latin typeface="Times New Roman"/>
                <a:cs typeface="Times New Roman"/>
              </a:rPr>
              <a:t>w</a:t>
            </a:r>
            <a:r>
              <a:rPr sz="2700" i="1" baseline="-18518" dirty="0">
                <a:solidFill>
                  <a:srgbClr val="434343"/>
                </a:solidFill>
                <a:latin typeface="Times New Roman"/>
                <a:cs typeface="Times New Roman"/>
              </a:rPr>
              <a:t>i</a:t>
            </a:r>
            <a:r>
              <a:rPr sz="2700" i="1" spc="292" baseline="-18518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is</a:t>
            </a:r>
            <a:r>
              <a:rPr sz="27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represented</a:t>
            </a:r>
            <a:r>
              <a:rPr sz="27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as</a:t>
            </a:r>
            <a:r>
              <a:rPr sz="27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two</a:t>
            </a:r>
            <a:r>
              <a:rPr sz="27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spc="-20" dirty="0">
                <a:solidFill>
                  <a:srgbClr val="434343"/>
                </a:solidFill>
                <a:latin typeface="Times New Roman"/>
                <a:cs typeface="Times New Roman"/>
              </a:rPr>
              <a:t>d-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dimension</a:t>
            </a:r>
            <a:r>
              <a:rPr sz="27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434343"/>
                </a:solidFill>
                <a:latin typeface="Times New Roman"/>
                <a:cs typeface="Times New Roman"/>
              </a:rPr>
              <a:t>vectors:</a:t>
            </a:r>
            <a:endParaRPr sz="2700">
              <a:latin typeface="Times New Roman"/>
              <a:cs typeface="Times New Roman"/>
            </a:endParaRPr>
          </a:p>
          <a:p>
            <a:pPr marL="1101090" lvl="1" indent="-199390">
              <a:lnSpc>
                <a:spcPct val="100000"/>
              </a:lnSpc>
              <a:spcBef>
                <a:spcPts val="960"/>
              </a:spcBef>
              <a:buFont typeface="Times New Roman"/>
              <a:buChar char="-"/>
              <a:tabLst>
                <a:tab pos="1101090" algn="l"/>
              </a:tabLst>
            </a:pPr>
            <a:r>
              <a:rPr sz="2700" spc="185" dirty="0">
                <a:solidFill>
                  <a:srgbClr val="434343"/>
                </a:solidFill>
                <a:latin typeface="FreeSerif"/>
                <a:cs typeface="FreeSerif"/>
              </a:rPr>
              <a:t>𝑣</a:t>
            </a:r>
            <a:r>
              <a:rPr sz="3000" spc="277" baseline="-15277" dirty="0">
                <a:solidFill>
                  <a:srgbClr val="434343"/>
                </a:solidFill>
                <a:latin typeface="FreeSerif"/>
                <a:cs typeface="FreeSerif"/>
              </a:rPr>
              <a:t>𝑖</a:t>
            </a:r>
            <a:r>
              <a:rPr sz="3000" spc="585" baseline="-15277" dirty="0">
                <a:solidFill>
                  <a:srgbClr val="434343"/>
                </a:solidFill>
                <a:latin typeface="FreeSerif"/>
                <a:cs typeface="FreeSerif"/>
              </a:rPr>
              <a:t> </a:t>
            </a:r>
            <a:r>
              <a:rPr sz="2700" spc="229" dirty="0">
                <a:solidFill>
                  <a:srgbClr val="434343"/>
                </a:solidFill>
                <a:latin typeface="FreeSerif"/>
                <a:cs typeface="FreeSerif"/>
              </a:rPr>
              <a:t>∈</a:t>
            </a:r>
            <a:r>
              <a:rPr sz="2700" spc="60" dirty="0">
                <a:solidFill>
                  <a:srgbClr val="434343"/>
                </a:solidFill>
                <a:latin typeface="FreeSerif"/>
                <a:cs typeface="FreeSerif"/>
              </a:rPr>
              <a:t> </a:t>
            </a:r>
            <a:r>
              <a:rPr sz="2700" spc="125" dirty="0">
                <a:solidFill>
                  <a:srgbClr val="434343"/>
                </a:solidFill>
                <a:latin typeface="FreeSerif"/>
                <a:cs typeface="FreeSerif"/>
              </a:rPr>
              <a:t>ℝ</a:t>
            </a:r>
            <a:r>
              <a:rPr sz="3000" spc="187" baseline="27777" dirty="0">
                <a:solidFill>
                  <a:srgbClr val="434343"/>
                </a:solidFill>
                <a:latin typeface="FreeSerif"/>
                <a:cs typeface="FreeSerif"/>
              </a:rPr>
              <a:t>𝑑</a:t>
            </a:r>
            <a:r>
              <a:rPr sz="2700" spc="125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7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7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central</a:t>
            </a:r>
            <a:r>
              <a:rPr sz="27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target</a:t>
            </a:r>
            <a:r>
              <a:rPr sz="2700" spc="-20" dirty="0">
                <a:solidFill>
                  <a:srgbClr val="434343"/>
                </a:solidFill>
                <a:latin typeface="Times New Roman"/>
                <a:cs typeface="Times New Roman"/>
              </a:rPr>
              <a:t> word</a:t>
            </a:r>
            <a:endParaRPr sz="2700">
              <a:latin typeface="Times New Roman"/>
              <a:cs typeface="Times New Roman"/>
            </a:endParaRPr>
          </a:p>
          <a:p>
            <a:pPr marL="1101090" lvl="1" indent="-199390">
              <a:lnSpc>
                <a:spcPct val="100000"/>
              </a:lnSpc>
              <a:spcBef>
                <a:spcPts val="745"/>
              </a:spcBef>
              <a:buFont typeface="Times New Roman"/>
              <a:buChar char="-"/>
              <a:tabLst>
                <a:tab pos="1101090" algn="l"/>
              </a:tabLst>
            </a:pPr>
            <a:r>
              <a:rPr sz="2700" spc="165" dirty="0">
                <a:solidFill>
                  <a:srgbClr val="434343"/>
                </a:solidFill>
                <a:latin typeface="FreeSerif"/>
                <a:cs typeface="FreeSerif"/>
              </a:rPr>
              <a:t>𝑢</a:t>
            </a:r>
            <a:r>
              <a:rPr sz="3000" spc="247" baseline="-15277" dirty="0">
                <a:solidFill>
                  <a:srgbClr val="434343"/>
                </a:solidFill>
                <a:latin typeface="FreeSerif"/>
                <a:cs typeface="FreeSerif"/>
              </a:rPr>
              <a:t>𝑖</a:t>
            </a:r>
            <a:r>
              <a:rPr sz="3000" spc="600" baseline="-15277" dirty="0">
                <a:solidFill>
                  <a:srgbClr val="434343"/>
                </a:solidFill>
                <a:latin typeface="FreeSerif"/>
                <a:cs typeface="FreeSerif"/>
              </a:rPr>
              <a:t> </a:t>
            </a:r>
            <a:r>
              <a:rPr sz="2700" spc="229" dirty="0">
                <a:solidFill>
                  <a:srgbClr val="434343"/>
                </a:solidFill>
                <a:latin typeface="FreeSerif"/>
                <a:cs typeface="FreeSerif"/>
              </a:rPr>
              <a:t>∈</a:t>
            </a:r>
            <a:r>
              <a:rPr sz="2700" spc="75" dirty="0">
                <a:solidFill>
                  <a:srgbClr val="434343"/>
                </a:solidFill>
                <a:latin typeface="FreeSerif"/>
                <a:cs typeface="FreeSerif"/>
              </a:rPr>
              <a:t> </a:t>
            </a:r>
            <a:r>
              <a:rPr sz="2700" spc="125" dirty="0">
                <a:solidFill>
                  <a:srgbClr val="434343"/>
                </a:solidFill>
                <a:latin typeface="FreeSerif"/>
                <a:cs typeface="FreeSerif"/>
              </a:rPr>
              <a:t>ℝ</a:t>
            </a:r>
            <a:r>
              <a:rPr sz="3000" spc="187" baseline="27777" dirty="0">
                <a:solidFill>
                  <a:srgbClr val="434343"/>
                </a:solidFill>
                <a:latin typeface="FreeSerif"/>
                <a:cs typeface="FreeSerif"/>
              </a:rPr>
              <a:t>𝑑</a:t>
            </a:r>
            <a:r>
              <a:rPr sz="2700" spc="125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7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700" spc="-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34343"/>
                </a:solidFill>
                <a:latin typeface="Times New Roman"/>
                <a:cs typeface="Times New Roman"/>
              </a:rPr>
              <a:t>context</a:t>
            </a:r>
            <a:r>
              <a:rPr sz="27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434343"/>
                </a:solidFill>
                <a:latin typeface="Times New Roman"/>
                <a:cs typeface="Times New Roman"/>
              </a:rPr>
              <a:t>words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1821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1821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1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Skip-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gram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417" y="2105659"/>
            <a:ext cx="6899909" cy="14338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15"/>
              </a:spcBef>
              <a:buClr>
                <a:srgbClr val="FFC000"/>
              </a:buClr>
              <a:buFont typeface="Wingdings"/>
              <a:buChar char=""/>
              <a:tabLst>
                <a:tab pos="380365" algn="l"/>
              </a:tabLst>
            </a:pP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w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central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target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word,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indexed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as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c</a:t>
            </a:r>
            <a:r>
              <a:rPr sz="2400" i="1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dictionary</a:t>
            </a:r>
            <a:endParaRPr sz="2400">
              <a:latin typeface="Times New Roman"/>
              <a:cs typeface="Times New Roman"/>
            </a:endParaRPr>
          </a:p>
          <a:p>
            <a:pPr marL="380365" indent="-3422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380365" algn="l"/>
              </a:tabLst>
            </a:pP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w</a:t>
            </a:r>
            <a:r>
              <a:rPr sz="2400" i="1" baseline="-17361" dirty="0">
                <a:solidFill>
                  <a:srgbClr val="434343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: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context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word,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indexed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as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o</a:t>
            </a:r>
            <a:r>
              <a:rPr sz="2400" i="1" spc="-1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dictionary</a:t>
            </a:r>
            <a:endParaRPr sz="2400">
              <a:latin typeface="Times New Roman"/>
              <a:cs typeface="Times New Roman"/>
            </a:endParaRPr>
          </a:p>
          <a:p>
            <a:pPr marL="380365" indent="-3422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3803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conditional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probability: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371" y="3621949"/>
            <a:ext cx="4343400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46" y="1227721"/>
            <a:ext cx="11200130" cy="812800"/>
          </a:xfrm>
          <a:prstGeom prst="rect">
            <a:avLst/>
          </a:prstGeom>
          <a:ln w="25400">
            <a:solidFill>
              <a:srgbClr val="8B81D2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4182110" indent="-457200">
              <a:lnSpc>
                <a:spcPct val="100000"/>
              </a:lnSpc>
              <a:spcBef>
                <a:spcPts val="1405"/>
              </a:spcBef>
              <a:buClr>
                <a:srgbClr val="FFC000"/>
              </a:buClr>
              <a:buFont typeface="Wingdings"/>
              <a:buChar char=""/>
              <a:tabLst>
                <a:tab pos="4182110" algn="l"/>
              </a:tabLst>
            </a:pPr>
            <a:r>
              <a:rPr sz="2700" b="1" dirty="0">
                <a:solidFill>
                  <a:srgbClr val="5243BB"/>
                </a:solidFill>
                <a:latin typeface="Times New Roman"/>
                <a:cs typeface="Times New Roman"/>
              </a:rPr>
              <a:t>Word2Vec:</a:t>
            </a:r>
            <a:r>
              <a:rPr sz="2700" b="1" spc="-110" dirty="0">
                <a:solidFill>
                  <a:srgbClr val="5243BB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5243BB"/>
                </a:solidFill>
                <a:latin typeface="Times New Roman"/>
                <a:cs typeface="Times New Roman"/>
              </a:rPr>
              <a:t>Skip-</a:t>
            </a:r>
            <a:r>
              <a:rPr sz="2700" b="1" spc="-20" dirty="0">
                <a:solidFill>
                  <a:srgbClr val="5243BB"/>
                </a:solidFill>
                <a:latin typeface="Times New Roman"/>
                <a:cs typeface="Times New Roman"/>
              </a:rPr>
              <a:t>gram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817" y="2209291"/>
            <a:ext cx="48158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ts val="275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Optimization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objective</a:t>
            </a:r>
            <a:r>
              <a:rPr sz="2400" spc="-4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function:</a:t>
            </a:r>
            <a:endParaRPr sz="2400">
              <a:latin typeface="Times New Roman"/>
              <a:cs typeface="Times New Roman"/>
            </a:endParaRPr>
          </a:p>
          <a:p>
            <a:pPr marR="137795" algn="r">
              <a:lnSpc>
                <a:spcPts val="2030"/>
              </a:lnSpc>
            </a:pPr>
            <a:endParaRPr sz="2400">
              <a:latin typeface="FreeSerif"/>
              <a:cs typeface="Free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3717" y="3382771"/>
            <a:ext cx="10558780" cy="2485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360"/>
              </a:spcBef>
              <a:buClr>
                <a:srgbClr val="FFC000"/>
              </a:buClr>
              <a:buFont typeface="Wingdings"/>
              <a:buChar char=""/>
              <a:tabLst>
                <a:tab pos="507365" algn="l"/>
              </a:tabLst>
            </a:pPr>
            <a:endParaRPr lang="en-US" sz="2400" smtClean="0">
              <a:solidFill>
                <a:srgbClr val="434343"/>
              </a:solidFill>
              <a:latin typeface="Times New Roman"/>
              <a:cs typeface="Times New Roman"/>
            </a:endParaRPr>
          </a:p>
          <a:p>
            <a:pPr marL="507365" indent="-456565">
              <a:lnSpc>
                <a:spcPct val="100000"/>
              </a:lnSpc>
              <a:spcBef>
                <a:spcPts val="360"/>
              </a:spcBef>
              <a:buClr>
                <a:srgbClr val="FFC000"/>
              </a:buClr>
              <a:buFont typeface="Wingdings"/>
              <a:buChar char=""/>
              <a:tabLst>
                <a:tab pos="507365" algn="l"/>
              </a:tabLst>
            </a:pPr>
            <a:endParaRPr lang="en-US" sz="2400" smtClean="0">
              <a:solidFill>
                <a:srgbClr val="434343"/>
              </a:solidFill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60"/>
              </a:spcBef>
              <a:buClr>
                <a:srgbClr val="FFC000"/>
              </a:buClr>
              <a:tabLst>
                <a:tab pos="507365" algn="l"/>
              </a:tabLst>
            </a:pPr>
            <a:endParaRPr lang="en-US" sz="2400">
              <a:solidFill>
                <a:srgbClr val="434343"/>
              </a:solidFill>
              <a:latin typeface="Times New Roman"/>
              <a:cs typeface="Times New Roman"/>
            </a:endParaRPr>
          </a:p>
          <a:p>
            <a:pPr marL="507365" indent="-456565">
              <a:lnSpc>
                <a:spcPct val="100000"/>
              </a:lnSpc>
              <a:spcBef>
                <a:spcPts val="360"/>
              </a:spcBef>
              <a:buClr>
                <a:srgbClr val="FFC000"/>
              </a:buClr>
              <a:buFont typeface="Wingdings"/>
              <a:buChar char=""/>
              <a:tabLst>
                <a:tab pos="507365" algn="l"/>
              </a:tabLst>
            </a:pPr>
            <a:r>
              <a:rPr sz="2400" smtClean="0">
                <a:solidFill>
                  <a:srgbClr val="434343"/>
                </a:solidFill>
                <a:latin typeface="Times New Roman"/>
                <a:cs typeface="Times New Roman"/>
              </a:rPr>
              <a:t>Use</a:t>
            </a:r>
            <a:r>
              <a:rPr sz="2400" spc="-30" smtClean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SGD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to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update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all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relevant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vectors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34343"/>
                </a:solidFill>
                <a:latin typeface="Times New Roman"/>
                <a:cs typeface="Times New Roman"/>
              </a:rPr>
              <a:t>v</a:t>
            </a:r>
            <a:r>
              <a:rPr sz="2400" i="1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solidFill>
                  <a:srgbClr val="434343"/>
                </a:solidFill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  <a:p>
            <a:pPr marL="508000" marR="55880" indent="-457200">
              <a:lnSpc>
                <a:spcPct val="100000"/>
              </a:lnSpc>
              <a:spcBef>
                <a:spcPts val="840"/>
              </a:spcBef>
              <a:buClr>
                <a:srgbClr val="FFC000"/>
              </a:buClr>
              <a:buFont typeface="Wingdings"/>
              <a:buChar char=""/>
              <a:tabLst>
                <a:tab pos="508000" algn="l"/>
              </a:tabLst>
            </a:pP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NOTE:</a:t>
            </a:r>
            <a:r>
              <a:rPr sz="2400" b="1" spc="-20" dirty="0">
                <a:solidFill>
                  <a:srgbClr val="434343"/>
                </a:solidFill>
                <a:latin typeface="Times New Roman"/>
                <a:cs typeface="Times New Roman"/>
              </a:rPr>
              <a:t> Skip-</a:t>
            </a: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gram</a:t>
            </a:r>
            <a:r>
              <a:rPr sz="2400" b="1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model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use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central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target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vector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as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representation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vector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for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600325"/>
            <a:ext cx="6858000" cy="21240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531" y="403860"/>
            <a:ext cx="55473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313499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20" dirty="0"/>
              <a:t>CBOW</a:t>
            </a:r>
            <a:r>
              <a:rPr dirty="0"/>
              <a:t>	</a:t>
            </a:r>
            <a:r>
              <a:rPr spc="-10" dirty="0"/>
              <a:t>Training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1104" y="1331975"/>
            <a:ext cx="2072639" cy="692150"/>
            <a:chOff x="451104" y="1331975"/>
            <a:chExt cx="2072639" cy="69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4" y="1331975"/>
              <a:ext cx="2072639" cy="691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1408175"/>
              <a:ext cx="1987295" cy="615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41" y="1354480"/>
              <a:ext cx="1980672" cy="60112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5941" y="1354480"/>
            <a:ext cx="1981200" cy="601345"/>
          </a:xfrm>
          <a:prstGeom prst="rect">
            <a:avLst/>
          </a:prstGeom>
          <a:ln w="9525">
            <a:solidFill>
              <a:srgbClr val="D79C34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1.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10" dirty="0">
                <a:latin typeface="Times New Roman"/>
                <a:cs typeface="Times New Roman"/>
              </a:rPr>
              <a:t> Dataset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1327" y="1523491"/>
            <a:ext cx="3700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Truyện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Kiều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-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Nguyễn</a:t>
            </a:r>
            <a:r>
              <a:rPr sz="2400" spc="-1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Du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1104" y="2212848"/>
            <a:ext cx="2072639" cy="695325"/>
            <a:chOff x="451104" y="2212848"/>
            <a:chExt cx="2072639" cy="69532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04" y="2212848"/>
              <a:ext cx="2072639" cy="69494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152" y="2292096"/>
              <a:ext cx="2063495" cy="6156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2237232"/>
              <a:ext cx="1980676" cy="60112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95937" y="2237232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2. </a:t>
            </a:r>
            <a:r>
              <a:rPr sz="2000" spc="-10" dirty="0">
                <a:latin typeface="Times New Roman"/>
                <a:cs typeface="Times New Roman"/>
              </a:rPr>
              <a:t>Preprocessing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1104" y="3093720"/>
            <a:ext cx="2072639" cy="695325"/>
            <a:chOff x="451104" y="3093720"/>
            <a:chExt cx="2072639" cy="69532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104" y="3093720"/>
              <a:ext cx="2072639" cy="6949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648" y="3172968"/>
              <a:ext cx="1746504" cy="61569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3118053"/>
              <a:ext cx="1980676" cy="60112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95937" y="3118053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3.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5384" y="3998976"/>
            <a:ext cx="2161540" cy="695325"/>
            <a:chOff x="405384" y="3998976"/>
            <a:chExt cx="2161540" cy="69532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103" y="3998976"/>
              <a:ext cx="2072639" cy="69494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5384" y="4075176"/>
              <a:ext cx="2161031" cy="61569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4022382"/>
              <a:ext cx="1980676" cy="60112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95937" y="4022381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latin typeface="Times New Roman"/>
                <a:cs typeface="Times New Roman"/>
              </a:rPr>
              <a:t>4.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0623" y="4904232"/>
            <a:ext cx="2131060" cy="692150"/>
            <a:chOff x="420623" y="4904232"/>
            <a:chExt cx="2131060" cy="69215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3" y="4904232"/>
              <a:ext cx="2072639" cy="6918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0623" y="4980432"/>
              <a:ext cx="2130552" cy="61569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5937" y="4926711"/>
              <a:ext cx="1980676" cy="60112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95937" y="492671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5.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CBOW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1104" y="5733288"/>
            <a:ext cx="2072639" cy="692150"/>
            <a:chOff x="451104" y="5733288"/>
            <a:chExt cx="2072639" cy="692150"/>
          </a:xfrm>
        </p:grpSpPr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1104" y="5733288"/>
              <a:ext cx="2072639" cy="6918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7720" y="5809488"/>
              <a:ext cx="1359408" cy="61569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937" y="5755546"/>
              <a:ext cx="1980676" cy="6011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95937" y="5755546"/>
              <a:ext cx="1981200" cy="601345"/>
            </a:xfrm>
            <a:custGeom>
              <a:avLst/>
              <a:gdLst/>
              <a:ahLst/>
              <a:cxnLst/>
              <a:rect l="l" t="t" r="r" b="b"/>
              <a:pathLst>
                <a:path w="1981200" h="601345">
                  <a:moveTo>
                    <a:pt x="0" y="0"/>
                  </a:moveTo>
                  <a:lnTo>
                    <a:pt x="1980671" y="0"/>
                  </a:lnTo>
                  <a:lnTo>
                    <a:pt x="1980671" y="601128"/>
                  </a:lnTo>
                  <a:lnTo>
                    <a:pt x="0" y="6011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3A5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453981" y="2053551"/>
            <a:ext cx="7774305" cy="4303395"/>
            <a:chOff x="3453981" y="2053551"/>
            <a:chExt cx="7774305" cy="4303395"/>
          </a:xfrm>
        </p:grpSpPr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11207" y="2053551"/>
              <a:ext cx="7609979" cy="430312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3981" y="3057829"/>
              <a:ext cx="7774266" cy="2379294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87799" y="5905725"/>
            <a:ext cx="998219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6. </a:t>
            </a:r>
            <a:r>
              <a:rPr sz="2000" spc="-10" dirty="0">
                <a:latin typeface="Times New Roman"/>
                <a:cs typeface="Times New Roman"/>
              </a:rPr>
              <a:t>Predict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531" y="403860"/>
            <a:ext cx="55473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313499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20" dirty="0"/>
              <a:t>CBOW</a:t>
            </a:r>
            <a:r>
              <a:rPr dirty="0"/>
              <a:t>	</a:t>
            </a:r>
            <a:r>
              <a:rPr spc="-10" dirty="0"/>
              <a:t>Training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1104" y="1331975"/>
            <a:ext cx="2072639" cy="692150"/>
            <a:chOff x="451104" y="1331975"/>
            <a:chExt cx="2072639" cy="69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4" y="1331975"/>
              <a:ext cx="2072639" cy="691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1408175"/>
              <a:ext cx="1987295" cy="615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41" y="1354480"/>
              <a:ext cx="1980672" cy="60112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5941" y="135448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1.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10" dirty="0">
                <a:latin typeface="Times New Roman"/>
                <a:cs typeface="Times New Roman"/>
              </a:rPr>
              <a:t> Dataset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1104" y="2212848"/>
            <a:ext cx="2072639" cy="695325"/>
            <a:chOff x="451104" y="2212848"/>
            <a:chExt cx="2072639" cy="6953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04" y="2212848"/>
              <a:ext cx="2072639" cy="6949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152" y="2292096"/>
              <a:ext cx="2063495" cy="6156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2237232"/>
              <a:ext cx="1980676" cy="60112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5937" y="2237232"/>
            <a:ext cx="1981200" cy="601345"/>
          </a:xfrm>
          <a:prstGeom prst="rect">
            <a:avLst/>
          </a:prstGeom>
          <a:ln w="9525">
            <a:solidFill>
              <a:srgbClr val="D79C34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2. </a:t>
            </a:r>
            <a:r>
              <a:rPr sz="2000" spc="-10" dirty="0">
                <a:latin typeface="Times New Roman"/>
                <a:cs typeface="Times New Roman"/>
              </a:rPr>
              <a:t>Preprocessing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1104" y="3093720"/>
            <a:ext cx="2072639" cy="695325"/>
            <a:chOff x="451104" y="3093720"/>
            <a:chExt cx="2072639" cy="69532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104" y="3093720"/>
              <a:ext cx="2072639" cy="6949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648" y="3172968"/>
              <a:ext cx="1746504" cy="6156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937" y="3118053"/>
              <a:ext cx="1980676" cy="60112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5937" y="3118053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3.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5384" y="3998976"/>
            <a:ext cx="2161540" cy="695325"/>
            <a:chOff x="405384" y="3998976"/>
            <a:chExt cx="2161540" cy="695325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1103" y="3998976"/>
              <a:ext cx="2072639" cy="6949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5384" y="4075176"/>
              <a:ext cx="2161031" cy="61569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937" y="4022382"/>
              <a:ext cx="1980676" cy="60112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95937" y="4022381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latin typeface="Times New Roman"/>
                <a:cs typeface="Times New Roman"/>
              </a:rPr>
              <a:t>4.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0623" y="4904232"/>
            <a:ext cx="2131060" cy="692150"/>
            <a:chOff x="420623" y="4904232"/>
            <a:chExt cx="2131060" cy="6921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3" y="4904232"/>
              <a:ext cx="2072639" cy="6918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0623" y="4980432"/>
              <a:ext cx="2130552" cy="6156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37" y="4926711"/>
              <a:ext cx="1980676" cy="60112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95937" y="492671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5.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CBOW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1104" y="5733288"/>
            <a:ext cx="2072639" cy="692150"/>
            <a:chOff x="451104" y="5733288"/>
            <a:chExt cx="2072639" cy="692150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1104" y="5733288"/>
              <a:ext cx="2072639" cy="69189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7720" y="5809488"/>
              <a:ext cx="1359408" cy="6156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937" y="5755546"/>
              <a:ext cx="1980676" cy="6011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5937" y="5755546"/>
              <a:ext cx="1981200" cy="601345"/>
            </a:xfrm>
            <a:custGeom>
              <a:avLst/>
              <a:gdLst/>
              <a:ahLst/>
              <a:cxnLst/>
              <a:rect l="l" t="t" r="r" b="b"/>
              <a:pathLst>
                <a:path w="1981200" h="601345">
                  <a:moveTo>
                    <a:pt x="0" y="0"/>
                  </a:moveTo>
                  <a:lnTo>
                    <a:pt x="1980671" y="0"/>
                  </a:lnTo>
                  <a:lnTo>
                    <a:pt x="1980671" y="601128"/>
                  </a:lnTo>
                  <a:lnTo>
                    <a:pt x="0" y="6011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3A5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115703" y="1483868"/>
            <a:ext cx="4827905" cy="96456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Removal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punctuation,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digits,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tab,…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Lowercasing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028023" y="3031177"/>
            <a:ext cx="8252331" cy="2396461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987799" y="5905725"/>
            <a:ext cx="998219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6. </a:t>
            </a:r>
            <a:r>
              <a:rPr sz="2000" spc="-10" dirty="0">
                <a:latin typeface="Times New Roman"/>
                <a:cs typeface="Times New Roman"/>
              </a:rPr>
              <a:t>Predict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531" y="403860"/>
            <a:ext cx="55473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313499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20" dirty="0"/>
              <a:t>CBOW</a:t>
            </a:r>
            <a:r>
              <a:rPr dirty="0"/>
              <a:t>	</a:t>
            </a:r>
            <a:r>
              <a:rPr spc="-10" dirty="0"/>
              <a:t>Training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1104" y="1331975"/>
            <a:ext cx="2072639" cy="692150"/>
            <a:chOff x="451104" y="1331975"/>
            <a:chExt cx="2072639" cy="69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4" y="1331975"/>
              <a:ext cx="2072639" cy="691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1408175"/>
              <a:ext cx="1987295" cy="615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41" y="1354480"/>
              <a:ext cx="1980672" cy="60112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5941" y="135448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1.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10" dirty="0">
                <a:latin typeface="Times New Roman"/>
                <a:cs typeface="Times New Roman"/>
              </a:rPr>
              <a:t> Dataset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1104" y="2212848"/>
            <a:ext cx="2072639" cy="695325"/>
            <a:chOff x="451104" y="2212848"/>
            <a:chExt cx="2072639" cy="6953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04" y="2212848"/>
              <a:ext cx="2072639" cy="6949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152" y="2292096"/>
              <a:ext cx="2063495" cy="6156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2237232"/>
              <a:ext cx="1980676" cy="60112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5937" y="2237232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2. </a:t>
            </a:r>
            <a:r>
              <a:rPr sz="2000" spc="-10" dirty="0">
                <a:latin typeface="Times New Roman"/>
                <a:cs typeface="Times New Roman"/>
              </a:rPr>
              <a:t>Preprocessing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1104" y="3093720"/>
            <a:ext cx="2072639" cy="695325"/>
            <a:chOff x="451104" y="3093720"/>
            <a:chExt cx="2072639" cy="69532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104" y="3093720"/>
              <a:ext cx="2072639" cy="6949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648" y="3172968"/>
              <a:ext cx="1746504" cy="6156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937" y="3118053"/>
              <a:ext cx="1980676" cy="60112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5937" y="3118053"/>
            <a:ext cx="1981200" cy="601345"/>
          </a:xfrm>
          <a:prstGeom prst="rect">
            <a:avLst/>
          </a:prstGeom>
          <a:ln w="9525">
            <a:solidFill>
              <a:srgbClr val="D79C34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3.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5384" y="3998976"/>
            <a:ext cx="2161540" cy="695325"/>
            <a:chOff x="405384" y="3998976"/>
            <a:chExt cx="2161540" cy="695325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1103" y="3998976"/>
              <a:ext cx="2072639" cy="6949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5384" y="4075176"/>
              <a:ext cx="2161031" cy="61569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4022382"/>
              <a:ext cx="1980676" cy="60112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95937" y="4022381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latin typeface="Times New Roman"/>
                <a:cs typeface="Times New Roman"/>
              </a:rPr>
              <a:t>4.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0623" y="4904232"/>
            <a:ext cx="2131060" cy="692150"/>
            <a:chOff x="420623" y="4904232"/>
            <a:chExt cx="2131060" cy="6921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3" y="4904232"/>
              <a:ext cx="2072639" cy="6918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0623" y="4980432"/>
              <a:ext cx="2130552" cy="6156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37" y="4926711"/>
              <a:ext cx="1980676" cy="60112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95937" y="492671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5.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CBOW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1104" y="5733288"/>
            <a:ext cx="2072639" cy="692150"/>
            <a:chOff x="451104" y="5733288"/>
            <a:chExt cx="2072639" cy="692150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1104" y="5733288"/>
              <a:ext cx="2072639" cy="69189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7720" y="5809488"/>
              <a:ext cx="1359408" cy="6156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937" y="5755546"/>
              <a:ext cx="1980676" cy="6011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5937" y="5755546"/>
              <a:ext cx="1981200" cy="601345"/>
            </a:xfrm>
            <a:custGeom>
              <a:avLst/>
              <a:gdLst/>
              <a:ahLst/>
              <a:cxnLst/>
              <a:rect l="l" t="t" r="r" b="b"/>
              <a:pathLst>
                <a:path w="1981200" h="601345">
                  <a:moveTo>
                    <a:pt x="0" y="0"/>
                  </a:moveTo>
                  <a:lnTo>
                    <a:pt x="1980671" y="0"/>
                  </a:lnTo>
                  <a:lnTo>
                    <a:pt x="1980671" y="601128"/>
                  </a:lnTo>
                  <a:lnTo>
                    <a:pt x="0" y="6011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3A5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115703" y="1587500"/>
            <a:ext cx="346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Get</a:t>
            </a:r>
            <a:r>
              <a:rPr sz="2400" spc="-3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centers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contexts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39261" y="2076982"/>
            <a:ext cx="7785608" cy="4506617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987799" y="5905725"/>
            <a:ext cx="998219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6. </a:t>
            </a:r>
            <a:r>
              <a:rPr sz="2000" spc="-10" dirty="0">
                <a:latin typeface="Times New Roman"/>
                <a:cs typeface="Times New Roman"/>
              </a:rPr>
              <a:t>Predict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531" y="403860"/>
            <a:ext cx="55473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313499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20" dirty="0"/>
              <a:t>CBOW</a:t>
            </a:r>
            <a:r>
              <a:rPr dirty="0"/>
              <a:t>	</a:t>
            </a:r>
            <a:r>
              <a:rPr spc="-10" dirty="0"/>
              <a:t>Training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1104" y="1331975"/>
            <a:ext cx="2072639" cy="692150"/>
            <a:chOff x="451104" y="1331975"/>
            <a:chExt cx="2072639" cy="69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4" y="1331975"/>
              <a:ext cx="2072639" cy="691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1408175"/>
              <a:ext cx="1987295" cy="615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41" y="1354480"/>
              <a:ext cx="1980672" cy="60112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5941" y="135448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1.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10" dirty="0">
                <a:latin typeface="Times New Roman"/>
                <a:cs typeface="Times New Roman"/>
              </a:rPr>
              <a:t> Dataset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1104" y="2212848"/>
            <a:ext cx="2072639" cy="695325"/>
            <a:chOff x="451104" y="2212848"/>
            <a:chExt cx="2072639" cy="6953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04" y="2212848"/>
              <a:ext cx="2072639" cy="6949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152" y="2292096"/>
              <a:ext cx="2063495" cy="6156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2237232"/>
              <a:ext cx="1980676" cy="60112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5937" y="2237232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2. </a:t>
            </a:r>
            <a:r>
              <a:rPr sz="2000" spc="-10" dirty="0">
                <a:latin typeface="Times New Roman"/>
                <a:cs typeface="Times New Roman"/>
              </a:rPr>
              <a:t>Preprocessing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1104" y="3093720"/>
            <a:ext cx="2072639" cy="695325"/>
            <a:chOff x="451104" y="3093720"/>
            <a:chExt cx="2072639" cy="69532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104" y="3093720"/>
              <a:ext cx="2072639" cy="6949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648" y="3172968"/>
              <a:ext cx="1746504" cy="6156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3118053"/>
              <a:ext cx="1980676" cy="60112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5937" y="3118053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3.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5384" y="3998976"/>
            <a:ext cx="2161540" cy="695325"/>
            <a:chOff x="405384" y="3998976"/>
            <a:chExt cx="2161540" cy="69532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103" y="3998976"/>
              <a:ext cx="2072639" cy="6949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5384" y="4075176"/>
              <a:ext cx="2161031" cy="61569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5937" y="4022382"/>
              <a:ext cx="1980676" cy="60112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95937" y="4022381"/>
            <a:ext cx="1981200" cy="601345"/>
          </a:xfrm>
          <a:prstGeom prst="rect">
            <a:avLst/>
          </a:prstGeom>
          <a:ln w="9525">
            <a:solidFill>
              <a:srgbClr val="D79C34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latin typeface="Times New Roman"/>
                <a:cs typeface="Times New Roman"/>
              </a:rPr>
              <a:t>4.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0623" y="4904232"/>
            <a:ext cx="2131060" cy="692150"/>
            <a:chOff x="420623" y="4904232"/>
            <a:chExt cx="2131060" cy="6921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3" y="4904232"/>
              <a:ext cx="2072639" cy="6918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0623" y="4980432"/>
              <a:ext cx="2130552" cy="6156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37" y="4926711"/>
              <a:ext cx="1980676" cy="60112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95937" y="492671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5.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CBOW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1104" y="5733288"/>
            <a:ext cx="2072639" cy="692150"/>
            <a:chOff x="451104" y="5733288"/>
            <a:chExt cx="2072639" cy="692150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1104" y="5733288"/>
              <a:ext cx="2072639" cy="69189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7720" y="5809488"/>
              <a:ext cx="1359408" cy="6156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937" y="5755546"/>
              <a:ext cx="1980676" cy="6011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5937" y="5755546"/>
              <a:ext cx="1981200" cy="601345"/>
            </a:xfrm>
            <a:custGeom>
              <a:avLst/>
              <a:gdLst/>
              <a:ahLst/>
              <a:cxnLst/>
              <a:rect l="l" t="t" r="r" b="b"/>
              <a:pathLst>
                <a:path w="1981200" h="601345">
                  <a:moveTo>
                    <a:pt x="0" y="0"/>
                  </a:moveTo>
                  <a:lnTo>
                    <a:pt x="1980671" y="0"/>
                  </a:lnTo>
                  <a:lnTo>
                    <a:pt x="1980671" y="601128"/>
                  </a:lnTo>
                  <a:lnTo>
                    <a:pt x="0" y="6011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3A5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115703" y="1587500"/>
            <a:ext cx="3466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Convert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text</a:t>
            </a:r>
            <a:r>
              <a:rPr sz="2400" spc="-2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into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 feature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99768" y="2147849"/>
            <a:ext cx="8282631" cy="3047226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987799" y="5905725"/>
            <a:ext cx="998219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6. </a:t>
            </a:r>
            <a:r>
              <a:rPr sz="2000" spc="-10" dirty="0">
                <a:latin typeface="Times New Roman"/>
                <a:cs typeface="Times New Roman"/>
              </a:rPr>
              <a:t>Predict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531" y="403860"/>
            <a:ext cx="55473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313499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20" dirty="0"/>
              <a:t>CBOW</a:t>
            </a:r>
            <a:r>
              <a:rPr dirty="0"/>
              <a:t>	</a:t>
            </a:r>
            <a:r>
              <a:rPr spc="-10" dirty="0"/>
              <a:t>Training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1104" y="1331975"/>
            <a:ext cx="2072639" cy="692150"/>
            <a:chOff x="451104" y="1331975"/>
            <a:chExt cx="2072639" cy="69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4" y="1331975"/>
              <a:ext cx="2072639" cy="691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1408175"/>
              <a:ext cx="1987295" cy="615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41" y="1354480"/>
              <a:ext cx="1980672" cy="60112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5941" y="135448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1.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10" dirty="0">
                <a:latin typeface="Times New Roman"/>
                <a:cs typeface="Times New Roman"/>
              </a:rPr>
              <a:t> Dataset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1104" y="2212848"/>
            <a:ext cx="2072639" cy="695325"/>
            <a:chOff x="451104" y="2212848"/>
            <a:chExt cx="2072639" cy="6953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04" y="2212848"/>
              <a:ext cx="2072639" cy="6949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152" y="2292096"/>
              <a:ext cx="2063495" cy="6156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2237232"/>
              <a:ext cx="1980676" cy="60112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5937" y="2237232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2. </a:t>
            </a:r>
            <a:r>
              <a:rPr sz="2000" spc="-10" dirty="0">
                <a:latin typeface="Times New Roman"/>
                <a:cs typeface="Times New Roman"/>
              </a:rPr>
              <a:t>Preprocessing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1104" y="3093720"/>
            <a:ext cx="2072639" cy="695325"/>
            <a:chOff x="451104" y="3093720"/>
            <a:chExt cx="2072639" cy="69532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104" y="3093720"/>
              <a:ext cx="2072639" cy="6949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648" y="3172968"/>
              <a:ext cx="1746504" cy="6156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3118053"/>
              <a:ext cx="1980676" cy="60112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5937" y="3118053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3.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5384" y="3998976"/>
            <a:ext cx="2161540" cy="695325"/>
            <a:chOff x="405384" y="3998976"/>
            <a:chExt cx="2161540" cy="69532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103" y="3998976"/>
              <a:ext cx="2072639" cy="6949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5384" y="4075176"/>
              <a:ext cx="2161031" cy="61569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4022382"/>
              <a:ext cx="1980676" cy="60112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95937" y="4022381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latin typeface="Times New Roman"/>
                <a:cs typeface="Times New Roman"/>
              </a:rPr>
              <a:t>4.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0623" y="4904232"/>
            <a:ext cx="2131060" cy="692150"/>
            <a:chOff x="420623" y="4904232"/>
            <a:chExt cx="2131060" cy="6921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3" y="4904232"/>
              <a:ext cx="2072639" cy="6918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0623" y="4980432"/>
              <a:ext cx="2130552" cy="6156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5937" y="4926711"/>
              <a:ext cx="1980676" cy="60112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95937" y="4926710"/>
            <a:ext cx="1981200" cy="601345"/>
          </a:xfrm>
          <a:prstGeom prst="rect">
            <a:avLst/>
          </a:prstGeom>
          <a:ln w="9525">
            <a:solidFill>
              <a:srgbClr val="D79C34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5.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CBOW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1104" y="5733288"/>
            <a:ext cx="2072639" cy="692150"/>
            <a:chOff x="451104" y="5733288"/>
            <a:chExt cx="2072639" cy="692150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1104" y="5733288"/>
              <a:ext cx="2072639" cy="69189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7720" y="5809488"/>
              <a:ext cx="1359408" cy="6156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937" y="5755546"/>
              <a:ext cx="1980676" cy="6011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5937" y="5755546"/>
              <a:ext cx="1981200" cy="601345"/>
            </a:xfrm>
            <a:custGeom>
              <a:avLst/>
              <a:gdLst/>
              <a:ahLst/>
              <a:cxnLst/>
              <a:rect l="l" t="t" r="r" b="b"/>
              <a:pathLst>
                <a:path w="1981200" h="601345">
                  <a:moveTo>
                    <a:pt x="0" y="0"/>
                  </a:moveTo>
                  <a:lnTo>
                    <a:pt x="1980671" y="0"/>
                  </a:lnTo>
                  <a:lnTo>
                    <a:pt x="1980671" y="601128"/>
                  </a:lnTo>
                  <a:lnTo>
                    <a:pt x="0" y="6011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3A5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058908" y="1354480"/>
            <a:ext cx="8523491" cy="4741096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987799" y="5905725"/>
            <a:ext cx="998219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6. </a:t>
            </a:r>
            <a:r>
              <a:rPr sz="2000" spc="-10" dirty="0">
                <a:latin typeface="Times New Roman"/>
                <a:cs typeface="Times New Roman"/>
              </a:rPr>
              <a:t>Predict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531" y="403860"/>
            <a:ext cx="55473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964565" algn="l"/>
                <a:tab pos="313499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</a:t>
            </a:r>
            <a:r>
              <a:rPr spc="-20" dirty="0"/>
              <a:t>CBOW</a:t>
            </a:r>
            <a:r>
              <a:rPr dirty="0"/>
              <a:t>	</a:t>
            </a:r>
            <a:r>
              <a:rPr spc="-10" dirty="0"/>
              <a:t>Training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1104" y="1331975"/>
            <a:ext cx="2072639" cy="692150"/>
            <a:chOff x="451104" y="1331975"/>
            <a:chExt cx="2072639" cy="69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4" y="1331975"/>
              <a:ext cx="2072639" cy="691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1408175"/>
              <a:ext cx="1987295" cy="615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41" y="1354480"/>
              <a:ext cx="1980672" cy="60112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5941" y="135448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1.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10" dirty="0">
                <a:latin typeface="Times New Roman"/>
                <a:cs typeface="Times New Roman"/>
              </a:rPr>
              <a:t> Dataset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1104" y="2212848"/>
            <a:ext cx="2072639" cy="695325"/>
            <a:chOff x="451104" y="2212848"/>
            <a:chExt cx="2072639" cy="6953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04" y="2212848"/>
              <a:ext cx="2072639" cy="6949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152" y="2292096"/>
              <a:ext cx="2063495" cy="6156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2237232"/>
              <a:ext cx="1980676" cy="60112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5937" y="2237232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2. </a:t>
            </a:r>
            <a:r>
              <a:rPr sz="2000" spc="-10" dirty="0">
                <a:latin typeface="Times New Roman"/>
                <a:cs typeface="Times New Roman"/>
              </a:rPr>
              <a:t>Preprocessing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1104" y="3093720"/>
            <a:ext cx="2072639" cy="695325"/>
            <a:chOff x="451104" y="3093720"/>
            <a:chExt cx="2072639" cy="69532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104" y="3093720"/>
              <a:ext cx="2072639" cy="6949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648" y="3172968"/>
              <a:ext cx="1746504" cy="6156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3118053"/>
              <a:ext cx="1980676" cy="60112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5937" y="3118053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Times New Roman"/>
                <a:cs typeface="Times New Roman"/>
              </a:rPr>
              <a:t>3.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5384" y="3998976"/>
            <a:ext cx="2161540" cy="695325"/>
            <a:chOff x="405384" y="3998976"/>
            <a:chExt cx="2161540" cy="69532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103" y="3998976"/>
              <a:ext cx="2072639" cy="6949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5384" y="4075176"/>
              <a:ext cx="2161031" cy="61569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37" y="4022382"/>
              <a:ext cx="1980676" cy="60112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95937" y="4022381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latin typeface="Times New Roman"/>
                <a:cs typeface="Times New Roman"/>
              </a:rPr>
              <a:t>4.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0623" y="4904232"/>
            <a:ext cx="2131060" cy="692150"/>
            <a:chOff x="420623" y="4904232"/>
            <a:chExt cx="2131060" cy="6921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3" y="4904232"/>
              <a:ext cx="2072639" cy="6918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0623" y="4980432"/>
              <a:ext cx="2130552" cy="6156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37" y="4926711"/>
              <a:ext cx="1980676" cy="60112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95937" y="4926710"/>
            <a:ext cx="1981200" cy="601345"/>
          </a:xfrm>
          <a:prstGeom prst="rect">
            <a:avLst/>
          </a:prstGeom>
          <a:ln w="9525">
            <a:solidFill>
              <a:srgbClr val="53A5B3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/>
                <a:cs typeface="Times New Roman"/>
              </a:rPr>
              <a:t>5.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CBOW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1104" y="5733288"/>
            <a:ext cx="2072639" cy="692150"/>
            <a:chOff x="451104" y="5733288"/>
            <a:chExt cx="2072639" cy="692150"/>
          </a:xfrm>
        </p:grpSpPr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1104" y="5733288"/>
              <a:ext cx="2072639" cy="69189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7720" y="5809488"/>
              <a:ext cx="1359408" cy="6156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5937" y="5755546"/>
              <a:ext cx="1980676" cy="6011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5937" y="5755546"/>
              <a:ext cx="1981200" cy="601345"/>
            </a:xfrm>
            <a:custGeom>
              <a:avLst/>
              <a:gdLst/>
              <a:ahLst/>
              <a:cxnLst/>
              <a:rect l="l" t="t" r="r" b="b"/>
              <a:pathLst>
                <a:path w="1981200" h="601345">
                  <a:moveTo>
                    <a:pt x="0" y="0"/>
                  </a:moveTo>
                  <a:lnTo>
                    <a:pt x="1980671" y="0"/>
                  </a:lnTo>
                  <a:lnTo>
                    <a:pt x="1980671" y="601128"/>
                  </a:lnTo>
                  <a:lnTo>
                    <a:pt x="0" y="6011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D79C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148467" y="2527217"/>
            <a:ext cx="8426845" cy="232817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3115703" y="1587500"/>
            <a:ext cx="4711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Predict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Center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Word</a:t>
            </a:r>
            <a:r>
              <a:rPr sz="2400" spc="-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34343"/>
                </a:solidFill>
                <a:latin typeface="Times New Roman"/>
                <a:cs typeface="Times New Roman"/>
              </a:rPr>
              <a:t>from</a:t>
            </a:r>
            <a:r>
              <a:rPr sz="24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34343"/>
                </a:solidFill>
                <a:latin typeface="Times New Roman"/>
                <a:cs typeface="Times New Roman"/>
              </a:rPr>
              <a:t>Context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87799" y="5905725"/>
            <a:ext cx="998219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6. </a:t>
            </a:r>
            <a:r>
              <a:rPr sz="2000" spc="-10" dirty="0">
                <a:latin typeface="Times New Roman"/>
                <a:cs typeface="Times New Roman"/>
              </a:rPr>
              <a:t>Predict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986</Words>
  <Application>Microsoft Office PowerPoint</Application>
  <PresentationFormat>Widescreen</PresentationFormat>
  <Paragraphs>326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FreeSerif</vt:lpstr>
      <vt:lpstr>Times New Roman</vt:lpstr>
      <vt:lpstr>Wingdings</vt:lpstr>
      <vt:lpstr>Office Theme</vt:lpstr>
      <vt:lpstr>NLP Basic Distributed Representation</vt:lpstr>
      <vt:lpstr>CONTENT</vt:lpstr>
      <vt:lpstr>1 – Distributed Representation</vt:lpstr>
      <vt:lpstr>1 – Distributed Representation</vt:lpstr>
      <vt:lpstr>1 – Distributed Representation</vt:lpstr>
      <vt:lpstr>1 – Distributed Representation</vt:lpstr>
      <vt:lpstr>1 – Distributed Representation</vt:lpstr>
      <vt:lpstr>1 – Distributed Representation</vt:lpstr>
      <vt:lpstr>1 – Distributed Representation</vt:lpstr>
      <vt:lpstr>1 – Distributed Representation</vt:lpstr>
      <vt:lpstr>1 – Distributed Representation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2 – Word2Vec</vt:lpstr>
      <vt:lpstr>3 – CBOW Training</vt:lpstr>
      <vt:lpstr>3 – CBOW Training</vt:lpstr>
      <vt:lpstr>3 – CBOW Training</vt:lpstr>
      <vt:lpstr>3 – CBOW Training</vt:lpstr>
      <vt:lpstr>3 – CBOW Training</vt:lpstr>
      <vt:lpstr>3 – CBOW Training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Basic Distributed Representation</dc:title>
  <cp:lastModifiedBy>Admin</cp:lastModifiedBy>
  <cp:revision>1</cp:revision>
  <dcterms:created xsi:type="dcterms:W3CDTF">2024-07-11T12:35:48Z</dcterms:created>
  <dcterms:modified xsi:type="dcterms:W3CDTF">2024-07-11T13:06:06Z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2022-12-17T00:00:00Z</vt:filetime>
  </property>
  <property fmtid="{D5CDD505-2E9C-101B-9397-08002B2CF9AE}" pid="3" name="LastSaved">
    <vt:filetime>2024-07-11T00:00:00Z</vt:filetime>
  </property>
  <property fmtid="{D5CDD505-2E9C-101B-9397-08002B2CF9AE}" pid="4" name="Producer">
    <vt:lpwstr>3-Heights(TM) PDF Security Shell 4.8.25.2 (http://www.pdf-tools.com)</vt:lpwstr>
  </property>
</Properties>
</file>