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74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301" r:id="rId4"/>
    <p:sldId id="258" r:id="rId5"/>
    <p:sldId id="269" r:id="rId6"/>
    <p:sldId id="271" r:id="rId7"/>
    <p:sldId id="268" r:id="rId8"/>
    <p:sldId id="297" r:id="rId9"/>
    <p:sldId id="295" r:id="rId10"/>
    <p:sldId id="300" r:id="rId11"/>
    <p:sldId id="298" r:id="rId12"/>
    <p:sldId id="299" r:id="rId13"/>
    <p:sldId id="263" r:id="rId14"/>
    <p:sldId id="264" r:id="rId15"/>
    <p:sldId id="270" r:id="rId16"/>
    <p:sldId id="265" r:id="rId17"/>
    <p:sldId id="302" r:id="rId18"/>
  </p:sldIdLst>
  <p:sldSz cx="9105900" cy="6832600"/>
  <p:notesSz cx="6858000" cy="97663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>
          <p15:clr>
            <a:srgbClr val="A4A3A4"/>
          </p15:clr>
        </p15:guide>
        <p15:guide id="2" pos="28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6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FFF00"/>
    <a:srgbClr val="FF00FF"/>
    <a:srgbClr val="00FFFF"/>
    <a:srgbClr val="00FF00"/>
    <a:srgbClr val="FF0000"/>
    <a:srgbClr val="FFFFFF"/>
    <a:srgbClr val="653A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42" autoAdjust="0"/>
    <p:restoredTop sz="83399" autoAdjust="0"/>
  </p:normalViewPr>
  <p:slideViewPr>
    <p:cSldViewPr>
      <p:cViewPr varScale="1">
        <p:scale>
          <a:sx n="69" d="100"/>
          <a:sy n="69" d="100"/>
        </p:scale>
        <p:origin x="1574" y="62"/>
      </p:cViewPr>
      <p:guideLst>
        <p:guide orient="horz" pos="2152"/>
        <p:guide pos="28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-1696" y="-104"/>
      </p:cViewPr>
      <p:guideLst>
        <p:guide orient="horz" pos="3076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3295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4185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notes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2525" y="854075"/>
            <a:ext cx="455295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21319417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 err="1"/>
              <a:t>Chào</a:t>
            </a:r>
            <a:r>
              <a:rPr lang="en-US" baseline="0" dirty="0"/>
              <a:t> </a:t>
            </a:r>
            <a:r>
              <a:rPr lang="en-US" baseline="0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bạn</a:t>
            </a:r>
            <a:r>
              <a:rPr lang="en-US" baseline="0" dirty="0"/>
              <a:t>! Qua slide </a:t>
            </a:r>
            <a:r>
              <a:rPr lang="en-US" baseline="0" dirty="0" err="1"/>
              <a:t>này</a:t>
            </a:r>
            <a:r>
              <a:rPr lang="en-US" baseline="0" dirty="0"/>
              <a:t>, </a:t>
            </a:r>
            <a:r>
              <a:rPr lang="en-US" baseline="0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bạn</a:t>
            </a:r>
            <a:r>
              <a:rPr lang="en-US" baseline="0" dirty="0"/>
              <a:t> </a:t>
            </a:r>
            <a:r>
              <a:rPr lang="en-US" baseline="0" dirty="0" err="1"/>
              <a:t>sẽ</a:t>
            </a:r>
            <a:r>
              <a:rPr lang="en-US" baseline="0" dirty="0"/>
              <a:t> </a:t>
            </a:r>
            <a:r>
              <a:rPr lang="en-US" baseline="0" dirty="0" err="1"/>
              <a:t>được</a:t>
            </a:r>
            <a:r>
              <a:rPr lang="en-US" baseline="0" dirty="0"/>
              <a:t> </a:t>
            </a:r>
            <a:r>
              <a:rPr lang="en-US" baseline="0" dirty="0" err="1"/>
              <a:t>giới</a:t>
            </a:r>
            <a:r>
              <a:rPr lang="en-US" baseline="0" dirty="0"/>
              <a:t> </a:t>
            </a:r>
            <a:r>
              <a:rPr lang="en-US" baseline="0" dirty="0" err="1"/>
              <a:t>thiệu</a:t>
            </a:r>
            <a:r>
              <a:rPr lang="en-US" baseline="0" dirty="0"/>
              <a:t> </a:t>
            </a:r>
            <a:r>
              <a:rPr lang="en-US" baseline="0" dirty="0" err="1"/>
              <a:t>tổng</a:t>
            </a:r>
            <a:r>
              <a:rPr lang="en-US" baseline="0" dirty="0"/>
              <a:t> </a:t>
            </a:r>
            <a:r>
              <a:rPr lang="en-US" baseline="0" dirty="0" err="1"/>
              <a:t>quan</a:t>
            </a:r>
            <a:r>
              <a:rPr lang="en-US" baseline="0" dirty="0"/>
              <a:t> </a:t>
            </a:r>
            <a:r>
              <a:rPr lang="en-US" baseline="0" dirty="0" err="1"/>
              <a:t>về</a:t>
            </a:r>
            <a:r>
              <a:rPr lang="en-US" baseline="0" dirty="0"/>
              <a:t> </a:t>
            </a:r>
            <a:r>
              <a:rPr lang="en-US" baseline="0" dirty="0" err="1"/>
              <a:t>học</a:t>
            </a:r>
            <a:r>
              <a:rPr lang="en-US" baseline="0" dirty="0"/>
              <a:t> </a:t>
            </a:r>
            <a:r>
              <a:rPr lang="en-US" baseline="0" dirty="0" err="1"/>
              <a:t>phần</a:t>
            </a:r>
            <a:r>
              <a:rPr lang="en-US" baseline="0" dirty="0"/>
              <a:t> </a:t>
            </a:r>
            <a:r>
              <a:rPr lang="en-US" baseline="0" dirty="0" err="1"/>
              <a:t>Công</a:t>
            </a:r>
            <a:r>
              <a:rPr lang="en-US" baseline="0" dirty="0"/>
              <a:t> </a:t>
            </a:r>
            <a:r>
              <a:rPr lang="en-US" baseline="0" dirty="0" err="1"/>
              <a:t>nghệ</a:t>
            </a:r>
            <a:r>
              <a:rPr lang="en-US" baseline="0" dirty="0"/>
              <a:t> </a:t>
            </a:r>
            <a:r>
              <a:rPr lang="en-US" baseline="0" dirty="0" err="1"/>
              <a:t>Phần</a:t>
            </a:r>
            <a:r>
              <a:rPr lang="en-US" baseline="0" dirty="0"/>
              <a:t> </a:t>
            </a:r>
            <a:r>
              <a:rPr lang="en-US" baseline="0" dirty="0" err="1"/>
              <a:t>mềm</a:t>
            </a:r>
            <a:r>
              <a:rPr lang="en-US" baseline="0" dirty="0"/>
              <a:t> </a:t>
            </a:r>
            <a:r>
              <a:rPr lang="en-US" baseline="0" dirty="0" err="1"/>
              <a:t>cùng</a:t>
            </a:r>
            <a:r>
              <a:rPr lang="en-US" baseline="0" dirty="0"/>
              <a:t> </a:t>
            </a:r>
            <a:r>
              <a:rPr lang="en-US" baseline="0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học</a:t>
            </a:r>
            <a:r>
              <a:rPr lang="en-US" baseline="0" dirty="0"/>
              <a:t> </a:t>
            </a:r>
            <a:r>
              <a:rPr lang="en-US" baseline="0" dirty="0" err="1"/>
              <a:t>liệu</a:t>
            </a:r>
            <a:r>
              <a:rPr lang="en-US" baseline="0" dirty="0"/>
              <a:t> </a:t>
            </a:r>
            <a:r>
              <a:rPr lang="en-US" baseline="0" dirty="0" err="1"/>
              <a:t>đi</a:t>
            </a:r>
            <a:r>
              <a:rPr lang="en-US" baseline="0" dirty="0"/>
              <a:t> </a:t>
            </a:r>
            <a:r>
              <a:rPr lang="en-US" baseline="0" dirty="0" err="1"/>
              <a:t>kèm</a:t>
            </a:r>
            <a:r>
              <a:rPr lang="en-US" baseline="0" dirty="0"/>
              <a:t>.</a:t>
            </a:r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71625" y="833438"/>
            <a:ext cx="3689350" cy="2768600"/>
          </a:xfrm>
          <a:ln cap="flat"/>
        </p:spPr>
      </p:sp>
    </p:spTree>
    <p:extLst>
      <p:ext uri="{BB962C8B-B14F-4D97-AF65-F5344CB8AC3E}">
        <p14:creationId xmlns:p14="http://schemas.microsoft.com/office/powerpoint/2010/main" val="2971029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211661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dirty="0"/>
              <a:t>Sau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endParaRPr lang="en-US" dirty="0"/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endParaRPr lang="en-US" dirty="0"/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endParaRPr lang="en-US" dirty="0"/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CASE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661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Học</a:t>
            </a:r>
            <a:r>
              <a:rPr lang="en-US" baseline="0" dirty="0"/>
              <a:t> </a:t>
            </a:r>
            <a:r>
              <a:rPr lang="en-US" baseline="0" dirty="0" err="1"/>
              <a:t>phần</a:t>
            </a:r>
            <a:r>
              <a:rPr lang="en-US" baseline="0" dirty="0"/>
              <a:t> </a:t>
            </a:r>
            <a:r>
              <a:rPr lang="en-US" baseline="0" dirty="0" err="1"/>
              <a:t>được</a:t>
            </a:r>
            <a:r>
              <a:rPr lang="en-US" baseline="0" dirty="0"/>
              <a:t> </a:t>
            </a:r>
            <a:r>
              <a:rPr lang="en-US" baseline="0" dirty="0" err="1"/>
              <a:t>cấu</a:t>
            </a:r>
            <a:r>
              <a:rPr lang="en-US" baseline="0" dirty="0"/>
              <a:t> </a:t>
            </a:r>
            <a:r>
              <a:rPr lang="en-US" baseline="0" dirty="0" err="1"/>
              <a:t>trúc</a:t>
            </a:r>
            <a:r>
              <a:rPr lang="en-US" baseline="0" dirty="0"/>
              <a:t> </a:t>
            </a:r>
            <a:r>
              <a:rPr lang="en-US" baseline="0" dirty="0" err="1"/>
              <a:t>theo</a:t>
            </a:r>
            <a:r>
              <a:rPr lang="en-US" baseline="0" dirty="0"/>
              <a:t> 10 </a:t>
            </a:r>
            <a:r>
              <a:rPr lang="en-US" baseline="0" dirty="0" err="1"/>
              <a:t>nội</a:t>
            </a:r>
            <a:r>
              <a:rPr lang="en-US" baseline="0" dirty="0"/>
              <a:t> dung </a:t>
            </a:r>
            <a:r>
              <a:rPr lang="en-US" baseline="0" dirty="0" err="1"/>
              <a:t>sau</a:t>
            </a:r>
            <a:r>
              <a:rPr lang="en-US" baseline="0" dirty="0"/>
              <a:t>: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: </a:t>
            </a:r>
            <a:r>
              <a:rPr lang="en-US" dirty="0" err="1"/>
              <a:t>Tổng</a:t>
            </a:r>
            <a:r>
              <a:rPr lang="en-US" baseline="0" dirty="0"/>
              <a:t> </a:t>
            </a:r>
            <a:r>
              <a:rPr lang="en-US" baseline="0" dirty="0" err="1"/>
              <a:t>quan</a:t>
            </a:r>
            <a:r>
              <a:rPr lang="en-US" baseline="0" dirty="0"/>
              <a:t> </a:t>
            </a:r>
            <a:r>
              <a:rPr lang="en-US" baseline="0" dirty="0" err="1"/>
              <a:t>và</a:t>
            </a:r>
            <a:r>
              <a:rPr lang="en-US" baseline="0" dirty="0"/>
              <a:t> </a:t>
            </a:r>
            <a:r>
              <a:rPr lang="en-US" baseline="0" dirty="0" err="1"/>
              <a:t>giới</a:t>
            </a:r>
            <a:r>
              <a:rPr lang="en-US" baseline="0" dirty="0"/>
              <a:t> </a:t>
            </a:r>
            <a:r>
              <a:rPr lang="en-US" baseline="0" dirty="0" err="1"/>
              <a:t>thiệu</a:t>
            </a:r>
            <a:r>
              <a:rPr lang="en-US" baseline="0" dirty="0"/>
              <a:t> </a:t>
            </a:r>
            <a:r>
              <a:rPr lang="en-US" baseline="0" dirty="0" err="1"/>
              <a:t>một</a:t>
            </a:r>
            <a:r>
              <a:rPr lang="en-US" baseline="0" dirty="0"/>
              <a:t> </a:t>
            </a:r>
            <a:r>
              <a:rPr lang="en-US" baseline="0" dirty="0" err="1"/>
              <a:t>số</a:t>
            </a:r>
            <a:r>
              <a:rPr lang="en-US" baseline="0" dirty="0"/>
              <a:t> </a:t>
            </a:r>
            <a:r>
              <a:rPr lang="en-US" baseline="0" dirty="0" err="1"/>
              <a:t>khái</a:t>
            </a:r>
            <a:r>
              <a:rPr lang="en-US" baseline="0" dirty="0"/>
              <a:t> </a:t>
            </a:r>
            <a:r>
              <a:rPr lang="en-US" baseline="0" dirty="0" err="1"/>
              <a:t>niệm</a:t>
            </a:r>
            <a:r>
              <a:rPr lang="en-US" baseline="0" dirty="0"/>
              <a:t> </a:t>
            </a:r>
            <a:r>
              <a:rPr lang="en-US" baseline="0" dirty="0" err="1"/>
              <a:t>cơ</a:t>
            </a:r>
            <a:r>
              <a:rPr lang="en-US" baseline="0" dirty="0"/>
              <a:t> </a:t>
            </a:r>
            <a:r>
              <a:rPr lang="en-US" baseline="0" dirty="0" err="1"/>
              <a:t>bản</a:t>
            </a:r>
            <a:r>
              <a:rPr lang="en-US" baseline="0" dirty="0"/>
              <a:t> </a:t>
            </a:r>
            <a:r>
              <a:rPr lang="en-US" baseline="0" dirty="0" err="1"/>
              <a:t>như</a:t>
            </a:r>
            <a:r>
              <a:rPr lang="en-US" baseline="0" dirty="0"/>
              <a:t> </a:t>
            </a:r>
            <a:r>
              <a:rPr lang="en-US" baseline="0" dirty="0" err="1"/>
              <a:t>Phần</a:t>
            </a:r>
            <a:r>
              <a:rPr lang="en-US" baseline="0" dirty="0"/>
              <a:t> </a:t>
            </a:r>
            <a:r>
              <a:rPr lang="en-US" baseline="0" dirty="0" err="1"/>
              <a:t>mềm</a:t>
            </a:r>
            <a:r>
              <a:rPr lang="en-US" baseline="0" dirty="0"/>
              <a:t>, </a:t>
            </a:r>
            <a:r>
              <a:rPr lang="en-US" baseline="0" dirty="0" err="1"/>
              <a:t>đặc</a:t>
            </a:r>
            <a:r>
              <a:rPr lang="en-US" baseline="0" dirty="0"/>
              <a:t> </a:t>
            </a:r>
            <a:r>
              <a:rPr lang="en-US" baseline="0" dirty="0" err="1"/>
              <a:t>trưng</a:t>
            </a:r>
            <a:r>
              <a:rPr lang="en-US" baseline="0" dirty="0"/>
              <a:t> </a:t>
            </a:r>
            <a:r>
              <a:rPr lang="en-US" baseline="0" dirty="0" err="1"/>
              <a:t>phần</a:t>
            </a:r>
            <a:r>
              <a:rPr lang="en-US" baseline="0" dirty="0"/>
              <a:t> </a:t>
            </a:r>
            <a:r>
              <a:rPr lang="en-US" baseline="0" dirty="0" err="1"/>
              <a:t>mềm</a:t>
            </a:r>
            <a:r>
              <a:rPr lang="en-US" baseline="0" dirty="0"/>
              <a:t>, hay </a:t>
            </a:r>
            <a:r>
              <a:rPr lang="en-US" baseline="0" dirty="0" err="1"/>
              <a:t>kỹ</a:t>
            </a:r>
            <a:r>
              <a:rPr lang="en-US" baseline="0" dirty="0"/>
              <a:t> </a:t>
            </a:r>
            <a:r>
              <a:rPr lang="en-US" baseline="0" dirty="0" err="1"/>
              <a:t>nghệ</a:t>
            </a:r>
            <a:r>
              <a:rPr lang="en-US" baseline="0" dirty="0"/>
              <a:t> </a:t>
            </a:r>
            <a:r>
              <a:rPr lang="en-US" baseline="0" dirty="0" err="1"/>
              <a:t>phần</a:t>
            </a:r>
            <a:r>
              <a:rPr lang="en-US" baseline="0" dirty="0"/>
              <a:t> </a:t>
            </a:r>
            <a:r>
              <a:rPr lang="en-US" baseline="0" dirty="0" err="1"/>
              <a:t>mềm</a:t>
            </a:r>
            <a:r>
              <a:rPr lang="en-US" baseline="0" dirty="0"/>
              <a:t>.</a:t>
            </a:r>
            <a:endParaRPr lang="en-US" dirty="0"/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: </a:t>
            </a:r>
            <a:r>
              <a:rPr lang="en-US" dirty="0" err="1"/>
              <a:t>Giới</a:t>
            </a:r>
            <a:r>
              <a:rPr lang="en-US" baseline="0" dirty="0"/>
              <a:t> </a:t>
            </a:r>
            <a:r>
              <a:rPr lang="en-US" baseline="0" dirty="0" err="1"/>
              <a:t>thiệu</a:t>
            </a:r>
            <a:r>
              <a:rPr lang="en-US" baseline="0" dirty="0"/>
              <a:t> </a:t>
            </a:r>
            <a:r>
              <a:rPr lang="en-US" baseline="0" dirty="0" err="1"/>
              <a:t>tổng</a:t>
            </a:r>
            <a:r>
              <a:rPr lang="en-US" baseline="0" dirty="0"/>
              <a:t> </a:t>
            </a:r>
            <a:r>
              <a:rPr lang="en-US" baseline="0" dirty="0" err="1"/>
              <a:t>quan</a:t>
            </a:r>
            <a:r>
              <a:rPr lang="en-US" baseline="0" dirty="0"/>
              <a:t> </a:t>
            </a:r>
            <a:r>
              <a:rPr lang="en-US" baseline="0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phương</a:t>
            </a:r>
            <a:r>
              <a:rPr lang="en-US" baseline="0" dirty="0"/>
              <a:t> </a:t>
            </a:r>
            <a:r>
              <a:rPr lang="en-US" baseline="0" dirty="0" err="1"/>
              <a:t>pháp</a:t>
            </a:r>
            <a:r>
              <a:rPr lang="en-US" baseline="0" dirty="0"/>
              <a:t> </a:t>
            </a:r>
            <a:r>
              <a:rPr lang="en-US" baseline="0" dirty="0" err="1"/>
              <a:t>làm</a:t>
            </a:r>
            <a:r>
              <a:rPr lang="en-US" baseline="0" dirty="0"/>
              <a:t> </a:t>
            </a:r>
            <a:r>
              <a:rPr lang="en-US" baseline="0" dirty="0" err="1"/>
              <a:t>phần</a:t>
            </a:r>
            <a:r>
              <a:rPr lang="en-US" baseline="0" dirty="0"/>
              <a:t> </a:t>
            </a:r>
            <a:r>
              <a:rPr lang="en-US" baseline="0" dirty="0" err="1"/>
              <a:t>mềm</a:t>
            </a:r>
            <a:r>
              <a:rPr lang="en-US" baseline="0" dirty="0"/>
              <a:t> – </a:t>
            </a:r>
            <a:r>
              <a:rPr lang="en-US" baseline="0" dirty="0" err="1"/>
              <a:t>diễn</a:t>
            </a:r>
            <a:r>
              <a:rPr lang="en-US" baseline="0" dirty="0"/>
              <a:t> </a:t>
            </a:r>
            <a:r>
              <a:rPr lang="en-US" baseline="0" dirty="0" err="1"/>
              <a:t>đạt</a:t>
            </a:r>
            <a:r>
              <a:rPr lang="en-US" baseline="0" dirty="0"/>
              <a:t> ở </a:t>
            </a:r>
            <a:r>
              <a:rPr lang="en-US" baseline="0" dirty="0" err="1"/>
              <a:t>dạng</a:t>
            </a:r>
            <a:r>
              <a:rPr lang="en-US" baseline="0" dirty="0"/>
              <a:t> </a:t>
            </a:r>
            <a:r>
              <a:rPr lang="en-US" baseline="0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mô</a:t>
            </a:r>
            <a:r>
              <a:rPr lang="en-US" baseline="0" dirty="0"/>
              <a:t> </a:t>
            </a:r>
            <a:r>
              <a:rPr lang="en-US" baseline="0" dirty="0" err="1"/>
              <a:t>hình</a:t>
            </a:r>
            <a:r>
              <a:rPr lang="en-US" baseline="0" dirty="0"/>
              <a:t> </a:t>
            </a:r>
            <a:r>
              <a:rPr lang="en-US" baseline="0" dirty="0" err="1"/>
              <a:t>quy</a:t>
            </a:r>
            <a:r>
              <a:rPr lang="en-US" baseline="0" dirty="0"/>
              <a:t> </a:t>
            </a:r>
            <a:r>
              <a:rPr lang="en-US" baseline="0" dirty="0" err="1"/>
              <a:t>trình</a:t>
            </a:r>
            <a:r>
              <a:rPr lang="en-US" baseline="0" dirty="0"/>
              <a:t> </a:t>
            </a:r>
            <a:r>
              <a:rPr lang="en-US" baseline="0" dirty="0" err="1"/>
              <a:t>phát</a:t>
            </a:r>
            <a:r>
              <a:rPr lang="en-US" baseline="0" dirty="0"/>
              <a:t> </a:t>
            </a:r>
            <a:r>
              <a:rPr lang="en-US" baseline="0" dirty="0" err="1"/>
              <a:t>triển</a:t>
            </a:r>
            <a:r>
              <a:rPr lang="en-US" baseline="0" dirty="0"/>
              <a:t> </a:t>
            </a:r>
            <a:r>
              <a:rPr lang="en-US" baseline="0" dirty="0" err="1"/>
              <a:t>phần</a:t>
            </a:r>
            <a:r>
              <a:rPr lang="en-US" baseline="0" dirty="0"/>
              <a:t> </a:t>
            </a:r>
            <a:r>
              <a:rPr lang="en-US" baseline="0" dirty="0" err="1"/>
              <a:t>mềm</a:t>
            </a:r>
            <a:r>
              <a:rPr lang="en-US" baseline="0" dirty="0"/>
              <a:t>.</a:t>
            </a:r>
            <a:endParaRPr lang="en-US" dirty="0"/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Thu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: </a:t>
            </a:r>
            <a:r>
              <a:rPr lang="en-US" dirty="0" err="1"/>
              <a:t>Giới</a:t>
            </a:r>
            <a:r>
              <a:rPr lang="en-US" baseline="0" dirty="0"/>
              <a:t> </a:t>
            </a:r>
            <a:r>
              <a:rPr lang="en-US" baseline="0" dirty="0" err="1"/>
              <a:t>thiệu</a:t>
            </a:r>
            <a:r>
              <a:rPr lang="en-US" baseline="0" dirty="0"/>
              <a:t> </a:t>
            </a:r>
            <a:r>
              <a:rPr lang="en-US" baseline="0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hoạt</a:t>
            </a:r>
            <a:r>
              <a:rPr lang="en-US" baseline="0" dirty="0"/>
              <a:t> </a:t>
            </a:r>
            <a:r>
              <a:rPr lang="en-US" baseline="0" dirty="0" err="1"/>
              <a:t>động</a:t>
            </a:r>
            <a:r>
              <a:rPr lang="en-US" baseline="0" dirty="0"/>
              <a:t> </a:t>
            </a:r>
            <a:r>
              <a:rPr lang="en-US" baseline="0" dirty="0" err="1"/>
              <a:t>chung</a:t>
            </a:r>
            <a:r>
              <a:rPr lang="en-US" baseline="0" dirty="0"/>
              <a:t> </a:t>
            </a:r>
            <a:r>
              <a:rPr lang="en-US" baseline="0" dirty="0" err="1"/>
              <a:t>nhất</a:t>
            </a:r>
            <a:r>
              <a:rPr lang="en-US" baseline="0" dirty="0"/>
              <a:t> </a:t>
            </a:r>
            <a:r>
              <a:rPr lang="en-US" baseline="0" dirty="0" err="1"/>
              <a:t>của</a:t>
            </a:r>
            <a:r>
              <a:rPr lang="en-US" baseline="0" dirty="0"/>
              <a:t> </a:t>
            </a:r>
            <a:r>
              <a:rPr lang="en-US" baseline="0" dirty="0" err="1"/>
              <a:t>quá</a:t>
            </a:r>
            <a:r>
              <a:rPr lang="en-US" baseline="0" dirty="0"/>
              <a:t> </a:t>
            </a:r>
            <a:r>
              <a:rPr lang="en-US" baseline="0" dirty="0" err="1"/>
              <a:t>trình</a:t>
            </a:r>
            <a:r>
              <a:rPr lang="en-US" baseline="0" dirty="0"/>
              <a:t> </a:t>
            </a:r>
            <a:r>
              <a:rPr lang="en-US" baseline="0" dirty="0" err="1"/>
              <a:t>khảo</a:t>
            </a:r>
            <a:r>
              <a:rPr lang="en-US" baseline="0" dirty="0"/>
              <a:t> </a:t>
            </a:r>
            <a:r>
              <a:rPr lang="en-US" baseline="0" dirty="0" err="1"/>
              <a:t>sát</a:t>
            </a:r>
            <a:r>
              <a:rPr lang="en-US" baseline="0" dirty="0"/>
              <a:t> </a:t>
            </a:r>
            <a:r>
              <a:rPr lang="en-US" baseline="0" dirty="0" err="1"/>
              <a:t>hệ</a:t>
            </a:r>
            <a:r>
              <a:rPr lang="en-US" baseline="0" dirty="0"/>
              <a:t> </a:t>
            </a:r>
            <a:r>
              <a:rPr lang="en-US" baseline="0" dirty="0" err="1"/>
              <a:t>thống</a:t>
            </a:r>
            <a:r>
              <a:rPr lang="en-US" baseline="0" dirty="0"/>
              <a:t>, </a:t>
            </a:r>
            <a:r>
              <a:rPr lang="en-US" baseline="0" dirty="0" err="1"/>
              <a:t>xác</a:t>
            </a:r>
            <a:r>
              <a:rPr lang="en-US" baseline="0" dirty="0"/>
              <a:t> </a:t>
            </a:r>
            <a:r>
              <a:rPr lang="en-US" baseline="0" dirty="0" err="1"/>
              <a:t>định</a:t>
            </a:r>
            <a:r>
              <a:rPr lang="en-US" baseline="0" dirty="0"/>
              <a:t> </a:t>
            </a:r>
            <a:r>
              <a:rPr lang="en-US" baseline="0" dirty="0" err="1"/>
              <a:t>và</a:t>
            </a:r>
            <a:r>
              <a:rPr lang="en-US" baseline="0" dirty="0"/>
              <a:t> </a:t>
            </a:r>
            <a:r>
              <a:rPr lang="en-US" baseline="0" dirty="0" err="1"/>
              <a:t>đặc</a:t>
            </a:r>
            <a:r>
              <a:rPr lang="en-US" baseline="0" dirty="0"/>
              <a:t> </a:t>
            </a:r>
            <a:r>
              <a:rPr lang="en-US" baseline="0" dirty="0" err="1"/>
              <a:t>tả</a:t>
            </a:r>
            <a:r>
              <a:rPr lang="en-US" baseline="0" dirty="0"/>
              <a:t> </a:t>
            </a:r>
            <a:r>
              <a:rPr lang="en-US" baseline="0" dirty="0" err="1"/>
              <a:t>yêu</a:t>
            </a:r>
            <a:r>
              <a:rPr lang="en-US" baseline="0" dirty="0"/>
              <a:t> </a:t>
            </a:r>
            <a:r>
              <a:rPr lang="en-US" baseline="0" dirty="0" err="1"/>
              <a:t>cầu</a:t>
            </a:r>
            <a:r>
              <a:rPr lang="en-US" baseline="0" dirty="0"/>
              <a:t> </a:t>
            </a:r>
            <a:r>
              <a:rPr lang="en-US" baseline="0" dirty="0" err="1"/>
              <a:t>phần</a:t>
            </a:r>
            <a:r>
              <a:rPr lang="en-US" baseline="0" dirty="0"/>
              <a:t> </a:t>
            </a:r>
            <a:r>
              <a:rPr lang="en-US" baseline="0" dirty="0" err="1"/>
              <a:t>mềm</a:t>
            </a:r>
            <a:r>
              <a:rPr lang="en-US" baseline="0" dirty="0"/>
              <a:t>.</a:t>
            </a:r>
            <a:endParaRPr lang="en-US" dirty="0"/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: </a:t>
            </a:r>
            <a:r>
              <a:rPr lang="en-US" dirty="0" err="1"/>
              <a:t>Trình</a:t>
            </a:r>
            <a:r>
              <a:rPr lang="en-US" baseline="0" dirty="0"/>
              <a:t> </a:t>
            </a:r>
            <a:r>
              <a:rPr lang="en-US" baseline="0" dirty="0" err="1"/>
              <a:t>bày</a:t>
            </a:r>
            <a:r>
              <a:rPr lang="en-US" baseline="0" dirty="0"/>
              <a:t> </a:t>
            </a:r>
            <a:r>
              <a:rPr lang="en-US" baseline="0" dirty="0" err="1"/>
              <a:t>vai</a:t>
            </a:r>
            <a:r>
              <a:rPr lang="en-US" baseline="0" dirty="0"/>
              <a:t> </a:t>
            </a:r>
            <a:r>
              <a:rPr lang="en-US" baseline="0" dirty="0" err="1"/>
              <a:t>trò</a:t>
            </a:r>
            <a:r>
              <a:rPr lang="en-US" baseline="0" dirty="0"/>
              <a:t>, </a:t>
            </a:r>
            <a:r>
              <a:rPr lang="en-US" baseline="0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nguyên</a:t>
            </a:r>
            <a:r>
              <a:rPr lang="en-US" baseline="0" dirty="0"/>
              <a:t> </a:t>
            </a:r>
            <a:r>
              <a:rPr lang="en-US" baseline="0" dirty="0" err="1"/>
              <a:t>lý</a:t>
            </a:r>
            <a:r>
              <a:rPr lang="en-US" baseline="0" dirty="0"/>
              <a:t> </a:t>
            </a:r>
            <a:r>
              <a:rPr lang="en-US" baseline="0" dirty="0" err="1"/>
              <a:t>và</a:t>
            </a:r>
            <a:r>
              <a:rPr lang="en-US" baseline="0" dirty="0"/>
              <a:t> </a:t>
            </a:r>
            <a:r>
              <a:rPr lang="en-US" baseline="0" dirty="0" err="1"/>
              <a:t>kỹ</a:t>
            </a:r>
            <a:r>
              <a:rPr lang="en-US" baseline="0" dirty="0"/>
              <a:t> </a:t>
            </a:r>
            <a:r>
              <a:rPr lang="en-US" baseline="0" dirty="0" err="1"/>
              <a:t>thuật</a:t>
            </a:r>
            <a:r>
              <a:rPr lang="en-US" baseline="0" dirty="0"/>
              <a:t> </a:t>
            </a:r>
            <a:r>
              <a:rPr lang="en-US" baseline="0" dirty="0" err="1"/>
              <a:t>chung</a:t>
            </a:r>
            <a:r>
              <a:rPr lang="en-US" baseline="0" dirty="0"/>
              <a:t> </a:t>
            </a:r>
            <a:r>
              <a:rPr lang="en-US" baseline="0" dirty="0" err="1"/>
              <a:t>nhất</a:t>
            </a:r>
            <a:r>
              <a:rPr lang="en-US" baseline="0" dirty="0"/>
              <a:t> </a:t>
            </a:r>
            <a:r>
              <a:rPr lang="en-US" baseline="0" dirty="0" err="1"/>
              <a:t>trong</a:t>
            </a:r>
            <a:r>
              <a:rPr lang="en-US" baseline="0" dirty="0"/>
              <a:t> </a:t>
            </a:r>
            <a:r>
              <a:rPr lang="en-US" baseline="0" dirty="0" err="1"/>
              <a:t>mô</a:t>
            </a:r>
            <a:r>
              <a:rPr lang="en-US" baseline="0" dirty="0"/>
              <a:t> </a:t>
            </a:r>
            <a:r>
              <a:rPr lang="en-US" baseline="0" dirty="0" err="1"/>
              <a:t>hình</a:t>
            </a:r>
            <a:r>
              <a:rPr lang="en-US" baseline="0" dirty="0"/>
              <a:t> </a:t>
            </a:r>
            <a:r>
              <a:rPr lang="en-US" baseline="0" dirty="0" err="1"/>
              <a:t>hóa</a:t>
            </a:r>
            <a:r>
              <a:rPr lang="en-US" baseline="0" dirty="0"/>
              <a:t> </a:t>
            </a:r>
            <a:r>
              <a:rPr lang="en-US" baseline="0" dirty="0" err="1"/>
              <a:t>phần</a:t>
            </a:r>
            <a:r>
              <a:rPr lang="en-US" baseline="0" dirty="0"/>
              <a:t> </a:t>
            </a:r>
            <a:r>
              <a:rPr lang="en-US" baseline="0" dirty="0" err="1"/>
              <a:t>mềm</a:t>
            </a:r>
            <a:r>
              <a:rPr lang="en-US" baseline="0" dirty="0"/>
              <a:t>.</a:t>
            </a:r>
            <a:endParaRPr lang="en-US" dirty="0"/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: </a:t>
            </a:r>
            <a:r>
              <a:rPr lang="en-US" dirty="0" err="1"/>
              <a:t>Giới</a:t>
            </a:r>
            <a:r>
              <a:rPr lang="en-US" baseline="0" dirty="0"/>
              <a:t> </a:t>
            </a:r>
            <a:r>
              <a:rPr lang="en-US" baseline="0" dirty="0" err="1"/>
              <a:t>thiệu</a:t>
            </a:r>
            <a:r>
              <a:rPr lang="en-US" baseline="0" dirty="0"/>
              <a:t> </a:t>
            </a:r>
            <a:r>
              <a:rPr lang="en-US" baseline="0" dirty="0" err="1"/>
              <a:t>khái</a:t>
            </a:r>
            <a:r>
              <a:rPr lang="en-US" baseline="0" dirty="0"/>
              <a:t> </a:t>
            </a:r>
            <a:r>
              <a:rPr lang="en-US" baseline="0" dirty="0" err="1"/>
              <a:t>niệm</a:t>
            </a:r>
            <a:r>
              <a:rPr lang="en-US" baseline="0" dirty="0"/>
              <a:t> </a:t>
            </a:r>
            <a:r>
              <a:rPr lang="en-US" baseline="0" dirty="0" err="1"/>
              <a:t>kiến</a:t>
            </a:r>
            <a:r>
              <a:rPr lang="en-US" baseline="0" dirty="0"/>
              <a:t> </a:t>
            </a:r>
            <a:r>
              <a:rPr lang="en-US" baseline="0" dirty="0" err="1"/>
              <a:t>trúc</a:t>
            </a:r>
            <a:r>
              <a:rPr lang="en-US" baseline="0" dirty="0"/>
              <a:t> </a:t>
            </a:r>
            <a:r>
              <a:rPr lang="en-US" baseline="0" dirty="0" err="1"/>
              <a:t>phần</a:t>
            </a:r>
            <a:r>
              <a:rPr lang="en-US" baseline="0" dirty="0"/>
              <a:t> </a:t>
            </a:r>
            <a:r>
              <a:rPr lang="en-US" baseline="0" dirty="0" err="1"/>
              <a:t>mềm</a:t>
            </a:r>
            <a:r>
              <a:rPr lang="en-US" baseline="0" dirty="0"/>
              <a:t>, </a:t>
            </a:r>
            <a:r>
              <a:rPr lang="en-US" baseline="0" dirty="0" err="1"/>
              <a:t>nội</a:t>
            </a:r>
            <a:r>
              <a:rPr lang="en-US" baseline="0" dirty="0"/>
              <a:t> dung </a:t>
            </a:r>
            <a:r>
              <a:rPr lang="en-US" baseline="0" dirty="0" err="1"/>
              <a:t>hoạt</a:t>
            </a:r>
            <a:r>
              <a:rPr lang="en-US" baseline="0" dirty="0"/>
              <a:t> </a:t>
            </a:r>
            <a:r>
              <a:rPr lang="en-US" baseline="0" dirty="0" err="1"/>
              <a:t>động</a:t>
            </a:r>
            <a:r>
              <a:rPr lang="en-US" baseline="0" dirty="0"/>
              <a:t> </a:t>
            </a:r>
            <a:r>
              <a:rPr lang="en-US" baseline="0" dirty="0" err="1"/>
              <a:t>thiết</a:t>
            </a:r>
            <a:r>
              <a:rPr lang="en-US" baseline="0" dirty="0"/>
              <a:t> </a:t>
            </a:r>
            <a:r>
              <a:rPr lang="en-US" baseline="0" dirty="0" err="1"/>
              <a:t>kế</a:t>
            </a:r>
            <a:r>
              <a:rPr lang="en-US" baseline="0" dirty="0"/>
              <a:t> </a:t>
            </a:r>
            <a:r>
              <a:rPr lang="en-US" baseline="0" dirty="0" err="1"/>
              <a:t>kiến</a:t>
            </a:r>
            <a:r>
              <a:rPr lang="en-US" baseline="0" dirty="0"/>
              <a:t> </a:t>
            </a:r>
            <a:r>
              <a:rPr lang="en-US" baseline="0" dirty="0" err="1"/>
              <a:t>trúc</a:t>
            </a:r>
            <a:r>
              <a:rPr lang="en-US" baseline="0" dirty="0"/>
              <a:t>, </a:t>
            </a:r>
            <a:r>
              <a:rPr lang="en-US" baseline="0" dirty="0" err="1"/>
              <a:t>tiếp</a:t>
            </a:r>
            <a:r>
              <a:rPr lang="en-US" baseline="0" dirty="0"/>
              <a:t> </a:t>
            </a:r>
            <a:r>
              <a:rPr lang="en-US" baseline="0" dirty="0" err="1"/>
              <a:t>đó</a:t>
            </a:r>
            <a:r>
              <a:rPr lang="en-US" baseline="0" dirty="0"/>
              <a:t> </a:t>
            </a:r>
            <a:r>
              <a:rPr lang="en-US" baseline="0" dirty="0" err="1"/>
              <a:t>giới</a:t>
            </a:r>
            <a:r>
              <a:rPr lang="en-US" baseline="0" dirty="0"/>
              <a:t> </a:t>
            </a:r>
            <a:r>
              <a:rPr lang="en-US" baseline="0" dirty="0" err="1"/>
              <a:t>thiệu</a:t>
            </a:r>
            <a:r>
              <a:rPr lang="en-US" baseline="0" dirty="0"/>
              <a:t> </a:t>
            </a:r>
            <a:r>
              <a:rPr lang="en-US" baseline="0" dirty="0" err="1"/>
              <a:t>một</a:t>
            </a:r>
            <a:r>
              <a:rPr lang="en-US" baseline="0" dirty="0"/>
              <a:t> </a:t>
            </a:r>
            <a:r>
              <a:rPr lang="en-US" baseline="0" dirty="0" err="1"/>
              <a:t>số</a:t>
            </a:r>
            <a:r>
              <a:rPr lang="en-US" baseline="0" dirty="0"/>
              <a:t> </a:t>
            </a:r>
            <a:r>
              <a:rPr lang="en-US" baseline="0" dirty="0" err="1"/>
              <a:t>kiểu</a:t>
            </a:r>
            <a:r>
              <a:rPr lang="en-US" baseline="0" dirty="0"/>
              <a:t> </a:t>
            </a:r>
            <a:r>
              <a:rPr lang="en-US" baseline="0" dirty="0" err="1"/>
              <a:t>kiến</a:t>
            </a:r>
            <a:r>
              <a:rPr lang="en-US" baseline="0" dirty="0"/>
              <a:t> </a:t>
            </a:r>
            <a:r>
              <a:rPr lang="en-US" baseline="0" dirty="0" err="1"/>
              <a:t>trúc</a:t>
            </a:r>
            <a:r>
              <a:rPr lang="en-US" baseline="0" dirty="0"/>
              <a:t> </a:t>
            </a:r>
            <a:r>
              <a:rPr lang="en-US" baseline="0" dirty="0" err="1"/>
              <a:t>phần</a:t>
            </a:r>
            <a:r>
              <a:rPr lang="en-US" baseline="0" dirty="0"/>
              <a:t> </a:t>
            </a:r>
            <a:r>
              <a:rPr lang="en-US" baseline="0" dirty="0" err="1"/>
              <a:t>mềm</a:t>
            </a:r>
            <a:r>
              <a:rPr lang="en-US" baseline="0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661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lnSpc>
                <a:spcPct val="90000"/>
              </a:lnSpc>
              <a:buFont typeface="+mj-lt"/>
              <a:buAutoNum type="arabicPeriod" startAt="6"/>
            </a:pP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: </a:t>
            </a:r>
            <a:r>
              <a:rPr lang="en-US" dirty="0" err="1"/>
              <a:t>Trình</a:t>
            </a:r>
            <a:r>
              <a:rPr lang="en-US" baseline="0" dirty="0"/>
              <a:t> </a:t>
            </a:r>
            <a:r>
              <a:rPr lang="en-US" baseline="0" dirty="0" err="1"/>
              <a:t>bày</a:t>
            </a:r>
            <a:r>
              <a:rPr lang="en-US" baseline="0" dirty="0"/>
              <a:t> </a:t>
            </a:r>
            <a:r>
              <a:rPr lang="en-US" baseline="0" dirty="0" err="1"/>
              <a:t>vai</a:t>
            </a:r>
            <a:r>
              <a:rPr lang="en-US" baseline="0" dirty="0"/>
              <a:t> </a:t>
            </a:r>
            <a:r>
              <a:rPr lang="en-US" baseline="0" dirty="0" err="1"/>
              <a:t>trò</a:t>
            </a:r>
            <a:r>
              <a:rPr lang="en-US" baseline="0" dirty="0"/>
              <a:t> </a:t>
            </a:r>
            <a:r>
              <a:rPr lang="en-US" baseline="0" dirty="0" err="1"/>
              <a:t>và</a:t>
            </a:r>
            <a:r>
              <a:rPr lang="en-US" baseline="0" dirty="0"/>
              <a:t> </a:t>
            </a:r>
            <a:r>
              <a:rPr lang="en-US" baseline="0" dirty="0" err="1"/>
              <a:t>nội</a:t>
            </a:r>
            <a:r>
              <a:rPr lang="en-US" baseline="0" dirty="0"/>
              <a:t> dung </a:t>
            </a:r>
            <a:r>
              <a:rPr lang="en-US" baseline="0" dirty="0" err="1"/>
              <a:t>hoạt</a:t>
            </a:r>
            <a:r>
              <a:rPr lang="en-US" baseline="0" dirty="0"/>
              <a:t> </a:t>
            </a:r>
            <a:r>
              <a:rPr lang="en-US" baseline="0" dirty="0" err="1"/>
              <a:t>động</a:t>
            </a:r>
            <a:r>
              <a:rPr lang="en-US" baseline="0" dirty="0"/>
              <a:t> </a:t>
            </a:r>
            <a:r>
              <a:rPr lang="en-US" baseline="0" dirty="0" err="1"/>
              <a:t>thiết</a:t>
            </a:r>
            <a:r>
              <a:rPr lang="en-US" baseline="0" dirty="0"/>
              <a:t> </a:t>
            </a:r>
            <a:r>
              <a:rPr lang="en-US" baseline="0" dirty="0" err="1"/>
              <a:t>kế</a:t>
            </a:r>
            <a:r>
              <a:rPr lang="en-US" baseline="0" dirty="0"/>
              <a:t> </a:t>
            </a:r>
            <a:r>
              <a:rPr lang="en-US" baseline="0" dirty="0" err="1"/>
              <a:t>giao</a:t>
            </a:r>
            <a:r>
              <a:rPr lang="en-US" baseline="0" dirty="0"/>
              <a:t> </a:t>
            </a:r>
            <a:r>
              <a:rPr lang="en-US" baseline="0" dirty="0" err="1"/>
              <a:t>diện</a:t>
            </a:r>
            <a:r>
              <a:rPr lang="en-US" baseline="0" dirty="0"/>
              <a:t> </a:t>
            </a:r>
            <a:r>
              <a:rPr lang="en-US" baseline="0" dirty="0" err="1"/>
              <a:t>người</a:t>
            </a:r>
            <a:r>
              <a:rPr lang="en-US" baseline="0" dirty="0"/>
              <a:t> </a:t>
            </a:r>
            <a:r>
              <a:rPr lang="en-US" baseline="0" dirty="0" err="1"/>
              <a:t>dùng</a:t>
            </a:r>
            <a:r>
              <a:rPr lang="en-US" baseline="0" dirty="0"/>
              <a:t>. </a:t>
            </a:r>
            <a:r>
              <a:rPr lang="en-US" baseline="0" dirty="0" err="1"/>
              <a:t>Bài</a:t>
            </a:r>
            <a:r>
              <a:rPr lang="en-US" baseline="0" dirty="0"/>
              <a:t> </a:t>
            </a:r>
            <a:r>
              <a:rPr lang="en-US" baseline="0" dirty="0" err="1"/>
              <a:t>giảng</a:t>
            </a:r>
            <a:r>
              <a:rPr lang="en-US" baseline="0" dirty="0"/>
              <a:t> </a:t>
            </a:r>
            <a:r>
              <a:rPr lang="en-US" baseline="0" dirty="0" err="1"/>
              <a:t>nhấn</a:t>
            </a:r>
            <a:r>
              <a:rPr lang="en-US" baseline="0" dirty="0"/>
              <a:t> </a:t>
            </a:r>
            <a:r>
              <a:rPr lang="en-US" baseline="0" dirty="0" err="1"/>
              <a:t>mạnh</a:t>
            </a:r>
            <a:r>
              <a:rPr lang="en-US" baseline="0" dirty="0"/>
              <a:t> </a:t>
            </a:r>
            <a:r>
              <a:rPr lang="en-US" baseline="0" dirty="0" err="1"/>
              <a:t>một</a:t>
            </a:r>
            <a:r>
              <a:rPr lang="en-US" baseline="0" dirty="0"/>
              <a:t> </a:t>
            </a:r>
            <a:r>
              <a:rPr lang="en-US" baseline="0" dirty="0" err="1"/>
              <a:t>số</a:t>
            </a:r>
            <a:r>
              <a:rPr lang="en-US" baseline="0" dirty="0"/>
              <a:t> </a:t>
            </a:r>
            <a:r>
              <a:rPr lang="en-US" baseline="0" dirty="0" err="1"/>
              <a:t>nguyên</a:t>
            </a:r>
            <a:r>
              <a:rPr lang="en-US" baseline="0" dirty="0"/>
              <a:t> </a:t>
            </a:r>
            <a:r>
              <a:rPr lang="en-US" baseline="0" dirty="0" err="1"/>
              <a:t>tắc</a:t>
            </a:r>
            <a:r>
              <a:rPr lang="en-US" baseline="0" dirty="0"/>
              <a:t> </a:t>
            </a:r>
            <a:r>
              <a:rPr lang="en-US" baseline="0" dirty="0" err="1"/>
              <a:t>và</a:t>
            </a:r>
            <a:r>
              <a:rPr lang="en-US" baseline="0" dirty="0"/>
              <a:t> </a:t>
            </a:r>
            <a:r>
              <a:rPr lang="en-US" baseline="0" dirty="0" err="1"/>
              <a:t>lưu</a:t>
            </a:r>
            <a:r>
              <a:rPr lang="en-US" baseline="0" dirty="0"/>
              <a:t> ý </a:t>
            </a:r>
            <a:r>
              <a:rPr lang="en-US" baseline="0" dirty="0" err="1"/>
              <a:t>trong</a:t>
            </a:r>
            <a:r>
              <a:rPr lang="en-US" baseline="0" dirty="0"/>
              <a:t> </a:t>
            </a:r>
            <a:r>
              <a:rPr lang="en-US" baseline="0" dirty="0" err="1"/>
              <a:t>thiết</a:t>
            </a:r>
            <a:r>
              <a:rPr lang="en-US" baseline="0" dirty="0"/>
              <a:t> </a:t>
            </a:r>
            <a:r>
              <a:rPr lang="en-US" baseline="0" dirty="0" err="1"/>
              <a:t>kế</a:t>
            </a:r>
            <a:r>
              <a:rPr lang="en-US" baseline="0" dirty="0"/>
              <a:t> </a:t>
            </a:r>
            <a:r>
              <a:rPr lang="en-US" baseline="0" dirty="0" err="1"/>
              <a:t>giao</a:t>
            </a:r>
            <a:r>
              <a:rPr lang="en-US" baseline="0" dirty="0"/>
              <a:t> </a:t>
            </a:r>
            <a:r>
              <a:rPr lang="en-US" baseline="0" dirty="0" err="1"/>
              <a:t>diện</a:t>
            </a:r>
            <a:r>
              <a:rPr lang="en-US" baseline="0" dirty="0"/>
              <a:t> </a:t>
            </a:r>
            <a:r>
              <a:rPr lang="en-US" baseline="0" dirty="0" err="1"/>
              <a:t>người</a:t>
            </a:r>
            <a:r>
              <a:rPr lang="en-US" baseline="0" dirty="0"/>
              <a:t> </a:t>
            </a:r>
            <a:r>
              <a:rPr lang="en-US" baseline="0" dirty="0" err="1"/>
              <a:t>dùng</a:t>
            </a:r>
            <a:r>
              <a:rPr lang="en-US" baseline="0" dirty="0"/>
              <a:t>.</a:t>
            </a:r>
            <a:endParaRPr lang="en-US" dirty="0"/>
          </a:p>
          <a:p>
            <a:pPr marL="514350" indent="-514350">
              <a:lnSpc>
                <a:spcPct val="90000"/>
              </a:lnSpc>
              <a:buFont typeface="+mj-lt"/>
              <a:buAutoNum type="arabicPeriod" startAt="6"/>
            </a:pP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chi </a:t>
            </a:r>
            <a:r>
              <a:rPr lang="en-US" dirty="0" err="1"/>
              <a:t>tiết</a:t>
            </a:r>
            <a:r>
              <a:rPr lang="en-US" dirty="0"/>
              <a:t>: </a:t>
            </a:r>
            <a:r>
              <a:rPr lang="en-US" dirty="0" err="1"/>
              <a:t>Bài</a:t>
            </a:r>
            <a:r>
              <a:rPr lang="en-US" baseline="0" dirty="0"/>
              <a:t> </a:t>
            </a:r>
            <a:r>
              <a:rPr lang="en-US" baseline="0" dirty="0" err="1"/>
              <a:t>giảng</a:t>
            </a:r>
            <a:r>
              <a:rPr lang="en-US" baseline="0" dirty="0"/>
              <a:t> </a:t>
            </a:r>
            <a:r>
              <a:rPr lang="en-US" baseline="0" dirty="0" err="1"/>
              <a:t>trình</a:t>
            </a:r>
            <a:r>
              <a:rPr lang="en-US" baseline="0" dirty="0"/>
              <a:t> </a:t>
            </a:r>
            <a:r>
              <a:rPr lang="en-US" baseline="0" dirty="0" err="1"/>
              <a:t>bày</a:t>
            </a:r>
            <a:r>
              <a:rPr lang="en-US" baseline="0" dirty="0"/>
              <a:t> </a:t>
            </a:r>
            <a:r>
              <a:rPr lang="en-US" baseline="0" dirty="0" err="1"/>
              <a:t>nội</a:t>
            </a:r>
            <a:r>
              <a:rPr lang="en-US" baseline="0" dirty="0"/>
              <a:t> dung </a:t>
            </a:r>
            <a:r>
              <a:rPr lang="en-US" baseline="0" dirty="0" err="1"/>
              <a:t>của</a:t>
            </a:r>
            <a:r>
              <a:rPr lang="en-US" baseline="0" dirty="0"/>
              <a:t> </a:t>
            </a:r>
            <a:r>
              <a:rPr lang="en-US" baseline="0" dirty="0" err="1"/>
              <a:t>hoạt</a:t>
            </a:r>
            <a:r>
              <a:rPr lang="en-US" baseline="0" dirty="0"/>
              <a:t> </a:t>
            </a:r>
            <a:r>
              <a:rPr lang="en-US" baseline="0" dirty="0" err="1"/>
              <a:t>động</a:t>
            </a:r>
            <a:r>
              <a:rPr lang="en-US" baseline="0" dirty="0"/>
              <a:t> </a:t>
            </a:r>
            <a:r>
              <a:rPr lang="en-US" baseline="0" dirty="0" err="1"/>
              <a:t>thiết</a:t>
            </a:r>
            <a:r>
              <a:rPr lang="en-US" baseline="0" dirty="0"/>
              <a:t> </a:t>
            </a:r>
            <a:r>
              <a:rPr lang="en-US" baseline="0" dirty="0" err="1"/>
              <a:t>kế</a:t>
            </a:r>
            <a:r>
              <a:rPr lang="en-US" baseline="0" dirty="0"/>
              <a:t> chi </a:t>
            </a:r>
            <a:r>
              <a:rPr lang="en-US" baseline="0" dirty="0" err="1"/>
              <a:t>tiết</a:t>
            </a:r>
            <a:r>
              <a:rPr lang="en-US" baseline="0" dirty="0"/>
              <a:t>. </a:t>
            </a:r>
            <a:r>
              <a:rPr lang="en-US" baseline="0" dirty="0" err="1"/>
              <a:t>Giới</a:t>
            </a:r>
            <a:r>
              <a:rPr lang="en-US" baseline="0" dirty="0"/>
              <a:t> </a:t>
            </a:r>
            <a:r>
              <a:rPr lang="en-US" baseline="0" dirty="0" err="1"/>
              <a:t>thiệu</a:t>
            </a:r>
            <a:r>
              <a:rPr lang="en-US" baseline="0" dirty="0"/>
              <a:t> </a:t>
            </a:r>
            <a:r>
              <a:rPr lang="en-US" baseline="0" dirty="0" err="1"/>
              <a:t>tổng</a:t>
            </a:r>
            <a:r>
              <a:rPr lang="en-US" baseline="0" dirty="0"/>
              <a:t> </a:t>
            </a:r>
            <a:r>
              <a:rPr lang="en-US" baseline="0" dirty="0" err="1"/>
              <a:t>quan</a:t>
            </a:r>
            <a:r>
              <a:rPr lang="en-US" baseline="0" dirty="0"/>
              <a:t> </a:t>
            </a:r>
            <a:r>
              <a:rPr lang="en-US" baseline="0" dirty="0" err="1"/>
              <a:t>hai</a:t>
            </a:r>
            <a:r>
              <a:rPr lang="en-US" baseline="0" dirty="0"/>
              <a:t> </a:t>
            </a:r>
            <a:r>
              <a:rPr lang="en-US" baseline="0" dirty="0" err="1"/>
              <a:t>phương</a:t>
            </a:r>
            <a:r>
              <a:rPr lang="en-US" baseline="0" dirty="0"/>
              <a:t> </a:t>
            </a:r>
            <a:r>
              <a:rPr lang="en-US" baseline="0" dirty="0" err="1"/>
              <a:t>pháp</a:t>
            </a:r>
            <a:r>
              <a:rPr lang="en-US" baseline="0" dirty="0"/>
              <a:t> </a:t>
            </a:r>
            <a:r>
              <a:rPr lang="en-US" baseline="0" dirty="0" err="1"/>
              <a:t>thiết</a:t>
            </a:r>
            <a:r>
              <a:rPr lang="en-US" baseline="0" dirty="0"/>
              <a:t> </a:t>
            </a:r>
            <a:r>
              <a:rPr lang="en-US" baseline="0" dirty="0" err="1"/>
              <a:t>kế</a:t>
            </a:r>
            <a:r>
              <a:rPr lang="en-US" baseline="0" dirty="0"/>
              <a:t> chi </a:t>
            </a:r>
            <a:r>
              <a:rPr lang="en-US" baseline="0" dirty="0" err="1"/>
              <a:t>thiết</a:t>
            </a:r>
            <a:r>
              <a:rPr lang="en-US" baseline="0" dirty="0"/>
              <a:t> </a:t>
            </a:r>
            <a:r>
              <a:rPr lang="en-US" baseline="0" dirty="0" err="1"/>
              <a:t>được</a:t>
            </a:r>
            <a:r>
              <a:rPr lang="en-US" baseline="0" dirty="0"/>
              <a:t> </a:t>
            </a:r>
            <a:r>
              <a:rPr lang="en-US" baseline="0" dirty="0" err="1"/>
              <a:t>dùng</a:t>
            </a:r>
            <a:r>
              <a:rPr lang="en-US" baseline="0" dirty="0"/>
              <a:t> </a:t>
            </a:r>
            <a:r>
              <a:rPr lang="en-US" baseline="0" dirty="0" err="1"/>
              <a:t>phổ</a:t>
            </a:r>
            <a:r>
              <a:rPr lang="en-US" baseline="0" dirty="0"/>
              <a:t> </a:t>
            </a:r>
            <a:r>
              <a:rPr lang="en-US" baseline="0" dirty="0" err="1"/>
              <a:t>biến</a:t>
            </a:r>
            <a:r>
              <a:rPr lang="en-US" baseline="0" dirty="0"/>
              <a:t>: </a:t>
            </a:r>
            <a:r>
              <a:rPr lang="en-US" baseline="0" dirty="0" err="1"/>
              <a:t>thiết</a:t>
            </a:r>
            <a:r>
              <a:rPr lang="en-US" baseline="0" dirty="0"/>
              <a:t> </a:t>
            </a:r>
            <a:r>
              <a:rPr lang="en-US" baseline="0" dirty="0" err="1"/>
              <a:t>kế</a:t>
            </a:r>
            <a:r>
              <a:rPr lang="en-US" baseline="0" dirty="0"/>
              <a:t> </a:t>
            </a:r>
            <a:r>
              <a:rPr lang="en-US" baseline="0" dirty="0" err="1"/>
              <a:t>hướng</a:t>
            </a:r>
            <a:r>
              <a:rPr lang="en-US" baseline="0" dirty="0"/>
              <a:t> </a:t>
            </a:r>
            <a:r>
              <a:rPr lang="en-US" baseline="0" dirty="0" err="1"/>
              <a:t>cấu</a:t>
            </a:r>
            <a:r>
              <a:rPr lang="en-US" baseline="0" dirty="0"/>
              <a:t> </a:t>
            </a:r>
            <a:r>
              <a:rPr lang="en-US" baseline="0" dirty="0" err="1"/>
              <a:t>trúc</a:t>
            </a:r>
            <a:r>
              <a:rPr lang="en-US" baseline="0" dirty="0"/>
              <a:t> </a:t>
            </a:r>
            <a:r>
              <a:rPr lang="en-US" baseline="0" dirty="0" err="1"/>
              <a:t>và</a:t>
            </a:r>
            <a:r>
              <a:rPr lang="en-US" baseline="0" dirty="0"/>
              <a:t> </a:t>
            </a:r>
            <a:r>
              <a:rPr lang="en-US" baseline="0" dirty="0" err="1"/>
              <a:t>thiết</a:t>
            </a:r>
            <a:r>
              <a:rPr lang="en-US" baseline="0" dirty="0"/>
              <a:t> </a:t>
            </a:r>
            <a:r>
              <a:rPr lang="en-US" baseline="0" dirty="0" err="1"/>
              <a:t>kế</a:t>
            </a:r>
            <a:r>
              <a:rPr lang="en-US" baseline="0" dirty="0"/>
              <a:t> </a:t>
            </a:r>
            <a:r>
              <a:rPr lang="en-US" baseline="0" dirty="0" err="1"/>
              <a:t>hướng</a:t>
            </a:r>
            <a:r>
              <a:rPr lang="en-US" baseline="0" dirty="0"/>
              <a:t> </a:t>
            </a:r>
            <a:r>
              <a:rPr lang="en-US" baseline="0" dirty="0" err="1"/>
              <a:t>đối</a:t>
            </a:r>
            <a:r>
              <a:rPr lang="en-US" baseline="0" dirty="0"/>
              <a:t> </a:t>
            </a:r>
            <a:r>
              <a:rPr lang="en-US" baseline="0" dirty="0" err="1"/>
              <a:t>tượng</a:t>
            </a:r>
            <a:r>
              <a:rPr lang="en-US" baseline="0" dirty="0"/>
              <a:t>.</a:t>
            </a:r>
            <a:endParaRPr lang="en-US" dirty="0"/>
          </a:p>
          <a:p>
            <a:pPr marL="514350" indent="-514350">
              <a:lnSpc>
                <a:spcPct val="90000"/>
              </a:lnSpc>
              <a:buFont typeface="+mj-lt"/>
              <a:buAutoNum type="arabicPeriod" startAt="6"/>
            </a:pP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: </a:t>
            </a:r>
            <a:r>
              <a:rPr lang="en-US" dirty="0" err="1"/>
              <a:t>Bài</a:t>
            </a:r>
            <a:r>
              <a:rPr lang="en-US" baseline="0" dirty="0"/>
              <a:t> </a:t>
            </a:r>
            <a:r>
              <a:rPr lang="en-US" baseline="0" dirty="0" err="1"/>
              <a:t>giảng</a:t>
            </a:r>
            <a:r>
              <a:rPr lang="en-US" baseline="0" dirty="0"/>
              <a:t> </a:t>
            </a:r>
            <a:r>
              <a:rPr lang="en-US" baseline="0" dirty="0" err="1"/>
              <a:t>tập</a:t>
            </a:r>
            <a:r>
              <a:rPr lang="en-US" baseline="0" dirty="0"/>
              <a:t> </a:t>
            </a:r>
            <a:r>
              <a:rPr lang="en-US" baseline="0" dirty="0" err="1"/>
              <a:t>trung</a:t>
            </a:r>
            <a:r>
              <a:rPr lang="en-US" baseline="0" dirty="0"/>
              <a:t> </a:t>
            </a:r>
            <a:r>
              <a:rPr lang="en-US" baseline="0" dirty="0" err="1"/>
              <a:t>vào</a:t>
            </a:r>
            <a:r>
              <a:rPr lang="en-US" baseline="0" dirty="0"/>
              <a:t> </a:t>
            </a:r>
            <a:r>
              <a:rPr lang="en-US" baseline="0" dirty="0" err="1"/>
              <a:t>khâu</a:t>
            </a:r>
            <a:r>
              <a:rPr lang="en-US" baseline="0" dirty="0"/>
              <a:t> </a:t>
            </a:r>
            <a:r>
              <a:rPr lang="en-US" baseline="0" dirty="0" err="1"/>
              <a:t>cài</a:t>
            </a:r>
            <a:r>
              <a:rPr lang="en-US" baseline="0" dirty="0"/>
              <a:t> </a:t>
            </a:r>
            <a:r>
              <a:rPr lang="en-US" baseline="0" dirty="0" err="1"/>
              <a:t>đặt</a:t>
            </a:r>
            <a:r>
              <a:rPr lang="en-US" baseline="0" dirty="0"/>
              <a:t>, </a:t>
            </a:r>
            <a:r>
              <a:rPr lang="en-US" baseline="0" dirty="0" err="1"/>
              <a:t>với</a:t>
            </a:r>
            <a:r>
              <a:rPr lang="en-US" baseline="0" dirty="0"/>
              <a:t> </a:t>
            </a:r>
            <a:r>
              <a:rPr lang="en-US" baseline="0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nội</a:t>
            </a:r>
            <a:r>
              <a:rPr lang="en-US" baseline="0" dirty="0"/>
              <a:t> dung </a:t>
            </a:r>
            <a:r>
              <a:rPr lang="en-US" baseline="0" dirty="0" err="1"/>
              <a:t>chính</a:t>
            </a:r>
            <a:r>
              <a:rPr lang="en-US" baseline="0" dirty="0"/>
              <a:t> </a:t>
            </a:r>
            <a:r>
              <a:rPr lang="en-US" baseline="0" dirty="0" err="1"/>
              <a:t>như</a:t>
            </a:r>
            <a:r>
              <a:rPr lang="en-US" baseline="0" dirty="0"/>
              <a:t> c</a:t>
            </a:r>
            <a:r>
              <a:rPr lang="vi-VN" baseline="0" dirty="0"/>
              <a:t>ác yêu cầu viết mã nguồn chương trình</a:t>
            </a:r>
            <a:r>
              <a:rPr lang="en-US" baseline="0" dirty="0"/>
              <a:t>, </a:t>
            </a:r>
            <a:r>
              <a:rPr lang="en-US" baseline="0" dirty="0" err="1"/>
              <a:t>ph</a:t>
            </a:r>
            <a:r>
              <a:rPr lang="vi-VN" baseline="0" dirty="0"/>
              <a:t>ong cách lập trình</a:t>
            </a:r>
            <a:r>
              <a:rPr lang="en-US" baseline="0" dirty="0"/>
              <a:t>, </a:t>
            </a:r>
            <a:r>
              <a:rPr lang="en-US" baseline="0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vấn</a:t>
            </a:r>
            <a:r>
              <a:rPr lang="en-US" baseline="0" dirty="0"/>
              <a:t> </a:t>
            </a:r>
            <a:r>
              <a:rPr lang="en-US" baseline="0" dirty="0" err="1"/>
              <a:t>đề</a:t>
            </a:r>
            <a:r>
              <a:rPr lang="en-US" baseline="0" dirty="0"/>
              <a:t> </a:t>
            </a:r>
            <a:r>
              <a:rPr lang="en-US" baseline="0" dirty="0" err="1"/>
              <a:t>về</a:t>
            </a:r>
            <a:r>
              <a:rPr lang="en-US" baseline="0" dirty="0"/>
              <a:t> </a:t>
            </a:r>
            <a:r>
              <a:rPr lang="en-US" baseline="0" dirty="0" err="1"/>
              <a:t>tái</a:t>
            </a:r>
            <a:r>
              <a:rPr lang="en-US" baseline="0" dirty="0"/>
              <a:t> </a:t>
            </a:r>
            <a:r>
              <a:rPr lang="en-US" baseline="0" dirty="0" err="1"/>
              <a:t>sử</a:t>
            </a:r>
            <a:r>
              <a:rPr lang="en-US" baseline="0" dirty="0"/>
              <a:t> </a:t>
            </a:r>
            <a:r>
              <a:rPr lang="en-US" baseline="0" dirty="0" err="1"/>
              <a:t>dụng</a:t>
            </a:r>
            <a:r>
              <a:rPr lang="en-US" baseline="0" dirty="0"/>
              <a:t> hay </a:t>
            </a:r>
            <a:r>
              <a:rPr lang="en-US" baseline="0" dirty="0" err="1"/>
              <a:t>gỡ</a:t>
            </a:r>
            <a:r>
              <a:rPr lang="en-US" baseline="0" dirty="0"/>
              <a:t> </a:t>
            </a:r>
            <a:r>
              <a:rPr lang="en-US" baseline="0" dirty="0" err="1"/>
              <a:t>lỗi</a:t>
            </a:r>
            <a:r>
              <a:rPr lang="en-US" baseline="0" dirty="0"/>
              <a:t> </a:t>
            </a:r>
            <a:r>
              <a:rPr lang="en-US" baseline="0" dirty="0" err="1"/>
              <a:t>chương</a:t>
            </a:r>
            <a:r>
              <a:rPr lang="en-US" baseline="0" dirty="0"/>
              <a:t> </a:t>
            </a:r>
            <a:r>
              <a:rPr lang="en-US" baseline="0" dirty="0" err="1"/>
              <a:t>trình</a:t>
            </a:r>
            <a:r>
              <a:rPr lang="en-US" baseline="0" dirty="0"/>
              <a:t>.</a:t>
            </a:r>
            <a:endParaRPr lang="en-US" dirty="0"/>
          </a:p>
          <a:p>
            <a:pPr marL="514350" indent="-514350">
              <a:lnSpc>
                <a:spcPct val="90000"/>
              </a:lnSpc>
              <a:buFont typeface="+mj-lt"/>
              <a:buAutoNum type="arabicPeriod" startAt="6"/>
            </a:pP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: </a:t>
            </a:r>
            <a:r>
              <a:rPr lang="en-US" dirty="0" err="1"/>
              <a:t>Bài</a:t>
            </a:r>
            <a:r>
              <a:rPr lang="en-US" baseline="0" dirty="0"/>
              <a:t> </a:t>
            </a:r>
            <a:r>
              <a:rPr lang="en-US" baseline="0" dirty="0" err="1"/>
              <a:t>giảng</a:t>
            </a:r>
            <a:r>
              <a:rPr lang="en-US" baseline="0" dirty="0"/>
              <a:t> </a:t>
            </a:r>
            <a:r>
              <a:rPr lang="en-US" baseline="0" dirty="0" err="1"/>
              <a:t>giới</a:t>
            </a:r>
            <a:r>
              <a:rPr lang="en-US" baseline="0" dirty="0"/>
              <a:t> </a:t>
            </a:r>
            <a:r>
              <a:rPr lang="en-US" baseline="0" dirty="0" err="1"/>
              <a:t>thiệu</a:t>
            </a:r>
            <a:r>
              <a:rPr lang="en-US" baseline="0" dirty="0"/>
              <a:t> </a:t>
            </a:r>
            <a:r>
              <a:rPr lang="en-US" baseline="0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khái</a:t>
            </a:r>
            <a:r>
              <a:rPr lang="en-US" baseline="0" dirty="0"/>
              <a:t> </a:t>
            </a:r>
            <a:r>
              <a:rPr lang="en-US" baseline="0" dirty="0" err="1"/>
              <a:t>niệm</a:t>
            </a:r>
            <a:r>
              <a:rPr lang="en-US" baseline="0" dirty="0"/>
              <a:t> </a:t>
            </a:r>
            <a:r>
              <a:rPr lang="en-US" baseline="0" dirty="0" err="1"/>
              <a:t>cơ</a:t>
            </a:r>
            <a:r>
              <a:rPr lang="en-US" baseline="0" dirty="0"/>
              <a:t> </a:t>
            </a:r>
            <a:r>
              <a:rPr lang="en-US" baseline="0" dirty="0" err="1"/>
              <a:t>bản</a:t>
            </a:r>
            <a:r>
              <a:rPr lang="en-US" baseline="0" dirty="0"/>
              <a:t> </a:t>
            </a:r>
            <a:r>
              <a:rPr lang="en-US" baseline="0" dirty="0" err="1"/>
              <a:t>về</a:t>
            </a:r>
            <a:r>
              <a:rPr lang="en-US" baseline="0" dirty="0"/>
              <a:t> </a:t>
            </a:r>
            <a:r>
              <a:rPr lang="en-US" baseline="0" dirty="0" err="1"/>
              <a:t>đảm</a:t>
            </a:r>
            <a:r>
              <a:rPr lang="en-US" baseline="0" dirty="0"/>
              <a:t> </a:t>
            </a:r>
            <a:r>
              <a:rPr lang="en-US" baseline="0" dirty="0" err="1"/>
              <a:t>bảo</a:t>
            </a:r>
            <a:r>
              <a:rPr lang="en-US" baseline="0" dirty="0"/>
              <a:t> </a:t>
            </a:r>
            <a:r>
              <a:rPr lang="en-US" baseline="0" dirty="0" err="1"/>
              <a:t>chất</a:t>
            </a:r>
            <a:r>
              <a:rPr lang="en-US" baseline="0" dirty="0"/>
              <a:t> </a:t>
            </a:r>
            <a:r>
              <a:rPr lang="en-US" baseline="0" dirty="0" err="1"/>
              <a:t>lượng</a:t>
            </a:r>
            <a:r>
              <a:rPr lang="en-US" baseline="0" dirty="0"/>
              <a:t> </a:t>
            </a:r>
            <a:r>
              <a:rPr lang="en-US" baseline="0" dirty="0" err="1"/>
              <a:t>phần</a:t>
            </a:r>
            <a:r>
              <a:rPr lang="en-US" baseline="0" dirty="0"/>
              <a:t> </a:t>
            </a:r>
            <a:r>
              <a:rPr lang="en-US" baseline="0" dirty="0" err="1"/>
              <a:t>mềm</a:t>
            </a:r>
            <a:r>
              <a:rPr lang="en-US" baseline="0" dirty="0"/>
              <a:t>, </a:t>
            </a:r>
            <a:r>
              <a:rPr lang="en-US" baseline="0" dirty="0" err="1"/>
              <a:t>tiếp</a:t>
            </a:r>
            <a:r>
              <a:rPr lang="en-US" baseline="0" dirty="0"/>
              <a:t> </a:t>
            </a:r>
            <a:r>
              <a:rPr lang="en-US" baseline="0" dirty="0" err="1"/>
              <a:t>đó</a:t>
            </a:r>
            <a:r>
              <a:rPr lang="en-US" baseline="0" dirty="0"/>
              <a:t> </a:t>
            </a:r>
            <a:r>
              <a:rPr lang="en-US" baseline="0" dirty="0" err="1"/>
              <a:t>giới</a:t>
            </a:r>
            <a:r>
              <a:rPr lang="en-US" baseline="0" dirty="0"/>
              <a:t> </a:t>
            </a:r>
            <a:r>
              <a:rPr lang="en-US" baseline="0" dirty="0" err="1"/>
              <a:t>thiệu</a:t>
            </a:r>
            <a:r>
              <a:rPr lang="en-US" baseline="0" dirty="0"/>
              <a:t> </a:t>
            </a:r>
            <a:r>
              <a:rPr lang="en-US" baseline="0" dirty="0" err="1"/>
              <a:t>một</a:t>
            </a:r>
            <a:r>
              <a:rPr lang="en-US" baseline="0" dirty="0"/>
              <a:t> </a:t>
            </a:r>
            <a:r>
              <a:rPr lang="en-US" baseline="0" dirty="0" err="1"/>
              <a:t>số</a:t>
            </a:r>
            <a:r>
              <a:rPr lang="en-US" baseline="0" dirty="0"/>
              <a:t> </a:t>
            </a:r>
            <a:r>
              <a:rPr lang="en-US" baseline="0" dirty="0" err="1"/>
              <a:t>kỹ</a:t>
            </a:r>
            <a:r>
              <a:rPr lang="en-US" baseline="0" dirty="0"/>
              <a:t> </a:t>
            </a:r>
            <a:r>
              <a:rPr lang="en-US" baseline="0" dirty="0" err="1"/>
              <a:t>thuật</a:t>
            </a:r>
            <a:r>
              <a:rPr lang="en-US" baseline="0" dirty="0"/>
              <a:t> </a:t>
            </a:r>
            <a:r>
              <a:rPr lang="en-US" baseline="0" dirty="0" err="1"/>
              <a:t>kiểm</a:t>
            </a:r>
            <a:r>
              <a:rPr lang="en-US" baseline="0" dirty="0"/>
              <a:t> </a:t>
            </a:r>
            <a:r>
              <a:rPr lang="en-US" baseline="0" dirty="0" err="1"/>
              <a:t>thử</a:t>
            </a:r>
            <a:r>
              <a:rPr lang="en-US" baseline="0" dirty="0"/>
              <a:t> </a:t>
            </a:r>
            <a:r>
              <a:rPr lang="en-US" baseline="0" dirty="0" err="1"/>
              <a:t>phần</a:t>
            </a:r>
            <a:r>
              <a:rPr lang="en-US" baseline="0" dirty="0"/>
              <a:t> </a:t>
            </a:r>
            <a:r>
              <a:rPr lang="en-US" baseline="0" dirty="0" err="1"/>
              <a:t>mềm</a:t>
            </a:r>
            <a:r>
              <a:rPr lang="en-US" baseline="0" dirty="0"/>
              <a:t>.</a:t>
            </a:r>
            <a:endParaRPr lang="en-US" dirty="0"/>
          </a:p>
          <a:p>
            <a:pPr marL="514350" indent="-514350">
              <a:lnSpc>
                <a:spcPct val="90000"/>
              </a:lnSpc>
              <a:buFont typeface="+mj-lt"/>
              <a:buAutoNum type="arabicPeriod" startAt="6"/>
            </a:pP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: </a:t>
            </a:r>
            <a:r>
              <a:rPr lang="en-US" dirty="0" err="1"/>
              <a:t>Bài</a:t>
            </a:r>
            <a:r>
              <a:rPr lang="en-US" baseline="0" dirty="0"/>
              <a:t> </a:t>
            </a:r>
            <a:r>
              <a:rPr lang="en-US" baseline="0" dirty="0" err="1"/>
              <a:t>giảng</a:t>
            </a:r>
            <a:r>
              <a:rPr lang="en-US" baseline="0" dirty="0"/>
              <a:t> </a:t>
            </a:r>
            <a:r>
              <a:rPr lang="en-US" baseline="0" dirty="0" err="1"/>
              <a:t>cung</a:t>
            </a:r>
            <a:r>
              <a:rPr lang="en-US" baseline="0" dirty="0"/>
              <a:t> </a:t>
            </a:r>
            <a:r>
              <a:rPr lang="en-US" baseline="0" dirty="0" err="1"/>
              <a:t>cấp</a:t>
            </a:r>
            <a:r>
              <a:rPr lang="en-US" baseline="0" dirty="0"/>
              <a:t> </a:t>
            </a:r>
            <a:r>
              <a:rPr lang="en-US" baseline="0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khái</a:t>
            </a:r>
            <a:r>
              <a:rPr lang="en-US" baseline="0" dirty="0"/>
              <a:t> </a:t>
            </a:r>
            <a:r>
              <a:rPr lang="en-US" baseline="0" dirty="0" err="1"/>
              <a:t>niệm</a:t>
            </a:r>
            <a:r>
              <a:rPr lang="en-US" baseline="0" dirty="0"/>
              <a:t> </a:t>
            </a:r>
            <a:r>
              <a:rPr lang="en-US" baseline="0" dirty="0" err="1"/>
              <a:t>cơ</a:t>
            </a:r>
            <a:r>
              <a:rPr lang="en-US" baseline="0" dirty="0"/>
              <a:t> </a:t>
            </a:r>
            <a:r>
              <a:rPr lang="en-US" baseline="0" dirty="0" err="1"/>
              <a:t>bản</a:t>
            </a:r>
            <a:r>
              <a:rPr lang="en-US" baseline="0" dirty="0"/>
              <a:t> </a:t>
            </a:r>
            <a:r>
              <a:rPr lang="en-US" baseline="0" dirty="0" err="1"/>
              <a:t>về</a:t>
            </a:r>
            <a:r>
              <a:rPr lang="en-US" baseline="0" dirty="0"/>
              <a:t> </a:t>
            </a:r>
            <a:r>
              <a:rPr lang="en-US" baseline="0" dirty="0" err="1"/>
              <a:t>quản</a:t>
            </a:r>
            <a:r>
              <a:rPr lang="en-US" baseline="0" dirty="0"/>
              <a:t> </a:t>
            </a:r>
            <a:r>
              <a:rPr lang="en-US" baseline="0" dirty="0" err="1"/>
              <a:t>lý</a:t>
            </a:r>
            <a:r>
              <a:rPr lang="en-US" baseline="0" dirty="0"/>
              <a:t> </a:t>
            </a:r>
            <a:r>
              <a:rPr lang="en-US" baseline="0" dirty="0" err="1"/>
              <a:t>dự</a:t>
            </a:r>
            <a:r>
              <a:rPr lang="en-US" baseline="0" dirty="0"/>
              <a:t> </a:t>
            </a:r>
            <a:r>
              <a:rPr lang="en-US" baseline="0" dirty="0" err="1"/>
              <a:t>án</a:t>
            </a:r>
            <a:r>
              <a:rPr lang="en-US" baseline="0" dirty="0"/>
              <a:t> </a:t>
            </a:r>
            <a:r>
              <a:rPr lang="en-US" baseline="0" dirty="0" err="1"/>
              <a:t>phần</a:t>
            </a:r>
            <a:r>
              <a:rPr lang="en-US" baseline="0" dirty="0"/>
              <a:t> </a:t>
            </a:r>
            <a:r>
              <a:rPr lang="en-US" baseline="0" dirty="0" err="1"/>
              <a:t>mềm</a:t>
            </a:r>
            <a:r>
              <a:rPr lang="en-US" baseline="0" dirty="0"/>
              <a:t>, </a:t>
            </a:r>
            <a:r>
              <a:rPr lang="en-US" baseline="0" dirty="0" err="1"/>
              <a:t>cũng</a:t>
            </a:r>
            <a:r>
              <a:rPr lang="en-US" baseline="0" dirty="0"/>
              <a:t> </a:t>
            </a:r>
            <a:r>
              <a:rPr lang="en-US" baseline="0" dirty="0" err="1"/>
              <a:t>như</a:t>
            </a:r>
            <a:r>
              <a:rPr lang="en-US" baseline="0" dirty="0"/>
              <a:t> </a:t>
            </a:r>
            <a:r>
              <a:rPr lang="en-US" baseline="0" dirty="0" err="1"/>
              <a:t>nêu</a:t>
            </a:r>
            <a:r>
              <a:rPr lang="en-US" baseline="0" dirty="0"/>
              <a:t> </a:t>
            </a:r>
            <a:r>
              <a:rPr lang="en-US" baseline="0" dirty="0" err="1"/>
              <a:t>lên</a:t>
            </a:r>
            <a:r>
              <a:rPr lang="en-US" baseline="0" dirty="0"/>
              <a:t> </a:t>
            </a:r>
            <a:r>
              <a:rPr lang="en-US" baseline="0" dirty="0" err="1"/>
              <a:t>một</a:t>
            </a:r>
            <a:r>
              <a:rPr lang="en-US" baseline="0" dirty="0"/>
              <a:t> </a:t>
            </a:r>
            <a:r>
              <a:rPr lang="en-US" baseline="0" dirty="0" err="1"/>
              <a:t>số</a:t>
            </a:r>
            <a:r>
              <a:rPr lang="en-US" baseline="0" dirty="0"/>
              <a:t> </a:t>
            </a:r>
            <a:r>
              <a:rPr lang="en-US" baseline="0" dirty="0" err="1"/>
              <a:t>bài</a:t>
            </a:r>
            <a:r>
              <a:rPr lang="en-US" baseline="0" dirty="0"/>
              <a:t> </a:t>
            </a:r>
            <a:r>
              <a:rPr lang="en-US" baseline="0" dirty="0" err="1"/>
              <a:t>học</a:t>
            </a:r>
            <a:r>
              <a:rPr lang="en-US" baseline="0" dirty="0"/>
              <a:t> </a:t>
            </a:r>
            <a:r>
              <a:rPr lang="en-US" baseline="0" dirty="0" err="1"/>
              <a:t>trong</a:t>
            </a:r>
            <a:r>
              <a:rPr lang="en-US" baseline="0" dirty="0"/>
              <a:t> </a:t>
            </a:r>
            <a:r>
              <a:rPr lang="en-US" baseline="0" dirty="0" err="1"/>
              <a:t>làm</a:t>
            </a:r>
            <a:r>
              <a:rPr lang="en-US" baseline="0" dirty="0"/>
              <a:t> </a:t>
            </a:r>
            <a:r>
              <a:rPr lang="en-US" baseline="0" dirty="0" err="1"/>
              <a:t>phần</a:t>
            </a:r>
            <a:r>
              <a:rPr lang="en-US" baseline="0" dirty="0"/>
              <a:t> </a:t>
            </a:r>
            <a:r>
              <a:rPr lang="en-US" baseline="0" dirty="0" err="1"/>
              <a:t>mềm</a:t>
            </a:r>
            <a:r>
              <a:rPr lang="en-US" baseline="0" dirty="0"/>
              <a:t>.</a:t>
            </a:r>
            <a:endParaRPr lang="en-US" dirty="0"/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211661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học</a:t>
            </a:r>
            <a:r>
              <a:rPr lang="en-US" baseline="0" dirty="0"/>
              <a:t> </a:t>
            </a:r>
            <a:r>
              <a:rPr lang="en-US" baseline="0" dirty="0" err="1"/>
              <a:t>liệu</a:t>
            </a:r>
            <a:r>
              <a:rPr lang="en-US" baseline="0" dirty="0"/>
              <a:t> </a:t>
            </a:r>
            <a:r>
              <a:rPr lang="en-US" baseline="0" dirty="0" err="1"/>
              <a:t>đi</a:t>
            </a:r>
            <a:r>
              <a:rPr lang="en-US" baseline="0" dirty="0"/>
              <a:t> </a:t>
            </a:r>
            <a:r>
              <a:rPr lang="en-US" baseline="0" dirty="0" err="1"/>
              <a:t>kèm</a:t>
            </a:r>
            <a:r>
              <a:rPr lang="en-US" baseline="0" dirty="0"/>
              <a:t> </a:t>
            </a:r>
            <a:r>
              <a:rPr lang="en-US" baseline="0" dirty="0" err="1"/>
              <a:t>bao</a:t>
            </a:r>
            <a:r>
              <a:rPr lang="en-US" baseline="0" dirty="0"/>
              <a:t> </a:t>
            </a:r>
            <a:r>
              <a:rPr lang="en-US" baseline="0" dirty="0" err="1"/>
              <a:t>gồm</a:t>
            </a:r>
            <a:r>
              <a:rPr lang="en-US" baseline="0" dirty="0"/>
              <a:t>: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(slides </a:t>
            </a:r>
            <a:r>
              <a:rPr lang="en-US" dirty="0" err="1"/>
              <a:t>và</a:t>
            </a:r>
            <a:r>
              <a:rPr lang="en-US" dirty="0"/>
              <a:t> videos)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minh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mẫu</a:t>
            </a:r>
            <a:endParaRPr lang="en-US" dirty="0"/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Ngân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tuần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661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211661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2943" y="2122536"/>
            <a:ext cx="7740015" cy="1464580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5885" y="3871807"/>
            <a:ext cx="6374130" cy="1746109"/>
          </a:xfrm>
        </p:spPr>
        <p:txBody>
          <a:bodyPr/>
          <a:lstStyle>
            <a:lvl1pPr marL="0" indent="0" algn="ctr">
              <a:buNone/>
              <a:defRPr b="1">
                <a:solidFill>
                  <a:srgbClr val="C00000"/>
                </a:solidFill>
                <a:effectLst/>
              </a:defRPr>
            </a:lvl1pPr>
            <a:lvl2pPr marL="434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69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03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3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73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07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42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7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10125E-3209-4400-8719-2AFB66A729C3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66950" y="6332809"/>
            <a:ext cx="4343399" cy="36377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9886A4-4ACE-4E07-8C07-313BEFE829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69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426840" y="1352286"/>
            <a:ext cx="818108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810" y="213496"/>
            <a:ext cx="8195310" cy="1138767"/>
          </a:xfrm>
        </p:spPr>
        <p:txBody>
          <a:bodyPr>
            <a:normAutofit/>
          </a:bodyPr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2pPr>
              <a:defRPr>
                <a:solidFill>
                  <a:srgbClr val="0070C0"/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2E895B-C373-4F4C-960B-6D783C9E4D75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66950" y="6332809"/>
            <a:ext cx="4419599" cy="36377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981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304" y="4390580"/>
            <a:ext cx="7740015" cy="1357030"/>
          </a:xfrm>
        </p:spPr>
        <p:txBody>
          <a:bodyPr anchor="t"/>
          <a:lstStyle>
            <a:lvl1pPr algn="l">
              <a:defRPr sz="3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304" y="2895948"/>
            <a:ext cx="7740015" cy="1494631"/>
          </a:xfrm>
        </p:spPr>
        <p:txBody>
          <a:bodyPr anchor="b"/>
          <a:lstStyle>
            <a:lvl1pPr marL="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1pPr>
            <a:lvl2pPr marL="43466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86932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30398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73864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1733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60796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304262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47728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07C649-3657-4728-A20C-80FE7427F96D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66950" y="6332809"/>
            <a:ext cx="4419599" cy="36377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7F873-6AAF-4FAD-930F-0A383F3CB8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418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26840" y="1352286"/>
            <a:ext cx="818108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295" y="1594275"/>
            <a:ext cx="4021773" cy="4509200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8832" y="1594275"/>
            <a:ext cx="4021773" cy="4509200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2960B3-A68F-4B53-A96B-9AE3AF45B783}" type="datetime1">
              <a:rPr lang="en-US" smtClean="0"/>
              <a:t>2/13/2026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66950" y="6332809"/>
            <a:ext cx="4343399" cy="36377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05E3E2-4364-4633-A996-4ACFBEBDB5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290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426840" y="1352286"/>
            <a:ext cx="818108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295" y="1529427"/>
            <a:ext cx="4023354" cy="637393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4660" indent="0">
              <a:buNone/>
              <a:defRPr sz="1900" b="1"/>
            </a:lvl2pPr>
            <a:lvl3pPr marL="869320" indent="0">
              <a:buNone/>
              <a:defRPr sz="1700" b="1"/>
            </a:lvl3pPr>
            <a:lvl4pPr marL="1303980" indent="0">
              <a:buNone/>
              <a:defRPr sz="1500" b="1"/>
            </a:lvl4pPr>
            <a:lvl5pPr marL="1738640" indent="0">
              <a:buNone/>
              <a:defRPr sz="1500" b="1"/>
            </a:lvl5pPr>
            <a:lvl6pPr marL="2173300" indent="0">
              <a:buNone/>
              <a:defRPr sz="1500" b="1"/>
            </a:lvl6pPr>
            <a:lvl7pPr marL="2607960" indent="0">
              <a:buNone/>
              <a:defRPr sz="1500" b="1"/>
            </a:lvl7pPr>
            <a:lvl8pPr marL="3042620" indent="0">
              <a:buNone/>
              <a:defRPr sz="1500" b="1"/>
            </a:lvl8pPr>
            <a:lvl9pPr marL="3477280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295" y="2166820"/>
            <a:ext cx="4023354" cy="3936654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5671" y="1529427"/>
            <a:ext cx="4024935" cy="637393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4660" indent="0">
              <a:buNone/>
              <a:defRPr sz="1900" b="1"/>
            </a:lvl2pPr>
            <a:lvl3pPr marL="869320" indent="0">
              <a:buNone/>
              <a:defRPr sz="1700" b="1"/>
            </a:lvl3pPr>
            <a:lvl4pPr marL="1303980" indent="0">
              <a:buNone/>
              <a:defRPr sz="1500" b="1"/>
            </a:lvl4pPr>
            <a:lvl5pPr marL="1738640" indent="0">
              <a:buNone/>
              <a:defRPr sz="1500" b="1"/>
            </a:lvl5pPr>
            <a:lvl6pPr marL="2173300" indent="0">
              <a:buNone/>
              <a:defRPr sz="1500" b="1"/>
            </a:lvl6pPr>
            <a:lvl7pPr marL="2607960" indent="0">
              <a:buNone/>
              <a:defRPr sz="1500" b="1"/>
            </a:lvl7pPr>
            <a:lvl8pPr marL="3042620" indent="0">
              <a:buNone/>
              <a:defRPr sz="1500" b="1"/>
            </a:lvl8pPr>
            <a:lvl9pPr marL="3477280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5671" y="2166820"/>
            <a:ext cx="4024935" cy="3936654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1B8B1-DDF1-48D3-9B4B-D8E8B5AE0B84}" type="datetime1">
              <a:rPr lang="en-US" smtClean="0"/>
              <a:t>2/13/2026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266950" y="6332809"/>
            <a:ext cx="4419599" cy="36377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A978B3-9D9A-4ED8-888E-FD7CF5FBB1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189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426840" y="1352286"/>
            <a:ext cx="818108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295" y="215900"/>
            <a:ext cx="8195310" cy="11387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63394E-F1DF-4E4C-9AF2-D2783063BC5C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0" y="6332809"/>
            <a:ext cx="4343399" cy="36377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4AC4C-135F-4522-8940-2B69BB186A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86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958A4-12E2-459D-942D-87FECE3D5082}" type="datetime1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66950" y="6332809"/>
            <a:ext cx="4419599" cy="36377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031BC6-5C94-4CD4-B195-0CCA50D364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01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295" y="272039"/>
            <a:ext cx="2995779" cy="1157746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0155" y="272040"/>
            <a:ext cx="5090451" cy="5831435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5295" y="1429786"/>
            <a:ext cx="2995779" cy="4673689"/>
          </a:xfrm>
        </p:spPr>
        <p:txBody>
          <a:bodyPr/>
          <a:lstStyle>
            <a:lvl1pPr marL="0" indent="0">
              <a:buNone/>
              <a:defRPr sz="1300"/>
            </a:lvl1pPr>
            <a:lvl2pPr marL="434660" indent="0">
              <a:buNone/>
              <a:defRPr sz="1100"/>
            </a:lvl2pPr>
            <a:lvl3pPr marL="869320" indent="0">
              <a:buNone/>
              <a:defRPr sz="1000"/>
            </a:lvl3pPr>
            <a:lvl4pPr marL="1303980" indent="0">
              <a:buNone/>
              <a:defRPr sz="900"/>
            </a:lvl4pPr>
            <a:lvl5pPr marL="1738640" indent="0">
              <a:buNone/>
              <a:defRPr sz="900"/>
            </a:lvl5pPr>
            <a:lvl6pPr marL="2173300" indent="0">
              <a:buNone/>
              <a:defRPr sz="900"/>
            </a:lvl6pPr>
            <a:lvl7pPr marL="2607960" indent="0">
              <a:buNone/>
              <a:defRPr sz="900"/>
            </a:lvl7pPr>
            <a:lvl8pPr marL="3042620" indent="0">
              <a:buNone/>
              <a:defRPr sz="900"/>
            </a:lvl8pPr>
            <a:lvl9pPr marL="347728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E86AB2-C284-4EF6-9A4F-ED7957A4238F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F41CBC-9904-4263-9153-B1006F3BD4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266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4820" y="4782820"/>
            <a:ext cx="5463540" cy="564639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84820" y="610505"/>
            <a:ext cx="5463540" cy="4099560"/>
          </a:xfrm>
        </p:spPr>
        <p:txBody>
          <a:bodyPr rtlCol="0">
            <a:normAutofit/>
          </a:bodyPr>
          <a:lstStyle>
            <a:lvl1pPr marL="0" indent="0">
              <a:buNone/>
              <a:defRPr sz="3000"/>
            </a:lvl1pPr>
            <a:lvl2pPr marL="434660" indent="0">
              <a:buNone/>
              <a:defRPr sz="2700"/>
            </a:lvl2pPr>
            <a:lvl3pPr marL="869320" indent="0">
              <a:buNone/>
              <a:defRPr sz="2300"/>
            </a:lvl3pPr>
            <a:lvl4pPr marL="1303980" indent="0">
              <a:buNone/>
              <a:defRPr sz="1900"/>
            </a:lvl4pPr>
            <a:lvl5pPr marL="1738640" indent="0">
              <a:buNone/>
              <a:defRPr sz="1900"/>
            </a:lvl5pPr>
            <a:lvl6pPr marL="2173300" indent="0">
              <a:buNone/>
              <a:defRPr sz="1900"/>
            </a:lvl6pPr>
            <a:lvl7pPr marL="2607960" indent="0">
              <a:buNone/>
              <a:defRPr sz="1900"/>
            </a:lvl7pPr>
            <a:lvl8pPr marL="3042620" indent="0">
              <a:buNone/>
              <a:defRPr sz="1900"/>
            </a:lvl8pPr>
            <a:lvl9pPr marL="3477280" indent="0">
              <a:buNone/>
              <a:defRPr sz="19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84820" y="5347459"/>
            <a:ext cx="5463540" cy="801881"/>
          </a:xfrm>
        </p:spPr>
        <p:txBody>
          <a:bodyPr/>
          <a:lstStyle>
            <a:lvl1pPr marL="0" indent="0">
              <a:buNone/>
              <a:defRPr sz="1300"/>
            </a:lvl1pPr>
            <a:lvl2pPr marL="434660" indent="0">
              <a:buNone/>
              <a:defRPr sz="1100"/>
            </a:lvl2pPr>
            <a:lvl3pPr marL="869320" indent="0">
              <a:buNone/>
              <a:defRPr sz="1000"/>
            </a:lvl3pPr>
            <a:lvl4pPr marL="1303980" indent="0">
              <a:buNone/>
              <a:defRPr sz="900"/>
            </a:lvl4pPr>
            <a:lvl5pPr marL="1738640" indent="0">
              <a:buNone/>
              <a:defRPr sz="900"/>
            </a:lvl5pPr>
            <a:lvl6pPr marL="2173300" indent="0">
              <a:buNone/>
              <a:defRPr sz="900"/>
            </a:lvl6pPr>
            <a:lvl7pPr marL="2607960" indent="0">
              <a:buNone/>
              <a:defRPr sz="900"/>
            </a:lvl7pPr>
            <a:lvl8pPr marL="3042620" indent="0">
              <a:buNone/>
              <a:defRPr sz="900"/>
            </a:lvl8pPr>
            <a:lvl9pPr marL="347728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804870-CCD6-493C-85E3-BD11FD7C5F9E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9F4961-C020-4071-8C36-0E057DC90E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8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DCA622-37BD-4FFA-B689-6ABA2E2BA156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BE2097-9A97-4296-A839-7902B94E44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013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01777" y="273622"/>
            <a:ext cx="2048828" cy="58298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295" y="273622"/>
            <a:ext cx="5994718" cy="5829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3C17A0-63C8-474B-8DB4-3677A5F42550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9E2E0B-A0B9-4072-B062-59BFD7EFAF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195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134" y="305255"/>
            <a:ext cx="7771633" cy="9141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86473" y="1670193"/>
            <a:ext cx="3809934" cy="41153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8171" y="1670193"/>
            <a:ext cx="3809934" cy="41153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0949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5295" y="273621"/>
            <a:ext cx="8195310" cy="1138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6932" tIns="43466" rIns="86932" bIns="4346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5295" y="1594275"/>
            <a:ext cx="8195310" cy="4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6932" tIns="43466" rIns="86932" bIns="434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5295" y="6332809"/>
            <a:ext cx="2124710" cy="363773"/>
          </a:xfrm>
          <a:prstGeom prst="rect">
            <a:avLst/>
          </a:prstGeom>
        </p:spPr>
        <p:txBody>
          <a:bodyPr vert="horz" lIns="86932" tIns="43466" rIns="86932" bIns="43466" rtlCol="0" anchor="ctr"/>
          <a:lstStyle>
            <a:lvl1pPr algn="l">
              <a:defRPr sz="110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AF1E1A2-F633-436F-AFDA-DE914AF68904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90750" y="6332809"/>
            <a:ext cx="4495799" cy="363773"/>
          </a:xfrm>
          <a:prstGeom prst="rect">
            <a:avLst/>
          </a:prstGeom>
        </p:spPr>
        <p:txBody>
          <a:bodyPr vert="horz" lIns="86932" tIns="43466" rIns="86932" bIns="43466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25895" y="6332809"/>
            <a:ext cx="2124710" cy="363773"/>
          </a:xfrm>
          <a:prstGeom prst="rect">
            <a:avLst/>
          </a:prstGeom>
        </p:spPr>
        <p:txBody>
          <a:bodyPr vert="horz" lIns="86932" tIns="43466" rIns="86932" bIns="43466" rtlCol="0" anchor="ctr"/>
          <a:lstStyle>
            <a:lvl1pPr algn="r">
              <a:defRPr sz="110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B8533C3-56C4-45CF-801B-3778A560EF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93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200" kern="1200">
          <a:solidFill>
            <a:srgbClr val="0070C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5pPr>
      <a:lvl6pPr marL="434660"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6pPr>
      <a:lvl7pPr marL="869320"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7pPr>
      <a:lvl8pPr marL="1303980"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8pPr>
      <a:lvl9pPr marL="1738640" algn="ctr" rtl="0" eaLnBrk="1" fontAlgn="base" hangingPunct="1">
        <a:spcBef>
          <a:spcPct val="0"/>
        </a:spcBef>
        <a:spcAft>
          <a:spcPct val="0"/>
        </a:spcAft>
        <a:defRPr sz="4200">
          <a:solidFill>
            <a:srgbClr val="B0105C"/>
          </a:solidFill>
          <a:latin typeface="Calibri" pitchFamily="34" charset="0"/>
        </a:defRPr>
      </a:lvl9pPr>
    </p:titleStyle>
    <p:bodyStyle>
      <a:lvl1pPr marL="325995" indent="-32599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06323" indent="-27166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7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2pPr>
      <a:lvl3pPr marL="1086650" indent="-21733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521310" indent="-21733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55970" indent="-21733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0630" indent="-217330" algn="l" defTabSz="86932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25290" indent="-217330" algn="l" defTabSz="86932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59950" indent="-217330" algn="l" defTabSz="86932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94610" indent="-217330" algn="l" defTabSz="86932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466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932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398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864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7330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0796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4262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77280" algn="l" defTabSz="86932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ranhoangviet.name.vn/" TargetMode="External"/><Relationship Id="rId2" Type="http://schemas.openxmlformats.org/officeDocument/2006/relationships/hyperlink" Target="mailto:thv@vnu.edu.v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abs/pii/S0167642320300496?via%3Dihub" TargetMode="External"/><Relationship Id="rId2" Type="http://schemas.openxmlformats.org/officeDocument/2006/relationships/hyperlink" Target="https://www.sciencedirect.com/science/article/abs/pii/S095058492200002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document/9648741" TargetMode="External"/><Relationship Id="rId5" Type="http://schemas.openxmlformats.org/officeDocument/2006/relationships/hyperlink" Target="http://jcsce.vnu.edu.vn/index.php/jcsce/article/view/209" TargetMode="External"/><Relationship Id="rId4" Type="http://schemas.openxmlformats.org/officeDocument/2006/relationships/hyperlink" Target="https://doi.org/10.1016/j.scico.2020.102439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Công nghệ phần mềm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/>
              <a:t>Giới</a:t>
            </a:r>
            <a:r>
              <a:rPr lang="en-GB" dirty="0"/>
              <a:t> </a:t>
            </a:r>
            <a:r>
              <a:rPr lang="en-GB" dirty="0" err="1"/>
              <a:t>thiệu</a:t>
            </a:r>
            <a:r>
              <a:rPr lang="en-GB" dirty="0"/>
              <a:t> </a:t>
            </a:r>
            <a:r>
              <a:rPr lang="en-GB" dirty="0" err="1"/>
              <a:t>học</a:t>
            </a:r>
            <a:r>
              <a:rPr lang="en-GB" dirty="0"/>
              <a:t> </a:t>
            </a:r>
            <a:r>
              <a:rPr lang="en-GB" dirty="0" err="1"/>
              <a:t>phần</a:t>
            </a:r>
            <a:endParaRPr lang="en-GB" dirty="0"/>
          </a:p>
        </p:txBody>
      </p:sp>
      <p:pic>
        <p:nvPicPr>
          <p:cNvPr id="4" name="Picture 4" descr="C:\Users\hoangta\AppData\Local\Microsoft\Windows\Temporary Internet Files\Content.IE5\E9MDPTKA\MCBD06929_0000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0" y="5192368"/>
            <a:ext cx="3795713" cy="109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/>
              <a:t>Nội dung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phần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khảo</a:t>
            </a: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F686F-D247-43C6-96D9-382C8E9BA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Thông tin môn học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8E0EC-E5BC-4AF5-8D9E-A0EDDEAF7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163" y="1554263"/>
            <a:ext cx="8195310" cy="455294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565"/>
              <a:t>Tên môn: </a:t>
            </a:r>
            <a:r>
              <a:rPr lang="en-US" altLang="en-US" sz="2565" b="1"/>
              <a:t>Công nghệ phần mềm</a:t>
            </a:r>
          </a:p>
          <a:p>
            <a:pPr eaLnBrk="1" hangingPunct="1"/>
            <a:r>
              <a:rPr lang="en-US" altLang="en-US" sz="2565"/>
              <a:t>Số tín chỉ: 3 (45/0/0)</a:t>
            </a:r>
          </a:p>
          <a:p>
            <a:pPr eaLnBrk="1" hangingPunct="1"/>
            <a:r>
              <a:rPr lang="en-US" altLang="en-US" sz="2565"/>
              <a:t>Học h</a:t>
            </a:r>
            <a:r>
              <a:rPr lang="en-US" altLang="en-US" sz="2198"/>
              <a:t>ọc lý thuyết</a:t>
            </a:r>
          </a:p>
          <a:p>
            <a:pPr lvl="1"/>
            <a:r>
              <a:rPr lang="en-US" altLang="en-US" sz="1830"/>
              <a:t>Thời gian: 15 tuần</a:t>
            </a:r>
          </a:p>
          <a:p>
            <a:pPr eaLnBrk="1" hangingPunct="1"/>
            <a:r>
              <a:rPr lang="en-US" altLang="en-US" sz="2565"/>
              <a:t>Giảng viên: </a:t>
            </a:r>
            <a:r>
              <a:rPr lang="en-US" altLang="en-US" sz="2565" b="1"/>
              <a:t>TS. Trần Hoàng Việt</a:t>
            </a:r>
          </a:p>
          <a:p>
            <a:pPr lvl="1" eaLnBrk="1" hangingPunct="1"/>
            <a:r>
              <a:rPr lang="en-US" altLang="en-US"/>
              <a:t>Email: </a:t>
            </a:r>
            <a:r>
              <a:rPr lang="en-US" altLang="en-US">
                <a:hlinkClick r:id="rId2"/>
              </a:rPr>
              <a:t>thv@vnu.edu.vn</a:t>
            </a:r>
            <a:endParaRPr lang="en-US" altLang="en-US"/>
          </a:p>
          <a:p>
            <a:pPr lvl="1" eaLnBrk="1" hangingPunct="1"/>
            <a:r>
              <a:rPr lang="en-US" altLang="en-US"/>
              <a:t>ĐT: </a:t>
            </a:r>
            <a:r>
              <a:rPr lang="en-US" altLang="en-US">
                <a:solidFill>
                  <a:srgbClr val="0070C0"/>
                </a:solidFill>
              </a:rPr>
              <a:t>0913 524 998 </a:t>
            </a:r>
            <a:r>
              <a:rPr lang="en-US" altLang="en-US"/>
              <a:t>(trong khoảng 8:30AM – 5:00PM)</a:t>
            </a:r>
          </a:p>
          <a:p>
            <a:pPr lvl="1"/>
            <a:r>
              <a:rPr lang="en-US" altLang="en-US"/>
              <a:t>Website: </a:t>
            </a:r>
            <a:r>
              <a:rPr lang="en-US" altLang="en-US">
                <a:hlinkClick r:id="rId3"/>
              </a:rPr>
              <a:t>http://www.tranhoangviet.name.vn/</a:t>
            </a:r>
            <a:r>
              <a:rPr lang="en-US" altLang="en-US"/>
              <a:t>  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09DC4-645D-42D1-8B78-79411C9FC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C7842-0C84-435E-BE01-44330958D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5A374-A730-4037-8E1F-4D6412F89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47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B736-1583-4F25-BD86-8320AB124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Thông tin giảng viên (1/4)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62C6E-DCDC-4F86-A32C-BDD4D554F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b="1"/>
              <a:t>Học vị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Tốt nghiệp ĐH Bách Khoa Hà Nội (2005) 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Ths., TS.: Trường ĐHCN – ĐHQG HN (2013, 2021) </a:t>
            </a:r>
          </a:p>
          <a:p>
            <a:pPr>
              <a:spcBef>
                <a:spcPct val="30000"/>
              </a:spcBef>
            </a:pPr>
            <a:r>
              <a:rPr lang="en-US" altLang="en-US" b="1"/>
              <a:t>Kinh nghiệm 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2005 - : Developer/Senior Developer/SM/Project Manager (~20 năm)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2011 - 2021: Học Ths, TS: Trường ĐHCN – ĐHQG HN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2021 - : Giảng viên: Trường ĐHCN – ĐHQG HN</a:t>
            </a:r>
          </a:p>
          <a:p>
            <a:pPr lvl="1">
              <a:lnSpc>
                <a:spcPct val="80000"/>
              </a:lnSpc>
            </a:pPr>
            <a:endParaRPr lang="en-US" altLang="en-US" sz="1832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BA075-55DF-4B5D-8C41-463888CB1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6CD8C-BB12-4D31-9590-F85956D89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5F828-8DD0-4E9D-866B-7D0271CF6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64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C6692-90FA-45B5-8224-EC55C27D2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Thông tin giảng viên (2/4)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29AFB-3591-4BB0-A7F5-CC0EEF96A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295" y="1594274"/>
            <a:ext cx="8195310" cy="473853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en-US" altLang="en-US" sz="2574" b="1"/>
              <a:t>Lĩnh vực nghiên cứu quan tâm </a:t>
            </a:r>
          </a:p>
          <a:p>
            <a:pPr lvl="1">
              <a:lnSpc>
                <a:spcPct val="120000"/>
              </a:lnSpc>
            </a:pPr>
            <a:r>
              <a:rPr lang="vi-VN" altLang="en-US" sz="2600">
                <a:solidFill>
                  <a:schemeClr val="tx1"/>
                </a:solidFill>
                <a:latin typeface="Calibri (Body)"/>
              </a:rPr>
              <a:t>Phát triển &amp; kiểm thử phần mềm</a:t>
            </a:r>
          </a:p>
          <a:p>
            <a:pPr lvl="1">
              <a:lnSpc>
                <a:spcPct val="120000"/>
              </a:lnSpc>
            </a:pPr>
            <a:r>
              <a:rPr lang="vi-VN" altLang="en-US" sz="2600">
                <a:solidFill>
                  <a:schemeClr val="tx1"/>
                </a:solidFill>
                <a:latin typeface="Calibri (Body)"/>
              </a:rPr>
              <a:t>Đánh giá ảnh hưởng của thay đổi giữa các phiên bản (Change impact analysis)</a:t>
            </a:r>
          </a:p>
          <a:p>
            <a:pPr lvl="1">
              <a:lnSpc>
                <a:spcPct val="120000"/>
              </a:lnSpc>
            </a:pPr>
            <a:r>
              <a:rPr lang="vi-VN" altLang="en-US" sz="2600">
                <a:solidFill>
                  <a:schemeClr val="tx1"/>
                </a:solidFill>
                <a:latin typeface="Calibri (Body)"/>
              </a:rPr>
              <a:t>Sinh dữ liệu kiểm thử tự động cho phần mềm (Automated test data generation)</a:t>
            </a:r>
          </a:p>
          <a:p>
            <a:pPr lvl="1">
              <a:lnSpc>
                <a:spcPct val="120000"/>
              </a:lnSpc>
            </a:pPr>
            <a:r>
              <a:rPr lang="vi-VN" altLang="en-US" sz="2600">
                <a:solidFill>
                  <a:schemeClr val="tx1"/>
                </a:solidFill>
                <a:latin typeface="Calibri (Body)"/>
              </a:rPr>
              <a:t>Kiểm chứng Giả định - Đảm bảo (Assume-Guarantee Verification)</a:t>
            </a:r>
          </a:p>
          <a:p>
            <a:pPr lvl="1">
              <a:lnSpc>
                <a:spcPct val="120000"/>
              </a:lnSpc>
            </a:pPr>
            <a:r>
              <a:rPr lang="vi-VN" altLang="en-US" sz="2600">
                <a:solidFill>
                  <a:schemeClr val="tx1"/>
                </a:solidFill>
                <a:latin typeface="Calibri (Body)"/>
              </a:rPr>
              <a:t>Tiến hóa phần mềm (Software Evolution)</a:t>
            </a:r>
          </a:p>
          <a:p>
            <a:pPr lvl="1">
              <a:lnSpc>
                <a:spcPct val="120000"/>
              </a:lnSpc>
            </a:pPr>
            <a:r>
              <a:rPr lang="vi-VN" altLang="en-US" sz="2600">
                <a:solidFill>
                  <a:schemeClr val="tx1"/>
                </a:solidFill>
                <a:latin typeface="Calibri (Body)"/>
              </a:rPr>
              <a:t>Phân tích chương trình (Program Analysis)</a:t>
            </a:r>
          </a:p>
          <a:p>
            <a:pPr lvl="1">
              <a:lnSpc>
                <a:spcPct val="120000"/>
              </a:lnSpc>
            </a:pPr>
            <a:r>
              <a:rPr lang="vi-VN" altLang="en-US" sz="2600">
                <a:solidFill>
                  <a:schemeClr val="tx1"/>
                </a:solidFill>
                <a:latin typeface="Calibri (Body)"/>
              </a:rPr>
              <a:t>Trí tuệ nhân tạo cho Kỹ thuật phần mềm (AI for software engineering)</a:t>
            </a:r>
            <a:endParaRPr lang="en-US" altLang="en-US" sz="2600">
              <a:solidFill>
                <a:schemeClr val="tx1"/>
              </a:solidFill>
              <a:latin typeface="Calibri (Body)"/>
            </a:endParaRPr>
          </a:p>
          <a:p>
            <a:pPr>
              <a:lnSpc>
                <a:spcPct val="120000"/>
              </a:lnSpc>
            </a:pPr>
            <a:r>
              <a:rPr lang="en-US" sz="2874" b="1"/>
              <a:t>Phòng thí nghiệm SQA</a:t>
            </a:r>
          </a:p>
          <a:p>
            <a:pPr lvl="1">
              <a:lnSpc>
                <a:spcPct val="120000"/>
              </a:lnSpc>
            </a:pPr>
            <a:r>
              <a:rPr lang="en-US" sz="2600">
                <a:solidFill>
                  <a:schemeClr val="tx1"/>
                </a:solidFill>
                <a:latin typeface="Calibri (Body)"/>
              </a:rPr>
              <a:t>Hướng dẫn sinh viên NCKH, KLTN</a:t>
            </a:r>
          </a:p>
          <a:p>
            <a:pPr lvl="1">
              <a:lnSpc>
                <a:spcPct val="120000"/>
              </a:lnSpc>
            </a:pPr>
            <a:r>
              <a:rPr lang="en-US" sz="2600">
                <a:solidFill>
                  <a:schemeClr val="tx1"/>
                </a:solidFill>
                <a:latin typeface="Calibri (Body)"/>
              </a:rPr>
              <a:t>Yêu cầu: Thích làm nghiên cứu, lập trình tốt, tự giác, Javascript, CSS, điểm trung bình &gt;= 2.5/4.0</a:t>
            </a:r>
          </a:p>
          <a:p>
            <a:pPr>
              <a:lnSpc>
                <a:spcPct val="120000"/>
              </a:lnSpc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4482D-796B-455A-9C62-137509A0E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BCCC0-24E0-4AC2-84D0-DA0E630F4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E0E50-0228-40DF-AD8A-AA7447706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255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6C744-D211-235F-C986-2B496D2F5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Thông tin giảng viên (3/4)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59DC9-A143-D5A0-BA5F-F8181D077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Lợi ích khi tham gia Lab SQA</a:t>
            </a:r>
          </a:p>
          <a:p>
            <a:pPr lvl="1"/>
            <a:r>
              <a:rPr lang="en-US"/>
              <a:t>Được hướng dẫn làm quen các vấn đề nghiên cứu khoa học trong lĩnh vực liên quan</a:t>
            </a:r>
          </a:p>
          <a:p>
            <a:pPr lvl="1"/>
            <a:r>
              <a:rPr lang="en-US"/>
              <a:t>Được hướng dẫn viết các bài báo nghiên cứu </a:t>
            </a:r>
            <a:r>
              <a:rPr lang="en-US">
                <a:sym typeface="Wingdings" panose="05000000000000000000" pitchFamily="2" charset="2"/>
              </a:rPr>
              <a:t> tiền đề cho việc xin học bổng, học cao hơn lên ThS, TS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Được hỗ trợ trong quá trình xin học bổng, v.v.</a:t>
            </a:r>
          </a:p>
          <a:p>
            <a:r>
              <a:rPr lang="en-US">
                <a:sym typeface="Wingdings" panose="05000000000000000000" pitchFamily="2" charset="2"/>
              </a:rPr>
              <a:t>Trách nhiệm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Bố trí tối thiểu 15-20 giờ nghiên cứu / 1 tuần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Thực hiện các công việc được phân công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ED826-DDEF-480B-3F0C-B674C95D1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5CA03-0553-8DC7-D669-D2B3F44F0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4BD41-D911-6D82-7411-B3A141695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91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A0CB2-402B-47A2-B830-40296A782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Thông tin giảng viên (4/4)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85EB1-5216-4350-993E-89019C000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295" y="1455030"/>
            <a:ext cx="8195310" cy="49878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222222"/>
                </a:solidFill>
                <a:latin typeface="Calibri (Body)"/>
              </a:rPr>
              <a:t>Một số công trình nghiên cứu tiêu biểu</a:t>
            </a:r>
          </a:p>
          <a:p>
            <a:pPr algn="l"/>
            <a:r>
              <a:rPr lang="vi-VN" sz="1500" b="1" i="0">
                <a:solidFill>
                  <a:srgbClr val="222222"/>
                </a:solidFill>
                <a:effectLst/>
                <a:latin typeface="Calibri (Body)"/>
              </a:rPr>
              <a:t>Tạp chí quốc tế</a:t>
            </a:r>
            <a:endParaRPr lang="en-US" sz="1500" b="1" i="0">
              <a:solidFill>
                <a:srgbClr val="222222"/>
              </a:solidFill>
              <a:effectLst/>
              <a:latin typeface="Calibri (Body)"/>
            </a:endParaRPr>
          </a:p>
          <a:p>
            <a:pPr lvl="1"/>
            <a:r>
              <a:rPr lang="vi-VN" sz="1500" b="0" i="0">
                <a:solidFill>
                  <a:srgbClr val="222222"/>
                </a:solidFill>
                <a:effectLst/>
                <a:latin typeface="Calibri (Body)"/>
              </a:rPr>
              <a:t>Lam Nguyen Tung, </a:t>
            </a:r>
            <a:r>
              <a:rPr lang="vi-VN" sz="1500" b="0" i="0" u="sng">
                <a:solidFill>
                  <a:srgbClr val="222222"/>
                </a:solidFill>
                <a:effectLst/>
                <a:latin typeface="Calibri (Body)"/>
              </a:rPr>
              <a:t>Hoang-Viet Tran</a:t>
            </a:r>
            <a:r>
              <a:rPr lang="vi-VN" sz="1500" b="0" i="0">
                <a:solidFill>
                  <a:srgbClr val="222222"/>
                </a:solidFill>
                <a:effectLst/>
                <a:latin typeface="Calibri (Body)"/>
              </a:rPr>
              <a:t>, Khoi Nguyen Le, Pham Ngoc Hung </a:t>
            </a:r>
            <a:r>
              <a:rPr lang="vi-VN" sz="1500" b="0" i="0" u="none" strike="noStrike">
                <a:solidFill>
                  <a:srgbClr val="2288BB"/>
                </a:solidFill>
                <a:effectLst/>
                <a:latin typeface="Calibri (Body)"/>
                <a:hlinkClick r:id="rId2"/>
              </a:rPr>
              <a:t>An automated test data generation method for void pointers and function pointers in C/C++ libraries and embedded projects</a:t>
            </a:r>
            <a:r>
              <a:rPr lang="vi-VN" sz="1500" b="0" i="0">
                <a:solidFill>
                  <a:srgbClr val="222222"/>
                </a:solidFill>
                <a:effectLst/>
                <a:latin typeface="Calibri (Body)"/>
              </a:rPr>
              <a:t>, Information and Software Technology Journal, 2022, ISSN 0950-5849, https://doi.org/10.1016/j.infsof.2022.106821.</a:t>
            </a:r>
            <a:endParaRPr lang="en-US" sz="1500" b="0" i="0">
              <a:solidFill>
                <a:srgbClr val="222222"/>
              </a:solidFill>
              <a:effectLst/>
              <a:latin typeface="Calibri (Body)"/>
            </a:endParaRPr>
          </a:p>
          <a:p>
            <a:pPr lvl="1"/>
            <a:r>
              <a:rPr lang="vi-VN" sz="1500" b="0" i="0" u="sng">
                <a:solidFill>
                  <a:srgbClr val="222222"/>
                </a:solidFill>
                <a:effectLst/>
                <a:latin typeface="Calibri (Body)"/>
              </a:rPr>
              <a:t>Hoang-Viet Tran</a:t>
            </a:r>
            <a:r>
              <a:rPr lang="vi-VN" sz="1500" b="0" i="0">
                <a:solidFill>
                  <a:srgbClr val="222222"/>
                </a:solidFill>
                <a:effectLst/>
                <a:latin typeface="Calibri (Body)"/>
              </a:rPr>
              <a:t>, Pham Ngoc Hung, Viet-Ha Nguyen, Toshiaki Aoki </a:t>
            </a:r>
            <a:r>
              <a:rPr lang="vi-VN" sz="1500" b="0" i="0" u="none" strike="noStrike">
                <a:solidFill>
                  <a:srgbClr val="2288BB"/>
                </a:solidFill>
                <a:effectLst/>
                <a:latin typeface="Calibri (Body)"/>
                <a:hlinkClick r:id="rId3"/>
              </a:rPr>
              <a:t>A Framework For Assume-Guarantee Regression Verification Of Evolving Software</a:t>
            </a:r>
            <a:r>
              <a:rPr lang="vi-VN" sz="1500" b="0" i="0">
                <a:solidFill>
                  <a:srgbClr val="222222"/>
                </a:solidFill>
                <a:effectLst/>
                <a:latin typeface="Calibri (Body)"/>
              </a:rPr>
              <a:t>, Science of Computer Programming Journal, Volume 193, 2020, ISSN 0167-6423. </a:t>
            </a:r>
            <a:r>
              <a:rPr lang="vi-VN" sz="1500" b="0" i="0">
                <a:solidFill>
                  <a:srgbClr val="222222"/>
                </a:solidFill>
                <a:effectLst/>
                <a:latin typeface="Calibri (Body)"/>
                <a:hlinkClick r:id="rId4"/>
              </a:rPr>
              <a:t>https://doi.org/10.1016/j.scico.2020.102439</a:t>
            </a:r>
            <a:r>
              <a:rPr lang="vi-VN" sz="1500" b="0" i="0">
                <a:solidFill>
                  <a:srgbClr val="222222"/>
                </a:solidFill>
                <a:effectLst/>
                <a:latin typeface="Calibri (Body)"/>
              </a:rPr>
              <a:t>.</a:t>
            </a:r>
            <a:endParaRPr lang="en-US" sz="1500" b="0" i="0">
              <a:solidFill>
                <a:srgbClr val="222222"/>
              </a:solidFill>
              <a:effectLst/>
              <a:latin typeface="Calibri (Body)"/>
            </a:endParaRPr>
          </a:p>
          <a:p>
            <a:pPr algn="l"/>
            <a:r>
              <a:rPr lang="vi-VN" sz="1500" b="1" i="0">
                <a:solidFill>
                  <a:srgbClr val="222222"/>
                </a:solidFill>
                <a:effectLst/>
                <a:latin typeface="Calibri (Body)"/>
              </a:rPr>
              <a:t>Tạp chí trong nước</a:t>
            </a:r>
            <a:endParaRPr lang="en-US" sz="1500" b="1" i="0">
              <a:solidFill>
                <a:srgbClr val="222222"/>
              </a:solidFill>
              <a:effectLst/>
              <a:latin typeface="Calibri (Body)"/>
            </a:endParaRPr>
          </a:p>
          <a:p>
            <a:pPr lvl="1"/>
            <a:r>
              <a:rPr lang="vi-VN" sz="1500" b="0" i="0" u="sng">
                <a:solidFill>
                  <a:srgbClr val="222222"/>
                </a:solidFill>
                <a:effectLst/>
                <a:latin typeface="Calibri (Body)"/>
              </a:rPr>
              <a:t>Hoang-Viet Tran</a:t>
            </a:r>
            <a:r>
              <a:rPr lang="vi-VN" sz="1500" b="0" i="0">
                <a:solidFill>
                  <a:srgbClr val="222222"/>
                </a:solidFill>
                <a:effectLst/>
                <a:latin typeface="Calibri (Body)"/>
              </a:rPr>
              <a:t> and Ngoc Hung PHAM. </a:t>
            </a:r>
            <a:r>
              <a:rPr lang="vi-VN" sz="1500" b="0" i="0" u="none" strike="noStrike">
                <a:solidFill>
                  <a:srgbClr val="2288BB"/>
                </a:solidFill>
                <a:effectLst/>
                <a:latin typeface="Calibri (Body)"/>
                <a:hlinkClick r:id="rId5"/>
              </a:rPr>
              <a:t>On Locally Strongest Assumption Generation Method for Component-Based Software Verification</a:t>
            </a:r>
            <a:r>
              <a:rPr lang="vi-VN" sz="1500" b="0" i="0">
                <a:solidFill>
                  <a:srgbClr val="222222"/>
                </a:solidFill>
                <a:effectLst/>
                <a:latin typeface="Calibri (Body)"/>
              </a:rPr>
              <a:t>. VNU Journal of Science: Computer Science and Communication Engineering, [S.l.], v. 34, n. 2, dec. 2018. ISSN 2588-1086.</a:t>
            </a:r>
            <a:r>
              <a:rPr lang="en-US" sz="1500" b="0" i="0">
                <a:solidFill>
                  <a:srgbClr val="222222"/>
                </a:solidFill>
                <a:effectLst/>
                <a:latin typeface="Calibri (Body)"/>
              </a:rPr>
              <a:t> </a:t>
            </a:r>
          </a:p>
          <a:p>
            <a:r>
              <a:rPr lang="vi-VN" sz="1800" b="1" i="0">
                <a:solidFill>
                  <a:srgbClr val="222222"/>
                </a:solidFill>
                <a:effectLst/>
                <a:latin typeface="Calibri (Body)"/>
              </a:rPr>
              <a:t>Hội thảo quốc tế</a:t>
            </a:r>
            <a:endParaRPr lang="en-US" sz="1800" b="1" i="0">
              <a:solidFill>
                <a:srgbClr val="222222"/>
              </a:solidFill>
              <a:effectLst/>
              <a:latin typeface="Calibri (Body)"/>
            </a:endParaRPr>
          </a:p>
          <a:p>
            <a:pPr lvl="1"/>
            <a:r>
              <a:rPr lang="vi-VN" sz="1500" b="0" i="0" u="sng">
                <a:solidFill>
                  <a:srgbClr val="222222"/>
                </a:solidFill>
                <a:effectLst/>
                <a:latin typeface="Calibri (Body)"/>
              </a:rPr>
              <a:t>H. -V. Tran</a:t>
            </a:r>
            <a:r>
              <a:rPr lang="vi-VN" sz="1500" b="0" i="0">
                <a:solidFill>
                  <a:srgbClr val="222222"/>
                </a:solidFill>
                <a:effectLst/>
                <a:latin typeface="Calibri (Body)"/>
              </a:rPr>
              <a:t> and P. N. Hung, "An Efficient Method for Automated Regression Test Data Generation for C/C++ Projects" The 8th NAFOSTED Conference on Information and Computer Science (NICS), 2021 (Accepted).</a:t>
            </a:r>
            <a:endParaRPr lang="en-US" sz="1500" b="0" i="0">
              <a:solidFill>
                <a:srgbClr val="222222"/>
              </a:solidFill>
              <a:effectLst/>
              <a:latin typeface="Calibri (Body)"/>
            </a:endParaRPr>
          </a:p>
          <a:p>
            <a:pPr lvl="1"/>
            <a:r>
              <a:rPr lang="vi-VN" sz="1500" b="0" i="0" u="sng">
                <a:solidFill>
                  <a:srgbClr val="222222"/>
                </a:solidFill>
                <a:effectLst/>
                <a:latin typeface="Calibri (Body)"/>
              </a:rPr>
              <a:t>H. -V. Tran</a:t>
            </a:r>
            <a:r>
              <a:rPr lang="vi-VN" sz="1500" b="0" i="0">
                <a:solidFill>
                  <a:srgbClr val="222222"/>
                </a:solidFill>
                <a:effectLst/>
                <a:latin typeface="Calibri (Body)"/>
              </a:rPr>
              <a:t> and P. N. Hung, "</a:t>
            </a:r>
            <a:r>
              <a:rPr lang="vi-VN" sz="1500" b="0" i="0" u="none" strike="noStrike">
                <a:solidFill>
                  <a:srgbClr val="2288BB"/>
                </a:solidFill>
                <a:effectLst/>
                <a:latin typeface="Calibri (Body)"/>
                <a:hlinkClick r:id="rId6"/>
              </a:rPr>
              <a:t>A Counterexample Analysis Method for Assume-Guarantee Verification of Component-Based Software</a:t>
            </a:r>
            <a:r>
              <a:rPr lang="vi-VN" sz="1500" b="0" i="0">
                <a:solidFill>
                  <a:srgbClr val="222222"/>
                </a:solidFill>
                <a:effectLst/>
                <a:latin typeface="Calibri (Body)"/>
              </a:rPr>
              <a:t>," 2021 13th International Conference on Knowledge and Systems Engineering (KSE), 2021, pp. 1-6</a:t>
            </a:r>
            <a:endParaRPr lang="en-US" sz="1500">
              <a:latin typeface="Calibri (Body)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29E4A-9C1D-4C13-B70C-0DCDEBB1C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D857A-6043-47EF-A481-1D2AAB601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53CF3-C77F-4008-AABD-B7DBEA21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212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dirty="0" err="1"/>
              <a:t>Mục</a:t>
            </a:r>
            <a:r>
              <a:rPr lang="en-GB" dirty="0"/>
              <a:t> </a:t>
            </a:r>
            <a:r>
              <a:rPr lang="en-GB" dirty="0" err="1"/>
              <a:t>tiêu</a:t>
            </a:r>
            <a:r>
              <a:rPr lang="en-GB" dirty="0"/>
              <a:t> </a:t>
            </a:r>
            <a:r>
              <a:rPr lang="en-GB" dirty="0" err="1"/>
              <a:t>học</a:t>
            </a:r>
            <a:r>
              <a:rPr lang="en-GB" dirty="0"/>
              <a:t> </a:t>
            </a:r>
            <a:r>
              <a:rPr lang="en-GB" dirty="0" err="1"/>
              <a:t>phần</a:t>
            </a:r>
            <a:endParaRPr lang="en-GB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5294" y="1594275"/>
            <a:ext cx="8517255" cy="4509200"/>
          </a:xfrm>
          <a:noFill/>
          <a:ln/>
        </p:spPr>
        <p:txBody>
          <a:bodyPr lIns="90487" tIns="44450" rIns="90487" bIns="44450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/>
              <a:t>Sau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CASE</a:t>
            </a:r>
          </a:p>
          <a:p>
            <a:pPr>
              <a:lnSpc>
                <a:spcPct val="90000"/>
              </a:lnSpc>
            </a:pP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83377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dirty="0" err="1"/>
              <a:t>Tổ</a:t>
            </a:r>
            <a:r>
              <a:rPr lang="en-GB" dirty="0"/>
              <a:t> </a:t>
            </a:r>
            <a:r>
              <a:rPr lang="en-GB" dirty="0" err="1"/>
              <a:t>chức</a:t>
            </a:r>
            <a:r>
              <a:rPr lang="en-GB" dirty="0"/>
              <a:t> </a:t>
            </a:r>
            <a:r>
              <a:rPr lang="en-GB" dirty="0" err="1"/>
              <a:t>nội</a:t>
            </a:r>
            <a:r>
              <a:rPr lang="en-GB" dirty="0"/>
              <a:t> dung </a:t>
            </a:r>
            <a:r>
              <a:rPr lang="en-GB" dirty="0" err="1"/>
              <a:t>học</a:t>
            </a:r>
            <a:r>
              <a:rPr lang="en-GB" dirty="0"/>
              <a:t> </a:t>
            </a:r>
            <a:r>
              <a:rPr lang="en-GB" dirty="0" err="1"/>
              <a:t>phần</a:t>
            </a:r>
            <a:endParaRPr lang="en-GB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5295" y="1594274"/>
            <a:ext cx="8195310" cy="4870025"/>
          </a:xfrm>
          <a:noFill/>
          <a:ln/>
        </p:spPr>
        <p:txBody>
          <a:bodyPr lIns="90487" tIns="44450" rIns="90487" bIns="44450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phần</a:t>
            </a:r>
            <a:endParaRPr lang="en-US" dirty="0"/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endParaRPr lang="en-US" dirty="0"/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endParaRPr lang="en-US" dirty="0"/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Thu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endParaRPr lang="en-US" dirty="0"/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endParaRPr lang="en-US" dirty="0"/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 dirty="0"/>
              <a:t>Bộ môn Công nghệ phần mềm - Khoa CNTT - Trường ĐHCN - ĐHQGHN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74665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dirty="0" err="1"/>
              <a:t>Tổ</a:t>
            </a:r>
            <a:r>
              <a:rPr lang="en-GB" dirty="0"/>
              <a:t> </a:t>
            </a:r>
            <a:r>
              <a:rPr lang="en-GB" dirty="0" err="1"/>
              <a:t>chức</a:t>
            </a:r>
            <a:r>
              <a:rPr lang="en-GB" dirty="0"/>
              <a:t> </a:t>
            </a:r>
            <a:r>
              <a:rPr lang="en-GB" dirty="0" err="1"/>
              <a:t>nội</a:t>
            </a:r>
            <a:r>
              <a:rPr lang="en-GB" dirty="0"/>
              <a:t> dung </a:t>
            </a:r>
            <a:r>
              <a:rPr lang="en-GB" dirty="0" err="1"/>
              <a:t>học</a:t>
            </a:r>
            <a:r>
              <a:rPr lang="en-GB" dirty="0"/>
              <a:t> </a:t>
            </a:r>
            <a:r>
              <a:rPr lang="en-GB" dirty="0" err="1"/>
              <a:t>phần</a:t>
            </a:r>
            <a:r>
              <a:rPr lang="en-GB" dirty="0"/>
              <a:t> (2)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5295" y="1594274"/>
            <a:ext cx="8195310" cy="4870025"/>
          </a:xfrm>
          <a:noFill/>
          <a:ln/>
        </p:spPr>
        <p:txBody>
          <a:bodyPr lIns="90487" tIns="44450" rIns="90487" bIns="44450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(</a:t>
            </a:r>
            <a:r>
              <a:rPr lang="en-US" dirty="0" err="1"/>
              <a:t>tiếp</a:t>
            </a:r>
            <a:r>
              <a:rPr lang="en-US" dirty="0"/>
              <a:t>)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 startAt="6"/>
            </a:pP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endParaRPr lang="en-US" dirty="0"/>
          </a:p>
          <a:p>
            <a:pPr marL="514350" indent="-514350">
              <a:lnSpc>
                <a:spcPct val="90000"/>
              </a:lnSpc>
              <a:buFont typeface="+mj-lt"/>
              <a:buAutoNum type="arabicPeriod" startAt="6"/>
            </a:pP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chi </a:t>
            </a:r>
            <a:r>
              <a:rPr lang="en-US" dirty="0" err="1"/>
              <a:t>tiết</a:t>
            </a:r>
            <a:endParaRPr lang="en-US" dirty="0"/>
          </a:p>
          <a:p>
            <a:pPr marL="514350" indent="-514350">
              <a:lnSpc>
                <a:spcPct val="90000"/>
              </a:lnSpc>
              <a:buFont typeface="+mj-lt"/>
              <a:buAutoNum type="arabicPeriod" startAt="6"/>
            </a:pP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endParaRPr lang="en-US" dirty="0"/>
          </a:p>
          <a:p>
            <a:pPr marL="514350" indent="-514350">
              <a:lnSpc>
                <a:spcPct val="90000"/>
              </a:lnSpc>
              <a:buFont typeface="+mj-lt"/>
              <a:buAutoNum type="arabicPeriod" startAt="6"/>
            </a:pP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endParaRPr lang="en-US" dirty="0"/>
          </a:p>
          <a:p>
            <a:pPr marL="514350" indent="-514350">
              <a:lnSpc>
                <a:spcPct val="90000"/>
              </a:lnSpc>
              <a:buFont typeface="+mj-lt"/>
              <a:buAutoNum type="arabicPeriod" startAt="6"/>
            </a:pPr>
            <a:r>
              <a:rPr lang="en-US"/>
              <a:t>Bàn giao, vận hành và bảo trì phần mềm</a:t>
            </a: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62256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học</a:t>
            </a:r>
            <a:r>
              <a:rPr lang="en-GB" dirty="0"/>
              <a:t> </a:t>
            </a:r>
            <a:r>
              <a:rPr lang="en-GB" dirty="0" err="1"/>
              <a:t>liệu</a:t>
            </a:r>
            <a:endParaRPr lang="en-GB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(slides </a:t>
            </a:r>
            <a:r>
              <a:rPr lang="en-US" dirty="0" err="1"/>
              <a:t>và</a:t>
            </a:r>
            <a:r>
              <a:rPr lang="en-US" dirty="0"/>
              <a:t> videos)</a:t>
            </a:r>
          </a:p>
          <a:p>
            <a:pPr>
              <a:lnSpc>
                <a:spcPct val="90000"/>
              </a:lnSpc>
            </a:pPr>
            <a:r>
              <a:rPr lang="en-US"/>
              <a:t>Giáo trình &amp; sách tham khảo</a:t>
            </a:r>
          </a:p>
          <a:p>
            <a:pPr>
              <a:lnSpc>
                <a:spcPct val="90000"/>
              </a:lnSpc>
            </a:pPr>
            <a:r>
              <a:rPr lang="en-US"/>
              <a:t>Quizz hàng </a:t>
            </a:r>
            <a:r>
              <a:rPr lang="en-US" dirty="0" err="1"/>
              <a:t>tuần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7835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err="1"/>
              <a:t>Tài</a:t>
            </a:r>
            <a:r>
              <a:rPr lang="en-GB"/>
              <a:t> liệu</a:t>
            </a:r>
            <a:endParaRPr lang="en-GB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42875" y="1587936"/>
            <a:ext cx="8820150" cy="4509200"/>
          </a:xfrm>
          <a:noFill/>
          <a:ln/>
        </p:spPr>
        <p:txBody>
          <a:bodyPr lIns="90487" tIns="44450" rIns="90487" bIns="44450">
            <a:normAutofit fontScale="62500" lnSpcReduction="20000"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>
                <a:latin typeface="Calibri (Body)"/>
              </a:rPr>
              <a:t>Bắt buộc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vi-VN">
                <a:latin typeface="Calibri (Body)"/>
              </a:rPr>
              <a:t>[</a:t>
            </a:r>
            <a:r>
              <a:rPr lang="en-US">
                <a:latin typeface="Calibri (Body)"/>
              </a:rPr>
              <a:t>1</a:t>
            </a:r>
            <a:r>
              <a:rPr lang="vi-VN">
                <a:latin typeface="Calibri (Body)"/>
              </a:rPr>
              <a:t>]</a:t>
            </a:r>
            <a:r>
              <a:rPr lang="en-US">
                <a:latin typeface="Calibri (Body)"/>
              </a:rPr>
              <a:t>. Roger S. Pressman</a:t>
            </a:r>
            <a:r>
              <a:rPr lang="vi-VN">
                <a:latin typeface="Calibri (Body)"/>
              </a:rPr>
              <a:t>, Bruce R. Maxim. </a:t>
            </a:r>
            <a:r>
              <a:rPr lang="en-US" i="1">
                <a:latin typeface="Calibri (Body)"/>
              </a:rPr>
              <a:t>Software Engineering: A Practitioner's Approach</a:t>
            </a:r>
            <a:r>
              <a:rPr lang="en-US">
                <a:latin typeface="Calibri (Body)"/>
              </a:rPr>
              <a:t> - </a:t>
            </a:r>
            <a:r>
              <a:rPr lang="vi-VN">
                <a:latin typeface="Calibri (Body)"/>
              </a:rPr>
              <a:t>9</a:t>
            </a:r>
            <a:r>
              <a:rPr lang="en-US">
                <a:latin typeface="Calibri (Body)"/>
              </a:rPr>
              <a:t>th Ed., McGraw Hill, 20</a:t>
            </a:r>
            <a:r>
              <a:rPr lang="vi-VN">
                <a:latin typeface="Calibri (Body)"/>
              </a:rPr>
              <a:t>20</a:t>
            </a:r>
            <a:r>
              <a:rPr lang="en-US">
                <a:latin typeface="Calibri (Body)"/>
              </a:rPr>
              <a:t>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>
                <a:latin typeface="Calibri (Body)"/>
              </a:rPr>
              <a:t>Tham khảo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vi-VN">
                <a:latin typeface="Calibri (Body)"/>
              </a:rPr>
              <a:t>[2]. Ian Sommerville, Software Engineering. 10th Ed., Addison-Wesley, 2016.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vi-VN">
                <a:latin typeface="Calibri (Body)"/>
              </a:rPr>
              <a:t>[3]. Eric J. Braude, Michael E. Bernstein, Software Engineering – Modern Approaches, 2nd edition, Waveland Press, Inc, 2011. 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vi-VN">
                <a:latin typeface="Calibri (Body)"/>
              </a:rPr>
              <a:t>[4]. Nguyễn Văn Vỵ, Nguyễn Việt Hà, Giáo trình Công nghệ phần mềm, NXB ĐHQG Hà Nội, 2008.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vi-VN">
                <a:latin typeface="Calibri (Body)"/>
              </a:rPr>
              <a:t>[5]. Robert C. Martin, Agile Software Development, Principles, Patterns, and Practices. Prentice Hall; 2003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vi-VN">
                <a:latin typeface="Calibri (Body)"/>
              </a:rPr>
              <a:t>[6]. Phạm Ngọc Hùng và Trần Hoàng Việt, Kiểm thử đơn vị tự động dựa trên phân tích mã nguồn, NXB ĐHQGHN, 2023.</a:t>
            </a:r>
          </a:p>
          <a:p>
            <a:pPr lvl="1">
              <a:lnSpc>
                <a:spcPct val="120000"/>
              </a:lnSpc>
            </a:pPr>
            <a:endParaRPr lang="en-US">
              <a:latin typeface="Calibri (Body)"/>
            </a:endParaRPr>
          </a:p>
          <a:p>
            <a:pPr>
              <a:lnSpc>
                <a:spcPct val="120000"/>
              </a:lnSpc>
            </a:pPr>
            <a:endParaRPr lang="en-US">
              <a:latin typeface="Calibri (Body)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37640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19E-85DB-40AC-986F-C6F9AF776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Đánh giá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976D0-DF58-425E-A3C4-0EF76961D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en-US">
                <a:solidFill>
                  <a:srgbClr val="0070C0"/>
                </a:solidFill>
              </a:rPr>
              <a:t>Điểm danh</a:t>
            </a:r>
            <a:r>
              <a:rPr lang="en-US" altLang="en-US"/>
              <a:t>: quyết định được thi (có điểm cuối kỳ) hay không. (</a:t>
            </a:r>
            <a:r>
              <a:rPr lang="en-US" altLang="en-US">
                <a:solidFill>
                  <a:srgbClr val="FF0000"/>
                </a:solidFill>
              </a:rPr>
              <a:t>vắng 3 buổi điểm danh là cấm thi – không có điểm cuối kỳ</a:t>
            </a:r>
            <a:r>
              <a:rPr lang="en-US" altLang="en-US"/>
              <a:t>)</a:t>
            </a:r>
          </a:p>
          <a:p>
            <a:pPr>
              <a:lnSpc>
                <a:spcPct val="120000"/>
              </a:lnSpc>
            </a:pPr>
            <a:r>
              <a:rPr lang="en-US" altLang="en-US"/>
              <a:t>Quizz trên Canvas: 10%</a:t>
            </a:r>
          </a:p>
          <a:p>
            <a:pPr>
              <a:lnSpc>
                <a:spcPct val="120000"/>
              </a:lnSpc>
            </a:pPr>
            <a:r>
              <a:rPr lang="en-US" altLang="en-US"/>
              <a:t>Giữa kỳ: 30% (tuần thứ 8 – 13-17/4/2026)</a:t>
            </a:r>
          </a:p>
          <a:p>
            <a:pPr lvl="1">
              <a:lnSpc>
                <a:spcPct val="120000"/>
              </a:lnSpc>
            </a:pPr>
            <a:r>
              <a:rPr lang="en-US" altLang="en-US"/>
              <a:t>Thi viết 30’, </a:t>
            </a:r>
            <a:r>
              <a:rPr lang="en-US" altLang="en-US">
                <a:solidFill>
                  <a:srgbClr val="FF0000"/>
                </a:solidFill>
              </a:rPr>
              <a:t>không sử dụng tài liệu</a:t>
            </a:r>
          </a:p>
          <a:p>
            <a:pPr>
              <a:lnSpc>
                <a:spcPct val="120000"/>
              </a:lnSpc>
            </a:pPr>
            <a:r>
              <a:rPr lang="en-US" altLang="en-US"/>
              <a:t>Thi cuối kỳ: 60%</a:t>
            </a:r>
          </a:p>
          <a:p>
            <a:pPr lvl="1">
              <a:lnSpc>
                <a:spcPct val="120000"/>
              </a:lnSpc>
            </a:pPr>
            <a:r>
              <a:rPr lang="en-US" altLang="en-US"/>
              <a:t>Thi viết 60’, không sử dụng tài liệu</a:t>
            </a:r>
          </a:p>
          <a:p>
            <a:pPr>
              <a:lnSpc>
                <a:spcPct val="120000"/>
              </a:lnSpc>
            </a:pPr>
            <a:r>
              <a:rPr lang="en-US" altLang="en-US"/>
              <a:t>Tổng chuyên cần: 40% (</a:t>
            </a:r>
            <a:r>
              <a:rPr lang="en-US" altLang="en-US" u="sng"/>
              <a:t>quy chế</a:t>
            </a:r>
            <a:r>
              <a:rPr lang="en-US" altLang="en-US"/>
              <a:t>: dưới 5 điểm là cấm thi – điểm cuối kỳ là 0), thông báo 1 tuần trước thi. Gồm quizz + giữa kỳ</a:t>
            </a:r>
          </a:p>
          <a:p>
            <a:pPr>
              <a:lnSpc>
                <a:spcPct val="120000"/>
              </a:lnSpc>
            </a:pPr>
            <a:r>
              <a:rPr lang="en-US" altLang="en-US"/>
              <a:t>Điểm cuối kỳ: 60%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0E0B9-6A39-4D7F-913F-8C70420D9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47B28-A159-4F2B-B9F7-CE1C8E122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D69E4-16C9-4B96-A1D1-253585135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062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E993C-B2AC-42F5-B817-EBC1B6B4A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Một số qui định (1)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C2F68-6840-4E6E-ABEA-7BCE5D60D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295" y="1735212"/>
            <a:ext cx="6969516" cy="416040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en-US" sz="2565" b="1">
                <a:solidFill>
                  <a:srgbClr val="0070C0"/>
                </a:solidFill>
              </a:rPr>
              <a:t>Đúng giờ</a:t>
            </a:r>
          </a:p>
          <a:p>
            <a:pPr lvl="1">
              <a:lnSpc>
                <a:spcPct val="110000"/>
              </a:lnSpc>
            </a:pPr>
            <a:r>
              <a:rPr lang="en-US" altLang="en-US" sz="2197"/>
              <a:t>Vào lớp trước giờ học 5’. Sau khi điểm danh xong, coi như không đi học </a:t>
            </a:r>
            <a:r>
              <a:rPr lang="en-US" altLang="en-US" sz="2197">
                <a:solidFill>
                  <a:srgbClr val="FF0000"/>
                </a:solidFill>
              </a:rPr>
              <a:t>(không được điểm danh)</a:t>
            </a:r>
          </a:p>
          <a:p>
            <a:pPr>
              <a:lnSpc>
                <a:spcPct val="110000"/>
              </a:lnSpc>
            </a:pPr>
            <a:r>
              <a:rPr lang="en-US" altLang="en-US" sz="2565" b="1">
                <a:solidFill>
                  <a:srgbClr val="0070C0"/>
                </a:solidFill>
              </a:rPr>
              <a:t>Trung thực</a:t>
            </a:r>
          </a:p>
          <a:p>
            <a:pPr lvl="1">
              <a:lnSpc>
                <a:spcPct val="110000"/>
              </a:lnSpc>
              <a:spcBef>
                <a:spcPts val="550"/>
              </a:spcBef>
              <a:spcAft>
                <a:spcPts val="1099"/>
              </a:spcAft>
            </a:pPr>
            <a:r>
              <a:rPr lang="en-US" altLang="en-US" sz="2198" b="1">
                <a:solidFill>
                  <a:schemeClr val="tx1"/>
                </a:solidFill>
              </a:rPr>
              <a:t>Khi học: trao đổi thoải mái</a:t>
            </a:r>
          </a:p>
          <a:p>
            <a:pPr lvl="1">
              <a:lnSpc>
                <a:spcPct val="110000"/>
              </a:lnSpc>
              <a:spcBef>
                <a:spcPts val="550"/>
              </a:spcBef>
              <a:spcAft>
                <a:spcPts val="1099"/>
              </a:spcAft>
            </a:pPr>
            <a:r>
              <a:rPr lang="en-US" altLang="en-US" sz="2198" b="1">
                <a:solidFill>
                  <a:schemeClr val="tx1"/>
                </a:solidFill>
              </a:rPr>
              <a:t>Khi thi/bài tập: Tự làm (đạt mức tự nguyện)</a:t>
            </a:r>
          </a:p>
          <a:p>
            <a:pPr lvl="1">
              <a:lnSpc>
                <a:spcPct val="110000"/>
              </a:lnSpc>
              <a:spcBef>
                <a:spcPts val="550"/>
              </a:spcBef>
              <a:spcAft>
                <a:spcPts val="1099"/>
              </a:spcAft>
            </a:pPr>
            <a:r>
              <a:rPr lang="en-US" altLang="en-US" sz="2198" b="1">
                <a:solidFill>
                  <a:srgbClr val="FF0000"/>
                </a:solidFill>
              </a:rPr>
              <a:t>Khi bị phát hiện không trung thực sẽ bị cho điểm F</a:t>
            </a:r>
          </a:p>
          <a:p>
            <a:pPr>
              <a:lnSpc>
                <a:spcPct val="110000"/>
              </a:lnSpc>
              <a:spcBef>
                <a:spcPts val="550"/>
              </a:spcBef>
              <a:spcAft>
                <a:spcPts val="1099"/>
              </a:spcAft>
            </a:pPr>
            <a:r>
              <a:rPr lang="en-US" altLang="en-US" sz="2565" b="1"/>
              <a:t>Ghi chép bài đầy đủ</a:t>
            </a:r>
          </a:p>
          <a:p>
            <a:pPr lvl="1">
              <a:lnSpc>
                <a:spcPct val="110000"/>
              </a:lnSpc>
              <a:spcBef>
                <a:spcPts val="550"/>
              </a:spcBef>
              <a:spcAft>
                <a:spcPts val="1099"/>
              </a:spcAft>
            </a:pPr>
            <a:r>
              <a:rPr lang="en-US" altLang="en-US" sz="2198" b="1"/>
              <a:t>Có bút vở, máy tính</a:t>
            </a:r>
          </a:p>
          <a:p>
            <a:pPr>
              <a:lnSpc>
                <a:spcPct val="110000"/>
              </a:lnSpc>
              <a:spcBef>
                <a:spcPts val="550"/>
              </a:spcBef>
              <a:spcAft>
                <a:spcPts val="1099"/>
              </a:spcAft>
            </a:pPr>
            <a:r>
              <a:rPr lang="en-US" altLang="en-US" sz="2565" b="1"/>
              <a:t>Mang máy tính để thực hành nếu cần thiết</a:t>
            </a:r>
          </a:p>
          <a:p>
            <a:pPr>
              <a:lnSpc>
                <a:spcPct val="110000"/>
              </a:lnSpc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46BB2-9C34-4EDF-9CC0-7B09BF83A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E8CC9-E783-44D3-9C16-1AF7637D3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53E85-309F-4956-B3E1-01FF5D88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14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651" y="4704834"/>
            <a:ext cx="2127249" cy="129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723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A053-E3E6-41EE-97AF-D3139CEDC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Một số qui định (2)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5C526-FADE-4C87-817C-D5B672C4B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565"/>
              <a:t>Học bài trước khi đến lớp</a:t>
            </a:r>
          </a:p>
          <a:p>
            <a:pPr lvl="1">
              <a:lnSpc>
                <a:spcPct val="90000"/>
              </a:lnSpc>
            </a:pPr>
            <a:r>
              <a:rPr lang="en-US" altLang="en-US" sz="2198">
                <a:solidFill>
                  <a:schemeClr val="tx1"/>
                </a:solidFill>
              </a:rPr>
              <a:t>Ôn bài cũ + đọc qua bài mới</a:t>
            </a:r>
          </a:p>
          <a:p>
            <a:pPr lvl="1">
              <a:lnSpc>
                <a:spcPct val="90000"/>
              </a:lnSpc>
            </a:pPr>
            <a:r>
              <a:rPr lang="en-US" altLang="en-US" sz="2198">
                <a:solidFill>
                  <a:schemeClr val="tx1"/>
                </a:solidFill>
              </a:rPr>
              <a:t>Ghi chép bài đầy đủ (1 trang/1 tiết)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6AA85-D98D-4CFD-A0D9-61F57EE40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2F262-1E0A-42F5-B1A9-103FC5007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D03D1-4095-451E-BAA2-6D79D0513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15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651" y="4704834"/>
            <a:ext cx="2127249" cy="129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882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7FEAF-F139-4F47-AD0D-30DEAF3E6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Một số qui định (3)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C3856-F6EB-48F6-A5B9-EFD40A796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565"/>
              <a:t>Khuyến khích trao đổi, hỏi đáp trong giờ học</a:t>
            </a:r>
          </a:p>
          <a:p>
            <a:pPr lvl="1">
              <a:lnSpc>
                <a:spcPct val="90000"/>
              </a:lnSpc>
            </a:pPr>
            <a:r>
              <a:rPr lang="en-US" altLang="en-US" sz="2198">
                <a:solidFill>
                  <a:schemeClr val="accent6">
                    <a:lumMod val="75000"/>
                  </a:schemeClr>
                </a:solidFill>
              </a:rPr>
              <a:t> Trên lớp: bất cứ khi nào</a:t>
            </a:r>
          </a:p>
          <a:p>
            <a:pPr lvl="1">
              <a:lnSpc>
                <a:spcPct val="90000"/>
              </a:lnSpc>
            </a:pPr>
            <a:r>
              <a:rPr lang="en-US" altLang="en-US" sz="2198">
                <a:solidFill>
                  <a:schemeClr val="accent6">
                    <a:lumMod val="75000"/>
                  </a:schemeClr>
                </a:solidFill>
              </a:rPr>
              <a:t> Ở nhà: qua diễn đàn môn học</a:t>
            </a:r>
          </a:p>
          <a:p>
            <a:pPr>
              <a:lnSpc>
                <a:spcPct val="90000"/>
              </a:lnSpc>
              <a:spcBef>
                <a:spcPts val="1099"/>
              </a:spcBef>
              <a:spcAft>
                <a:spcPts val="1099"/>
              </a:spcAft>
            </a:pPr>
            <a:r>
              <a:rPr lang="en-US" altLang="en-US" sz="2565"/>
              <a:t>Tạo không khí vui vẻ trong lớp học</a:t>
            </a:r>
          </a:p>
          <a:p>
            <a:pPr>
              <a:lnSpc>
                <a:spcPct val="90000"/>
              </a:lnSpc>
            </a:pPr>
            <a:r>
              <a:rPr lang="en-US" altLang="en-US" sz="2565"/>
              <a:t>Không làm việc riêng</a:t>
            </a:r>
          </a:p>
          <a:p>
            <a:pPr lvl="1">
              <a:lnSpc>
                <a:spcPct val="90000"/>
              </a:lnSpc>
              <a:spcBef>
                <a:spcPts val="1099"/>
              </a:spcBef>
            </a:pPr>
            <a:r>
              <a:rPr lang="en-US" altLang="en-US" sz="2198">
                <a:solidFill>
                  <a:schemeClr val="accent6">
                    <a:lumMod val="75000"/>
                  </a:schemeClr>
                </a:solidFill>
              </a:rPr>
              <a:t>Mất trật tự = vi phạm qui chế môn học (điểm chuyên cần)</a:t>
            </a:r>
          </a:p>
          <a:p>
            <a:pPr>
              <a:lnSpc>
                <a:spcPct val="90000"/>
              </a:lnSpc>
              <a:spcBef>
                <a:spcPts val="1099"/>
              </a:spcBef>
            </a:pPr>
            <a:r>
              <a:rPr lang="en-US" altLang="en-US"/>
              <a:t>Email gửi GV:</a:t>
            </a:r>
          </a:p>
          <a:p>
            <a:pPr lvl="1">
              <a:lnSpc>
                <a:spcPct val="90000"/>
              </a:lnSpc>
              <a:spcBef>
                <a:spcPts val="1099"/>
              </a:spcBef>
            </a:pPr>
            <a:r>
              <a:rPr lang="en-US" altLang="en-US"/>
              <a:t>Subject: [INT2208_] …</a:t>
            </a:r>
          </a:p>
          <a:p>
            <a:pPr lvl="1">
              <a:lnSpc>
                <a:spcPct val="90000"/>
              </a:lnSpc>
              <a:spcBef>
                <a:spcPts val="1099"/>
              </a:spcBef>
            </a:pPr>
            <a:r>
              <a:rPr lang="en-US" altLang="en-US"/>
              <a:t>Viết mail theo chuẩn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04A7B-575A-4703-8899-43C57971D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60B59-7FDD-4739-B53C-2830A71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DB97A-B6A4-4349-89CB-AA7F5A877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651" y="4704834"/>
            <a:ext cx="2127249" cy="129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192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F5684A-7F7C-0725-D657-E7F6C0EB9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Câu hỏi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A70FFC-F0BF-F89B-9B10-E8287C719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Bộ môn Công nghệ phần mềm - Khoa CNTT - Trường ĐHCN - ĐHQGHN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398A1-8609-F9A2-6F35-3615DDE5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A27918-AF68-41BB-82C7-522D23BA7CE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5D4B8B-C9AF-2449-F007-909BFCEFC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586" y="1587500"/>
            <a:ext cx="4200525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68162"/>
      </p:ext>
    </p:extLst>
  </p:cSld>
  <p:clrMapOvr>
    <a:masterClrMapping/>
  </p:clrMapOvr>
</p:sld>
</file>

<file path=ppt/theme/theme1.xml><?xml version="1.0" encoding="utf-8"?>
<a:theme xmlns:a="http://schemas.openxmlformats.org/drawingml/2006/main" name="1_SE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2048</TotalTime>
  <Pages>42</Pages>
  <Words>1986</Words>
  <Application>Microsoft Office PowerPoint</Application>
  <PresentationFormat>Custom</PresentationFormat>
  <Paragraphs>177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(Body)</vt:lpstr>
      <vt:lpstr>Times</vt:lpstr>
      <vt:lpstr>Wingdings</vt:lpstr>
      <vt:lpstr>1_SE</vt:lpstr>
      <vt:lpstr>Công nghệ phần mềm</vt:lpstr>
      <vt:lpstr>Nội dung</vt:lpstr>
      <vt:lpstr>Thông tin môn học</vt:lpstr>
      <vt:lpstr>Thông tin giảng viên (1/4)</vt:lpstr>
      <vt:lpstr>Thông tin giảng viên (2/4)</vt:lpstr>
      <vt:lpstr>Thông tin giảng viên (3/4)</vt:lpstr>
      <vt:lpstr>Thông tin giảng viên (4/4)</vt:lpstr>
      <vt:lpstr>Mục tiêu học phần</vt:lpstr>
      <vt:lpstr>Tổ chức nội dung học phần</vt:lpstr>
      <vt:lpstr>Tổ chức nội dung học phần (2)</vt:lpstr>
      <vt:lpstr>Các học liệu</vt:lpstr>
      <vt:lpstr>Tài liệu</vt:lpstr>
      <vt:lpstr>Đánh giá</vt:lpstr>
      <vt:lpstr>Một số qui định (1)</vt:lpstr>
      <vt:lpstr>Một số qui định (2)</vt:lpstr>
      <vt:lpstr>Một số qui định (3)</vt:lpstr>
      <vt:lpstr>Câu hỏi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Processes</dc:title>
  <dc:creator>Ian Sommerville</dc:creator>
  <cp:lastModifiedBy>Trần Hoàng Việt</cp:lastModifiedBy>
  <cp:revision>309</cp:revision>
  <cp:lastPrinted>2004-04-23T15:45:57Z</cp:lastPrinted>
  <dcterms:created xsi:type="dcterms:W3CDTF">2000-04-28T08:06:41Z</dcterms:created>
  <dcterms:modified xsi:type="dcterms:W3CDTF">2026-02-13T08:05:17Z</dcterms:modified>
</cp:coreProperties>
</file>