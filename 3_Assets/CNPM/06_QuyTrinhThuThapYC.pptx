
<file path=[Content_Types].xml><?xml version="1.0" encoding="utf-8"?>
<Types xmlns="http://schemas.openxmlformats.org/package/2006/content-types">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0" r:id="rId1"/>
    <p:sldMasterId id="2147483687" r:id="rId2"/>
  </p:sldMasterIdLst>
  <p:notesMasterIdLst>
    <p:notesMasterId r:id="rId36"/>
  </p:notesMasterIdLst>
  <p:sldIdLst>
    <p:sldId id="284" r:id="rId3"/>
    <p:sldId id="257" r:id="rId4"/>
    <p:sldId id="258" r:id="rId5"/>
    <p:sldId id="259" r:id="rId6"/>
    <p:sldId id="260" r:id="rId7"/>
    <p:sldId id="261" r:id="rId8"/>
    <p:sldId id="262" r:id="rId9"/>
    <p:sldId id="281" r:id="rId10"/>
    <p:sldId id="282" r:id="rId11"/>
    <p:sldId id="283" r:id="rId12"/>
    <p:sldId id="265" r:id="rId13"/>
    <p:sldId id="266" r:id="rId14"/>
    <p:sldId id="267" r:id="rId15"/>
    <p:sldId id="268" r:id="rId16"/>
    <p:sldId id="285" r:id="rId17"/>
    <p:sldId id="286" r:id="rId18"/>
    <p:sldId id="269" r:id="rId19"/>
    <p:sldId id="287" r:id="rId20"/>
    <p:sldId id="270" r:id="rId21"/>
    <p:sldId id="288" r:id="rId22"/>
    <p:sldId id="271" r:id="rId23"/>
    <p:sldId id="272" r:id="rId24"/>
    <p:sldId id="273" r:id="rId25"/>
    <p:sldId id="274" r:id="rId26"/>
    <p:sldId id="275" r:id="rId27"/>
    <p:sldId id="276" r:id="rId28"/>
    <p:sldId id="277" r:id="rId29"/>
    <p:sldId id="289" r:id="rId30"/>
    <p:sldId id="278" r:id="rId31"/>
    <p:sldId id="279" r:id="rId32"/>
    <p:sldId id="290" r:id="rId33"/>
    <p:sldId id="291" r:id="rId34"/>
    <p:sldId id="280" r:id="rId35"/>
  </p:sldIdLst>
  <p:sldSz cx="9105900" cy="68326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130" autoAdjust="0"/>
  </p:normalViewPr>
  <p:slideViewPr>
    <p:cSldViewPr>
      <p:cViewPr varScale="1">
        <p:scale>
          <a:sx n="61" d="100"/>
          <a:sy n="61" d="100"/>
        </p:scale>
        <p:origin x="2083" y="53"/>
      </p:cViewPr>
      <p:guideLst>
        <p:guide orient="horz" pos="2152"/>
        <p:guide pos="28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32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3238"/>
          </a:xfrm>
          <a:prstGeom prst="rect">
            <a:avLst/>
          </a:prstGeom>
        </p:spPr>
        <p:txBody>
          <a:bodyPr vert="horz" lIns="91440" tIns="45720" rIns="91440" bIns="45720" rtlCol="0"/>
          <a:lstStyle>
            <a:lvl1pPr algn="r">
              <a:defRPr sz="1200"/>
            </a:lvl1pPr>
          </a:lstStyle>
          <a:p>
            <a:fld id="{D09C55AC-D5BC-481B-BE8E-B170E1C12CD1}" type="datetimeFigureOut">
              <a:rPr lang="en-US" smtClean="0"/>
              <a:t>2/13/2026</a:t>
            </a:fld>
            <a:endParaRPr lang="en-US"/>
          </a:p>
        </p:txBody>
      </p:sp>
      <p:sp>
        <p:nvSpPr>
          <p:cNvPr id="4" name="Slide Image Placeholder 3"/>
          <p:cNvSpPr>
            <a:spLocks noGrp="1" noRot="1" noChangeAspect="1"/>
          </p:cNvSpPr>
          <p:nvPr>
            <p:ph type="sldImg" idx="2"/>
          </p:nvPr>
        </p:nvSpPr>
        <p:spPr>
          <a:xfrm>
            <a:off x="1373188" y="754063"/>
            <a:ext cx="5026025" cy="3771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778375"/>
            <a:ext cx="6216650" cy="4525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32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3238"/>
          </a:xfrm>
          <a:prstGeom prst="rect">
            <a:avLst/>
          </a:prstGeom>
        </p:spPr>
        <p:txBody>
          <a:bodyPr vert="horz" lIns="91440" tIns="45720" rIns="91440" bIns="45720" rtlCol="0" anchor="b"/>
          <a:lstStyle>
            <a:lvl1pPr algn="r">
              <a:defRPr sz="1200"/>
            </a:lvl1pPr>
          </a:lstStyle>
          <a:p>
            <a:fld id="{1F530D37-C3EB-47C6-9E35-94FCE4E0F4AA}" type="slidenum">
              <a:rPr lang="en-US" smtClean="0"/>
              <a:t>‹#›</a:t>
            </a:fld>
            <a:endParaRPr lang="en-US"/>
          </a:p>
        </p:txBody>
      </p:sp>
    </p:spTree>
    <p:extLst>
      <p:ext uri="{BB962C8B-B14F-4D97-AF65-F5344CB8AC3E}">
        <p14:creationId xmlns:p14="http://schemas.microsoft.com/office/powerpoint/2010/main" val="240021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r>
              <a:rPr lang="en-US" dirty="0" err="1"/>
              <a:t>Chào</a:t>
            </a:r>
            <a:r>
              <a:rPr lang="en-US" baseline="0" dirty="0"/>
              <a:t> </a:t>
            </a:r>
            <a:r>
              <a:rPr lang="en-US" baseline="0" dirty="0" err="1"/>
              <a:t>các</a:t>
            </a:r>
            <a:r>
              <a:rPr lang="en-US" baseline="0" dirty="0"/>
              <a:t> </a:t>
            </a:r>
            <a:r>
              <a:rPr lang="en-US" baseline="0" dirty="0" err="1"/>
              <a:t>bạn</a:t>
            </a:r>
            <a:r>
              <a:rPr lang="en-US" baseline="0" dirty="0"/>
              <a:t>! </a:t>
            </a:r>
            <a:r>
              <a:rPr lang="en-US" baseline="0" dirty="0" err="1"/>
              <a:t>Trong</a:t>
            </a:r>
            <a:r>
              <a:rPr lang="en-US" baseline="0" dirty="0"/>
              <a:t> </a:t>
            </a:r>
            <a:r>
              <a:rPr lang="en-US" baseline="0" dirty="0" err="1"/>
              <a:t>bài</a:t>
            </a:r>
            <a:r>
              <a:rPr lang="en-US" baseline="0" dirty="0"/>
              <a:t> </a:t>
            </a:r>
            <a:r>
              <a:rPr lang="en-US" baseline="0" dirty="0" err="1"/>
              <a:t>học</a:t>
            </a:r>
            <a:r>
              <a:rPr lang="en-US" baseline="0" dirty="0"/>
              <a:t> </a:t>
            </a:r>
            <a:r>
              <a:rPr lang="en-US" baseline="0" dirty="0" err="1"/>
              <a:t>này</a:t>
            </a:r>
            <a:r>
              <a:rPr lang="en-US" baseline="0" dirty="0"/>
              <a:t>, </a:t>
            </a:r>
            <a:r>
              <a:rPr lang="en-US" baseline="0" dirty="0" err="1"/>
              <a:t>chúng</a:t>
            </a:r>
            <a:r>
              <a:rPr lang="en-US" baseline="0" dirty="0"/>
              <a:t> ta </a:t>
            </a:r>
            <a:r>
              <a:rPr lang="en-US" baseline="0" dirty="0" err="1"/>
              <a:t>tìm</a:t>
            </a:r>
            <a:r>
              <a:rPr lang="en-US" baseline="0" dirty="0"/>
              <a:t> </a:t>
            </a:r>
            <a:r>
              <a:rPr lang="en-US" baseline="0" dirty="0" err="1"/>
              <a:t>hiểu</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cơ</a:t>
            </a:r>
            <a:r>
              <a:rPr lang="en-US" baseline="0" dirty="0"/>
              <a:t> </a:t>
            </a:r>
            <a:r>
              <a:rPr lang="en-US" baseline="0" dirty="0" err="1"/>
              <a:t>bản</a:t>
            </a:r>
            <a:r>
              <a:rPr lang="en-US" baseline="0" dirty="0"/>
              <a:t> </a:t>
            </a:r>
            <a:r>
              <a:rPr lang="en-US" baseline="0" dirty="0" err="1"/>
              <a:t>khác</a:t>
            </a:r>
            <a:r>
              <a:rPr lang="en-US" baseline="0" dirty="0"/>
              <a:t> </a:t>
            </a:r>
            <a:r>
              <a:rPr lang="en-US" baseline="0" dirty="0" err="1"/>
              <a:t>trong</a:t>
            </a:r>
            <a:r>
              <a:rPr lang="en-US" baseline="0" dirty="0"/>
              <a:t> </a:t>
            </a:r>
            <a:r>
              <a:rPr lang="en-US" baseline="0" dirty="0" err="1"/>
              <a:t>hoạt</a:t>
            </a:r>
            <a:r>
              <a:rPr lang="en-US" baseline="0" dirty="0"/>
              <a:t> </a:t>
            </a:r>
            <a:r>
              <a:rPr lang="en-US" baseline="0" dirty="0" err="1"/>
              <a:t>động</a:t>
            </a:r>
            <a:r>
              <a:rPr lang="en-US" baseline="0" dirty="0"/>
              <a:t> Thu </a:t>
            </a:r>
            <a:r>
              <a:rPr lang="en-US" baseline="0" dirty="0" err="1"/>
              <a:t>thập</a:t>
            </a:r>
            <a:r>
              <a:rPr lang="en-US" baseline="0" dirty="0"/>
              <a:t> </a:t>
            </a:r>
            <a:r>
              <a:rPr lang="en-US" baseline="0" dirty="0" err="1"/>
              <a:t>và</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bài</a:t>
            </a:r>
            <a:r>
              <a:rPr lang="en-US" baseline="0" dirty="0"/>
              <a:t> </a:t>
            </a:r>
            <a:r>
              <a:rPr lang="en-US" baseline="0" dirty="0" err="1"/>
              <a:t>trước</a:t>
            </a:r>
            <a:r>
              <a:rPr lang="en-US" baseline="0" dirty="0"/>
              <a:t> </a:t>
            </a:r>
            <a:r>
              <a:rPr lang="en-US" baseline="0" dirty="0" err="1"/>
              <a:t>chúng</a:t>
            </a:r>
            <a:r>
              <a:rPr lang="en-US" baseline="0" dirty="0"/>
              <a:t> ta </a:t>
            </a:r>
            <a:r>
              <a:rPr lang="en-US" baseline="0" dirty="0" err="1"/>
              <a:t>đã</a:t>
            </a:r>
            <a:r>
              <a:rPr lang="en-US" baseline="0" dirty="0"/>
              <a:t> </a:t>
            </a:r>
            <a:r>
              <a:rPr lang="en-US" baseline="0" dirty="0" err="1"/>
              <a:t>được</a:t>
            </a:r>
            <a:r>
              <a:rPr lang="en-US" baseline="0" dirty="0"/>
              <a:t> </a:t>
            </a:r>
            <a:r>
              <a:rPr lang="en-US" dirty="0" err="1"/>
              <a:t>giới</a:t>
            </a:r>
            <a:r>
              <a:rPr lang="en-US" dirty="0"/>
              <a:t> </a:t>
            </a:r>
            <a:r>
              <a:rPr lang="en-US" dirty="0" err="1"/>
              <a:t>thiệu</a:t>
            </a:r>
            <a:r>
              <a:rPr lang="en-US" dirty="0"/>
              <a:t> </a:t>
            </a:r>
            <a:r>
              <a:rPr lang="en-US" dirty="0" err="1"/>
              <a:t>các</a:t>
            </a:r>
            <a:r>
              <a:rPr lang="en-US" dirty="0"/>
              <a:t> </a:t>
            </a:r>
            <a:r>
              <a:rPr lang="en-US" dirty="0" err="1"/>
              <a:t>khái</a:t>
            </a:r>
            <a:r>
              <a:rPr lang="en-US" dirty="0"/>
              <a:t> </a:t>
            </a:r>
            <a:r>
              <a:rPr lang="en-US" dirty="0" err="1"/>
              <a:t>niệm</a:t>
            </a:r>
            <a:r>
              <a:rPr lang="en-US" dirty="0"/>
              <a:t> </a:t>
            </a:r>
            <a:r>
              <a:rPr lang="en-US" dirty="0" err="1"/>
              <a:t>cơ</a:t>
            </a:r>
            <a:r>
              <a:rPr lang="en-US" dirty="0"/>
              <a:t> </a:t>
            </a:r>
            <a:r>
              <a:rPr lang="en-US" dirty="0" err="1"/>
              <a:t>bản</a:t>
            </a:r>
            <a:r>
              <a:rPr lang="en-US" dirty="0"/>
              <a:t> </a:t>
            </a:r>
            <a:r>
              <a:rPr lang="en-US" dirty="0" err="1"/>
              <a:t>nhất</a:t>
            </a:r>
            <a:r>
              <a:rPr lang="en-US" baseline="0" dirty="0"/>
              <a:t> </a:t>
            </a:r>
            <a:r>
              <a:rPr lang="en-US" dirty="0" err="1"/>
              <a:t>về</a:t>
            </a:r>
            <a:r>
              <a:rPr lang="en-US" dirty="0"/>
              <a:t> </a:t>
            </a:r>
            <a:r>
              <a:rPr lang="en-US" dirty="0" err="1"/>
              <a:t>yêu</a:t>
            </a:r>
            <a:r>
              <a:rPr lang="en-US" dirty="0"/>
              <a:t> </a:t>
            </a:r>
            <a:r>
              <a:rPr lang="en-US" dirty="0" err="1"/>
              <a:t>cầu</a:t>
            </a:r>
            <a:r>
              <a:rPr lang="en-US" dirty="0"/>
              <a:t> </a:t>
            </a:r>
            <a:r>
              <a:rPr lang="en-US" dirty="0" err="1"/>
              <a:t>phần</a:t>
            </a:r>
            <a:r>
              <a:rPr lang="en-US" dirty="0"/>
              <a:t> </a:t>
            </a:r>
            <a:r>
              <a:rPr lang="en-US" dirty="0" err="1"/>
              <a:t>mềm</a:t>
            </a:r>
            <a:r>
              <a:rPr lang="en-US" dirty="0"/>
              <a:t>. </a:t>
            </a:r>
            <a:r>
              <a:rPr lang="en-US" dirty="0" err="1"/>
              <a:t>Bài</a:t>
            </a:r>
            <a:r>
              <a:rPr lang="en-US" baseline="0" dirty="0"/>
              <a:t> </a:t>
            </a:r>
            <a:r>
              <a:rPr lang="en-US" baseline="0" dirty="0" err="1"/>
              <a:t>học</a:t>
            </a:r>
            <a:r>
              <a:rPr lang="en-US" baseline="0" dirty="0"/>
              <a:t> </a:t>
            </a:r>
            <a:r>
              <a:rPr lang="en-US" baseline="0" dirty="0" err="1"/>
              <a:t>này</a:t>
            </a:r>
            <a:r>
              <a:rPr lang="en-US" baseline="0" dirty="0"/>
              <a:t> </a:t>
            </a:r>
            <a:r>
              <a:rPr lang="en-US" baseline="0" dirty="0" err="1"/>
              <a:t>sẽ</a:t>
            </a:r>
            <a:r>
              <a:rPr lang="en-US" baseline="0" dirty="0"/>
              <a:t> </a:t>
            </a:r>
            <a:r>
              <a:rPr lang="en-US" baseline="0" dirty="0" err="1"/>
              <a:t>tập</a:t>
            </a:r>
            <a:r>
              <a:rPr lang="en-US" baseline="0" dirty="0"/>
              <a:t> </a:t>
            </a:r>
            <a:r>
              <a:rPr lang="en-US" baseline="0" dirty="0" err="1"/>
              <a:t>trung</a:t>
            </a:r>
            <a:r>
              <a:rPr lang="en-US" baseline="0" dirty="0"/>
              <a:t> </a:t>
            </a:r>
            <a:r>
              <a:rPr lang="en-US" dirty="0" err="1"/>
              <a:t>giới</a:t>
            </a:r>
            <a:r>
              <a:rPr lang="en-US" dirty="0"/>
              <a:t> </a:t>
            </a:r>
            <a:r>
              <a:rPr lang="en-US" dirty="0" err="1"/>
              <a:t>thiệu</a:t>
            </a:r>
            <a:r>
              <a:rPr lang="en-US" dirty="0"/>
              <a:t> </a:t>
            </a:r>
            <a:r>
              <a:rPr lang="en-US" dirty="0" err="1"/>
              <a:t>tổng</a:t>
            </a:r>
            <a:r>
              <a:rPr lang="en-US" dirty="0"/>
              <a:t> </a:t>
            </a:r>
            <a:r>
              <a:rPr lang="en-US" dirty="0" err="1"/>
              <a:t>quan</a:t>
            </a:r>
            <a:r>
              <a:rPr lang="en-US" dirty="0"/>
              <a:t> </a:t>
            </a:r>
            <a:r>
              <a:rPr lang="en-US" dirty="0" err="1"/>
              <a:t>về</a:t>
            </a:r>
            <a:r>
              <a:rPr lang="en-US" dirty="0"/>
              <a:t> </a:t>
            </a:r>
            <a:r>
              <a:rPr lang="en-US" dirty="0" err="1"/>
              <a:t>quy</a:t>
            </a:r>
            <a:r>
              <a:rPr lang="en-US" dirty="0"/>
              <a:t> </a:t>
            </a:r>
            <a:r>
              <a:rPr lang="en-US" dirty="0" err="1"/>
              <a:t>trình</a:t>
            </a:r>
            <a:r>
              <a:rPr lang="en-US" dirty="0"/>
              <a:t> </a:t>
            </a:r>
            <a:r>
              <a:rPr lang="en-US" dirty="0" err="1"/>
              <a:t>kỹ</a:t>
            </a:r>
            <a:r>
              <a:rPr lang="en-US" dirty="0"/>
              <a:t> </a:t>
            </a:r>
            <a:r>
              <a:rPr lang="en-US" dirty="0" err="1"/>
              <a:t>nghệ</a:t>
            </a:r>
            <a:r>
              <a:rPr lang="en-US" dirty="0"/>
              <a:t> </a:t>
            </a:r>
            <a:r>
              <a:rPr lang="en-US" dirty="0" err="1"/>
              <a:t>yêu</a:t>
            </a:r>
            <a:r>
              <a:rPr lang="en-US" dirty="0"/>
              <a:t> </a:t>
            </a:r>
            <a:r>
              <a:rPr lang="en-US" dirty="0" err="1"/>
              <a:t>cầu</a:t>
            </a:r>
            <a:r>
              <a:rPr lang="en-US" dirty="0"/>
              <a:t> </a:t>
            </a:r>
            <a:r>
              <a:rPr lang="en-US" dirty="0" err="1"/>
              <a:t>và</a:t>
            </a:r>
            <a:r>
              <a:rPr lang="en-US" dirty="0"/>
              <a:t> </a:t>
            </a:r>
            <a:r>
              <a:rPr lang="en-US" dirty="0" err="1"/>
              <a:t>các</a:t>
            </a:r>
            <a:r>
              <a:rPr lang="en-US" baseline="0" dirty="0"/>
              <a:t> </a:t>
            </a:r>
            <a:r>
              <a:rPr lang="en-US" dirty="0" err="1"/>
              <a:t>nội</a:t>
            </a:r>
            <a:r>
              <a:rPr lang="en-US" baseline="0" dirty="0"/>
              <a:t> dung </a:t>
            </a:r>
            <a:r>
              <a:rPr lang="en-US" baseline="0" dirty="0" err="1"/>
              <a:t>của</a:t>
            </a:r>
            <a:r>
              <a:rPr lang="en-US" baseline="0" dirty="0"/>
              <a:t> </a:t>
            </a:r>
            <a:r>
              <a:rPr lang="en-US" baseline="0" dirty="0" err="1"/>
              <a:t>từng</a:t>
            </a:r>
            <a:r>
              <a:rPr lang="en-US" baseline="0" dirty="0"/>
              <a:t> </a:t>
            </a:r>
            <a:r>
              <a:rPr lang="en-US" baseline="0" dirty="0" err="1"/>
              <a:t>bước</a:t>
            </a:r>
            <a:r>
              <a:rPr lang="en-US" baseline="0" dirty="0"/>
              <a:t> </a:t>
            </a:r>
            <a:r>
              <a:rPr lang="en-US" baseline="0" dirty="0" err="1"/>
              <a:t>cũng</a:t>
            </a:r>
            <a:r>
              <a:rPr lang="en-US" baseline="0" dirty="0"/>
              <a:t> </a:t>
            </a:r>
            <a:r>
              <a:rPr lang="en-US" baseline="0" dirty="0" err="1"/>
              <a:t>như</a:t>
            </a:r>
            <a:r>
              <a:rPr lang="en-US" baseline="0" dirty="0"/>
              <a:t> </a:t>
            </a:r>
            <a:r>
              <a:rPr lang="en-US" dirty="0" err="1"/>
              <a:t>các</a:t>
            </a:r>
            <a:r>
              <a:rPr lang="en-US" dirty="0"/>
              <a:t> </a:t>
            </a:r>
            <a:r>
              <a:rPr lang="en-US" dirty="0" err="1"/>
              <a:t>kỹ</a:t>
            </a:r>
            <a:r>
              <a:rPr lang="en-US" dirty="0"/>
              <a:t> </a:t>
            </a:r>
            <a:r>
              <a:rPr lang="en-US" dirty="0" err="1"/>
              <a:t>thuật</a:t>
            </a:r>
            <a:r>
              <a:rPr lang="en-US" dirty="0"/>
              <a:t> </a:t>
            </a:r>
            <a:r>
              <a:rPr lang="en-US" dirty="0" err="1"/>
              <a:t>hỗ</a:t>
            </a:r>
            <a:r>
              <a:rPr lang="en-US" baseline="0" dirty="0"/>
              <a:t> </a:t>
            </a:r>
            <a:r>
              <a:rPr lang="en-US" baseline="0" dirty="0" err="1"/>
              <a:t>trợ</a:t>
            </a:r>
            <a:r>
              <a:rPr lang="en-US" baseline="0" dirty="0"/>
              <a:t> </a:t>
            </a:r>
            <a:r>
              <a:rPr lang="en-US" dirty="0" err="1"/>
              <a:t>trong</a:t>
            </a:r>
            <a:r>
              <a:rPr lang="en-US" dirty="0"/>
              <a:t> </a:t>
            </a:r>
            <a:r>
              <a:rPr lang="en-US" dirty="0" err="1"/>
              <a:t>quy</a:t>
            </a:r>
            <a:r>
              <a:rPr lang="en-US" dirty="0"/>
              <a:t> </a:t>
            </a:r>
            <a:r>
              <a:rPr lang="en-US" dirty="0" err="1"/>
              <a:t>trình</a:t>
            </a:r>
            <a:r>
              <a:rPr lang="en-US" dirty="0"/>
              <a:t> </a:t>
            </a:r>
            <a:r>
              <a:rPr lang="en-US" dirty="0" err="1"/>
              <a:t>chung</a:t>
            </a:r>
            <a:r>
              <a:rPr lang="en-US" dirty="0"/>
              <a:t> </a:t>
            </a:r>
            <a:r>
              <a:rPr lang="en-US" dirty="0" err="1"/>
              <a:t>đó</a:t>
            </a:r>
            <a:r>
              <a:rPr lang="en-US" dirty="0"/>
              <a:t>.</a:t>
            </a:r>
          </a:p>
        </p:txBody>
      </p:sp>
      <p:sp>
        <p:nvSpPr>
          <p:cNvPr id="5123" name="Rectangle 3"/>
          <p:cNvSpPr>
            <a:spLocks noGrp="1" noRot="1" noChangeAspect="1" noChangeArrowheads="1" noTextEdit="1"/>
          </p:cNvSpPr>
          <p:nvPr>
            <p:ph type="sldImg"/>
          </p:nvPr>
        </p:nvSpPr>
        <p:spPr>
          <a:xfrm>
            <a:off x="1971675" y="858838"/>
            <a:ext cx="3800475" cy="2851150"/>
          </a:xfrm>
          <a:ln cap="flat"/>
        </p:spPr>
      </p:sp>
    </p:spTree>
    <p:extLst>
      <p:ext uri="{BB962C8B-B14F-4D97-AF65-F5344CB8AC3E}">
        <p14:creationId xmlns:p14="http://schemas.microsoft.com/office/powerpoint/2010/main" val="29710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a:t>
            </a:r>
            <a:r>
              <a:rPr lang="en-US" baseline="0" dirty="0" err="1"/>
              <a:t>ài</a:t>
            </a:r>
            <a:r>
              <a:rPr lang="en-US" baseline="0" dirty="0"/>
              <a:t> </a:t>
            </a:r>
            <a:r>
              <a:rPr lang="en-US" baseline="0" dirty="0" err="1"/>
              <a:t>giảng</a:t>
            </a:r>
            <a:r>
              <a:rPr lang="en-US" baseline="0" dirty="0"/>
              <a:t> </a:t>
            </a:r>
            <a:r>
              <a:rPr lang="en-US" baseline="0" dirty="0" err="1"/>
              <a:t>này</a:t>
            </a:r>
            <a:r>
              <a:rPr lang="en-US" baseline="0" dirty="0"/>
              <a:t> </a:t>
            </a:r>
            <a:r>
              <a:rPr lang="en-US" baseline="0" dirty="0" err="1"/>
              <a:t>sẽ</a:t>
            </a:r>
            <a:r>
              <a:rPr lang="en-US" baseline="0" dirty="0"/>
              <a:t> </a:t>
            </a:r>
            <a:r>
              <a:rPr lang="en-US" baseline="0" dirty="0" err="1"/>
              <a:t>được</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trình</a:t>
            </a:r>
            <a:r>
              <a:rPr lang="en-US" baseline="0" dirty="0"/>
              <a:t> </a:t>
            </a:r>
            <a:r>
              <a:rPr lang="en-US" baseline="0" dirty="0" err="1"/>
              <a:t>tự</a:t>
            </a:r>
            <a:r>
              <a:rPr lang="en-US" baseline="0" dirty="0"/>
              <a:t> </a:t>
            </a:r>
            <a:r>
              <a:rPr lang="en-US" baseline="0" dirty="0" err="1"/>
              <a:t>theo</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sau</a:t>
            </a:r>
            <a:r>
              <a:rPr lang="en-US" baseline="0" dirty="0"/>
              <a:t>: </a:t>
            </a:r>
            <a:r>
              <a:rPr lang="en-US" baseline="0" dirty="0" err="1"/>
              <a:t>Đầu</a:t>
            </a:r>
            <a:r>
              <a:rPr lang="en-US" baseline="0" dirty="0"/>
              <a:t> </a:t>
            </a:r>
            <a:r>
              <a:rPr lang="en-US" baseline="0" dirty="0" err="1"/>
              <a:t>tiên</a:t>
            </a:r>
            <a:r>
              <a:rPr lang="en-US" baseline="0" dirty="0"/>
              <a:t> </a:t>
            </a:r>
            <a:r>
              <a:rPr lang="en-US" baseline="0" dirty="0" err="1"/>
              <a:t>là</a:t>
            </a:r>
            <a:r>
              <a:rPr lang="en-US" baseline="0" dirty="0"/>
              <a:t> </a:t>
            </a:r>
            <a:r>
              <a:rPr lang="en-US" baseline="0" dirty="0" err="1"/>
              <a:t>phần</a:t>
            </a:r>
            <a:r>
              <a:rPr lang="en-US" baseline="0" dirty="0"/>
              <a:t> </a:t>
            </a:r>
            <a:r>
              <a:rPr lang="en-US" baseline="0" dirty="0" err="1"/>
              <a:t>giới</a:t>
            </a:r>
            <a:r>
              <a:rPr lang="en-US" baseline="0" dirty="0"/>
              <a:t> </a:t>
            </a:r>
            <a:r>
              <a:rPr lang="en-US" baseline="0" dirty="0" err="1"/>
              <a:t>thiệu</a:t>
            </a:r>
            <a:r>
              <a:rPr lang="en-US" baseline="0" dirty="0"/>
              <a:t> </a:t>
            </a:r>
            <a:r>
              <a:rPr lang="en-US" baseline="0" dirty="0" err="1"/>
              <a:t>về</a:t>
            </a:r>
            <a:r>
              <a:rPr lang="en-US" baseline="0" dirty="0"/>
              <a:t> </a:t>
            </a:r>
            <a:r>
              <a:rPr lang="en-US" baseline="0" dirty="0" err="1"/>
              <a:t>quy</a:t>
            </a:r>
            <a:r>
              <a:rPr lang="en-US" baseline="0" dirty="0"/>
              <a:t> </a:t>
            </a:r>
            <a:r>
              <a:rPr lang="en-US" baseline="0" dirty="0" err="1"/>
              <a:t>trình</a:t>
            </a:r>
            <a:r>
              <a:rPr lang="en-US" baseline="0" dirty="0"/>
              <a:t> </a:t>
            </a:r>
            <a:r>
              <a:rPr lang="en-US" baseline="0" dirty="0" err="1"/>
              <a:t>kỹ</a:t>
            </a:r>
            <a:r>
              <a:rPr lang="en-US" baseline="0" dirty="0"/>
              <a:t> </a:t>
            </a:r>
            <a:r>
              <a:rPr lang="en-US" baseline="0" dirty="0" err="1"/>
              <a:t>nghệ</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Tiếp</a:t>
            </a:r>
            <a:r>
              <a:rPr lang="en-US" baseline="0" dirty="0"/>
              <a:t> </a:t>
            </a:r>
            <a:r>
              <a:rPr lang="en-US" baseline="0" dirty="0" err="1"/>
              <a:t>đó</a:t>
            </a:r>
            <a:r>
              <a:rPr lang="en-US" baseline="0" dirty="0"/>
              <a:t>, </a:t>
            </a:r>
            <a:r>
              <a:rPr lang="en-US" baseline="0" dirty="0" err="1"/>
              <a:t>lần</a:t>
            </a:r>
            <a:r>
              <a:rPr lang="en-US" baseline="0" dirty="0"/>
              <a:t> </a:t>
            </a:r>
            <a:r>
              <a:rPr lang="en-US" baseline="0" dirty="0" err="1"/>
              <a:t>lượt</a:t>
            </a:r>
            <a:r>
              <a:rPr lang="en-US" baseline="0" dirty="0"/>
              <a:t> </a:t>
            </a:r>
            <a:r>
              <a:rPr lang="en-US" baseline="0" dirty="0" err="1"/>
              <a:t>là</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về</a:t>
            </a:r>
            <a:r>
              <a:rPr lang="en-US" baseline="0" dirty="0"/>
              <a:t> </a:t>
            </a:r>
            <a:r>
              <a:rPr lang="en-US" baseline="0" dirty="0" err="1"/>
              <a:t>thu</a:t>
            </a:r>
            <a:r>
              <a:rPr lang="en-US" baseline="0" dirty="0"/>
              <a:t> </a:t>
            </a:r>
            <a:r>
              <a:rPr lang="en-US" baseline="0" dirty="0" err="1"/>
              <a:t>thập</a:t>
            </a:r>
            <a:r>
              <a:rPr lang="en-US" baseline="0" dirty="0"/>
              <a:t> </a:t>
            </a:r>
            <a:r>
              <a:rPr lang="en-US" baseline="0" dirty="0" err="1"/>
              <a:t>và</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thẩm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a:t>
            </a:r>
            <a:r>
              <a:rPr lang="en-US" baseline="0" dirty="0" err="1"/>
              <a:t>quản</a:t>
            </a:r>
            <a:r>
              <a:rPr lang="en-US" baseline="0" dirty="0"/>
              <a:t> </a:t>
            </a:r>
            <a:r>
              <a:rPr lang="en-US" baseline="0" dirty="0" err="1"/>
              <a:t>lý</a:t>
            </a:r>
            <a:r>
              <a:rPr lang="en-US" baseline="0" dirty="0"/>
              <a:t> </a:t>
            </a:r>
            <a:r>
              <a:rPr lang="en-US" baseline="0" dirty="0" err="1"/>
              <a:t>yêu</a:t>
            </a:r>
            <a:r>
              <a:rPr lang="en-US" baseline="0" dirty="0"/>
              <a:t> </a:t>
            </a:r>
            <a:r>
              <a:rPr lang="en-US" baseline="0" dirty="0" err="1"/>
              <a:t>cầu</a:t>
            </a:r>
            <a:r>
              <a:rPr lang="en-US" baseline="0" dirty="0"/>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a:t>
            </a:fld>
            <a:endParaRPr lang="en-US"/>
          </a:p>
        </p:txBody>
      </p:sp>
    </p:spTree>
    <p:extLst>
      <p:ext uri="{BB962C8B-B14F-4D97-AF65-F5344CB8AC3E}">
        <p14:creationId xmlns:p14="http://schemas.microsoft.com/office/powerpoint/2010/main" val="400836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chi </a:t>
            </a:r>
            <a:r>
              <a:rPr lang="en-US" sz="1200" b="0" i="0" u="none" strike="noStrike" kern="1200" baseline="0" dirty="0" err="1">
                <a:solidFill>
                  <a:schemeClr val="tx1"/>
                </a:solidFill>
                <a:latin typeface="+mn-lt"/>
                <a:ea typeface="+mn-ea"/>
                <a:cs typeface="+mn-cs"/>
              </a:rPr>
              <a:t>tiết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thuộc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miền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bao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gồm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bốn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cứu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đánh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mềm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mang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lại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(feasibility study). </a:t>
            </a:r>
          </a:p>
          <a:p>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còn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gọi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(elicitation and analysis).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(specification), </a:t>
            </a:r>
            <a:r>
              <a:rPr lang="en-US" sz="1200" b="0" i="0" u="none" strike="noStrike" kern="1200" baseline="0" dirty="0" err="1">
                <a:solidFill>
                  <a:schemeClr val="tx1"/>
                </a:solidFill>
                <a:latin typeface="+mn-lt"/>
                <a:ea typeface="+mn-ea"/>
                <a:cs typeface="+mn-cs"/>
              </a:rPr>
              <a:t>nhằm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chuyển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chuẩn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hướng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đủ</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nhằng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nữa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khâu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thẩm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(validation), </a:t>
            </a:r>
            <a:r>
              <a:rPr lang="en-US" sz="1200" b="0" i="0" u="none" strike="noStrike" kern="1200" baseline="0" dirty="0" err="1">
                <a:solidFill>
                  <a:schemeClr val="tx1"/>
                </a:solidFill>
                <a:latin typeface="+mn-lt"/>
                <a:ea typeface="+mn-ea"/>
                <a:cs typeface="+mn-cs"/>
              </a:rPr>
              <a:t>nhằm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kiểm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xem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toán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xuyên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suốt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nhằm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hóa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còn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gọi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hóa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tăng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3</a:t>
            </a:fld>
            <a:endParaRPr lang="en-US"/>
          </a:p>
        </p:txBody>
      </p:sp>
    </p:spTree>
    <p:extLst>
      <p:ext uri="{BB962C8B-B14F-4D97-AF65-F5344CB8AC3E}">
        <p14:creationId xmlns:p14="http://schemas.microsoft.com/office/powerpoint/2010/main" val="2200054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xoắn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ốc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nỗ</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mỗi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(iteration) </a:t>
            </a:r>
            <a:r>
              <a:rPr lang="en-US" sz="1200" b="0" i="0" u="none" strike="noStrike" kern="1200" baseline="0" dirty="0" err="1">
                <a:solidFill>
                  <a:schemeClr val="tx1"/>
                </a:solidFill>
                <a:latin typeface="+mn-lt"/>
                <a:ea typeface="+mn-ea"/>
                <a:cs typeface="+mn-cs"/>
              </a:rPr>
              <a:t>phụ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thuộc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Ở </a:t>
            </a:r>
            <a:r>
              <a:rPr lang="en-US" sz="1200" b="0" i="0" u="none" strike="noStrike" kern="1200" baseline="0" dirty="0" err="1">
                <a:solidFill>
                  <a:schemeClr val="tx1"/>
                </a:solidFill>
                <a:latin typeface="+mn-lt"/>
                <a:ea typeface="+mn-ea"/>
                <a:cs typeface="+mn-cs"/>
              </a:rPr>
              <a:t>giai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nỗ</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phi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năng</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(user requirements).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ngoài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xoắn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ốc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nhiều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nỗ</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chi </a:t>
            </a:r>
            <a:r>
              <a:rPr lang="en-US" sz="1200" b="0" i="0" u="none" strike="noStrike" kern="1200" baseline="0" dirty="0" err="1">
                <a:solidFill>
                  <a:schemeClr val="tx1"/>
                </a:solidFill>
                <a:latin typeface="+mn-lt"/>
                <a:ea typeface="+mn-ea"/>
                <a:cs typeface="+mn-cs"/>
              </a:rPr>
              <a:t>tiết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hóa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chi </a:t>
            </a:r>
            <a:r>
              <a:rPr lang="en-US" sz="1200" b="0" i="0" u="none" strike="noStrike" kern="1200" baseline="0" dirty="0" err="1">
                <a:solidFill>
                  <a:schemeClr val="tx1"/>
                </a:solidFill>
                <a:latin typeface="+mn-lt"/>
                <a:ea typeface="+mn-ea"/>
                <a:cs typeface="+mn-cs"/>
              </a:rPr>
              <a:t>tiết</a:t>
            </a:r>
            <a:r>
              <a:rPr lang="en-US" sz="1200" b="0" i="0" u="none" strike="noStrike" kern="1200" baseline="0" dirty="0">
                <a:solidFill>
                  <a:schemeClr val="tx1"/>
                </a:solidFill>
                <a:latin typeface="+mn-lt"/>
                <a:ea typeface="+mn-ea"/>
                <a:cs typeface="+mn-cs"/>
              </a:rPr>
              <a:t> (detailed system requirements).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xoắn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ốc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tùy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hợp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mềm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thành</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cấp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a:t>
            </a:r>
            <a:r>
              <a:rPr lang="en-US" sz="1200" b="0" i="0" u="none" strike="noStrike" kern="1200" baseline="0" dirty="0">
                <a:solidFill>
                  <a:schemeClr val="tx1"/>
                </a:solidFill>
                <a:latin typeface="+mn-lt"/>
                <a:ea typeface="+mn-ea"/>
                <a:cs typeface="+mn-cs"/>
              </a:rPr>
              <a:t> chi </a:t>
            </a:r>
            <a:r>
              <a:rPr lang="en-US" sz="1200" b="0" i="0" u="none" strike="noStrike" kern="1200" baseline="0" dirty="0" err="1">
                <a:solidFill>
                  <a:schemeClr val="tx1"/>
                </a:solidFill>
                <a:latin typeface="+mn-lt"/>
                <a:ea typeface="+mn-ea"/>
                <a:cs typeface="+mn-cs"/>
              </a:rPr>
              <a:t>tiết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chẳng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điểm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bắt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chỉ</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ở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giai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mục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mẫu</a:t>
            </a:r>
            <a:r>
              <a:rPr lang="en-US" sz="1200" b="0" i="0" u="none" strike="noStrike" kern="1200" baseline="0" dirty="0">
                <a:solidFill>
                  <a:schemeClr val="tx1"/>
                </a:solidFill>
                <a:latin typeface="+mn-lt"/>
                <a:ea typeface="+mn-ea"/>
                <a:cs typeface="+mn-cs"/>
              </a:rPr>
              <a:t> (prototyping)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thế</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bằng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(agile development).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đồng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thời</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4</a:t>
            </a:fld>
            <a:endParaRPr lang="en-US"/>
          </a:p>
        </p:txBody>
      </p:sp>
    </p:spTree>
    <p:extLst>
      <p:ext uri="{BB962C8B-B14F-4D97-AF65-F5344CB8AC3E}">
        <p14:creationId xmlns:p14="http://schemas.microsoft.com/office/powerpoint/2010/main" val="1131318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cứu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khởi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còn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gọi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(requirements discovery).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mềm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việc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tìm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miền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dịch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cấp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ràng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buộc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cứng</a:t>
            </a:r>
            <a:r>
              <a:rPr lang="en-US" sz="1200" b="0" i="0" u="none" strike="noStrike" kern="1200" baseline="0" dirty="0">
                <a:solidFill>
                  <a:schemeClr val="tx1"/>
                </a:solidFill>
                <a:latin typeface="+mn-lt"/>
                <a:ea typeface="+mn-ea"/>
                <a:cs typeface="+mn-cs"/>
              </a:rPr>
              <a:t>, v.v.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Thu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nhiều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tượng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vị</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(system stakeholder)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hưởng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gián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mềm</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đơn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chỉ</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con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chịu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hưởng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duy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chuyên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miền</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đại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đoàn</a:t>
            </a:r>
            <a:r>
              <a:rPr lang="en-US" sz="1200" b="0" i="0" u="none" strike="noStrike" kern="1200" baseline="0" dirty="0">
                <a:solidFill>
                  <a:schemeClr val="tx1"/>
                </a:solidFill>
                <a:latin typeface="+mn-lt"/>
                <a:ea typeface="+mn-ea"/>
                <a:cs typeface="+mn-cs"/>
              </a:rPr>
              <a:t>.</a:t>
            </a:r>
          </a:p>
        </p:txBody>
      </p:sp>
      <p:sp>
        <p:nvSpPr>
          <p:cNvPr id="4" name="Slide Number Placeholder 3"/>
          <p:cNvSpPr>
            <a:spLocks noGrp="1"/>
          </p:cNvSpPr>
          <p:nvPr>
            <p:ph type="sldNum" sz="quarter" idx="10"/>
          </p:nvPr>
        </p:nvSpPr>
        <p:spPr/>
        <p:txBody>
          <a:bodyPr/>
          <a:lstStyle/>
          <a:p>
            <a:fld id="{1F530D37-C3EB-47C6-9E35-94FCE4E0F4AA}" type="slidenum">
              <a:rPr lang="en-US" smtClean="0"/>
              <a:t>5</a:t>
            </a:fld>
            <a:endParaRPr lang="en-US"/>
          </a:p>
        </p:txBody>
      </p:sp>
    </p:spTree>
    <p:extLst>
      <p:ext uri="{BB962C8B-B14F-4D97-AF65-F5344CB8AC3E}">
        <p14:creationId xmlns:p14="http://schemas.microsoft.com/office/powerpoint/2010/main" val="2126453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Thu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nhiều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bởi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do </a:t>
            </a:r>
            <a:r>
              <a:rPr lang="en-US" sz="1200" b="0" i="0" u="none" strike="noStrike" kern="1200" baseline="0" dirty="0" err="1">
                <a:solidFill>
                  <a:schemeClr val="tx1"/>
                </a:solidFill>
                <a:latin typeface="+mn-lt"/>
                <a:ea typeface="+mn-ea"/>
                <a:cs typeface="+mn-cs"/>
              </a:rPr>
              <a:t>chính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tường</a:t>
            </a:r>
            <a:r>
              <a:rPr lang="en-US" sz="1200" b="0" i="0" u="none" strike="noStrike" kern="1200" baseline="0" dirty="0">
                <a:solidFill>
                  <a:schemeClr val="tx1"/>
                </a:solidFill>
                <a:latin typeface="+mn-lt"/>
                <a:ea typeface="+mn-ea"/>
                <a:cs typeface="+mn-cs"/>
              </a:rPr>
              <a:t> minh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muốn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máy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tính</a:t>
            </a:r>
            <a:r>
              <a:rPr lang="en-US" sz="1200" b="0" i="0" u="none" strike="noStrike" kern="1200" baseline="0" dirty="0">
                <a:solidFill>
                  <a:schemeClr val="tx1"/>
                </a:solidFill>
                <a:latin typeface="+mn-lt"/>
                <a:ea typeface="+mn-ea"/>
                <a:cs typeface="+mn-cs"/>
              </a:rPr>
              <a:t>;</a:t>
            </a:r>
          </a:p>
          <a:p>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nói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muốn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muốn</a:t>
            </a:r>
            <a:r>
              <a:rPr lang="en-US" sz="1200" b="0" i="0" u="none" strike="noStrike" kern="1200" baseline="0" dirty="0">
                <a:solidFill>
                  <a:schemeClr val="tx1"/>
                </a:solidFill>
                <a:latin typeface="+mn-lt"/>
                <a:ea typeface="+mn-ea"/>
                <a:cs typeface="+mn-cs"/>
              </a:rPr>
              <a:t> phi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tế</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bởi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muốn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a:t>
            </a:r>
            <a:r>
              <a:rPr lang="en-US" sz="1200" b="0" i="0" u="none" strike="noStrike" kern="1200" baseline="0" dirty="0">
                <a:solidFill>
                  <a:schemeClr val="tx1"/>
                </a:solidFill>
                <a:latin typeface="+mn-lt"/>
                <a:ea typeface="+mn-ea"/>
                <a:cs typeface="+mn-cs"/>
              </a:rPr>
              <a:t> hay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qua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ngữ</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tri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ngầm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lĩnh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sữ</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miền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nguồn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rõ</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giữa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chúng</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yếu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trị</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hưởng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Chẳng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thêm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nhằm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tăng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tầm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hưởng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Cuối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ngữ</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đựng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trọng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sinh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chưa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6</a:t>
            </a:fld>
            <a:endParaRPr lang="en-US"/>
          </a:p>
        </p:txBody>
      </p:sp>
    </p:spTree>
    <p:extLst>
      <p:ext uri="{BB962C8B-B14F-4D97-AF65-F5344CB8AC3E}">
        <p14:creationId xmlns:p14="http://schemas.microsoft.com/office/powerpoint/2010/main" val="2226302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báo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gồm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bốn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Đây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rõ</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miền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hỗ</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slide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loại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nhằm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nhóm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gộp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dễ</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nhóm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gộp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trúc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gắn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con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trúc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kế</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kiến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trúc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hoàn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toàn</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lượng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ưu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ưu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qua </a:t>
            </a:r>
            <a:r>
              <a:rPr lang="en-US" sz="1200" b="0" i="0" u="none" strike="noStrike" kern="1200" baseline="0" dirty="0" err="1">
                <a:solidFill>
                  <a:schemeClr val="tx1"/>
                </a:solidFill>
                <a:latin typeface="+mn-lt"/>
                <a:ea typeface="+mn-ea"/>
                <a:cs typeface="+mn-cs"/>
              </a:rPr>
              <a:t>thảo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luận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Nghĩa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Cuối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xoáy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ốc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bắt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thúc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Qua </a:t>
            </a:r>
            <a:r>
              <a:rPr lang="en-US" sz="1200" b="0" i="0" u="none" strike="noStrike" kern="1200" baseline="0" dirty="0" err="1">
                <a:solidFill>
                  <a:schemeClr val="tx1"/>
                </a:solidFill>
                <a:latin typeface="+mn-lt"/>
                <a:ea typeface="+mn-ea"/>
                <a:cs typeface="+mn-cs"/>
              </a:rPr>
              <a:t>mỗi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giúp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tốt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thúc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hoàn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thành</a:t>
            </a:r>
            <a:r>
              <a:rPr lang="en-US" sz="1200" b="0" i="0" u="none" strike="noStrike"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7</a:t>
            </a:fld>
            <a:endParaRPr lang="en-US"/>
          </a:p>
        </p:txBody>
      </p:sp>
    </p:spTree>
    <p:extLst>
      <p:ext uri="{BB962C8B-B14F-4D97-AF65-F5344CB8AC3E}">
        <p14:creationId xmlns:p14="http://schemas.microsoft.com/office/powerpoint/2010/main" val="208659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đôi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gọi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thời</a:t>
            </a:r>
            <a:r>
              <a:rPr lang="en-US" sz="1200" b="0" i="0" u="none" strike="noStrike" kern="1200" baseline="0" dirty="0">
                <a:solidFill>
                  <a:schemeClr val="tx1"/>
                </a:solidFill>
                <a:latin typeface="+mn-lt"/>
                <a:ea typeface="+mn-ea"/>
                <a:cs typeface="+mn-cs"/>
              </a:rPr>
              <a:t> (system-as-is)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(system-to-be)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Nguồn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bao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gồm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tự</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qua </a:t>
            </a:r>
            <a:r>
              <a:rPr lang="en-US" sz="1200" b="0" i="0" u="none" strike="noStrike" kern="1200" baseline="0" dirty="0" err="1">
                <a:solidFill>
                  <a:schemeClr val="tx1"/>
                </a:solidFill>
                <a:latin typeface="+mn-lt"/>
                <a:ea typeface="+mn-ea"/>
                <a:cs typeface="+mn-cs"/>
              </a:rPr>
              <a:t>phỏng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hợp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kịch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mẫu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giúp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tốt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a:t>
            </a:r>
          </a:p>
        </p:txBody>
      </p:sp>
      <p:sp>
        <p:nvSpPr>
          <p:cNvPr id="4" name="Slide Number Placeholder 3"/>
          <p:cNvSpPr>
            <a:spLocks noGrp="1"/>
          </p:cNvSpPr>
          <p:nvPr>
            <p:ph type="sldNum" sz="quarter" idx="10"/>
          </p:nvPr>
        </p:nvSpPr>
        <p:spPr/>
        <p:txBody>
          <a:bodyPr/>
          <a:lstStyle/>
          <a:p>
            <a:fld id="{1F530D37-C3EB-47C6-9E35-94FCE4E0F4AA}" type="slidenum">
              <a:rPr lang="en-US" smtClean="0"/>
              <a:t>8</a:t>
            </a:fld>
            <a:endParaRPr lang="en-US"/>
          </a:p>
        </p:txBody>
      </p:sp>
    </p:spTree>
    <p:extLst>
      <p:ext uri="{BB962C8B-B14F-4D97-AF65-F5344CB8AC3E}">
        <p14:creationId xmlns:p14="http://schemas.microsoft.com/office/powerpoint/2010/main" val="2046584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ngữ</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chúng</a:t>
            </a:r>
            <a:r>
              <a:rPr lang="en-US" sz="1200" b="0" i="0" u="none" strike="noStrike" kern="1200" baseline="0" dirty="0">
                <a:solidFill>
                  <a:schemeClr val="tx1"/>
                </a:solidFill>
                <a:latin typeface="+mn-lt"/>
                <a:ea typeface="+mn-ea"/>
                <a:cs typeface="+mn-cs"/>
              </a:rPr>
              <a:t> ta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a:t>
            </a:r>
          </a:p>
          <a:p>
            <a:pPr marL="228600" indent="-228600">
              <a:buAutoNum type="arabicPeriod"/>
            </a:pPr>
            <a:r>
              <a:rPr lang="en-US" sz="1200" b="0" i="0" u="none" strike="noStrike" kern="1200" baseline="0" dirty="0" err="1">
                <a:solidFill>
                  <a:schemeClr val="tx1"/>
                </a:solidFill>
                <a:latin typeface="+mn-lt"/>
                <a:ea typeface="+mn-ea"/>
                <a:cs typeface="+mn-cs"/>
              </a:rPr>
              <a:t>Bệnh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hồ</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lưu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endParaRPr lang="en-US" sz="1200" b="0" i="0" u="none" strike="noStrike" kern="1200" baseline="0" dirty="0">
              <a:solidFill>
                <a:schemeClr val="tx1"/>
              </a:solidFill>
              <a:latin typeface="+mn-lt"/>
              <a:ea typeface="+mn-ea"/>
              <a:cs typeface="+mn-cs"/>
            </a:endParaRPr>
          </a:p>
          <a:p>
            <a:pPr marL="228600" indent="-228600">
              <a:buAutoNum type="arabicPeriod"/>
            </a:pPr>
            <a:r>
              <a:rPr lang="en-US" sz="1200" b="0" i="0" u="none" strike="noStrike" kern="1200" baseline="0" dirty="0" err="1">
                <a:solidFill>
                  <a:schemeClr val="tx1"/>
                </a:solidFill>
                <a:latin typeface="+mn-lt"/>
                <a:ea typeface="+mn-ea"/>
                <a:cs typeface="+mn-cs"/>
              </a:rPr>
              <a:t>Bác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nhiệm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điều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trị</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bệnh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endParaRPr lang="en-US" sz="1200" b="0" i="0" u="none" strike="noStrike" kern="1200" baseline="0" dirty="0">
              <a:solidFill>
                <a:schemeClr val="tx1"/>
              </a:solidFill>
              <a:latin typeface="+mn-lt"/>
              <a:ea typeface="+mn-ea"/>
              <a:cs typeface="+mn-cs"/>
            </a:endParaRPr>
          </a:p>
          <a:p>
            <a:pPr marL="228600" indent="-228600">
              <a:buAutoNum type="arabicPeriod"/>
            </a:pPr>
            <a:r>
              <a:rPr lang="en-US" sz="1200" b="0" i="0" u="none" strike="noStrike" kern="1200" baseline="0" dirty="0">
                <a:solidFill>
                  <a:schemeClr val="tx1"/>
                </a:solidFill>
                <a:latin typeface="+mn-lt"/>
                <a:ea typeface="+mn-ea"/>
                <a:cs typeface="+mn-cs"/>
              </a:rPr>
              <a:t>Y </a:t>
            </a:r>
            <a:r>
              <a:rPr lang="en-US" sz="1200" b="0" i="0" u="none" strike="noStrike" kern="1200" baseline="0" dirty="0" err="1">
                <a:solidFill>
                  <a:schemeClr val="tx1"/>
                </a:solidFill>
                <a:latin typeface="+mn-lt"/>
                <a:ea typeface="+mn-ea"/>
                <a:cs typeface="+mn-cs"/>
              </a:rPr>
              <a:t>tá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hỗ</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điều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trị</a:t>
            </a:r>
            <a:endParaRPr lang="en-US" sz="1200" b="0" i="0" u="none" strike="noStrike" kern="1200" baseline="0" dirty="0">
              <a:solidFill>
                <a:schemeClr val="tx1"/>
              </a:solidFill>
              <a:latin typeface="+mn-lt"/>
              <a:ea typeface="+mn-ea"/>
              <a:cs typeface="+mn-cs"/>
            </a:endParaRPr>
          </a:p>
          <a:p>
            <a:pPr marL="228600" indent="-228600">
              <a:buAutoNum type="arabicPeriod"/>
            </a:pP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cuộc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hẹn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bệnh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endParaRPr lang="en-US" sz="1200" b="0" i="0" u="none" strike="noStrike" kern="1200" baseline="0" dirty="0">
              <a:solidFill>
                <a:schemeClr val="tx1"/>
              </a:solidFill>
              <a:latin typeface="+mn-lt"/>
              <a:ea typeface="+mn-ea"/>
              <a:cs typeface="+mn-cs"/>
            </a:endParaRPr>
          </a:p>
          <a:p>
            <a:pPr marL="228600" indent="-228600">
              <a:buAutoNum type="arabicPeriod"/>
            </a:pP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viên</a:t>
            </a:r>
            <a:r>
              <a:rPr lang="en-US" sz="1200" b="0" i="0" u="none" strike="noStrike" kern="1200" baseline="0" dirty="0">
                <a:solidFill>
                  <a:schemeClr val="tx1"/>
                </a:solidFill>
                <a:latin typeface="+mn-lt"/>
                <a:ea typeface="+mn-ea"/>
                <a:cs typeface="+mn-cs"/>
              </a:rPr>
              <a:t> CNTT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9</a:t>
            </a:fld>
            <a:endParaRPr lang="en-US"/>
          </a:p>
        </p:txBody>
      </p:sp>
    </p:spTree>
    <p:extLst>
      <p:ext uri="{BB962C8B-B14F-4D97-AF65-F5344CB8AC3E}">
        <p14:creationId xmlns:p14="http://schemas.microsoft.com/office/powerpoint/2010/main" val="2477073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0" i="0" u="none" strike="noStrike" kern="1200" baseline="0" dirty="0">
                <a:solidFill>
                  <a:schemeClr val="tx1"/>
                </a:solidFill>
                <a:latin typeface="+mn-lt"/>
                <a:ea typeface="+mn-ea"/>
                <a:cs typeface="+mn-cs"/>
              </a:rPr>
              <a:t>6.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y </a:t>
            </a:r>
            <a:r>
              <a:rPr lang="en-US" sz="1200" b="0" i="0" u="none" strike="noStrike" kern="1200" baseline="0" dirty="0" err="1">
                <a:solidFill>
                  <a:schemeClr val="tx1"/>
                </a:solidFill>
                <a:latin typeface="+mn-lt"/>
                <a:ea typeface="+mn-ea"/>
                <a:cs typeface="+mn-cs"/>
              </a:rPr>
              <a:t>đức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đảm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đáp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điều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y </a:t>
            </a:r>
            <a:r>
              <a:rPr lang="en-US" sz="1200" b="0" i="0" u="none" strike="noStrike" kern="1200" baseline="0" dirty="0" err="1">
                <a:solidFill>
                  <a:schemeClr val="tx1"/>
                </a:solidFill>
                <a:latin typeface="+mn-lt"/>
                <a:ea typeface="+mn-ea"/>
                <a:cs typeface="+mn-cs"/>
              </a:rPr>
              <a:t>đức</a:t>
            </a:r>
            <a:endParaRPr lang="en-US" sz="1200" b="0" i="0" u="none" strike="noStrike" kern="1200" baseline="0" dirty="0">
              <a:solidFill>
                <a:schemeClr val="tx1"/>
              </a:solidFill>
              <a:latin typeface="+mn-lt"/>
              <a:ea typeface="+mn-ea"/>
              <a:cs typeface="+mn-cs"/>
            </a:endParaRPr>
          </a:p>
          <a:p>
            <a:pPr marL="0" indent="0">
              <a:buNone/>
            </a:pPr>
            <a:endParaRPr lang="en-US" sz="1200" b="0" i="0" u="none" strike="noStrike" kern="1200" baseline="0" dirty="0">
              <a:solidFill>
                <a:schemeClr val="tx1"/>
              </a:solidFill>
              <a:latin typeface="+mn-lt"/>
              <a:ea typeface="+mn-ea"/>
              <a:cs typeface="+mn-cs"/>
            </a:endParaRPr>
          </a:p>
          <a:p>
            <a:pPr marL="0" indent="0">
              <a:buNone/>
            </a:pPr>
            <a:r>
              <a:rPr lang="en-US" sz="1200" b="0" i="0" u="none" strike="noStrike" kern="1200" baseline="0" dirty="0">
                <a:solidFill>
                  <a:schemeClr val="tx1"/>
                </a:solidFill>
                <a:latin typeface="+mn-lt"/>
                <a:ea typeface="+mn-ea"/>
                <a:cs typeface="+mn-cs"/>
              </a:rPr>
              <a:t>7.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chăm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sóc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khỏe</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truy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xuất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endParaRPr lang="en-US" sz="1200" b="0" i="0" u="none" strike="noStrike" kern="1200" baseline="0" dirty="0">
              <a:solidFill>
                <a:schemeClr val="tx1"/>
              </a:solidFill>
              <a:latin typeface="+mn-lt"/>
              <a:ea typeface="+mn-ea"/>
              <a:cs typeface="+mn-cs"/>
            </a:endParaRPr>
          </a:p>
          <a:p>
            <a:pPr marL="0" indent="0">
              <a:buNone/>
            </a:pPr>
            <a:endParaRPr lang="en-US" sz="1200" b="0" i="0" u="none" strike="noStrike" kern="1200" baseline="0" dirty="0">
              <a:solidFill>
                <a:schemeClr val="tx1"/>
              </a:solidFill>
              <a:latin typeface="+mn-lt"/>
              <a:ea typeface="+mn-ea"/>
              <a:cs typeface="+mn-cs"/>
            </a:endParaRPr>
          </a:p>
          <a:p>
            <a:pPr marL="0" indent="0">
              <a:buNone/>
            </a:pPr>
            <a:r>
              <a:rPr lang="en-US" sz="1200" b="0" i="0" u="none" strike="noStrike" kern="1200" baseline="0" dirty="0">
                <a:solidFill>
                  <a:schemeClr val="tx1"/>
                </a:solidFill>
                <a:latin typeface="+mn-lt"/>
                <a:ea typeface="+mn-ea"/>
                <a:cs typeface="+mn-cs"/>
              </a:rPr>
              <a:t>8.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hồ</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bệnh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nhiệm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đảm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nhật</a:t>
            </a:r>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10</a:t>
            </a:fld>
            <a:endParaRPr lang="en-US"/>
          </a:p>
        </p:txBody>
      </p:sp>
    </p:spTree>
    <p:extLst>
      <p:ext uri="{BB962C8B-B14F-4D97-AF65-F5344CB8AC3E}">
        <p14:creationId xmlns:p14="http://schemas.microsoft.com/office/powerpoint/2010/main" val="2301296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Như</a:t>
            </a:r>
            <a:r>
              <a:rPr lang="en-US" dirty="0"/>
              <a:t> </a:t>
            </a:r>
            <a:r>
              <a:rPr lang="en-US" dirty="0" err="1"/>
              <a:t>đã</a:t>
            </a:r>
            <a:r>
              <a:rPr lang="en-US" baseline="0" dirty="0"/>
              <a:t> </a:t>
            </a:r>
            <a:r>
              <a:rPr lang="en-US" baseline="0" dirty="0" err="1"/>
              <a:t>đề</a:t>
            </a:r>
            <a:r>
              <a:rPr lang="en-US" baseline="0" dirty="0"/>
              <a:t> </a:t>
            </a:r>
            <a:r>
              <a:rPr lang="en-US" baseline="0" dirty="0" err="1"/>
              <a:t>cập</a:t>
            </a:r>
            <a:r>
              <a:rPr lang="en-US" baseline="0" dirty="0"/>
              <a:t> ở </a:t>
            </a:r>
            <a:r>
              <a:rPr lang="en-US" baseline="0" dirty="0" err="1"/>
              <a:t>trước</a:t>
            </a:r>
            <a:r>
              <a:rPr lang="en-US" baseline="0" dirty="0"/>
              <a:t>, </a:t>
            </a:r>
            <a:r>
              <a:rPr lang="en-US" baseline="0" dirty="0" err="1"/>
              <a:t>h</a:t>
            </a:r>
            <a:r>
              <a:rPr lang="en-US" dirty="0" err="1"/>
              <a:t>oạt</a:t>
            </a:r>
            <a:r>
              <a:rPr lang="en-US" baseline="0" dirty="0"/>
              <a:t> </a:t>
            </a:r>
            <a:r>
              <a:rPr lang="en-US" baseline="0" dirty="0" err="1"/>
              <a:t>động</a:t>
            </a:r>
            <a:r>
              <a:rPr lang="en-US" baseline="0" dirty="0"/>
              <a:t> </a:t>
            </a:r>
            <a:r>
              <a:rPr lang="en-US" baseline="0" dirty="0" err="1"/>
              <a:t>khám</a:t>
            </a:r>
            <a:r>
              <a:rPr lang="en-US" baseline="0" dirty="0"/>
              <a:t> </a:t>
            </a:r>
            <a:r>
              <a:rPr lang="en-US" baseline="0" dirty="0" err="1"/>
              <a:t>phá</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thực</a:t>
            </a:r>
            <a:r>
              <a:rPr lang="en-US" baseline="0" dirty="0"/>
              <a:t> </a:t>
            </a:r>
            <a:r>
              <a:rPr lang="en-US" baseline="0" dirty="0" err="1"/>
              <a:t>tế</a:t>
            </a:r>
            <a:r>
              <a:rPr lang="en-US" baseline="0" dirty="0"/>
              <a:t> </a:t>
            </a:r>
            <a:r>
              <a:rPr lang="en-US" baseline="0" dirty="0" err="1"/>
              <a:t>gặp</a:t>
            </a:r>
            <a:r>
              <a:rPr lang="en-US" baseline="0" dirty="0"/>
              <a:t> </a:t>
            </a:r>
            <a:r>
              <a:rPr lang="en-US" baseline="0" dirty="0" err="1"/>
              <a:t>rất</a:t>
            </a:r>
            <a:r>
              <a:rPr lang="en-US" baseline="0" dirty="0"/>
              <a:t> </a:t>
            </a:r>
            <a:r>
              <a:rPr lang="en-US" baseline="0" dirty="0" err="1"/>
              <a:t>nhiều</a:t>
            </a:r>
            <a:r>
              <a:rPr lang="en-US" baseline="0" dirty="0"/>
              <a:t> </a:t>
            </a:r>
            <a:r>
              <a:rPr lang="en-US" baseline="0" dirty="0" err="1"/>
              <a:t>khó</a:t>
            </a:r>
            <a:r>
              <a:rPr lang="en-US" baseline="0" dirty="0"/>
              <a:t> </a:t>
            </a:r>
            <a:r>
              <a:rPr lang="en-US" baseline="0" dirty="0" err="1"/>
              <a:t>khăn</a:t>
            </a:r>
            <a:r>
              <a:rPr lang="en-US" baseline="0" dirty="0"/>
              <a:t>. </a:t>
            </a:r>
            <a:r>
              <a:rPr lang="en-US" baseline="0" dirty="0" err="1"/>
              <a:t>Một</a:t>
            </a:r>
            <a:r>
              <a:rPr lang="en-US" baseline="0" dirty="0"/>
              <a:t> </a:t>
            </a:r>
            <a:r>
              <a:rPr lang="en-US" baseline="0" dirty="0" err="1"/>
              <a:t>số</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dùng</a:t>
            </a:r>
            <a:r>
              <a:rPr lang="en-US" baseline="0" dirty="0"/>
              <a:t> </a:t>
            </a:r>
            <a:r>
              <a:rPr lang="en-US" baseline="0" dirty="0" err="1"/>
              <a:t>để</a:t>
            </a:r>
            <a:r>
              <a:rPr lang="en-US" baseline="0" dirty="0"/>
              <a:t> </a:t>
            </a:r>
            <a:r>
              <a:rPr lang="en-US" baseline="0" dirty="0" err="1"/>
              <a:t>hỗ</a:t>
            </a:r>
            <a:r>
              <a:rPr lang="en-US" baseline="0" dirty="0"/>
              <a:t> </a:t>
            </a:r>
            <a:r>
              <a:rPr lang="en-US" baseline="0" dirty="0" err="1"/>
              <a:t>trợ</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này</a:t>
            </a:r>
            <a:r>
              <a:rPr lang="en-US" baseline="0" dirty="0"/>
              <a:t>.</a:t>
            </a:r>
          </a:p>
          <a:p>
            <a:r>
              <a:rPr lang="en-US" baseline="0" dirty="0" err="1"/>
              <a:t>Đó</a:t>
            </a:r>
            <a:r>
              <a:rPr lang="en-US" baseline="0" dirty="0"/>
              <a:t> </a:t>
            </a:r>
            <a:r>
              <a:rPr lang="en-US" baseline="0" dirty="0" err="1"/>
              <a:t>là</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phỏng</a:t>
            </a:r>
            <a:r>
              <a:rPr lang="en-US" baseline="0" dirty="0"/>
              <a:t> </a:t>
            </a:r>
            <a:r>
              <a:rPr lang="en-US" baseline="0" dirty="0" err="1"/>
              <a:t>vấn</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trong</a:t>
            </a:r>
            <a:r>
              <a:rPr lang="en-US" baseline="0" dirty="0"/>
              <a:t> </a:t>
            </a:r>
            <a:r>
              <a:rPr lang="en-US" sz="1200" b="0" strike="noStrike" spc="-1" dirty="0" err="1">
                <a:solidFill>
                  <a:srgbClr val="000000"/>
                </a:solidFill>
                <a:uFill>
                  <a:solidFill>
                    <a:srgbClr val="FFFFFF"/>
                  </a:solidFill>
                </a:uFill>
                <a:latin typeface="+mn-lt"/>
                <a:ea typeface="DejaVu Sans"/>
              </a:rPr>
              <a:t>tương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tác</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với</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các</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bên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liên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quan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để</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thu</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thập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thông</a:t>
            </a:r>
            <a:r>
              <a:rPr lang="en-US" sz="1200" b="0" strike="noStrike" spc="-1" dirty="0">
                <a:solidFill>
                  <a:srgbClr val="000000"/>
                </a:solidFill>
                <a:uFill>
                  <a:solidFill>
                    <a:srgbClr val="FFFFFF"/>
                  </a:solidFill>
                </a:uFill>
                <a:latin typeface="+mn-lt"/>
                <a:ea typeface="DejaVu Sans"/>
              </a:rPr>
              <a:t> tin. </a:t>
            </a:r>
            <a:r>
              <a:rPr lang="en-US" sz="1200" b="0" strike="noStrike" spc="-1" dirty="0" err="1">
                <a:solidFill>
                  <a:srgbClr val="000000"/>
                </a:solidFill>
                <a:uFill>
                  <a:solidFill>
                    <a:srgbClr val="FFFFFF"/>
                  </a:solidFill>
                </a:uFill>
                <a:latin typeface="+mn-lt"/>
                <a:ea typeface="DejaVu Sans"/>
              </a:rPr>
              <a:t>Kỹ</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thuật</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dùng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các</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kịch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bản</a:t>
            </a:r>
            <a:r>
              <a:rPr lang="en-US" sz="1200" b="0" strike="noStrike" spc="-1" dirty="0">
                <a:solidFill>
                  <a:srgbClr val="000000"/>
                </a:solidFill>
                <a:uFill>
                  <a:solidFill>
                    <a:srgbClr val="FFFFFF"/>
                  </a:solidFill>
                </a:uFill>
                <a:latin typeface="+mn-lt"/>
                <a:ea typeface="DejaVu Sans"/>
              </a:rPr>
              <a:t> </a:t>
            </a:r>
            <a:r>
              <a:rPr lang="en-US" sz="1100" b="0" strike="noStrike" spc="-1" dirty="0">
                <a:solidFill>
                  <a:srgbClr val="000000"/>
                </a:solidFill>
                <a:uFill>
                  <a:solidFill>
                    <a:srgbClr val="FFFFFF"/>
                  </a:solidFill>
                </a:uFill>
                <a:latin typeface="+mn-lt"/>
                <a:ea typeface="DejaVu Sans"/>
              </a:rPr>
              <a:t>(scenarios)</a:t>
            </a:r>
            <a:r>
              <a:rPr lang="en-US" sz="1200" b="0" strike="noStrike" spc="-1" baseline="0" dirty="0">
                <a:solidFill>
                  <a:srgbClr val="000000"/>
                </a:solidFill>
                <a:uFill>
                  <a:solidFill>
                    <a:srgbClr val="FFFFFF"/>
                  </a:solidFill>
                </a:uFill>
                <a:latin typeface="+mn-lt"/>
                <a:ea typeface="DejaVu Sans"/>
              </a:rPr>
              <a:t> ở </a:t>
            </a:r>
            <a:r>
              <a:rPr lang="en-US" sz="1200" b="0" strike="noStrike" spc="-1" baseline="0" dirty="0" err="1">
                <a:solidFill>
                  <a:srgbClr val="000000"/>
                </a:solidFill>
                <a:uFill>
                  <a:solidFill>
                    <a:srgbClr val="FFFFFF"/>
                  </a:solidFill>
                </a:uFill>
                <a:latin typeface="+mn-lt"/>
                <a:ea typeface="DejaVu Sans"/>
              </a:rPr>
              <a:t>dạng</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các</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ví</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dụ</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cụ</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thể</a:t>
            </a:r>
            <a:r>
              <a:rPr lang="en-US" sz="1200" b="0" strike="noStrike" spc="-1" baseline="0"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để</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thu</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thập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và</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phân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tích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yêu</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cầu</a:t>
            </a:r>
            <a:r>
              <a:rPr lang="en-US" sz="1200" b="0" strike="noStrike" spc="-1" baseline="0"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Kỹ</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thuật</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nghiên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cứu</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nhân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học</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được</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dùng</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để</a:t>
            </a:r>
            <a:r>
              <a:rPr lang="en-US" sz="1200" b="0" strike="noStrike" spc="-1" baseline="0"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quan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sát</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và</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phân</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tích</a:t>
            </a:r>
            <a:r>
              <a:rPr lang="en-US" sz="1200" b="0" strike="noStrike" spc="-1" baseline="0" dirty="0">
                <a:solidFill>
                  <a:srgbClr val="000000"/>
                </a:solidFill>
                <a:uFill>
                  <a:solidFill>
                    <a:srgbClr val="FFFFFF"/>
                  </a:solidFill>
                </a:uFill>
                <a:latin typeface="+mn-lt"/>
                <a:ea typeface="DejaVu Sans"/>
              </a:rPr>
              <a:t> </a:t>
            </a:r>
            <a:r>
              <a:rPr lang="en-US" sz="1200" b="0" strike="noStrike" spc="-1" baseline="0" dirty="0" err="1">
                <a:solidFill>
                  <a:srgbClr val="000000"/>
                </a:solidFill>
                <a:uFill>
                  <a:solidFill>
                    <a:srgbClr val="FFFFFF"/>
                  </a:solidFill>
                </a:uFill>
                <a:latin typeface="+mn-lt"/>
                <a:ea typeface="DejaVu Sans"/>
              </a:rPr>
              <a:t>các</a:t>
            </a:r>
            <a:r>
              <a:rPr lang="en-US" sz="1200" b="0" strike="noStrike" spc="-1" baseline="0"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hoạt</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động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nghiệp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vụ</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trong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thực</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tế</a:t>
            </a:r>
            <a:r>
              <a:rPr lang="en-US" sz="1200" b="0" strike="noStrike" spc="-1" dirty="0">
                <a:solidFill>
                  <a:srgbClr val="000000"/>
                </a:solidFill>
                <a:uFill>
                  <a:solidFill>
                    <a:srgbClr val="FFFFFF"/>
                  </a:solidFill>
                </a:uFill>
                <a:latin typeface="+mn-lt"/>
                <a:ea typeface="DejaVu Sans"/>
              </a:rPr>
              <a:t>.</a:t>
            </a:r>
            <a:endParaRPr lang="en-US" sz="1200" b="0" strike="noStrike" spc="-1" dirty="0">
              <a:solidFill>
                <a:srgbClr val="000000"/>
              </a:solidFill>
              <a:uFill>
                <a:solidFill>
                  <a:srgbClr val="FFFFFF"/>
                </a:solidFill>
              </a:uFill>
              <a:latin typeface="Arial"/>
            </a:endParaRPr>
          </a:p>
          <a:p>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11</a:t>
            </a:fld>
            <a:endParaRPr lang="en-US"/>
          </a:p>
        </p:txBody>
      </p:sp>
    </p:spTree>
    <p:extLst>
      <p:ext uri="{BB962C8B-B14F-4D97-AF65-F5344CB8AC3E}">
        <p14:creationId xmlns:p14="http://schemas.microsoft.com/office/powerpoint/2010/main" val="1875017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cuộc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phỏng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hay phi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thiếu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p>
          <a:p>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cuộc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phỏng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câu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hỏi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cũng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như</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a:t>
            </a:r>
          </a:p>
          <a:p>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dựa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câu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Phỏng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hai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pPr marL="0" indent="0">
              <a:buNone/>
            </a:pPr>
            <a:r>
              <a:rPr lang="en-US" sz="1200" b="0" i="0" u="none" strike="noStrike" kern="1200" baseline="0" dirty="0">
                <a:solidFill>
                  <a:schemeClr val="tx1"/>
                </a:solidFill>
                <a:latin typeface="+mn-lt"/>
                <a:ea typeface="+mn-ea"/>
                <a:cs typeface="+mn-cs"/>
              </a:rPr>
              <a:t>1. </a:t>
            </a:r>
            <a:r>
              <a:rPr lang="en-US" sz="1200" b="0" i="0" u="none" strike="noStrike" kern="1200" baseline="0" dirty="0" err="1">
                <a:solidFill>
                  <a:schemeClr val="tx1"/>
                </a:solidFill>
                <a:latin typeface="+mn-lt"/>
                <a:ea typeface="+mn-ea"/>
                <a:cs typeface="+mn-cs"/>
              </a:rPr>
              <a:t>Phỏng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câu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hỏi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chuẩn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bị</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xác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trước</a:t>
            </a:r>
            <a:r>
              <a:rPr lang="en-US" sz="1200" b="0" i="0" u="none" strike="noStrike" kern="1200" baseline="0" dirty="0">
                <a:solidFill>
                  <a:schemeClr val="tx1"/>
                </a:solidFill>
                <a:latin typeface="+mn-lt"/>
                <a:ea typeface="+mn-ea"/>
                <a:cs typeface="+mn-cs"/>
              </a:rPr>
              <a:t>.</a:t>
            </a:r>
          </a:p>
          <a:p>
            <a:pPr marL="0" indent="0">
              <a:buNone/>
            </a:pPr>
            <a:endParaRPr lang="en-US" sz="1200" b="0" i="0" u="none" strike="noStrike" kern="1200" baseline="0" dirty="0">
              <a:solidFill>
                <a:schemeClr val="tx1"/>
              </a:solidFill>
              <a:latin typeface="+mn-lt"/>
              <a:ea typeface="+mn-ea"/>
              <a:cs typeface="+mn-cs"/>
            </a:endParaRPr>
          </a:p>
          <a:p>
            <a:pPr marL="0" indent="0">
              <a:buNone/>
            </a:pPr>
            <a:r>
              <a:rPr lang="en-US" sz="1200" b="0" i="0" u="none" strike="noStrike" kern="1200" baseline="0" dirty="0">
                <a:solidFill>
                  <a:schemeClr val="tx1"/>
                </a:solidFill>
                <a:latin typeface="+mn-lt"/>
                <a:ea typeface="+mn-ea"/>
                <a:cs typeface="+mn-cs"/>
              </a:rPr>
              <a:t>2. </a:t>
            </a:r>
            <a:r>
              <a:rPr lang="en-US" sz="1200" b="0" i="0" u="none" strike="noStrike" kern="1200" baseline="0" dirty="0" err="1">
                <a:solidFill>
                  <a:schemeClr val="tx1"/>
                </a:solidFill>
                <a:latin typeface="+mn-lt"/>
                <a:ea typeface="+mn-ea"/>
                <a:cs typeface="+mn-cs"/>
              </a:rPr>
              <a:t>Phỏng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mở</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chuẩn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bị</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trước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nội</a:t>
            </a:r>
            <a:r>
              <a:rPr lang="en-US" sz="1200" b="0" i="0" u="none" strike="noStrike" kern="1200" baseline="0" dirty="0">
                <a:solidFill>
                  <a:schemeClr val="tx1"/>
                </a:solidFill>
                <a:latin typeface="+mn-lt"/>
                <a:ea typeface="+mn-ea"/>
                <a:cs typeface="+mn-cs"/>
              </a:rPr>
              <a:t> dung </a:t>
            </a:r>
            <a:r>
              <a:rPr lang="en-US" sz="1200" b="0" i="0" u="none" strike="noStrike" kern="1200" baseline="0" dirty="0" err="1">
                <a:solidFill>
                  <a:schemeClr val="tx1"/>
                </a:solidFill>
                <a:latin typeface="+mn-lt"/>
                <a:ea typeface="+mn-ea"/>
                <a:cs typeface="+mn-cs"/>
              </a:rPr>
              <a:t>câu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hỏi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vi-VN" sz="1200" b="0" i="0" u="none" strike="noStrike" kern="1200" baseline="0" dirty="0">
                <a:solidFill>
                  <a:schemeClr val="tx1"/>
                </a:solidFill>
                <a:latin typeface="+mn-lt"/>
                <a:ea typeface="+mn-ea"/>
                <a:cs typeface="+mn-cs"/>
              </a:rPr>
              <a:t> sẽ đưa ra các câu hỏi dựa trên tình huống thực tế, để qua đó củng cố và hiểu tốt hơn các nhu cầu của các bên liên quan, đồng thời làm rõ các yêu cầu của hệ thống.</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12</a:t>
            </a:fld>
            <a:endParaRPr lang="en-US"/>
          </a:p>
        </p:txBody>
      </p:sp>
    </p:spTree>
    <p:extLst>
      <p:ext uri="{BB962C8B-B14F-4D97-AF65-F5344CB8AC3E}">
        <p14:creationId xmlns:p14="http://schemas.microsoft.com/office/powerpoint/2010/main" val="3442021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baseline="0" dirty="0">
                <a:solidFill>
                  <a:schemeClr val="tx1"/>
                </a:solidFill>
                <a:latin typeface="+mn-lt"/>
                <a:ea typeface="+mn-ea"/>
                <a:cs typeface="+mn-cs"/>
              </a:rPr>
              <a:t>Trong thực hành, các cuộc phỏng vấn với các bên liên quan thường được diễn ra ở dạng kết hợp đóng và mở. Đội kỹ nghệ yêu cầu lúc đầu có thể thu được các câu trả lời dựa trên các câu hỏi xác định trước, nhưng tiếp sau đó thường phát sinh các chủ đề khác. Quá trình hỏi đáp sẽ diễn ra theo một cách tự do và ít cấu trúc hơn. Người phỏng vấn thường phải chủ động đặt các câu hỏi để khởi động cuộc phỏng vấn cũng như để giữ cho cuộc phỏng vấn tập trung vào hệ thống được phát triển.</a:t>
            </a:r>
          </a:p>
          <a:p>
            <a:endParaRPr lang="vi-V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t>
            </a:r>
            <a:r>
              <a:rPr lang="vi-VN" sz="1200" b="0" i="0" u="none" strike="noStrike" kern="1200" baseline="0" dirty="0">
                <a:solidFill>
                  <a:schemeClr val="tx1"/>
                </a:solidFill>
                <a:latin typeface="+mn-lt"/>
                <a:ea typeface="+mn-ea"/>
                <a:cs typeface="+mn-cs"/>
              </a:rPr>
              <a:t>hỏng vấn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phép</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hiểu biết tổng thể về những gì các bên liên quan làm, cách họ có thể tương tác với hệ thống mới và những khó khăn mà họ gặp phải hệ thống hiện tại. Mọi người thích nói về công việc của họ nên thường rất vui khi được tham gia phỏng vấn. Tuy nhiên, các cuộc phỏng vấn thường không hữu ích trong việc hiểu yêu cầu từ miền ứng dụng. Khó để gợi ra các kiến thức về miền thông qua các cuộc phỏng vấn vì hai lý do sau:</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1. Tất cả các chuyên gia ứng dụng đều sử dụng thuật ngữ và thuật ngữ cụ thể cho miền. Họ không thể thảo luận các yêu cầu miền </a:t>
            </a:r>
            <a:r>
              <a:rPr lang="en-US" sz="1200" b="0" i="0" u="none" strike="noStrike" kern="1200" baseline="0" dirty="0" err="1">
                <a:solidFill>
                  <a:schemeClr val="tx1"/>
                </a:solidFill>
                <a:latin typeface="+mn-lt"/>
                <a:ea typeface="+mn-ea"/>
                <a:cs typeface="+mn-cs"/>
              </a:rPr>
              <a:t>nếu</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không sử dụng</a:t>
            </a:r>
          </a:p>
          <a:p>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thuật ngữ này. </a:t>
            </a:r>
            <a:r>
              <a:rPr lang="en-US" sz="1200" b="0" i="0" u="none" strike="noStrike" kern="1200" baseline="0" dirty="0" err="1">
                <a:solidFill>
                  <a:schemeClr val="tx1"/>
                </a:solidFill>
                <a:latin typeface="+mn-lt"/>
                <a:ea typeface="+mn-ea"/>
                <a:cs typeface="+mn-cs"/>
              </a:rPr>
              <a:t>Việc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sử dụng thuật ngữ một cách chính xác và tinh tế dễ </a:t>
            </a:r>
            <a:r>
              <a:rPr lang="en-US" sz="1200" b="0" i="0" u="none" strike="noStrike" kern="1200" baseline="0" dirty="0" err="1">
                <a:solidFill>
                  <a:schemeClr val="tx1"/>
                </a:solidFill>
                <a:latin typeface="+mn-lt"/>
                <a:ea typeface="+mn-ea"/>
                <a:cs typeface="+mn-cs"/>
              </a:rPr>
              <a:t>gây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các kỹ sư yêu cầu hiểu sai.</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2. Một số kiến thức về miền rất quen thuộc với các bên liên quan mà họ tìm thấy khó giải thích hoặc họ nghĩ nó rất cơ bản đến mức không đáng nói đến.</a:t>
            </a:r>
          </a:p>
          <a:p>
            <a:r>
              <a:rPr lang="vi-VN" sz="1200" b="0" i="0" u="none" strike="noStrike" kern="1200" baseline="0" dirty="0">
                <a:solidFill>
                  <a:schemeClr val="tx1"/>
                </a:solidFill>
                <a:latin typeface="+mn-lt"/>
                <a:ea typeface="+mn-ea"/>
                <a:cs typeface="+mn-cs"/>
              </a:rPr>
              <a:t>Ví dụ, đối với một thủ thư, không cần </a:t>
            </a:r>
            <a:r>
              <a:rPr lang="en-US" sz="1200" b="0" i="0" u="none" strike="noStrike" kern="1200" baseline="0" dirty="0" err="1">
                <a:solidFill>
                  <a:schemeClr val="tx1"/>
                </a:solidFill>
                <a:latin typeface="+mn-lt"/>
                <a:ea typeface="+mn-ea"/>
                <a:cs typeface="+mn-cs"/>
              </a:rPr>
              <a:t>chỉ</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rằng tất cả các tài liệu mới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sắp</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xếp mục lục trước khi được </a:t>
            </a:r>
            <a:r>
              <a:rPr lang="en-US" sz="1200" b="0" i="0" u="none" strike="noStrike" kern="1200" baseline="0" dirty="0" err="1">
                <a:solidFill>
                  <a:schemeClr val="tx1"/>
                </a:solidFill>
                <a:latin typeface="+mn-lt"/>
                <a:ea typeface="+mn-ea"/>
                <a:cs typeface="+mn-cs"/>
              </a:rPr>
              <a:t>bổ</a:t>
            </a:r>
            <a:r>
              <a:rPr lang="en-US" sz="1200" b="0" i="0" u="none" strike="noStrike" kern="1200" baseline="0" dirty="0">
                <a:solidFill>
                  <a:schemeClr val="tx1"/>
                </a:solidFill>
                <a:latin typeface="+mn-lt"/>
                <a:ea typeface="+mn-ea"/>
                <a:cs typeface="+mn-cs"/>
              </a:rPr>
              <a:t> sung </a:t>
            </a:r>
            <a:r>
              <a:rPr lang="vi-VN" sz="1200" b="0" i="0" u="none" strike="noStrike" kern="1200" baseline="0" dirty="0">
                <a:solidFill>
                  <a:schemeClr val="tx1"/>
                </a:solidFill>
                <a:latin typeface="+mn-lt"/>
                <a:ea typeface="+mn-ea"/>
                <a:cs typeface="+mn-cs"/>
              </a:rPr>
              <a:t>vào thư viện. Tuy nhiên, điều này có thể không rõ ràng cho người phỏng vấn và do đó, nó không được tính đến trong các yêu cầu.</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Các cuộc phỏng vấn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không phải là một kỹ thuật hiệu quả để đạt được các kiến thức về yêu cầu và ràng buộc tổ chức bởi vì có các mối quan hệ quyền lực tinh tế giữa những người khác nhau trong tổ chức. Cấu trúc tổ chức được công khai hiếm khi phù hợp với thực tế trong việc đưa ra quyết định trong một tổ chức, nhưng người được phỏng vấn có thể không muốn tiết lộ thực tế này cho người lạ. Nói chung, hầu hết mọi người thường miễn cưỡng thảo luận về chính trị và tổ chức, các vấn đề có thể ảnh hưởng đến các yêu cầu.</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13</a:t>
            </a:fld>
            <a:endParaRPr lang="en-US"/>
          </a:p>
        </p:txBody>
      </p:sp>
    </p:spTree>
    <p:extLst>
      <p:ext uri="{BB962C8B-B14F-4D97-AF65-F5344CB8AC3E}">
        <p14:creationId xmlns:p14="http://schemas.microsoft.com/office/powerpoint/2010/main" val="1149584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baseline="0" dirty="0">
                <a:solidFill>
                  <a:schemeClr val="tx1"/>
                </a:solidFill>
                <a:latin typeface="+mn-lt"/>
                <a:ea typeface="+mn-ea"/>
                <a:cs typeface="+mn-cs"/>
              </a:rPr>
              <a:t>Mọi người thường thấy dễ hình dùng hơn và dễ hiểu hơn với các diễn đạt sử dụng các ví dụ thực tế thay vì các mô tả trừu tượng. Họ có thể hiểu và đánh giá một kịch bản về cách họ tương tác với hệ thống phần mềm. Kỹ sư yêu cầu có thể sử dụng thông tin thu được từ cuộc thảo luận này để xây dựng các yêu cầu hệ thống thực tế. Các kịch bản có thể đặc biệt hữu ích trong việc bổ sung chi tiết cho bản phác thảo yêu 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bởi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kịch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phép</a:t>
            </a:r>
            <a:r>
              <a:rPr lang="en-US" sz="1200" b="0" i="0" u="none" strike="noStrike" kern="1200" baseline="0" dirty="0">
                <a:solidFill>
                  <a:schemeClr val="tx1"/>
                </a:solidFill>
                <a:latin typeface="+mn-lt"/>
                <a:ea typeface="+mn-ea"/>
                <a:cs typeface="+mn-cs"/>
              </a:rPr>
              <a:t> d</a:t>
            </a:r>
            <a:r>
              <a:rPr lang="vi-VN" sz="1200" b="0" i="0" u="none" strike="noStrike" kern="1200" baseline="0" dirty="0">
                <a:solidFill>
                  <a:schemeClr val="tx1"/>
                </a:solidFill>
                <a:latin typeface="+mn-lt"/>
                <a:ea typeface="+mn-ea"/>
                <a:cs typeface="+mn-cs"/>
              </a:rPr>
              <a:t>iễn đạt các ví dụ cũng như các tình huống có thể của các phiên tương tác. </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Một kịch bản bắt đầu với một phác thảo về sự tương tác. Trong quá trình thu thập yêu cầu, các chi tiết được thêm vào để hình thành bản mô tả đầy đủ về các tương tác. Một kịch bản thường được tổ chức theo các nội dung sau:</a:t>
            </a:r>
          </a:p>
          <a:p>
            <a:endParaRPr lang="vi-VN" sz="1200" b="0" i="0" u="none" strike="noStrike" kern="1200" baseline="0" dirty="0">
              <a:solidFill>
                <a:schemeClr val="tx1"/>
              </a:solidFill>
              <a:latin typeface="+mn-lt"/>
              <a:ea typeface="+mn-ea"/>
              <a:cs typeface="+mn-cs"/>
            </a:endParaRPr>
          </a:p>
          <a:p>
            <a:pPr marL="228600" indent="-228600">
              <a:buAutoNum type="arabicPeriod"/>
            </a:pPr>
            <a:r>
              <a:rPr lang="vi-VN" sz="1200" b="0" i="0" u="none" strike="noStrike" kern="1200" baseline="0" dirty="0">
                <a:solidFill>
                  <a:schemeClr val="tx1"/>
                </a:solidFill>
                <a:latin typeface="+mn-lt"/>
                <a:ea typeface="+mn-ea"/>
                <a:cs typeface="+mn-cs"/>
              </a:rPr>
              <a:t>Mô tả về những gì hệ thống và người dùng mong đợi khi kịch bản bắt đầu.</a:t>
            </a:r>
          </a:p>
          <a:p>
            <a:pPr marL="228600" indent="-228600">
              <a:buAutoNum type="arabicPeriod"/>
            </a:pPr>
            <a:r>
              <a:rPr lang="vi-VN" sz="1200" b="0" i="0" u="none" strike="noStrike" kern="1200" baseline="0" dirty="0">
                <a:solidFill>
                  <a:schemeClr val="tx1"/>
                </a:solidFill>
                <a:latin typeface="+mn-lt"/>
                <a:ea typeface="+mn-ea"/>
                <a:cs typeface="+mn-cs"/>
              </a:rPr>
              <a:t>Mô tả dòng các sự kiện trong kịch bản.</a:t>
            </a:r>
          </a:p>
          <a:p>
            <a:pPr marL="228600" indent="-228600">
              <a:buAutoNum type="arabicPeriod"/>
            </a:pPr>
            <a:r>
              <a:rPr lang="vi-VN" sz="1200" b="0" i="0" u="none" strike="noStrike" kern="1200" baseline="0" dirty="0">
                <a:solidFill>
                  <a:schemeClr val="tx1"/>
                </a:solidFill>
                <a:latin typeface="+mn-lt"/>
                <a:ea typeface="+mn-ea"/>
                <a:cs typeface="+mn-cs"/>
              </a:rPr>
              <a:t>Mô tả về những gì có thể đi sai và cách xử lý tương ứng.</a:t>
            </a:r>
          </a:p>
          <a:p>
            <a:pPr marL="228600" indent="-228600">
              <a:buAutoNum type="arabicPeriod"/>
            </a:pPr>
            <a:r>
              <a:rPr lang="vi-VN" sz="1200" b="0" i="0" u="none" strike="noStrike" kern="1200" baseline="0" dirty="0">
                <a:solidFill>
                  <a:schemeClr val="tx1"/>
                </a:solidFill>
                <a:latin typeface="+mn-lt"/>
                <a:ea typeface="+mn-ea"/>
                <a:cs typeface="+mn-cs"/>
              </a:rPr>
              <a:t>Mô tả thông tin về các hoạt động khác có thể xảy ra cùng một lúc.</a:t>
            </a:r>
          </a:p>
          <a:p>
            <a:pPr marL="228600" indent="-228600">
              <a:buAutoNum type="arabicPeriod"/>
            </a:pPr>
            <a:r>
              <a:rPr lang="vi-VN" sz="1200" b="0" i="0" u="none" strike="noStrike" kern="1200" baseline="0" dirty="0">
                <a:solidFill>
                  <a:schemeClr val="tx1"/>
                </a:solidFill>
                <a:latin typeface="+mn-lt"/>
                <a:ea typeface="+mn-ea"/>
                <a:cs typeface="+mn-cs"/>
              </a:rPr>
              <a:t>Mô tả trạng thái hệ thống khi kịch bản kết thúc.</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14</a:t>
            </a:fld>
            <a:endParaRPr lang="en-US"/>
          </a:p>
        </p:txBody>
      </p:sp>
    </p:spTree>
    <p:extLst>
      <p:ext uri="{BB962C8B-B14F-4D97-AF65-F5344CB8AC3E}">
        <p14:creationId xmlns:p14="http://schemas.microsoft.com/office/powerpoint/2010/main" val="177928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440" algn="just">
              <a:lnSpc>
                <a:spcPct val="100000"/>
              </a:lnSpc>
              <a:spcBef>
                <a:spcPts val="601"/>
              </a:spcBef>
              <a:buClr>
                <a:srgbClr val="000000"/>
              </a:buClr>
            </a:pPr>
            <a:r>
              <a:rPr lang="vi-VN" sz="1200" spc="-1" dirty="0">
                <a:solidFill>
                  <a:srgbClr val="000000"/>
                </a:solidFill>
                <a:uFill>
                  <a:solidFill>
                    <a:srgbClr val="FFFFFF"/>
                  </a:solidFill>
                </a:uFill>
                <a:latin typeface="+mn-lt"/>
              </a:rPr>
              <a:t>Sau đây</a:t>
            </a:r>
            <a:r>
              <a:rPr lang="vi-VN" sz="1200" spc="-1" baseline="0" dirty="0">
                <a:solidFill>
                  <a:srgbClr val="000000"/>
                </a:solidFill>
                <a:uFill>
                  <a:solidFill>
                    <a:srgbClr val="FFFFFF"/>
                  </a:solidFill>
                </a:uFill>
                <a:latin typeface="+mn-lt"/>
              </a:rPr>
              <a:t> là một kịch bản </a:t>
            </a:r>
            <a:r>
              <a:rPr lang="en-US" sz="1200" b="0" strike="noStrike" spc="-1" dirty="0" err="1">
                <a:solidFill>
                  <a:srgbClr val="000000"/>
                </a:solidFill>
                <a:uFill>
                  <a:solidFill>
                    <a:srgbClr val="FFFFFF"/>
                  </a:solidFill>
                </a:uFill>
                <a:latin typeface="+mn-lt"/>
                <a:ea typeface="DejaVu Sans"/>
              </a:rPr>
              <a:t>Cập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nhật</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lịch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sử</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bệnh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án</a:t>
            </a:r>
            <a:r>
              <a:rPr lang="vi-VN" sz="1200" b="0" strike="noStrike" spc="-1" dirty="0">
                <a:solidFill>
                  <a:srgbClr val="000000"/>
                </a:solidFill>
                <a:uFill>
                  <a:solidFill>
                    <a:srgbClr val="FFFFFF"/>
                  </a:solidFill>
                </a:uFill>
                <a:latin typeface="+mn-lt"/>
                <a:ea typeface="DejaVu Sans"/>
              </a:rPr>
              <a:t> trong </a:t>
            </a:r>
            <a:r>
              <a:rPr lang="en-US" sz="1200" spc="-1" dirty="0" err="1">
                <a:solidFill>
                  <a:srgbClr val="000000"/>
                </a:solidFill>
                <a:uFill>
                  <a:solidFill>
                    <a:srgbClr val="FFFFFF"/>
                  </a:solidFill>
                </a:uFill>
                <a:latin typeface="+mn-lt"/>
              </a:rPr>
              <a:t>Hệ</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thống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quản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lý</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phòng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khám</a:t>
            </a:r>
            <a:r>
              <a:rPr lang="vi-VN" sz="1200" spc="-1" dirty="0">
                <a:solidFill>
                  <a:srgbClr val="000000"/>
                </a:solidFill>
                <a:uFill>
                  <a:solidFill>
                    <a:srgbClr val="FFFFFF"/>
                  </a:solidFill>
                </a:uFill>
                <a:latin typeface="+mn-lt"/>
              </a:rPr>
              <a:t>:</a:t>
            </a:r>
            <a:endParaRPr lang="en-US" sz="1200" b="0" strike="noStrike" spc="-1" dirty="0">
              <a:solidFill>
                <a:srgbClr val="000000"/>
              </a:solidFill>
              <a:uFill>
                <a:solidFill>
                  <a:srgbClr val="FFFFFF"/>
                </a:solidFill>
              </a:uFill>
              <a:latin typeface="Arial"/>
            </a:endParaRPr>
          </a:p>
          <a:p>
            <a:pPr marL="1440" algn="just">
              <a:lnSpc>
                <a:spcPct val="100000"/>
              </a:lnSpc>
              <a:spcBef>
                <a:spcPts val="601"/>
              </a:spcBef>
              <a:buClr>
                <a:srgbClr val="000000"/>
              </a:buClr>
            </a:pPr>
            <a:endParaRPr lang="vi-VN" sz="1200" b="1" strike="noStrike"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r>
              <a:rPr lang="en-US" sz="1200" b="1" strike="noStrike" spc="-1" dirty="0" err="1">
                <a:solidFill>
                  <a:srgbClr val="000000"/>
                </a:solidFill>
                <a:uFill>
                  <a:solidFill>
                    <a:srgbClr val="FFFFFF"/>
                  </a:solidFill>
                </a:uFill>
                <a:latin typeface="+mn-lt"/>
                <a:ea typeface="DejaVu Sans"/>
              </a:rPr>
              <a:t>Giả</a:t>
            </a:r>
            <a:r>
              <a:rPr lang="en-US" sz="1200" b="1" strike="noStrike" spc="-1" dirty="0">
                <a:solidFill>
                  <a:srgbClr val="000000"/>
                </a:solidFill>
                <a:uFill>
                  <a:solidFill>
                    <a:srgbClr val="FFFFFF"/>
                  </a:solidFill>
                </a:uFill>
                <a:latin typeface="+mn-lt"/>
                <a:ea typeface="DejaVu Sans"/>
              </a:rPr>
              <a:t> </a:t>
            </a:r>
            <a:r>
              <a:rPr lang="en-US" sz="1200" b="1" strike="noStrike" spc="-1" dirty="0" err="1">
                <a:solidFill>
                  <a:srgbClr val="000000"/>
                </a:solidFill>
                <a:uFill>
                  <a:solidFill>
                    <a:srgbClr val="FFFFFF"/>
                  </a:solidFill>
                </a:uFill>
                <a:latin typeface="+mn-lt"/>
                <a:ea typeface="DejaVu Sans"/>
              </a:rPr>
              <a:t>định</a:t>
            </a:r>
            <a:r>
              <a:rPr lang="en-US" sz="1200" b="1" strike="noStrike" spc="-1" dirty="0">
                <a:solidFill>
                  <a:srgbClr val="000000"/>
                </a:solidFill>
                <a:uFill>
                  <a:solidFill>
                    <a:srgbClr val="FFFFFF"/>
                  </a:solidFill>
                </a:uFill>
                <a:latin typeface="+mn-lt"/>
                <a:ea typeface="DejaVu Sans"/>
              </a:rPr>
              <a:t> ban </a:t>
            </a:r>
            <a:r>
              <a:rPr lang="en-US" sz="1200" b="1" strike="noStrike" spc="-1" dirty="0" err="1">
                <a:solidFill>
                  <a:srgbClr val="000000"/>
                </a:solidFill>
                <a:uFill>
                  <a:solidFill>
                    <a:srgbClr val="FFFFFF"/>
                  </a:solidFill>
                </a:uFill>
                <a:latin typeface="+mn-lt"/>
                <a:ea typeface="DejaVu Sans"/>
              </a:rPr>
              <a:t>đầu</a:t>
            </a:r>
            <a:r>
              <a:rPr lang="en-US" sz="1200" b="1"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bệnh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nhân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đã</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gặp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tiếp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tân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để</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cập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nhật</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thông</a:t>
            </a:r>
            <a:r>
              <a:rPr lang="en-US" sz="1200" b="0" strike="noStrike" spc="-1" dirty="0">
                <a:solidFill>
                  <a:srgbClr val="000000"/>
                </a:solidFill>
                <a:uFill>
                  <a:solidFill>
                    <a:srgbClr val="FFFFFF"/>
                  </a:solidFill>
                </a:uFill>
                <a:latin typeface="+mn-lt"/>
                <a:ea typeface="DejaVu Sans"/>
              </a:rPr>
              <a:t> tin </a:t>
            </a:r>
            <a:r>
              <a:rPr lang="en-US" sz="1200" b="0" strike="noStrike" spc="-1" dirty="0" err="1">
                <a:solidFill>
                  <a:srgbClr val="000000"/>
                </a:solidFill>
                <a:uFill>
                  <a:solidFill>
                    <a:srgbClr val="FFFFFF"/>
                  </a:solidFill>
                </a:uFill>
                <a:latin typeface="+mn-lt"/>
                <a:ea typeface="DejaVu Sans"/>
              </a:rPr>
              <a:t>bệnh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án</a:t>
            </a:r>
            <a:r>
              <a:rPr lang="en-US" sz="1200" b="0" strike="noStrike" spc="-1" dirty="0">
                <a:solidFill>
                  <a:srgbClr val="000000"/>
                </a:solidFill>
                <a:uFill>
                  <a:solidFill>
                    <a:srgbClr val="FFFFFF"/>
                  </a:solidFill>
                </a:uFill>
                <a:latin typeface="+mn-lt"/>
                <a:ea typeface="DejaVu Sans"/>
              </a:rPr>
              <a:t>. Y </a:t>
            </a:r>
            <a:r>
              <a:rPr lang="en-US" sz="1200" b="0" strike="noStrike" spc="-1" dirty="0" err="1">
                <a:solidFill>
                  <a:srgbClr val="000000"/>
                </a:solidFill>
                <a:uFill>
                  <a:solidFill>
                    <a:srgbClr val="FFFFFF"/>
                  </a:solidFill>
                </a:uFill>
                <a:latin typeface="+mn-lt"/>
                <a:ea typeface="DejaVu Sans"/>
              </a:rPr>
              <a:t>tá</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đăng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nhập</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và</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đang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cậ</a:t>
            </a:r>
            <a:r>
              <a:rPr lang="en-US" sz="1200" spc="-1" dirty="0" err="1">
                <a:solidFill>
                  <a:srgbClr val="000000"/>
                </a:solidFill>
                <a:uFill>
                  <a:solidFill>
                    <a:srgbClr val="FFFFFF"/>
                  </a:solidFill>
                </a:uFill>
                <a:latin typeface="+mn-lt"/>
                <a:ea typeface="DejaVu Sans"/>
              </a:rPr>
              <a:t>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tin </a:t>
            </a:r>
            <a:r>
              <a:rPr lang="en-US" sz="1200" spc="-1" dirty="0" err="1">
                <a:solidFill>
                  <a:srgbClr val="000000"/>
                </a:solidFill>
                <a:uFill>
                  <a:solidFill>
                    <a:srgbClr val="FFFFFF"/>
                  </a:solidFill>
                </a:uFill>
                <a:latin typeface="+mn-lt"/>
                <a:ea typeface="DejaVu Sans"/>
              </a:rPr>
              <a:t>lịch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sử</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bệnh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án</a:t>
            </a:r>
            <a:r>
              <a:rPr lang="en-US" sz="1200" spc="-1" dirty="0">
                <a:solidFill>
                  <a:srgbClr val="000000"/>
                </a:solidFill>
                <a:uFill>
                  <a:solidFill>
                    <a:srgbClr val="FFFFFF"/>
                  </a:solidFill>
                </a:uFill>
                <a:latin typeface="+mn-lt"/>
                <a:ea typeface="DejaVu Sans"/>
              </a:rPr>
              <a:t>.</a:t>
            </a:r>
            <a:endParaRPr lang="vi-VN" sz="1200"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endParaRPr lang="en-US" sz="1200"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r>
              <a:rPr lang="en-US" sz="1200" b="1" spc="-1" dirty="0" err="1">
                <a:solidFill>
                  <a:srgbClr val="000000"/>
                </a:solidFill>
                <a:uFill>
                  <a:solidFill>
                    <a:srgbClr val="FFFFFF"/>
                  </a:solidFill>
                </a:uFill>
                <a:latin typeface="+mn-lt"/>
              </a:rPr>
              <a:t>Thông</a:t>
            </a:r>
            <a:r>
              <a:rPr lang="en-US" sz="1200" b="1" spc="-1" dirty="0">
                <a:solidFill>
                  <a:srgbClr val="000000"/>
                </a:solidFill>
                <a:uFill>
                  <a:solidFill>
                    <a:srgbClr val="FFFFFF"/>
                  </a:solidFill>
                </a:uFill>
                <a:latin typeface="+mn-lt"/>
              </a:rPr>
              <a:t> </a:t>
            </a:r>
            <a:r>
              <a:rPr lang="en-US" sz="1200" b="1" spc="-1" dirty="0" err="1">
                <a:solidFill>
                  <a:srgbClr val="000000"/>
                </a:solidFill>
                <a:uFill>
                  <a:solidFill>
                    <a:srgbClr val="FFFFFF"/>
                  </a:solidFill>
                </a:uFill>
                <a:latin typeface="+mn-lt"/>
              </a:rPr>
              <a:t>thường</a:t>
            </a:r>
            <a:r>
              <a:rPr lang="en-US" sz="1200" spc="-1" dirty="0">
                <a:solidFill>
                  <a:srgbClr val="000000"/>
                </a:solidFill>
                <a:uFill>
                  <a:solidFill>
                    <a:srgbClr val="FFFFFF"/>
                  </a:solidFill>
                </a:uFill>
                <a:latin typeface="+mn-lt"/>
              </a:rPr>
              <a:t>: Y </a:t>
            </a:r>
            <a:r>
              <a:rPr lang="en-US" sz="1200" spc="-1" dirty="0" err="1">
                <a:solidFill>
                  <a:srgbClr val="000000"/>
                </a:solidFill>
                <a:uFill>
                  <a:solidFill>
                    <a:srgbClr val="FFFFFF"/>
                  </a:solidFill>
                </a:uFill>
                <a:latin typeface="+mn-lt"/>
              </a:rPr>
              <a:t>tá</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tìm</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kiếm</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bệnh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nhân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dựa</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vào</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họ</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Nếu</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có</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cùng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họ</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thì</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các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bệnh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nhân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được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xác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định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dựa</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vào</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tên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và</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ngày</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sinh</a:t>
            </a:r>
            <a:r>
              <a:rPr lang="en-US" sz="1200" spc="-1" dirty="0">
                <a:solidFill>
                  <a:srgbClr val="000000"/>
                </a:solidFill>
                <a:uFill>
                  <a:solidFill>
                    <a:srgbClr val="FFFFFF"/>
                  </a:solidFill>
                </a:uFill>
                <a:latin typeface="+mn-lt"/>
              </a:rPr>
              <a:t>.</a:t>
            </a:r>
            <a:r>
              <a:rPr lang="vi-VN" sz="1200" spc="-1" dirty="0">
                <a:solidFill>
                  <a:srgbClr val="000000"/>
                </a:solidFill>
                <a:uFill>
                  <a:solidFill>
                    <a:srgbClr val="FFFFFF"/>
                  </a:solidFill>
                </a:uFill>
                <a:latin typeface="+mn-lt"/>
              </a:rPr>
              <a:t> </a:t>
            </a:r>
            <a:r>
              <a:rPr lang="en-US" sz="1200" spc="-1" dirty="0">
                <a:solidFill>
                  <a:srgbClr val="000000"/>
                </a:solidFill>
                <a:uFill>
                  <a:solidFill>
                    <a:srgbClr val="FFFFFF"/>
                  </a:solidFill>
                </a:uFill>
                <a:latin typeface="+mn-lt"/>
              </a:rPr>
              <a:t>Y </a:t>
            </a:r>
            <a:r>
              <a:rPr lang="en-US" sz="1200" spc="-1" dirty="0" err="1">
                <a:solidFill>
                  <a:srgbClr val="000000"/>
                </a:solidFill>
                <a:uFill>
                  <a:solidFill>
                    <a:srgbClr val="FFFFFF"/>
                  </a:solidFill>
                </a:uFill>
                <a:latin typeface="+mn-lt"/>
              </a:rPr>
              <a:t>tá</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chọn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chức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năng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cập</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nhật</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lịch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sử</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bệnh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án</a:t>
            </a:r>
            <a:r>
              <a:rPr lang="en-US" sz="1200" spc="-1" dirty="0">
                <a:solidFill>
                  <a:srgbClr val="000000"/>
                </a:solidFill>
                <a:uFill>
                  <a:solidFill>
                    <a:srgbClr val="FFFFFF"/>
                  </a:solidFill>
                </a:uFill>
                <a:latin typeface="+mn-lt"/>
              </a:rPr>
              <a:t>.</a:t>
            </a:r>
            <a:r>
              <a:rPr lang="vi-VN" sz="1200" spc="-1" dirty="0">
                <a:solidFill>
                  <a:srgbClr val="000000"/>
                </a:solidFill>
                <a:uFill>
                  <a:solidFill>
                    <a:srgbClr val="FFFFFF"/>
                  </a:solidFill>
                </a:uFill>
                <a:latin typeface="+mn-lt"/>
              </a:rPr>
              <a:t> </a:t>
            </a:r>
            <a:r>
              <a:rPr lang="en-US" sz="1200" spc="-1" dirty="0">
                <a:solidFill>
                  <a:srgbClr val="000000"/>
                </a:solidFill>
                <a:uFill>
                  <a:solidFill>
                    <a:srgbClr val="FFFFFF"/>
                  </a:solidFill>
                </a:uFill>
                <a:latin typeface="+mn-lt"/>
              </a:rPr>
              <a:t>Y </a:t>
            </a:r>
            <a:r>
              <a:rPr lang="en-US" sz="1200" spc="-1" dirty="0" err="1">
                <a:solidFill>
                  <a:srgbClr val="000000"/>
                </a:solidFill>
                <a:uFill>
                  <a:solidFill>
                    <a:srgbClr val="FFFFFF"/>
                  </a:solidFill>
                </a:uFill>
                <a:latin typeface="+mn-lt"/>
              </a:rPr>
              <a:t>tá</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tương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tác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với</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hệ</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thống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để</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nhập</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các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thông</a:t>
            </a:r>
            <a:r>
              <a:rPr lang="en-US" sz="1200" spc="-1" dirty="0">
                <a:solidFill>
                  <a:srgbClr val="000000"/>
                </a:solidFill>
                <a:uFill>
                  <a:solidFill>
                    <a:srgbClr val="FFFFFF"/>
                  </a:solidFill>
                </a:uFill>
                <a:latin typeface="+mn-lt"/>
              </a:rPr>
              <a:t> tin </a:t>
            </a:r>
            <a:r>
              <a:rPr lang="en-US" sz="1200" spc="-1" dirty="0" err="1">
                <a:solidFill>
                  <a:srgbClr val="000000"/>
                </a:solidFill>
                <a:uFill>
                  <a:solidFill>
                    <a:srgbClr val="FFFFFF"/>
                  </a:solidFill>
                </a:uFill>
                <a:latin typeface="+mn-lt"/>
              </a:rPr>
              <a:t>về</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lịch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sử</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bệnh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án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bao</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gồm</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các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kết</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luận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khám</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trước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đó</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về</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sức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khỏe</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nhập</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văn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bản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tự</a:t>
            </a:r>
            <a:r>
              <a:rPr lang="en-US" sz="1200" spc="-1" dirty="0">
                <a:solidFill>
                  <a:srgbClr val="000000"/>
                </a:solidFill>
                <a:uFill>
                  <a:solidFill>
                    <a:srgbClr val="FFFFFF"/>
                  </a:solidFill>
                </a:uFill>
                <a:latin typeface="+mn-lt"/>
              </a:rPr>
              <a:t> do), </a:t>
            </a:r>
            <a:r>
              <a:rPr lang="en-US" sz="1200" spc="-1" dirty="0" err="1">
                <a:solidFill>
                  <a:srgbClr val="000000"/>
                </a:solidFill>
                <a:uFill>
                  <a:solidFill>
                    <a:srgbClr val="FFFFFF"/>
                  </a:solidFill>
                </a:uFill>
                <a:latin typeface="+mn-lt"/>
              </a:rPr>
              <a:t>điều</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kiện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sức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khỏe</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hiện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thời</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chọn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từ</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thực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đơn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đơn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thuốc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đang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dùng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chọn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từ</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thực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đơn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các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dị</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ứng</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thuốc</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nhập</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văn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bản</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tự</a:t>
            </a:r>
            <a:r>
              <a:rPr lang="en-US" sz="1200" spc="-1" dirty="0">
                <a:solidFill>
                  <a:srgbClr val="000000"/>
                </a:solidFill>
                <a:uFill>
                  <a:solidFill>
                    <a:srgbClr val="FFFFFF"/>
                  </a:solidFill>
                </a:uFill>
                <a:latin typeface="+mn-lt"/>
              </a:rPr>
              <a:t> do), </a:t>
            </a:r>
            <a:r>
              <a:rPr lang="en-US" sz="1200" spc="-1" dirty="0" err="1">
                <a:solidFill>
                  <a:srgbClr val="000000"/>
                </a:solidFill>
                <a:uFill>
                  <a:solidFill>
                    <a:srgbClr val="FFFFFF"/>
                  </a:solidFill>
                </a:uFill>
                <a:latin typeface="+mn-lt"/>
              </a:rPr>
              <a:t>và</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gia</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cảnh</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nhập</a:t>
            </a:r>
            <a:r>
              <a:rPr lang="en-US" sz="1200" spc="-1" dirty="0">
                <a:solidFill>
                  <a:srgbClr val="000000"/>
                </a:solidFill>
                <a:uFill>
                  <a:solidFill>
                    <a:srgbClr val="FFFFFF"/>
                  </a:solidFill>
                </a:uFill>
                <a:latin typeface="+mn-lt"/>
              </a:rPr>
              <a:t> </a:t>
            </a:r>
            <a:r>
              <a:rPr lang="en-US" sz="1200" spc="-1" dirty="0" err="1">
                <a:solidFill>
                  <a:srgbClr val="000000"/>
                </a:solidFill>
                <a:uFill>
                  <a:solidFill>
                    <a:srgbClr val="FFFFFF"/>
                  </a:solidFill>
                </a:uFill>
                <a:latin typeface="+mn-lt"/>
              </a:rPr>
              <a:t>theo</a:t>
            </a:r>
            <a:r>
              <a:rPr lang="en-US" sz="1200" spc="-1" dirty="0">
                <a:solidFill>
                  <a:srgbClr val="000000"/>
                </a:solidFill>
                <a:uFill>
                  <a:solidFill>
                    <a:srgbClr val="FFFFFF"/>
                  </a:solidFill>
                </a:uFill>
                <a:latin typeface="+mn-lt"/>
              </a:rPr>
              <a:t> form)</a:t>
            </a:r>
          </a:p>
        </p:txBody>
      </p:sp>
      <p:sp>
        <p:nvSpPr>
          <p:cNvPr id="4" name="Slide Number Placeholder 3"/>
          <p:cNvSpPr>
            <a:spLocks noGrp="1"/>
          </p:cNvSpPr>
          <p:nvPr>
            <p:ph type="sldNum" sz="quarter" idx="10"/>
          </p:nvPr>
        </p:nvSpPr>
        <p:spPr/>
        <p:txBody>
          <a:bodyPr/>
          <a:lstStyle/>
          <a:p>
            <a:fld id="{1F530D37-C3EB-47C6-9E35-94FCE4E0F4AA}" type="slidenum">
              <a:rPr lang="en-US" smtClean="0"/>
              <a:t>15</a:t>
            </a:fld>
            <a:endParaRPr lang="en-US"/>
          </a:p>
        </p:txBody>
      </p:sp>
    </p:spTree>
    <p:extLst>
      <p:ext uri="{BB962C8B-B14F-4D97-AF65-F5344CB8AC3E}">
        <p14:creationId xmlns:p14="http://schemas.microsoft.com/office/powerpoint/2010/main" val="1859231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440" algn="just">
              <a:lnSpc>
                <a:spcPct val="100000"/>
              </a:lnSpc>
              <a:spcBef>
                <a:spcPts val="601"/>
              </a:spcBef>
              <a:buClr>
                <a:srgbClr val="000000"/>
              </a:buClr>
            </a:pPr>
            <a:r>
              <a:rPr lang="en-US" sz="1200" b="1" strike="noStrike" spc="-1" dirty="0" err="1">
                <a:solidFill>
                  <a:srgbClr val="000000"/>
                </a:solidFill>
                <a:uFill>
                  <a:solidFill>
                    <a:srgbClr val="FFFFFF"/>
                  </a:solidFill>
                </a:uFill>
                <a:latin typeface="+mn-lt"/>
                <a:ea typeface="DejaVu Sans"/>
              </a:rPr>
              <a:t>Bất</a:t>
            </a:r>
            <a:r>
              <a:rPr lang="en-US" sz="1200" b="1" strike="noStrike" spc="-1" dirty="0">
                <a:solidFill>
                  <a:srgbClr val="000000"/>
                </a:solidFill>
                <a:uFill>
                  <a:solidFill>
                    <a:srgbClr val="FFFFFF"/>
                  </a:solidFill>
                </a:uFill>
                <a:latin typeface="+mn-lt"/>
                <a:ea typeface="DejaVu Sans"/>
              </a:rPr>
              <a:t> </a:t>
            </a:r>
            <a:r>
              <a:rPr lang="en-US" sz="1200" b="1" strike="noStrike" spc="-1" dirty="0" err="1">
                <a:solidFill>
                  <a:srgbClr val="000000"/>
                </a:solidFill>
                <a:uFill>
                  <a:solidFill>
                    <a:srgbClr val="FFFFFF"/>
                  </a:solidFill>
                </a:uFill>
                <a:latin typeface="+mn-lt"/>
                <a:ea typeface="DejaVu Sans"/>
              </a:rPr>
              <a:t>thường</a:t>
            </a:r>
            <a:r>
              <a:rPr lang="en-US" sz="1200" strike="noStrike" spc="-1" dirty="0">
                <a:solidFill>
                  <a:srgbClr val="000000"/>
                </a:solidFill>
                <a:uFill>
                  <a:solidFill>
                    <a:srgbClr val="FFFFFF"/>
                  </a:solidFill>
                </a:uFill>
                <a:latin typeface="+mn-lt"/>
                <a:ea typeface="DejaVu Sans"/>
              </a:rPr>
              <a:t>: </a:t>
            </a:r>
            <a:r>
              <a:rPr lang="en-US" sz="1200" strike="noStrike" spc="-1" dirty="0" err="1">
                <a:solidFill>
                  <a:srgbClr val="000000"/>
                </a:solidFill>
                <a:uFill>
                  <a:solidFill>
                    <a:srgbClr val="FFFFFF"/>
                  </a:solidFill>
                </a:uFill>
                <a:latin typeface="+mn-lt"/>
                <a:ea typeface="DejaVu Sans"/>
              </a:rPr>
              <a:t>bệnh</a:t>
            </a:r>
            <a:r>
              <a:rPr lang="en-US" sz="1200" strike="noStrike" spc="-1" dirty="0">
                <a:solidFill>
                  <a:srgbClr val="000000"/>
                </a:solidFill>
                <a:uFill>
                  <a:solidFill>
                    <a:srgbClr val="FFFFFF"/>
                  </a:solidFill>
                </a:uFill>
                <a:latin typeface="+mn-lt"/>
                <a:ea typeface="DejaVu Sans"/>
              </a:rPr>
              <a:t> </a:t>
            </a:r>
            <a:r>
              <a:rPr lang="en-US" sz="1200" strike="noStrike" spc="-1" dirty="0" err="1">
                <a:solidFill>
                  <a:srgbClr val="000000"/>
                </a:solidFill>
                <a:uFill>
                  <a:solidFill>
                    <a:srgbClr val="FFFFFF"/>
                  </a:solidFill>
                </a:uFill>
                <a:latin typeface="+mn-lt"/>
                <a:ea typeface="DejaVu Sans"/>
              </a:rPr>
              <a:t>án</a:t>
            </a:r>
            <a:r>
              <a:rPr lang="en-US" sz="1200" strike="noStrike" spc="-1" dirty="0">
                <a:solidFill>
                  <a:srgbClr val="000000"/>
                </a:solidFill>
                <a:uFill>
                  <a:solidFill>
                    <a:srgbClr val="FFFFFF"/>
                  </a:solidFill>
                </a:uFill>
                <a:latin typeface="+mn-lt"/>
                <a:ea typeface="DejaVu Sans"/>
              </a:rPr>
              <a:t> </a:t>
            </a:r>
            <a:r>
              <a:rPr lang="en-US" sz="1200" strike="noStrike" spc="-1" dirty="0" err="1">
                <a:solidFill>
                  <a:srgbClr val="000000"/>
                </a:solidFill>
                <a:uFill>
                  <a:solidFill>
                    <a:srgbClr val="FFFFFF"/>
                  </a:solidFill>
                </a:uFill>
                <a:latin typeface="+mn-lt"/>
                <a:ea typeface="DejaVu Sans"/>
              </a:rPr>
              <a:t>của</a:t>
            </a:r>
            <a:r>
              <a:rPr lang="en-US" sz="120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bệnh</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nhân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không</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tồn</a:t>
            </a:r>
            <a:r>
              <a:rPr lang="en-US" sz="1200" b="0" strike="noStrike" spc="-1" dirty="0">
                <a:solidFill>
                  <a:srgbClr val="000000"/>
                </a:solidFill>
                <a:uFill>
                  <a:solidFill>
                    <a:srgbClr val="FFFFFF"/>
                  </a:solidFill>
                </a:uFill>
                <a:latin typeface="+mn-lt"/>
                <a:ea typeface="DejaVu Sans"/>
              </a:rPr>
              <a:t> </a:t>
            </a:r>
            <a:r>
              <a:rPr lang="en-US" sz="1200" b="0" strike="noStrike" spc="-1" dirty="0" err="1">
                <a:solidFill>
                  <a:srgbClr val="000000"/>
                </a:solidFill>
                <a:uFill>
                  <a:solidFill>
                    <a:srgbClr val="FFFFFF"/>
                  </a:solidFill>
                </a:uFill>
                <a:latin typeface="+mn-lt"/>
                <a:ea typeface="DejaVu Sans"/>
              </a:rPr>
              <a:t>tại</a:t>
            </a:r>
            <a:r>
              <a:rPr lang="en-US" sz="1200" b="0" strike="noStrike" spc="-1" dirty="0">
                <a:solidFill>
                  <a:srgbClr val="000000"/>
                </a:solidFill>
                <a:uFill>
                  <a:solidFill>
                    <a:srgbClr val="FFFFFF"/>
                  </a:solidFill>
                </a:uFill>
                <a:latin typeface="+mn-lt"/>
                <a:ea typeface="DejaVu Sans"/>
              </a:rPr>
              <a:t>. </a:t>
            </a:r>
            <a:r>
              <a:rPr lang="en-US" sz="1200" spc="-1" dirty="0">
                <a:solidFill>
                  <a:srgbClr val="000000"/>
                </a:solidFill>
                <a:uFill>
                  <a:solidFill>
                    <a:srgbClr val="FFFFFF"/>
                  </a:solidFill>
                </a:uFill>
                <a:latin typeface="+mn-lt"/>
                <a:ea typeface="DejaVu Sans"/>
              </a:rPr>
              <a:t>Y </a:t>
            </a:r>
            <a:r>
              <a:rPr lang="en-US" sz="1200" spc="-1" dirty="0" err="1">
                <a:solidFill>
                  <a:srgbClr val="000000"/>
                </a:solidFill>
                <a:uFill>
                  <a:solidFill>
                    <a:srgbClr val="FFFFFF"/>
                  </a:solidFill>
                </a:uFill>
                <a:latin typeface="+mn-lt"/>
                <a:ea typeface="DejaVu Sans"/>
              </a:rPr>
              <a:t>tá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tạo</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hồ</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mới</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và</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tin </a:t>
            </a:r>
            <a:r>
              <a:rPr lang="en-US" sz="1200" spc="-1" dirty="0" err="1">
                <a:solidFill>
                  <a:srgbClr val="000000"/>
                </a:solidFill>
                <a:uFill>
                  <a:solidFill>
                    <a:srgbClr val="FFFFFF"/>
                  </a:solidFill>
                </a:uFill>
                <a:latin typeface="+mn-lt"/>
                <a:ea typeface="DejaVu Sans"/>
              </a:rPr>
              <a:t>bệnh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nhân</a:t>
            </a:r>
            <a:r>
              <a:rPr lang="en-US" sz="1200" spc="-1" dirty="0">
                <a:solidFill>
                  <a:srgbClr val="000000"/>
                </a:solidFill>
                <a:uFill>
                  <a:solidFill>
                    <a:srgbClr val="FFFFFF"/>
                  </a:solidFill>
                </a:uFill>
                <a:latin typeface="+mn-lt"/>
                <a:ea typeface="DejaVu Sans"/>
              </a:rPr>
              <a:t>.</a:t>
            </a:r>
            <a:r>
              <a:rPr lang="vi-VN"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Các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mục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về</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điều</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kiện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sức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khỏe</a:t>
            </a:r>
            <a:r>
              <a:rPr lang="en-US" sz="1200" spc="-1" dirty="0">
                <a:solidFill>
                  <a:srgbClr val="000000"/>
                </a:solidFill>
                <a:uFill>
                  <a:solidFill>
                    <a:srgbClr val="FFFFFF"/>
                  </a:solidFill>
                </a:uFill>
                <a:latin typeface="+mn-lt"/>
                <a:ea typeface="DejaVu Sans"/>
              </a:rPr>
              <a:t> hay </a:t>
            </a:r>
            <a:r>
              <a:rPr lang="en-US" sz="1200" spc="-1" dirty="0" err="1">
                <a:solidFill>
                  <a:srgbClr val="000000"/>
                </a:solidFill>
                <a:uFill>
                  <a:solidFill>
                    <a:srgbClr val="FFFFFF"/>
                  </a:solidFill>
                </a:uFill>
                <a:latin typeface="+mn-lt"/>
                <a:ea typeface="DejaVu Sans"/>
              </a:rPr>
              <a:t>đơn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thuốc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hiện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thời</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có</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trong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danh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mục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chọn</a:t>
            </a:r>
            <a:r>
              <a:rPr lang="en-US" sz="1200" spc="-1" dirty="0">
                <a:solidFill>
                  <a:srgbClr val="000000"/>
                </a:solidFill>
                <a:uFill>
                  <a:solidFill>
                    <a:srgbClr val="FFFFFF"/>
                  </a:solidFill>
                </a:uFill>
                <a:latin typeface="+mn-lt"/>
                <a:ea typeface="DejaVu Sans"/>
              </a:rPr>
              <a:t>. Y </a:t>
            </a:r>
            <a:r>
              <a:rPr lang="en-US" sz="1200" spc="-1" dirty="0" err="1">
                <a:solidFill>
                  <a:srgbClr val="000000"/>
                </a:solidFill>
                <a:uFill>
                  <a:solidFill>
                    <a:srgbClr val="FFFFFF"/>
                  </a:solidFill>
                </a:uFill>
                <a:latin typeface="+mn-lt"/>
                <a:ea typeface="DejaVu Sans"/>
              </a:rPr>
              <a:t>tá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chọn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mục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khác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vào</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dạng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văn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bản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mô</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tả</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tin.</a:t>
            </a:r>
            <a:r>
              <a:rPr lang="vi-VN" sz="1200" spc="-1" baseline="0"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Bệnh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nhân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sẵn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lòng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hoặc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cung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cấp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tin </a:t>
            </a:r>
            <a:r>
              <a:rPr lang="en-US" sz="1200" spc="-1" dirty="0" err="1">
                <a:solidFill>
                  <a:srgbClr val="000000"/>
                </a:solidFill>
                <a:uFill>
                  <a:solidFill>
                    <a:srgbClr val="FFFFFF"/>
                  </a:solidFill>
                </a:uFill>
                <a:latin typeface="+mn-lt"/>
                <a:ea typeface="DejaVu Sans"/>
              </a:rPr>
              <a:t>về</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lịch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sử</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khám</a:t>
            </a:r>
            <a:r>
              <a:rPr lang="en-US" sz="1200" spc="-1" dirty="0">
                <a:solidFill>
                  <a:srgbClr val="000000"/>
                </a:solidFill>
                <a:uFill>
                  <a:solidFill>
                    <a:srgbClr val="FFFFFF"/>
                  </a:solidFill>
                </a:uFill>
                <a:latin typeface="+mn-lt"/>
                <a:ea typeface="DejaVu Sans"/>
              </a:rPr>
              <a:t>. Y </a:t>
            </a:r>
            <a:r>
              <a:rPr lang="en-US" sz="1200" spc="-1" dirty="0" err="1">
                <a:solidFill>
                  <a:srgbClr val="000000"/>
                </a:solidFill>
                <a:uFill>
                  <a:solidFill>
                    <a:srgbClr val="FFFFFF"/>
                  </a:solidFill>
                </a:uFill>
                <a:latin typeface="+mn-lt"/>
                <a:ea typeface="DejaVu Sans"/>
              </a:rPr>
              <a:t>tá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vào</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tin </a:t>
            </a:r>
            <a:r>
              <a:rPr lang="en-US" sz="1200" spc="-1" dirty="0" err="1">
                <a:solidFill>
                  <a:srgbClr val="000000"/>
                </a:solidFill>
                <a:uFill>
                  <a:solidFill>
                    <a:srgbClr val="FFFFFF"/>
                  </a:solidFill>
                </a:uFill>
                <a:latin typeface="+mn-lt"/>
                <a:ea typeface="DejaVu Sans"/>
              </a:rPr>
              <a:t>về</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việc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bệnh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nhân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sẵn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lòng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hoặc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cung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cấp</a:t>
            </a:r>
            <a:r>
              <a:rPr lang="en-US" sz="1200" spc="-1" dirty="0">
                <a:solidFill>
                  <a:srgbClr val="000000"/>
                </a:solidFill>
                <a:uFill>
                  <a:solidFill>
                    <a:srgbClr val="FFFFFF"/>
                  </a:solidFill>
                </a:uFill>
                <a:latin typeface="+mn-lt"/>
                <a:ea typeface="DejaVu Sans"/>
              </a:rPr>
              <a:t> tin. </a:t>
            </a:r>
            <a:r>
              <a:rPr lang="en-US" sz="1200" spc="-1" dirty="0" err="1">
                <a:solidFill>
                  <a:srgbClr val="000000"/>
                </a:solidFill>
                <a:uFill>
                  <a:solidFill>
                    <a:srgbClr val="FFFFFF"/>
                  </a:solidFill>
                </a:uFill>
                <a:latin typeface="+mn-lt"/>
                <a:ea typeface="DejaVu Sans"/>
              </a:rPr>
              <a:t>Hệ</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xuất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ra</a:t>
            </a:r>
            <a:r>
              <a:rPr lang="en-US" sz="1200" spc="-1" dirty="0">
                <a:solidFill>
                  <a:srgbClr val="000000"/>
                </a:solidFill>
                <a:uFill>
                  <a:solidFill>
                    <a:srgbClr val="FFFFFF"/>
                  </a:solidFill>
                </a:uFill>
                <a:latin typeface="+mn-lt"/>
                <a:ea typeface="DejaVu Sans"/>
              </a:rPr>
              <a:t> form </a:t>
            </a:r>
            <a:r>
              <a:rPr lang="en-US" sz="1200" spc="-1" dirty="0" err="1">
                <a:solidFill>
                  <a:srgbClr val="000000"/>
                </a:solidFill>
                <a:uFill>
                  <a:solidFill>
                    <a:srgbClr val="FFFFFF"/>
                  </a:solidFill>
                </a:uFill>
                <a:latin typeface="+mn-lt"/>
                <a:ea typeface="DejaVu Sans"/>
              </a:rPr>
              <a:t>để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bệnh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nhân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ký</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xác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việc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này</a:t>
            </a:r>
            <a:r>
              <a:rPr lang="en-US" sz="1200" spc="-1" dirty="0">
                <a:solidFill>
                  <a:srgbClr val="000000"/>
                </a:solidFill>
                <a:uFill>
                  <a:solidFill>
                    <a:srgbClr val="FFFFFF"/>
                  </a:solidFill>
                </a:uFill>
                <a:latin typeface="+mn-lt"/>
                <a:ea typeface="DejaVu Sans"/>
              </a:rPr>
              <a:t>.</a:t>
            </a:r>
            <a:endParaRPr lang="vi-VN" sz="1200"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endParaRPr lang="en-US" sz="1200"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r>
              <a:rPr lang="en-US" sz="1200" b="1" spc="-1" dirty="0" err="1">
                <a:solidFill>
                  <a:srgbClr val="000000"/>
                </a:solidFill>
                <a:uFill>
                  <a:solidFill>
                    <a:srgbClr val="FFFFFF"/>
                  </a:solidFill>
                </a:uFill>
                <a:latin typeface="+mn-lt"/>
                <a:ea typeface="DejaVu Sans"/>
              </a:rPr>
              <a:t>Các</a:t>
            </a:r>
            <a:r>
              <a:rPr lang="en-US" sz="1200" b="1" spc="-1" dirty="0">
                <a:solidFill>
                  <a:srgbClr val="000000"/>
                </a:solidFill>
                <a:uFill>
                  <a:solidFill>
                    <a:srgbClr val="FFFFFF"/>
                  </a:solidFill>
                </a:uFill>
                <a:latin typeface="+mn-lt"/>
                <a:ea typeface="DejaVu Sans"/>
              </a:rPr>
              <a:t> </a:t>
            </a:r>
            <a:r>
              <a:rPr lang="en-US" sz="1200" b="1" spc="-1" dirty="0" err="1">
                <a:solidFill>
                  <a:srgbClr val="000000"/>
                </a:solidFill>
                <a:uFill>
                  <a:solidFill>
                    <a:srgbClr val="FFFFFF"/>
                  </a:solidFill>
                </a:uFill>
                <a:latin typeface="+mn-lt"/>
                <a:ea typeface="DejaVu Sans"/>
              </a:rPr>
              <a:t>hoạt</a:t>
            </a:r>
            <a:r>
              <a:rPr lang="en-US" sz="1200" b="1" spc="-1" dirty="0">
                <a:solidFill>
                  <a:srgbClr val="000000"/>
                </a:solidFill>
                <a:uFill>
                  <a:solidFill>
                    <a:srgbClr val="FFFFFF"/>
                  </a:solidFill>
                </a:uFill>
                <a:latin typeface="+mn-lt"/>
                <a:ea typeface="DejaVu Sans"/>
              </a:rPr>
              <a:t> </a:t>
            </a:r>
            <a:r>
              <a:rPr lang="en-US" sz="1200" b="1" spc="-1" dirty="0" err="1">
                <a:solidFill>
                  <a:srgbClr val="000000"/>
                </a:solidFill>
                <a:uFill>
                  <a:solidFill>
                    <a:srgbClr val="FFFFFF"/>
                  </a:solidFill>
                </a:uFill>
                <a:latin typeface="+mn-lt"/>
                <a:ea typeface="DejaVu Sans"/>
              </a:rPr>
              <a:t>động</a:t>
            </a:r>
            <a:r>
              <a:rPr lang="en-US" sz="1200" b="1" spc="-1" dirty="0">
                <a:solidFill>
                  <a:srgbClr val="000000"/>
                </a:solidFill>
                <a:uFill>
                  <a:solidFill>
                    <a:srgbClr val="FFFFFF"/>
                  </a:solidFill>
                </a:uFill>
                <a:latin typeface="+mn-lt"/>
                <a:ea typeface="DejaVu Sans"/>
              </a:rPr>
              <a:t> </a:t>
            </a:r>
            <a:r>
              <a:rPr lang="en-US" sz="1200" b="1" spc="-1" dirty="0" err="1">
                <a:solidFill>
                  <a:srgbClr val="000000"/>
                </a:solidFill>
                <a:uFill>
                  <a:solidFill>
                    <a:srgbClr val="FFFFFF"/>
                  </a:solidFill>
                </a:uFill>
                <a:latin typeface="+mn-lt"/>
                <a:ea typeface="DejaVu Sans"/>
              </a:rPr>
              <a:t>khác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Hồ</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có</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được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xem</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nhưng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không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thể</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bởi</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các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nhân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viên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khác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trong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quá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trình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liệu</a:t>
            </a:r>
            <a:r>
              <a:rPr lang="en-US" sz="1200" spc="-1" dirty="0">
                <a:solidFill>
                  <a:srgbClr val="000000"/>
                </a:solidFill>
                <a:uFill>
                  <a:solidFill>
                    <a:srgbClr val="FFFFFF"/>
                  </a:solidFill>
                </a:uFill>
                <a:latin typeface="+mn-lt"/>
                <a:ea typeface="DejaVu Sans"/>
              </a:rPr>
              <a:t>.</a:t>
            </a:r>
            <a:endParaRPr lang="vi-VN" sz="1200"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endParaRPr lang="vi-VN" sz="1200" b="1" spc="-1" dirty="0">
              <a:solidFill>
                <a:srgbClr val="000000"/>
              </a:solidFill>
              <a:uFill>
                <a:solidFill>
                  <a:srgbClr val="FFFFFF"/>
                </a:solidFill>
              </a:uFill>
              <a:latin typeface="+mn-lt"/>
              <a:ea typeface="DejaVu Sans"/>
            </a:endParaRPr>
          </a:p>
          <a:p>
            <a:pPr marL="1440" algn="just">
              <a:lnSpc>
                <a:spcPct val="100000"/>
              </a:lnSpc>
              <a:spcBef>
                <a:spcPts val="601"/>
              </a:spcBef>
              <a:buClr>
                <a:srgbClr val="000000"/>
              </a:buClr>
            </a:pPr>
            <a:r>
              <a:rPr lang="en-US" sz="1200" b="1" spc="-1" dirty="0" err="1">
                <a:solidFill>
                  <a:srgbClr val="000000"/>
                </a:solidFill>
                <a:uFill>
                  <a:solidFill>
                    <a:srgbClr val="FFFFFF"/>
                  </a:solidFill>
                </a:uFill>
                <a:latin typeface="+mn-lt"/>
                <a:ea typeface="DejaVu Sans"/>
              </a:rPr>
              <a:t>Trạng</a:t>
            </a:r>
            <a:r>
              <a:rPr lang="en-US" sz="1200" b="1" spc="-1" dirty="0">
                <a:solidFill>
                  <a:srgbClr val="000000"/>
                </a:solidFill>
                <a:uFill>
                  <a:solidFill>
                    <a:srgbClr val="FFFFFF"/>
                  </a:solidFill>
                </a:uFill>
                <a:latin typeface="+mn-lt"/>
                <a:ea typeface="DejaVu Sans"/>
              </a:rPr>
              <a:t> </a:t>
            </a:r>
            <a:r>
              <a:rPr lang="en-US" sz="1200" b="1" spc="-1" dirty="0" err="1">
                <a:solidFill>
                  <a:srgbClr val="000000"/>
                </a:solidFill>
                <a:uFill>
                  <a:solidFill>
                    <a:srgbClr val="FFFFFF"/>
                  </a:solidFill>
                </a:uFill>
                <a:latin typeface="+mn-lt"/>
                <a:ea typeface="DejaVu Sans"/>
              </a:rPr>
              <a:t>thái</a:t>
            </a:r>
            <a:r>
              <a:rPr lang="en-US" sz="1200" b="1" spc="-1" dirty="0">
                <a:solidFill>
                  <a:srgbClr val="000000"/>
                </a:solidFill>
                <a:uFill>
                  <a:solidFill>
                    <a:srgbClr val="FFFFFF"/>
                  </a:solidFill>
                </a:uFill>
                <a:latin typeface="+mn-lt"/>
                <a:ea typeface="DejaVu Sans"/>
              </a:rPr>
              <a:t> </a:t>
            </a:r>
            <a:r>
              <a:rPr lang="en-US" sz="1200" b="1" spc="-1" dirty="0" err="1">
                <a:solidFill>
                  <a:srgbClr val="000000"/>
                </a:solidFill>
                <a:uFill>
                  <a:solidFill>
                    <a:srgbClr val="FFFFFF"/>
                  </a:solidFill>
                </a:uFill>
                <a:latin typeface="+mn-lt"/>
                <a:ea typeface="DejaVu Sans"/>
              </a:rPr>
              <a:t>kết</a:t>
            </a:r>
            <a:r>
              <a:rPr lang="en-US" sz="1200" b="1" spc="-1" dirty="0">
                <a:solidFill>
                  <a:srgbClr val="000000"/>
                </a:solidFill>
                <a:uFill>
                  <a:solidFill>
                    <a:srgbClr val="FFFFFF"/>
                  </a:solidFill>
                </a:uFill>
                <a:latin typeface="+mn-lt"/>
                <a:ea typeface="DejaVu Sans"/>
              </a:rPr>
              <a:t> </a:t>
            </a:r>
            <a:r>
              <a:rPr lang="en-US" sz="1200" b="1" spc="-1" dirty="0" err="1">
                <a:solidFill>
                  <a:srgbClr val="000000"/>
                </a:solidFill>
                <a:uFill>
                  <a:solidFill>
                    <a:srgbClr val="FFFFFF"/>
                  </a:solidFill>
                </a:uFill>
                <a:latin typeface="+mn-lt"/>
                <a:ea typeface="DejaVu Sans"/>
              </a:rPr>
              <a:t>thúc</a:t>
            </a:r>
            <a:r>
              <a:rPr lang="en-US" sz="1200" spc="-1" dirty="0">
                <a:solidFill>
                  <a:srgbClr val="000000"/>
                </a:solidFill>
                <a:uFill>
                  <a:solidFill>
                    <a:srgbClr val="FFFFFF"/>
                  </a:solidFill>
                </a:uFill>
                <a:latin typeface="+mn-lt"/>
                <a:ea typeface="DejaVu Sans"/>
              </a:rPr>
              <a:t>:</a:t>
            </a:r>
            <a:r>
              <a:rPr lang="vi-VN"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Hồ</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bệnh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nhân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được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cập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về</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lịch</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sử</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khám</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Hệ</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thống</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lưu</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ký</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về</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thời</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gian</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bắt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đầu</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và</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kết</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thúc</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liệu</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và</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thông</a:t>
            </a:r>
            <a:r>
              <a:rPr lang="en-US" sz="1200" spc="-1" dirty="0">
                <a:solidFill>
                  <a:srgbClr val="000000"/>
                </a:solidFill>
                <a:uFill>
                  <a:solidFill>
                    <a:srgbClr val="FFFFFF"/>
                  </a:solidFill>
                </a:uFill>
                <a:latin typeface="+mn-lt"/>
                <a:ea typeface="DejaVu Sans"/>
              </a:rPr>
              <a:t> tin </a:t>
            </a:r>
            <a:r>
              <a:rPr lang="en-US" sz="1200" spc="-1" dirty="0" err="1">
                <a:solidFill>
                  <a:srgbClr val="000000"/>
                </a:solidFill>
                <a:uFill>
                  <a:solidFill>
                    <a:srgbClr val="FFFFFF"/>
                  </a:solidFill>
                </a:uFill>
                <a:latin typeface="+mn-lt"/>
                <a:ea typeface="DejaVu Sans"/>
              </a:rPr>
              <a:t>về</a:t>
            </a:r>
            <a:r>
              <a:rPr lang="en-US" sz="1200" spc="-1" dirty="0">
                <a:solidFill>
                  <a:srgbClr val="000000"/>
                </a:solidFill>
                <a:uFill>
                  <a:solidFill>
                    <a:srgbClr val="FFFFFF"/>
                  </a:solidFill>
                </a:uFill>
                <a:latin typeface="+mn-lt"/>
                <a:ea typeface="DejaVu Sans"/>
              </a:rPr>
              <a:t> y </a:t>
            </a:r>
            <a:r>
              <a:rPr lang="en-US" sz="1200" spc="-1" dirty="0" err="1">
                <a:solidFill>
                  <a:srgbClr val="000000"/>
                </a:solidFill>
                <a:uFill>
                  <a:solidFill>
                    <a:srgbClr val="FFFFFF"/>
                  </a:solidFill>
                </a:uFill>
                <a:latin typeface="+mn-lt"/>
                <a:ea typeface="DejaVu Sans"/>
              </a:rPr>
              <a:t>tá</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nhập</a:t>
            </a:r>
            <a:r>
              <a:rPr lang="en-US" sz="1200" spc="-1" dirty="0">
                <a:solidFill>
                  <a:srgbClr val="000000"/>
                </a:solidFill>
                <a:uFill>
                  <a:solidFill>
                    <a:srgbClr val="FFFFFF"/>
                  </a:solidFill>
                </a:uFill>
                <a:latin typeface="+mn-lt"/>
                <a:ea typeface="DejaVu Sans"/>
              </a:rPr>
              <a:t> </a:t>
            </a:r>
            <a:r>
              <a:rPr lang="en-US" sz="1200" spc="-1" dirty="0" err="1">
                <a:solidFill>
                  <a:srgbClr val="000000"/>
                </a:solidFill>
                <a:uFill>
                  <a:solidFill>
                    <a:srgbClr val="FFFFFF"/>
                  </a:solidFill>
                </a:uFill>
                <a:latin typeface="+mn-lt"/>
                <a:ea typeface="DejaVu Sans"/>
              </a:rPr>
              <a:t>liệu</a:t>
            </a:r>
            <a:r>
              <a:rPr lang="en-US" sz="1200" spc="-1" dirty="0">
                <a:solidFill>
                  <a:srgbClr val="000000"/>
                </a:solidFill>
                <a:uFill>
                  <a:solidFill>
                    <a:srgbClr val="FFFFFF"/>
                  </a:solidFill>
                </a:uFill>
                <a:latin typeface="+mn-lt"/>
                <a:ea typeface="DejaVu Sans"/>
              </a:rPr>
              <a:t>.</a:t>
            </a:r>
          </a:p>
          <a:p>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16</a:t>
            </a:fld>
            <a:endParaRPr lang="en-US"/>
          </a:p>
        </p:txBody>
      </p:sp>
    </p:spTree>
    <p:extLst>
      <p:ext uri="{BB962C8B-B14F-4D97-AF65-F5344CB8AC3E}">
        <p14:creationId xmlns:p14="http://schemas.microsoft.com/office/powerpoint/2010/main" val="89648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là kỹ thuật khám phá yêu cầu được giới thiệu lần đầu tiên trong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Phương pháp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hướng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tượng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bởi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Jacobson </a:t>
            </a:r>
            <a:r>
              <a:rPr lang="en-US" sz="1200" b="0" i="0" u="none" strike="noStrike" kern="1200" baseline="0" dirty="0" err="1">
                <a:solidFill>
                  <a:schemeClr val="tx1"/>
                </a:solidFill>
                <a:latin typeface="+mn-lt"/>
                <a:ea typeface="+mn-ea"/>
                <a:cs typeface="+mn-cs"/>
              </a:rPr>
              <a:t>cùng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năm</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1993. </a:t>
            </a:r>
            <a:r>
              <a:rPr lang="en-US" sz="1200" b="0" i="0" u="none" strike="noStrike" kern="1200" baseline="0" dirty="0" err="1">
                <a:solidFill>
                  <a:schemeClr val="tx1"/>
                </a:solidFill>
                <a:latin typeface="+mn-lt"/>
                <a:ea typeface="+mn-ea"/>
                <a:cs typeface="+mn-cs"/>
              </a:rPr>
              <a:t>Đến</a:t>
            </a:r>
            <a:r>
              <a:rPr lang="en-US" sz="1200" b="0" i="0" u="none" strike="noStrike" kern="1200" baseline="0" dirty="0">
                <a:solidFill>
                  <a:schemeClr val="tx1"/>
                </a:solidFill>
                <a:latin typeface="+mn-lt"/>
                <a:ea typeface="+mn-ea"/>
                <a:cs typeface="+mn-cs"/>
              </a:rPr>
              <a:t> nay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đã trở thành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của ngôn ngữ mô hình </a:t>
            </a:r>
            <a:r>
              <a:rPr lang="en-US" sz="1200" b="0" i="0" u="none" strike="noStrike" kern="1200" baseline="0" dirty="0" err="1">
                <a:solidFill>
                  <a:schemeClr val="tx1"/>
                </a:solidFill>
                <a:latin typeface="+mn-lt"/>
                <a:ea typeface="+mn-ea"/>
                <a:cs typeface="+mn-cs"/>
              </a:rPr>
              <a:t>hóa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thống nhất</a:t>
            </a:r>
            <a:r>
              <a:rPr lang="en-US" sz="1200" b="0" i="0" u="none" strike="noStrike" kern="1200" baseline="0" dirty="0">
                <a:solidFill>
                  <a:schemeClr val="tx1"/>
                </a:solidFill>
                <a:latin typeface="+mn-lt"/>
                <a:ea typeface="+mn-ea"/>
                <a:cs typeface="+mn-cs"/>
              </a:rPr>
              <a:t> UML</a:t>
            </a:r>
            <a:r>
              <a:rPr lang="vi-V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Ở </a:t>
            </a:r>
            <a:r>
              <a:rPr lang="en-US" sz="1200" b="0" i="0" u="none" strike="noStrike" kern="1200" baseline="0" dirty="0" err="1">
                <a:solidFill>
                  <a:schemeClr val="tx1"/>
                </a:solidFill>
                <a:latin typeface="+mn-lt"/>
                <a:ea typeface="+mn-ea"/>
                <a:cs typeface="+mn-cs"/>
              </a:rPr>
              <a:t>dạng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giản nhất </a:t>
            </a:r>
            <a:r>
              <a:rPr lang="en-US" sz="1200" b="0" i="0" u="none" strike="noStrike" kern="1200" baseline="0" dirty="0" err="1">
                <a:solidFill>
                  <a:schemeClr val="tx1"/>
                </a:solidFill>
                <a:latin typeface="+mn-lt"/>
                <a:ea typeface="+mn-ea"/>
                <a:cs typeface="+mn-cs"/>
              </a:rPr>
              <a:t>nhất</a:t>
            </a:r>
            <a:r>
              <a:rPr lang="vi-VN" sz="1200" b="0" i="0" u="none" strike="noStrike" kern="1200" baseline="0" dirty="0">
                <a:solidFill>
                  <a:schemeClr val="tx1"/>
                </a:solidFill>
                <a:latin typeface="+mn-lt"/>
                <a:ea typeface="+mn-ea"/>
                <a:cs typeface="+mn-cs"/>
              </a:rPr>
              <a:t>, một ca sử dụng xác định các tác nhân tham gia vào một </a:t>
            </a:r>
            <a:r>
              <a:rPr lang="en-US" sz="1200" b="0" i="0" u="none" strike="noStrike" kern="1200" baseline="0" dirty="0" err="1">
                <a:solidFill>
                  <a:schemeClr val="tx1"/>
                </a:solidFill>
                <a:latin typeface="+mn-lt"/>
                <a:ea typeface="+mn-ea"/>
                <a:cs typeface="+mn-cs"/>
              </a:rPr>
              <a:t>chuỗi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tương tác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và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danh</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loại tương 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vi-V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Ở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chi </a:t>
            </a:r>
            <a:r>
              <a:rPr lang="en-US" sz="1200" b="0" i="0" u="none" strike="noStrike" kern="1200" baseline="0" dirty="0" err="1">
                <a:solidFill>
                  <a:schemeClr val="tx1"/>
                </a:solidFill>
                <a:latin typeface="+mn-lt"/>
                <a:ea typeface="+mn-ea"/>
                <a:cs typeface="+mn-cs"/>
              </a:rPr>
              <a:t>tiết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chuỗi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giữa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kịch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giúp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mục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đích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vi-VN" sz="1200" b="0"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t</a:t>
            </a:r>
            <a:r>
              <a:rPr lang="vi-VN" sz="1200" b="0" i="0" u="none" strike="noStrike" kern="1200" baseline="0" dirty="0">
                <a:solidFill>
                  <a:schemeClr val="tx1"/>
                </a:solidFill>
                <a:latin typeface="+mn-lt"/>
                <a:ea typeface="+mn-ea"/>
                <a:cs typeface="+mn-cs"/>
              </a:rPr>
              <a:t>hông tin bổ sung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mô tả </a:t>
            </a:r>
            <a:r>
              <a:rPr lang="en-US" sz="1200" b="0" i="0" u="none" strike="noStrike" kern="1200" baseline="0" dirty="0">
                <a:solidFill>
                  <a:schemeClr val="tx1"/>
                </a:solidFill>
                <a:latin typeface="+mn-lt"/>
                <a:ea typeface="+mn-ea"/>
                <a:cs typeface="+mn-cs"/>
              </a:rPr>
              <a:t>ở </a:t>
            </a:r>
            <a:r>
              <a:rPr lang="en-US" sz="1200" b="0" i="0" u="none" strike="noStrike" kern="1200" baseline="0" dirty="0" err="1">
                <a:solidFill>
                  <a:schemeClr val="tx1"/>
                </a:solidFill>
                <a:latin typeface="+mn-lt"/>
                <a:ea typeface="+mn-ea"/>
                <a:cs typeface="+mn-cs"/>
              </a:rPr>
              <a:t>dạng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văn bản hoặc một hoặc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đồ</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như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đồ</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đồ</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tuần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tự</a:t>
            </a:r>
            <a:r>
              <a:rPr lang="en-US" sz="1200" b="0" i="0" u="none" strike="noStrike" kern="1200" baseline="0" dirty="0">
                <a:solidFill>
                  <a:schemeClr val="tx1"/>
                </a:solidFill>
                <a:latin typeface="+mn-lt"/>
                <a:ea typeface="+mn-ea"/>
                <a:cs typeface="+mn-cs"/>
              </a:rPr>
              <a:t> hay </a:t>
            </a:r>
            <a:r>
              <a:rPr lang="vi-VN" sz="1200" b="0" i="0" u="none" strike="noStrike" kern="1200" baseline="0" dirty="0">
                <a:solidFill>
                  <a:schemeClr val="tx1"/>
                </a:solidFill>
                <a:latin typeface="+mn-lt"/>
                <a:ea typeface="+mn-ea"/>
                <a:cs typeface="+mn-cs"/>
              </a:rPr>
              <a:t>biểu đồ trạng thái</a:t>
            </a:r>
            <a:r>
              <a:rPr lang="en-US" sz="1200" b="0" i="0" u="none" strike="noStrike" kern="1200" baseline="0" dirty="0">
                <a:solidFill>
                  <a:schemeClr val="tx1"/>
                </a:solidFill>
                <a:latin typeface="+mn-lt"/>
                <a:ea typeface="+mn-ea"/>
                <a:cs typeface="+mn-cs"/>
              </a:rPr>
              <a:t> UML</a:t>
            </a:r>
            <a:r>
              <a:rPr lang="vi-VN" sz="1200" b="0" i="0" u="none" strike="noStrike" kern="1200" baseline="0" dirty="0">
                <a:solidFill>
                  <a:schemeClr val="tx1"/>
                </a:solidFill>
                <a:latin typeface="+mn-lt"/>
                <a:ea typeface="+mn-ea"/>
                <a:cs typeface="+mn-cs"/>
              </a:rPr>
              <a:t>.</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17</a:t>
            </a:fld>
            <a:endParaRPr lang="en-US"/>
          </a:p>
        </p:txBody>
      </p:sp>
    </p:spTree>
    <p:extLst>
      <p:ext uri="{BB962C8B-B14F-4D97-AF65-F5344CB8AC3E}">
        <p14:creationId xmlns:p14="http://schemas.microsoft.com/office/powerpoint/2010/main" val="992276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baseline="0" dirty="0">
                <a:solidFill>
                  <a:schemeClr val="tx1"/>
                </a:solidFill>
                <a:latin typeface="+mn-lt"/>
                <a:ea typeface="+mn-ea"/>
                <a:cs typeface="+mn-cs"/>
              </a:rPr>
              <a:t>Các ca sử dụng được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qua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đồ ca sử dụng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cao</a:t>
            </a:r>
            <a:r>
              <a:rPr lang="vi-VN" sz="1200" b="0" i="0" u="none" strike="noStrike" kern="1200" baseline="0" dirty="0">
                <a:solidFill>
                  <a:schemeClr val="tx1"/>
                </a:solidFill>
                <a:latin typeface="+mn-lt"/>
                <a:ea typeface="+mn-ea"/>
                <a:cs typeface="+mn-cs"/>
              </a:rPr>
              <a:t>. Tập hợp các ca sử dụng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đồ</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tất cả các tương tác có 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nghĩa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các yêu cầu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hệ thống. Các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trong </a:t>
            </a:r>
            <a:r>
              <a:rPr lang="en-US" sz="1200" b="0" i="0" u="none" strike="noStrike" kern="1200" baseline="0" dirty="0" err="1">
                <a:solidFill>
                  <a:schemeClr val="tx1"/>
                </a:solidFill>
                <a:latin typeface="+mn-lt"/>
                <a:ea typeface="+mn-ea"/>
                <a:cs typeface="+mn-cs"/>
              </a:rPr>
              <a:t>những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con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hoặc các hệ thống khác,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được biểu diễn dưới dạng </a:t>
            </a:r>
            <a:r>
              <a:rPr lang="en-US" sz="1200" b="0" i="0" u="none" strike="noStrike" kern="1200" baseline="0" dirty="0" err="1">
                <a:solidFill>
                  <a:schemeClr val="tx1"/>
                </a:solidFill>
                <a:latin typeface="+mn-lt"/>
                <a:ea typeface="+mn-ea"/>
                <a:cs typeface="+mn-cs"/>
              </a:rPr>
              <a:t>ký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pháp</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người</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 Mỗi </a:t>
            </a:r>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được biểu diễn dưới dạng hình </a:t>
            </a:r>
            <a:r>
              <a:rPr lang="en-US" sz="1200" b="0" i="0" u="none" strike="noStrike" kern="1200" baseline="0" dirty="0">
                <a:solidFill>
                  <a:schemeClr val="tx1"/>
                </a:solidFill>
                <a:latin typeface="+mn-lt"/>
                <a:ea typeface="+mn-ea"/>
                <a:cs typeface="+mn-cs"/>
              </a:rPr>
              <a:t>eclipse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gắn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tên</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Việc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qua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thẳng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thống</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tùy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chọn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đầu mũi tên có thể được thêm vào các </a:t>
            </a:r>
            <a:r>
              <a:rPr lang="en-US" sz="1200" b="0" i="0" u="none" strike="noStrike" kern="1200" baseline="0" dirty="0" err="1">
                <a:solidFill>
                  <a:schemeClr val="tx1"/>
                </a:solidFill>
                <a:latin typeface="+mn-lt"/>
                <a:ea typeface="+mn-ea"/>
                <a:cs typeface="+mn-cs"/>
              </a:rPr>
              <a:t>đoạn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để hiển thị </a:t>
            </a:r>
            <a:r>
              <a:rPr lang="en-US" sz="1200" b="0" i="0" u="none" strike="noStrike" kern="1200" baseline="0" dirty="0" err="1">
                <a:solidFill>
                  <a:schemeClr val="tx1"/>
                </a:solidFill>
                <a:latin typeface="+mn-lt"/>
                <a:ea typeface="+mn-ea"/>
                <a:cs typeface="+mn-cs"/>
              </a:rPr>
              <a:t>hướng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khởi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đầu tương tác. </a:t>
            </a:r>
            <a:r>
              <a:rPr lang="en-US" sz="1200" b="0" i="0" u="none" strike="noStrike" kern="1200" baseline="0" dirty="0">
                <a:solidFill>
                  <a:schemeClr val="tx1"/>
                </a:solidFill>
                <a:latin typeface="+mn-lt"/>
                <a:ea typeface="+mn-ea"/>
                <a:cs typeface="+mn-cs"/>
              </a:rPr>
              <a:t>Slide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diễn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cho hệ thống </a:t>
            </a:r>
            <a:r>
              <a:rPr lang="en-US" sz="1200" b="0" i="0" u="none" strike="noStrike" kern="1200" baseline="0" dirty="0" err="1">
                <a:solidFill>
                  <a:schemeClr val="tx1"/>
                </a:solidFill>
                <a:latin typeface="+mn-lt"/>
                <a:ea typeface="+mn-ea"/>
                <a:cs typeface="+mn-cs"/>
              </a:rPr>
              <a:t>quản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lý</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thông tin bệnh nhân.</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18</a:t>
            </a:fld>
            <a:endParaRPr lang="en-US"/>
          </a:p>
        </p:txBody>
      </p:sp>
    </p:spTree>
    <p:extLst>
      <p:ext uri="{BB962C8B-B14F-4D97-AF65-F5344CB8AC3E}">
        <p14:creationId xmlns:p14="http://schemas.microsoft.com/office/powerpoint/2010/main" val="3594460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baseline="0" dirty="0">
                <a:solidFill>
                  <a:schemeClr val="tx1"/>
                </a:solidFill>
                <a:latin typeface="+mn-lt"/>
                <a:ea typeface="+mn-ea"/>
                <a:cs typeface="+mn-cs"/>
              </a:rPr>
              <a:t>Hệ thống phần mềm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được sử dụng trong bối cảnh xã hội và tổ chức</a:t>
            </a:r>
            <a:r>
              <a:rPr lang="en-US" sz="1200" b="0" i="0" u="none" strike="noStrike" kern="1200" baseline="0" dirty="0">
                <a:solidFill>
                  <a:schemeClr val="tx1"/>
                </a:solidFill>
                <a:latin typeface="+mn-lt"/>
                <a:ea typeface="+mn-ea"/>
                <a:cs typeface="+mn-cs"/>
              </a:rPr>
              <a:t>. Do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các yêu cầu hệ thống phần mềm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được bắt nguồn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chịu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ràng buộc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bối cảnh đó. Đáp ứng các yêu cầu về xã hội và tổ chức này thường </a:t>
            </a:r>
            <a:r>
              <a:rPr lang="en-US" sz="1200" b="0" i="0" u="none" strike="noStrike" kern="1200" baseline="0" dirty="0" err="1">
                <a:solidFill>
                  <a:schemeClr val="tx1"/>
                </a:solidFill>
                <a:latin typeface="+mn-lt"/>
                <a:ea typeface="+mn-ea"/>
                <a:cs typeface="+mn-cs"/>
              </a:rPr>
              <a:t>quyết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sự thành công của hệ thống. Một lý do tại sao nhiều hệ thống phần mềm được </a:t>
            </a:r>
            <a:r>
              <a:rPr lang="en-US" sz="1200" b="0" i="0" u="none" strike="noStrike" kern="1200" baseline="0" dirty="0" err="1">
                <a:solidFill>
                  <a:schemeClr val="tx1"/>
                </a:solidFill>
                <a:latin typeface="+mn-lt"/>
                <a:ea typeface="+mn-ea"/>
                <a:cs typeface="+mn-cs"/>
              </a:rPr>
              <a:t>chuyển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giao</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nhưng không bao giờ được sử dụng là </a:t>
            </a:r>
            <a:r>
              <a:rPr lang="en-US" sz="1200" b="0" i="0" u="none" strike="noStrike" kern="1200" baseline="0" dirty="0" err="1">
                <a:solidFill>
                  <a:schemeClr val="tx1"/>
                </a:solidFill>
                <a:latin typeface="+mn-lt"/>
                <a:ea typeface="+mn-ea"/>
                <a:cs typeface="+mn-cs"/>
              </a:rPr>
              <a:t>bởi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vì</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yêu cầu của họ không tính đến cách thức bối cảnh xã hội và tổ chức ảnh hưởng đến hoạt động thực tế của hệ thống. </a:t>
            </a:r>
            <a:r>
              <a:rPr lang="en-US" sz="1200" b="0" i="0" u="none" strike="noStrike" kern="1200" baseline="0" dirty="0" err="1">
                <a:solidFill>
                  <a:schemeClr val="tx1"/>
                </a:solidFill>
                <a:latin typeface="+mn-lt"/>
                <a:ea typeface="+mn-ea"/>
                <a:cs typeface="+mn-cs"/>
              </a:rPr>
              <a:t>Nghiên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cứu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học là một kỹ thuật quan sát có thể được sử dụng để hiểu các quy trình hoạt động và giúp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các yêu cầu hỗ trợ cho các quy trình này. Một nhà phân tích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đắm mình trong môi trường làm việc nơi hệ thống được sử dụng. Công việc hàng ngày được quan sát và ghi chú được thực hiện từ các nhiệm vụ thực tế mà người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tham gia.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giúp khám phá các yêu cầu hệ thống tiềm ẩn</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 phản ánh những cách thực tế mà mọi người làm việc, chứ không phải là các quy trình </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chính thức</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 được xác định bởi tổ chức.</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Mọi người thường thấy rất khó để nói rõ chi tiết công việc của họ. Họ hiểu công việc của mình nhưng có thể không hiểu mối quan hệ của nó với công việc khác trong tổ chức. Các yếu tố xã hội và tổ chức ảnh hưởng đến công việc, nhưng không rõ ràng đối với các cá nhân, chỉ có thể trở nên rõ ràng khi được một người </a:t>
            </a:r>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quan sát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vi-VN" sz="1200" b="0" i="0" u="none" strike="noStrike" kern="1200" baseline="0" dirty="0">
                <a:solidFill>
                  <a:schemeClr val="tx1"/>
                </a:solidFill>
                <a:latin typeface="+mn-lt"/>
                <a:ea typeface="+mn-ea"/>
                <a:cs typeface="+mn-cs"/>
              </a:rPr>
              <a:t>. Ví dụ: một nhóm làm việc có thể tự tổ chức để các thành viên biết về công việc của nhau và có thể trả tiền cho nhau nếu ai đó vắng mặt. Điều này có thể không được đề cập trong một cuộc phỏng vấn vì nhóm có thể không coi đó là một phần không thể thiếu trong công việc của họ</a:t>
            </a:r>
            <a:r>
              <a:rPr lang="en-US" sz="1200" b="0" i="0" u="none" strike="noStrike" kern="1200" baseline="0" dirty="0">
                <a:solidFill>
                  <a:schemeClr val="tx1"/>
                </a:solidFill>
                <a:latin typeface="+mn-lt"/>
                <a:ea typeface="+mn-ea"/>
                <a:cs typeface="+mn-cs"/>
              </a:rPr>
              <a:t>.</a:t>
            </a:r>
          </a:p>
        </p:txBody>
      </p:sp>
      <p:sp>
        <p:nvSpPr>
          <p:cNvPr id="4" name="Slide Number Placeholder 3"/>
          <p:cNvSpPr>
            <a:spLocks noGrp="1"/>
          </p:cNvSpPr>
          <p:nvPr>
            <p:ph type="sldNum" sz="quarter" idx="10"/>
          </p:nvPr>
        </p:nvSpPr>
        <p:spPr/>
        <p:txBody>
          <a:bodyPr/>
          <a:lstStyle/>
          <a:p>
            <a:fld id="{1F530D37-C3EB-47C6-9E35-94FCE4E0F4AA}" type="slidenum">
              <a:rPr lang="en-US" smtClean="0"/>
              <a:t>19</a:t>
            </a:fld>
            <a:endParaRPr lang="en-US"/>
          </a:p>
        </p:txBody>
      </p:sp>
    </p:spTree>
    <p:extLst>
      <p:ext uri="{BB962C8B-B14F-4D97-AF65-F5344CB8AC3E}">
        <p14:creationId xmlns:p14="http://schemas.microsoft.com/office/powerpoint/2010/main" val="2021954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Nghiên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cứu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học đặc biệt hiệu quả để khám phá hai loại yêu 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vi-VN" sz="1200" b="0" i="0" u="none" strike="noStrike" kern="1200" baseline="0" dirty="0">
                <a:solidFill>
                  <a:schemeClr val="tx1"/>
                </a:solidFill>
                <a:latin typeface="+mn-lt"/>
                <a:ea typeface="+mn-ea"/>
                <a:cs typeface="+mn-cs"/>
              </a:rPr>
              <a:t>: </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c</a:t>
            </a:r>
            <a:r>
              <a:rPr lang="vi-VN" sz="1200" b="0" i="0" u="none" strike="noStrike" kern="1200" baseline="0" dirty="0">
                <a:solidFill>
                  <a:schemeClr val="tx1"/>
                </a:solidFill>
                <a:latin typeface="+mn-lt"/>
                <a:ea typeface="+mn-ea"/>
                <a:cs typeface="+mn-cs"/>
              </a:rPr>
              <a:t>ác yêu cầu bắt nguồn từ cách thức mà con người thực sự làm việc, chứ không phải cách thức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định nghĩa quy trình. Ví dụ, bộ điều khiển lưu lượng </a:t>
            </a:r>
            <a:r>
              <a:rPr lang="en-US" sz="1200" b="0" i="0" u="none" strike="noStrike" kern="1200" baseline="0" dirty="0" err="1">
                <a:solidFill>
                  <a:schemeClr val="tx1"/>
                </a:solidFill>
                <a:latin typeface="+mn-lt"/>
                <a:ea typeface="+mn-ea"/>
                <a:cs typeface="+mn-cs"/>
              </a:rPr>
              <a:t>máy</a:t>
            </a:r>
            <a:r>
              <a:rPr lang="en-US" sz="1200" b="0" i="0" u="none" strike="noStrike" kern="1200" baseline="0" dirty="0">
                <a:solidFill>
                  <a:schemeClr val="tx1"/>
                </a:solidFill>
                <a:latin typeface="+mn-lt"/>
                <a:ea typeface="+mn-ea"/>
                <a:cs typeface="+mn-cs"/>
              </a:rPr>
              <a:t> bay </a:t>
            </a:r>
            <a:r>
              <a:rPr lang="vi-VN" sz="1200" b="0" i="0" u="none" strike="noStrike" kern="1200" baseline="0" dirty="0">
                <a:solidFill>
                  <a:schemeClr val="tx1"/>
                </a:solidFill>
                <a:latin typeface="+mn-lt"/>
                <a:ea typeface="+mn-ea"/>
                <a:cs typeface="+mn-cs"/>
              </a:rPr>
              <a:t>có thể tắt hệ thống cảnh báo xung đột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phát hiện máy bay có đường bay giao nhau, mặc dù các quy trình kiểm soát thông thường chỉ rõ rằng </a:t>
            </a:r>
            <a:r>
              <a:rPr lang="en-US" sz="1200" b="0" i="0" u="none" strike="noStrike" kern="1200" baseline="0" dirty="0" err="1">
                <a:solidFill>
                  <a:schemeClr val="tx1"/>
                </a:solidFill>
                <a:latin typeface="+mn-lt"/>
                <a:ea typeface="+mn-ea"/>
                <a:cs typeface="+mn-cs"/>
              </a:rPr>
              <a:t>cảnh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báo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vi-VN" sz="1200" b="0" i="0" u="none" strike="noStrike" kern="1200" baseline="0" dirty="0">
                <a:solidFill>
                  <a:schemeClr val="tx1"/>
                </a:solidFill>
                <a:latin typeface="+mn-lt"/>
                <a:ea typeface="+mn-ea"/>
                <a:cs typeface="+mn-cs"/>
              </a:rPr>
              <a:t> nên được sử dụng. Họ cố ý đặt chiếc máy bay trên những con đường xung đột trong một thời gian ngắn để giúp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việc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quản lý không phận. Chiến lược kiểm soát của họ được thiết kế để đảm bảo rằng những chiếc máy bay này được di chuyển ra ngoài trước khi các vấn đề xảy ra và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họ thấy rằng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cảnh báo xung đột làm họ mất tập trung từ công việc của họ.</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2. Các yêu cầu bắt nguồn từ sự hợp tác và nhận thức về các hoạt động của người khác. Ví dụ, bộ kiểm soát không lưu </a:t>
            </a:r>
            <a:r>
              <a:rPr lang="en-US" sz="1200" b="0" i="0" u="none" strike="noStrike" kern="1200" baseline="0" dirty="0">
                <a:solidFill>
                  <a:schemeClr val="tx1"/>
                </a:solidFill>
                <a:latin typeface="+mn-lt"/>
                <a:ea typeface="+mn-ea"/>
                <a:cs typeface="+mn-cs"/>
              </a:rPr>
              <a:t>(ATC) </a:t>
            </a:r>
            <a:r>
              <a:rPr lang="vi-VN" sz="1200" b="0" i="0" u="none" strike="noStrike" kern="1200" baseline="0" dirty="0">
                <a:solidFill>
                  <a:schemeClr val="tx1"/>
                </a:solidFill>
                <a:latin typeface="+mn-lt"/>
                <a:ea typeface="+mn-ea"/>
                <a:cs typeface="+mn-cs"/>
              </a:rPr>
              <a:t>có thể sử dụng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các bộ điều khiển </a:t>
            </a:r>
            <a:r>
              <a:rPr lang="en-US" sz="1200" b="0" i="0" u="none" strike="noStrike" kern="1200" baseline="0" dirty="0">
                <a:solidFill>
                  <a:schemeClr val="tx1"/>
                </a:solidFill>
                <a:latin typeface="+mn-lt"/>
                <a:ea typeface="+mn-ea"/>
                <a:cs typeface="+mn-cs"/>
              </a:rPr>
              <a:t>ở </a:t>
            </a:r>
            <a:r>
              <a:rPr lang="en-US" sz="1200" b="0" i="0" u="none" strike="noStrike" kern="1200" baseline="0" dirty="0" err="1">
                <a:solidFill>
                  <a:schemeClr val="tx1"/>
                </a:solidFill>
                <a:latin typeface="+mn-lt"/>
                <a:ea typeface="+mn-ea"/>
                <a:cs typeface="+mn-cs"/>
              </a:rPr>
              <a:t>vùng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dự đoán số lượng máy bay sẽ vào khu vực </a:t>
            </a:r>
            <a:r>
              <a:rPr lang="en-US" sz="1200" b="0" i="0" u="none" strike="noStrike" kern="1200" baseline="0" dirty="0" err="1">
                <a:solidFill>
                  <a:schemeClr val="tx1"/>
                </a:solidFill>
                <a:latin typeface="+mn-lt"/>
                <a:ea typeface="+mn-ea"/>
                <a:cs typeface="+mn-cs"/>
              </a:rPr>
              <a:t>nó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kiểm soát. Sau đó, </a:t>
            </a:r>
            <a:r>
              <a:rPr lang="en-US" sz="1200" b="0" i="0" u="none" strike="noStrike" kern="1200" baseline="0" dirty="0" err="1">
                <a:solidFill>
                  <a:schemeClr val="tx1"/>
                </a:solidFill>
                <a:latin typeface="+mn-lt"/>
                <a:ea typeface="+mn-ea"/>
                <a:cs typeface="+mn-cs"/>
              </a:rPr>
              <a:t>bộ</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sửa đổi chiến lược kiểm soát tùy thuộc vào khối lượng công việc dự đoán. Do đó, một hệ thống ATC </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nên cho phép các bộ điều khiển trong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vùng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khả năng </a:t>
            </a:r>
            <a:r>
              <a:rPr lang="en-US" sz="1200" b="0" i="0" u="none" strike="noStrike" kern="1200" baseline="0" dirty="0" err="1">
                <a:solidFill>
                  <a:schemeClr val="tx1"/>
                </a:solidFill>
                <a:latin typeface="+mn-lt"/>
                <a:ea typeface="+mn-ea"/>
                <a:cs typeface="+mn-cs"/>
              </a:rPr>
              <a:t>tiếp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từ</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vùng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vi-VN" sz="1200" b="0"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Nghiên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cứu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học có thể được kết hợp với </a:t>
            </a:r>
            <a:r>
              <a:rPr lang="en-US" sz="1200" b="0" i="0" u="none" strike="noStrike" kern="1200" baseline="0" dirty="0" err="1">
                <a:solidFill>
                  <a:schemeClr val="tx1"/>
                </a:solidFill>
                <a:latin typeface="+mn-lt"/>
                <a:ea typeface="+mn-ea"/>
                <a:cs typeface="+mn-cs"/>
              </a:rPr>
              <a:t>phương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mẫu</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học </a:t>
            </a:r>
            <a:r>
              <a:rPr lang="en-US" sz="1200" b="0" i="0" u="none" strike="noStrike" kern="1200" baseline="0" dirty="0" err="1">
                <a:solidFill>
                  <a:schemeClr val="tx1"/>
                </a:solidFill>
                <a:latin typeface="+mn-lt"/>
                <a:ea typeface="+mn-ea"/>
                <a:cs typeface="+mn-cs"/>
              </a:rPr>
              <a:t>cung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cấp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thêm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thông</a:t>
            </a:r>
            <a:r>
              <a:rPr lang="en-US" sz="1200" b="0" i="0" u="none" strike="noStrike" kern="1200" baseline="0" dirty="0">
                <a:solidFill>
                  <a:schemeClr val="tx1"/>
                </a:solidFill>
                <a:latin typeface="+mn-lt"/>
                <a:ea typeface="+mn-ea"/>
                <a:cs typeface="+mn-cs"/>
              </a:rPr>
              <a:t> tin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phép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giảm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lặp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mẫu</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lại</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mẫu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giúp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dễ</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dàng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thảo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luận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vấn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liên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a:t>
            </a:r>
          </a:p>
          <a:p>
            <a:endParaRPr lang="da-DK"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Nghiên cứu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học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tập trung vào người dùng cuối, </a:t>
            </a:r>
            <a:r>
              <a:rPr lang="en-US" sz="1200" b="0" i="0" u="none" strike="noStrike" kern="1200" baseline="0" dirty="0">
                <a:solidFill>
                  <a:schemeClr val="tx1"/>
                </a:solidFill>
                <a:latin typeface="+mn-lt"/>
                <a:ea typeface="+mn-ea"/>
                <a:cs typeface="+mn-cs"/>
              </a:rPr>
              <a:t>do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phương pháp này không phải lúc nào cũng thích hợp để phát hiện các yêu cầu về tổ chức hoặc miền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nghiệp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vụ</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nữa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không </a:t>
            </a:r>
            <a:r>
              <a:rPr lang="en-US" sz="1200" b="0" i="0" u="none" strike="noStrike" kern="1200" baseline="0" dirty="0" err="1">
                <a:solidFill>
                  <a:schemeClr val="tx1"/>
                </a:solidFill>
                <a:latin typeface="+mn-lt"/>
                <a:ea typeface="+mn-ea"/>
                <a:cs typeface="+mn-cs"/>
              </a:rPr>
              <a:t>cho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phép</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xác định các tính năng mới cần được thêm vào hệ thống.</a:t>
            </a:r>
            <a:endParaRPr lang="da-DK"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20</a:t>
            </a:fld>
            <a:endParaRPr lang="en-US"/>
          </a:p>
        </p:txBody>
      </p:sp>
    </p:spTree>
    <p:extLst>
      <p:ext uri="{BB962C8B-B14F-4D97-AF65-F5344CB8AC3E}">
        <p14:creationId xmlns:p14="http://schemas.microsoft.com/office/powerpoint/2010/main" val="3563901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Thẩm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là quá trình kiểm tra các yêu cầu đó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thực sự xác định hệ thống mà khách hàng thực sự muốn.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trùng lặp với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phân tích vì nó liên quan đến việc tìm ra vấn đề với các yêu cầu. </a:t>
            </a:r>
            <a:r>
              <a:rPr lang="en-US" sz="1200" b="0" i="0" u="none" strike="noStrike" kern="1200" baseline="0" dirty="0" err="1">
                <a:solidFill>
                  <a:schemeClr val="tx1"/>
                </a:solidFill>
                <a:latin typeface="+mn-lt"/>
                <a:ea typeface="+mn-ea"/>
                <a:cs typeface="+mn-cs"/>
              </a:rPr>
              <a:t>Thẩm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định</a:t>
            </a:r>
            <a:r>
              <a:rPr lang="en-US" sz="1200" b="0" i="0" u="none" strike="noStrike" kern="1200" baseline="0" dirty="0">
                <a:solidFill>
                  <a:schemeClr val="tx1"/>
                </a:solidFill>
                <a:latin typeface="+mn-lt"/>
                <a:ea typeface="+mn-ea"/>
                <a:cs typeface="+mn-cs"/>
              </a:rPr>
              <a:t> y</a:t>
            </a:r>
            <a:r>
              <a:rPr lang="vi-VN" sz="1200" b="0" i="0" u="none" strike="noStrike" kern="1200" baseline="0" dirty="0">
                <a:solidFill>
                  <a:schemeClr val="tx1"/>
                </a:solidFill>
                <a:latin typeface="+mn-lt"/>
                <a:ea typeface="+mn-ea"/>
                <a:cs typeface="+mn-cs"/>
              </a:rPr>
              <a:t>êu cầu là quan trọng vì các lỗi trong tài liệu yêu cầu có thể dẫn đến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sinh</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chi phí làm lại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việc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khi các vấn đề này được phát hiện trong quá trình phát triển hoặc sau khi hệ thống </a:t>
            </a:r>
            <a:r>
              <a:rPr lang="en-US" sz="1200" b="0" i="0" u="none" strike="noStrike" kern="1200" baseline="0" dirty="0" err="1">
                <a:solidFill>
                  <a:schemeClr val="tx1"/>
                </a:solidFill>
                <a:latin typeface="+mn-lt"/>
                <a:ea typeface="+mn-ea"/>
                <a:cs typeface="+mn-cs"/>
              </a:rPr>
              <a:t>vận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hành</a:t>
            </a:r>
            <a:r>
              <a:rPr lang="vi-VN" sz="1200" b="0" i="0" u="none" strike="noStrike" kern="1200" baseline="0" dirty="0">
                <a:solidFill>
                  <a:schemeClr val="tx1"/>
                </a:solidFill>
                <a:latin typeface="+mn-lt"/>
                <a:ea typeface="+mn-ea"/>
                <a:cs typeface="+mn-cs"/>
              </a:rPr>
              <a:t>. Chi phí sửa chữa một vấn đề yêu cầu bằng cách thay đổi hệ thống </a:t>
            </a:r>
            <a:r>
              <a:rPr lang="en-US" sz="1200" b="0" i="0" u="none" strike="noStrike" kern="1200" baseline="0" dirty="0" err="1">
                <a:solidFill>
                  <a:schemeClr val="tx1"/>
                </a:solidFill>
                <a:latin typeface="+mn-lt"/>
                <a:ea typeface="+mn-ea"/>
                <a:cs typeface="+mn-cs"/>
              </a:rPr>
              <a:t>đang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vận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hành</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thường lớn hơn nhiều so với sửa lỗi thiết kế hoặc lỗi mã hóa. </a:t>
            </a:r>
            <a:r>
              <a:rPr lang="en-US" sz="1200" b="0" i="0" u="none" strike="noStrike" kern="1200" baseline="0" dirty="0" err="1">
                <a:solidFill>
                  <a:schemeClr val="tx1"/>
                </a:solidFill>
                <a:latin typeface="+mn-lt"/>
                <a:ea typeface="+mn-ea"/>
                <a:cs typeface="+mn-cs"/>
              </a:rPr>
              <a:t>Bởi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vì</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sự thay đổi các yêu cầu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dẫn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đến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việc thiết kế và triển khai hệ thống cũng phải được thay đổi. Hơn nữa, hệ thống phải được kiểm </a:t>
            </a:r>
            <a:r>
              <a:rPr lang="en-US" sz="1200" b="0" i="0" u="none" strike="noStrike" kern="1200" baseline="0" dirty="0" err="1">
                <a:solidFill>
                  <a:schemeClr val="tx1"/>
                </a:solidFill>
                <a:latin typeface="+mn-lt"/>
                <a:ea typeface="+mn-ea"/>
                <a:cs typeface="+mn-cs"/>
              </a:rPr>
              <a:t>thử</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lại.</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21</a:t>
            </a:fld>
            <a:endParaRPr lang="en-US"/>
          </a:p>
        </p:txBody>
      </p:sp>
    </p:spTree>
    <p:extLst>
      <p:ext uri="{BB962C8B-B14F-4D97-AF65-F5344CB8AC3E}">
        <p14:creationId xmlns:p14="http://schemas.microsoft.com/office/powerpoint/2010/main" val="2348516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quá trình </a:t>
            </a:r>
            <a:r>
              <a:rPr lang="en-US" dirty="0" err="1"/>
              <a:t>thẩm</a:t>
            </a:r>
            <a:r>
              <a:rPr lang="en-US" baseline="0" dirty="0"/>
              <a:t> </a:t>
            </a:r>
            <a:r>
              <a:rPr lang="en-US" baseline="0" dirty="0" err="1"/>
              <a:t>định</a:t>
            </a:r>
            <a:r>
              <a:rPr lang="en-US" baseline="0" dirty="0"/>
              <a:t> </a:t>
            </a:r>
            <a:r>
              <a:rPr lang="vi-VN" dirty="0"/>
              <a:t>yêu cầu, các </a:t>
            </a:r>
            <a:r>
              <a:rPr lang="en-US" dirty="0" err="1"/>
              <a:t>loại</a:t>
            </a:r>
            <a:r>
              <a:rPr lang="en-US" baseline="0" dirty="0"/>
              <a:t> </a:t>
            </a:r>
            <a:r>
              <a:rPr lang="en-US" dirty="0" err="1"/>
              <a:t>kiểm</a:t>
            </a:r>
            <a:r>
              <a:rPr lang="en-US" baseline="0" dirty="0"/>
              <a:t> </a:t>
            </a:r>
            <a:r>
              <a:rPr lang="en-US" baseline="0" dirty="0" err="1"/>
              <a:t>tra</a:t>
            </a:r>
            <a:r>
              <a:rPr lang="en-US" baseline="0" dirty="0"/>
              <a:t> </a:t>
            </a:r>
            <a:r>
              <a:rPr lang="vi-VN" dirty="0"/>
              <a:t>khác nhau phải được thực hiện </a:t>
            </a:r>
            <a:r>
              <a:rPr lang="en-US" dirty="0" err="1"/>
              <a:t>trên</a:t>
            </a:r>
            <a:r>
              <a:rPr lang="en-US" baseline="0" dirty="0"/>
              <a:t> </a:t>
            </a:r>
            <a:r>
              <a:rPr lang="vi-VN" dirty="0"/>
              <a:t>các tài liệu yêu cầu. Các kiểm tra này bao gồm:</a:t>
            </a:r>
          </a:p>
          <a:p>
            <a:endParaRPr lang="vi-VN" dirty="0"/>
          </a:p>
          <a:p>
            <a:r>
              <a:rPr lang="vi-VN" dirty="0"/>
              <a:t>1. Kiểm tra </a:t>
            </a:r>
            <a:r>
              <a:rPr lang="en-US" dirty="0" err="1"/>
              <a:t>tính</a:t>
            </a:r>
            <a:r>
              <a:rPr lang="en-US" baseline="0" dirty="0"/>
              <a:t> </a:t>
            </a:r>
            <a:r>
              <a:rPr lang="en-US" baseline="0" dirty="0" err="1"/>
              <a:t>hợp</a:t>
            </a:r>
            <a:r>
              <a:rPr lang="en-US" baseline="0" dirty="0"/>
              <a:t> </a:t>
            </a:r>
            <a:r>
              <a:rPr lang="en-US" baseline="0" dirty="0" err="1"/>
              <a:t>lệ</a:t>
            </a:r>
            <a:r>
              <a:rPr lang="en-US" baseline="0" dirty="0"/>
              <a:t>: </a:t>
            </a:r>
            <a:r>
              <a:rPr lang="vi-VN" dirty="0"/>
              <a:t>Một người dùng có thể nghĩ rằng một hệ thống là cần thiết để thực hiện các chức năng nhất định. Tuy nhiên, </a:t>
            </a:r>
            <a:r>
              <a:rPr lang="en-US" dirty="0" err="1"/>
              <a:t>sau</a:t>
            </a:r>
            <a:r>
              <a:rPr lang="en-US" dirty="0"/>
              <a:t> </a:t>
            </a:r>
            <a:r>
              <a:rPr lang="en-US" dirty="0" err="1"/>
              <a:t>quá</a:t>
            </a:r>
            <a:r>
              <a:rPr lang="en-US" baseline="0" dirty="0"/>
              <a:t> </a:t>
            </a:r>
            <a:r>
              <a:rPr lang="en-US" baseline="0" dirty="0" err="1"/>
              <a:t>trình</a:t>
            </a:r>
            <a:r>
              <a:rPr lang="en-US" baseline="0" dirty="0"/>
              <a:t> </a:t>
            </a:r>
            <a:r>
              <a:rPr lang="en-US" baseline="0" dirty="0" err="1"/>
              <a:t>cân</a:t>
            </a:r>
            <a:r>
              <a:rPr lang="en-US" baseline="0" dirty="0"/>
              <a:t> </a:t>
            </a:r>
            <a:r>
              <a:rPr lang="en-US" baseline="0" dirty="0" err="1"/>
              <a:t>nhắc</a:t>
            </a:r>
            <a:r>
              <a:rPr lang="en-US" baseline="0" dirty="0"/>
              <a:t> </a:t>
            </a:r>
            <a:r>
              <a:rPr lang="vi-VN" dirty="0"/>
              <a:t>và phân tích có thể </a:t>
            </a:r>
            <a:r>
              <a:rPr lang="en-US" dirty="0" err="1"/>
              <a:t>xuất</a:t>
            </a:r>
            <a:r>
              <a:rPr lang="en-US" baseline="0" dirty="0"/>
              <a:t> </a:t>
            </a:r>
            <a:r>
              <a:rPr lang="en-US" baseline="0" dirty="0" err="1"/>
              <a:t>hiện</a:t>
            </a:r>
            <a:r>
              <a:rPr lang="en-US" baseline="0" dirty="0"/>
              <a:t> </a:t>
            </a:r>
            <a:r>
              <a:rPr lang="en-US" baseline="0" dirty="0" err="1"/>
              <a:t>thêm</a:t>
            </a:r>
            <a:r>
              <a:rPr lang="en-US" baseline="0" dirty="0"/>
              <a:t> </a:t>
            </a:r>
            <a:r>
              <a:rPr lang="vi-VN" dirty="0"/>
              <a:t>các chức năng </a:t>
            </a:r>
            <a:r>
              <a:rPr lang="en-US" dirty="0" err="1"/>
              <a:t>mới</a:t>
            </a:r>
            <a:r>
              <a:rPr lang="en-US" baseline="0" dirty="0"/>
              <a:t> </a:t>
            </a:r>
            <a:r>
              <a:rPr lang="en-US" baseline="0" dirty="0" err="1"/>
              <a:t>cần</a:t>
            </a:r>
            <a:r>
              <a:rPr lang="en-US" baseline="0" dirty="0"/>
              <a:t> </a:t>
            </a:r>
            <a:r>
              <a:rPr lang="en-US" baseline="0" dirty="0" err="1"/>
              <a:t>được</a:t>
            </a:r>
            <a:r>
              <a:rPr lang="en-US" baseline="0" dirty="0"/>
              <a:t> </a:t>
            </a:r>
            <a:r>
              <a:rPr lang="vi-VN" dirty="0"/>
              <a:t>bổ sung hoặc </a:t>
            </a:r>
            <a:r>
              <a:rPr lang="en-US" dirty="0" err="1"/>
              <a:t>một</a:t>
            </a:r>
            <a:r>
              <a:rPr lang="en-US" baseline="0" dirty="0"/>
              <a:t> </a:t>
            </a:r>
            <a:r>
              <a:rPr lang="en-US" baseline="0" dirty="0" err="1"/>
              <a:t>số</a:t>
            </a:r>
            <a:r>
              <a:rPr lang="en-US" baseline="0" dirty="0"/>
              <a:t> </a:t>
            </a:r>
            <a:r>
              <a:rPr lang="vi-VN" dirty="0"/>
              <a:t>yêu cầu</a:t>
            </a:r>
            <a:r>
              <a:rPr lang="en-US" dirty="0"/>
              <a:t> </a:t>
            </a:r>
            <a:r>
              <a:rPr lang="en-US" dirty="0" err="1"/>
              <a:t>cần</a:t>
            </a:r>
            <a:r>
              <a:rPr lang="en-US" baseline="0" dirty="0"/>
              <a:t> </a:t>
            </a:r>
            <a:r>
              <a:rPr lang="en-US" baseline="0" dirty="0" err="1"/>
              <a:t>phải</a:t>
            </a:r>
            <a:r>
              <a:rPr lang="en-US" baseline="0" dirty="0"/>
              <a:t> </a:t>
            </a:r>
            <a:r>
              <a:rPr lang="en-US" baseline="0" dirty="0" err="1"/>
              <a:t>thay</a:t>
            </a:r>
            <a:r>
              <a:rPr lang="en-US" baseline="0" dirty="0"/>
              <a:t> </a:t>
            </a:r>
            <a:r>
              <a:rPr lang="en-US" baseline="0" dirty="0" err="1"/>
              <a:t>đổi</a:t>
            </a:r>
            <a:r>
              <a:rPr lang="vi-VN" dirty="0"/>
              <a:t>. </a:t>
            </a:r>
            <a:r>
              <a:rPr lang="en-US" dirty="0" err="1"/>
              <a:t>Với</a:t>
            </a:r>
            <a:r>
              <a:rPr lang="en-US" baseline="0" dirty="0"/>
              <a:t> c</a:t>
            </a:r>
            <a:r>
              <a:rPr lang="vi-VN" dirty="0"/>
              <a:t>ác hệ thống </a:t>
            </a:r>
            <a:r>
              <a:rPr lang="en-US" dirty="0" err="1"/>
              <a:t>có</a:t>
            </a:r>
            <a:r>
              <a:rPr lang="en-US" baseline="0" dirty="0"/>
              <a:t> </a:t>
            </a:r>
            <a:r>
              <a:rPr lang="en-US" baseline="0" dirty="0" err="1"/>
              <a:t>sự</a:t>
            </a:r>
            <a:r>
              <a:rPr lang="en-US" baseline="0" dirty="0"/>
              <a:t> </a:t>
            </a:r>
            <a:r>
              <a:rPr lang="en-US" baseline="0" dirty="0" err="1"/>
              <a:t>đa</a:t>
            </a:r>
            <a:r>
              <a:rPr lang="en-US" baseline="0" dirty="0"/>
              <a:t> </a:t>
            </a:r>
            <a:r>
              <a:rPr lang="en-US" baseline="0" dirty="0" err="1"/>
              <a:t>dạng</a:t>
            </a:r>
            <a:r>
              <a:rPr lang="en-US" baseline="0" dirty="0"/>
              <a:t> </a:t>
            </a:r>
            <a:r>
              <a:rPr lang="en-US" baseline="0" dirty="0" err="1"/>
              <a:t>về</a:t>
            </a:r>
            <a:r>
              <a:rPr lang="en-US" baseline="0" dirty="0"/>
              <a:t> </a:t>
            </a:r>
            <a:r>
              <a:rPr lang="vi-VN" dirty="0"/>
              <a:t>các bên liên quan</a:t>
            </a:r>
            <a:r>
              <a:rPr lang="en-US" baseline="0" dirty="0"/>
              <a:t>, </a:t>
            </a:r>
            <a:r>
              <a:rPr lang="en-US" baseline="0" dirty="0" err="1"/>
              <a:t>các</a:t>
            </a:r>
            <a:r>
              <a:rPr lang="en-US" baseline="0" dirty="0"/>
              <a:t> </a:t>
            </a:r>
            <a:r>
              <a:rPr lang="vi-VN" dirty="0"/>
              <a:t>yêu cầu chắc chắn </a:t>
            </a:r>
            <a:r>
              <a:rPr lang="en-US"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trên</a:t>
            </a:r>
            <a:r>
              <a:rPr lang="en-US" baseline="0" dirty="0"/>
              <a:t> </a:t>
            </a:r>
            <a:r>
              <a:rPr lang="vi-VN" dirty="0"/>
              <a:t>sự thỏa hiệp giữa các bên liên quan</a:t>
            </a:r>
            <a:r>
              <a:rPr lang="en-US" dirty="0"/>
              <a:t>,</a:t>
            </a:r>
            <a:r>
              <a:rPr lang="en-US" baseline="0" dirty="0"/>
              <a:t> do </a:t>
            </a:r>
            <a:r>
              <a:rPr lang="en-US" baseline="0" dirty="0" err="1"/>
              <a:t>đó</a:t>
            </a:r>
            <a:r>
              <a:rPr lang="en-US" baseline="0" dirty="0"/>
              <a:t> </a:t>
            </a:r>
            <a:r>
              <a:rPr lang="en-US" baseline="0" dirty="0" err="1"/>
              <a:t>nhất</a:t>
            </a:r>
            <a:r>
              <a:rPr lang="en-US" baseline="0" dirty="0"/>
              <a:t> </a:t>
            </a:r>
            <a:r>
              <a:rPr lang="en-US" baseline="0" dirty="0" err="1"/>
              <a:t>thiết</a:t>
            </a:r>
            <a:r>
              <a:rPr lang="en-US" baseline="0" dirty="0"/>
              <a:t> </a:t>
            </a:r>
            <a:r>
              <a:rPr lang="en-US" baseline="0" dirty="0" err="1"/>
              <a:t>phải</a:t>
            </a:r>
            <a:r>
              <a:rPr lang="en-US" baseline="0" dirty="0"/>
              <a:t> </a:t>
            </a:r>
            <a:r>
              <a:rPr lang="en-US" baseline="0" dirty="0" err="1"/>
              <a:t>được</a:t>
            </a:r>
            <a:r>
              <a:rPr lang="en-US" baseline="0" dirty="0"/>
              <a:t> </a:t>
            </a:r>
            <a:r>
              <a:rPr lang="en-US" baseline="0" dirty="0" err="1"/>
              <a:t>kiểm</a:t>
            </a:r>
            <a:r>
              <a:rPr lang="en-US" baseline="0" dirty="0"/>
              <a:t> </a:t>
            </a:r>
            <a:r>
              <a:rPr lang="en-US" baseline="0" dirty="0" err="1"/>
              <a:t>tra</a:t>
            </a:r>
            <a:r>
              <a:rPr lang="en-US" baseline="0" dirty="0"/>
              <a:t> </a:t>
            </a:r>
            <a:r>
              <a:rPr lang="en-US" baseline="0" dirty="0" err="1"/>
              <a:t>tính</a:t>
            </a:r>
            <a:r>
              <a:rPr lang="en-US" baseline="0" dirty="0"/>
              <a:t> </a:t>
            </a:r>
            <a:r>
              <a:rPr lang="en-US" baseline="0" dirty="0" err="1"/>
              <a:t>hợp</a:t>
            </a:r>
            <a:r>
              <a:rPr lang="en-US" baseline="0" dirty="0"/>
              <a:t> </a:t>
            </a:r>
            <a:r>
              <a:rPr lang="en-US" baseline="0" dirty="0" err="1"/>
              <a:t>lệ</a:t>
            </a:r>
            <a:r>
              <a:rPr lang="en-US" baseline="0" dirty="0"/>
              <a:t>.</a:t>
            </a:r>
            <a:endParaRPr lang="vi-VN" dirty="0"/>
          </a:p>
          <a:p>
            <a:endParaRPr lang="vi-VN" dirty="0"/>
          </a:p>
          <a:p>
            <a:r>
              <a:rPr lang="vi-VN" dirty="0"/>
              <a:t>2. Kiểm tra tính thống nhất</a:t>
            </a:r>
            <a:r>
              <a:rPr lang="en-US" dirty="0"/>
              <a:t>:</a:t>
            </a:r>
            <a:r>
              <a:rPr lang="vi-VN" dirty="0"/>
              <a:t> Các yêu cầu trong tài liệu </a:t>
            </a:r>
            <a:r>
              <a:rPr lang="en-US" dirty="0" err="1"/>
              <a:t>phải</a:t>
            </a:r>
            <a:r>
              <a:rPr lang="en-US" baseline="0" dirty="0"/>
              <a:t> </a:t>
            </a:r>
            <a:r>
              <a:rPr lang="en-US" baseline="0" dirty="0" err="1"/>
              <a:t>nhất</a:t>
            </a:r>
            <a:r>
              <a:rPr lang="en-US" baseline="0" dirty="0"/>
              <a:t> </a:t>
            </a:r>
            <a:r>
              <a:rPr lang="en-US" baseline="0" dirty="0" err="1"/>
              <a:t>quán</a:t>
            </a:r>
            <a:r>
              <a:rPr lang="en-US" baseline="0" dirty="0"/>
              <a:t> </a:t>
            </a:r>
            <a:r>
              <a:rPr lang="en-US" baseline="0" dirty="0" err="1"/>
              <a:t>và</a:t>
            </a:r>
            <a:r>
              <a:rPr lang="en-US" baseline="0" dirty="0"/>
              <a:t> </a:t>
            </a:r>
            <a:r>
              <a:rPr lang="vi-VN" dirty="0"/>
              <a:t>không </a:t>
            </a:r>
            <a:r>
              <a:rPr lang="en-US" dirty="0" err="1"/>
              <a:t>chứa</a:t>
            </a:r>
            <a:r>
              <a:rPr lang="en-US" baseline="0" dirty="0"/>
              <a:t> </a:t>
            </a:r>
            <a:r>
              <a:rPr lang="en-US" baseline="0" dirty="0" err="1"/>
              <a:t>đựng</a:t>
            </a:r>
            <a:r>
              <a:rPr lang="en-US" baseline="0" dirty="0"/>
              <a:t> </a:t>
            </a:r>
            <a:r>
              <a:rPr lang="vi-VN" dirty="0"/>
              <a:t>xung đột. </a:t>
            </a:r>
            <a:r>
              <a:rPr lang="en-US" dirty="0" err="1"/>
              <a:t>Nghĩa</a:t>
            </a:r>
            <a:r>
              <a:rPr lang="en-US" baseline="0" dirty="0"/>
              <a:t> </a:t>
            </a:r>
            <a:r>
              <a:rPr lang="en-US" baseline="0" dirty="0" err="1"/>
              <a:t>là</a:t>
            </a:r>
            <a:r>
              <a:rPr lang="vi-VN" dirty="0"/>
              <a:t>, </a:t>
            </a:r>
            <a:r>
              <a:rPr lang="en-US" dirty="0" err="1"/>
              <a:t>trong</a:t>
            </a:r>
            <a:r>
              <a:rPr lang="en-US" dirty="0"/>
              <a:t> </a:t>
            </a:r>
            <a:r>
              <a:rPr lang="en-US"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vi-VN" dirty="0"/>
              <a:t>không nên có những </a:t>
            </a:r>
            <a:r>
              <a:rPr lang="en-US" dirty="0" err="1"/>
              <a:t>ràng</a:t>
            </a:r>
            <a:r>
              <a:rPr lang="en-US" baseline="0" dirty="0"/>
              <a:t> </a:t>
            </a:r>
            <a:r>
              <a:rPr lang="en-US" baseline="0" dirty="0" err="1"/>
              <a:t>buộc</a:t>
            </a:r>
            <a:r>
              <a:rPr lang="en-US" baseline="0" dirty="0"/>
              <a:t> </a:t>
            </a:r>
            <a:r>
              <a:rPr lang="vi-VN" dirty="0"/>
              <a:t>mâu thuẫn hoặc </a:t>
            </a:r>
            <a:r>
              <a:rPr lang="en-US" dirty="0" err="1"/>
              <a:t>các</a:t>
            </a:r>
            <a:r>
              <a:rPr lang="en-US" baseline="0" dirty="0"/>
              <a:t> </a:t>
            </a:r>
            <a:r>
              <a:rPr lang="en-US" baseline="0" dirty="0" err="1"/>
              <a:t>mô</a:t>
            </a:r>
            <a:r>
              <a:rPr lang="en-US" baseline="0" dirty="0"/>
              <a:t> </a:t>
            </a:r>
            <a:r>
              <a:rPr lang="en-US" baseline="0" dirty="0" err="1"/>
              <a:t>tả</a:t>
            </a:r>
            <a:r>
              <a:rPr lang="en-US" baseline="0" dirty="0"/>
              <a:t> </a:t>
            </a:r>
            <a:r>
              <a:rPr lang="vi-VN" dirty="0"/>
              <a:t>khác nhau </a:t>
            </a:r>
            <a:r>
              <a:rPr lang="en-US" dirty="0" err="1"/>
              <a:t>cho</a:t>
            </a:r>
            <a:r>
              <a:rPr lang="en-US" dirty="0"/>
              <a:t> </a:t>
            </a:r>
            <a:r>
              <a:rPr lang="vi-VN" dirty="0"/>
              <a:t>cùng một chức năng hệ thống.</a:t>
            </a:r>
          </a:p>
          <a:p>
            <a:endParaRPr lang="vi-VN" dirty="0"/>
          </a:p>
          <a:p>
            <a:r>
              <a:rPr lang="vi-VN" dirty="0"/>
              <a:t>3. Kiểm tra tính đầy đủ</a:t>
            </a:r>
            <a:r>
              <a:rPr lang="en-US" dirty="0"/>
              <a:t>:</a:t>
            </a:r>
            <a:r>
              <a:rPr lang="vi-VN" dirty="0"/>
              <a:t> Tài liệu yêu cầu phải bao gồm các yêu cầu xác định tất cả các chức năng và các ràng buộc </a:t>
            </a:r>
            <a:r>
              <a:rPr lang="en-US" dirty="0" err="1"/>
              <a:t>đặt</a:t>
            </a:r>
            <a:r>
              <a:rPr lang="en-US" baseline="0" dirty="0"/>
              <a:t> </a:t>
            </a:r>
            <a:r>
              <a:rPr lang="en-US" baseline="0" dirty="0" err="1"/>
              <a:t>ra</a:t>
            </a:r>
            <a:r>
              <a:rPr lang="en-US" baseline="0" dirty="0"/>
              <a:t> </a:t>
            </a:r>
            <a:r>
              <a:rPr lang="en-US" baseline="0" dirty="0" err="1"/>
              <a:t>cho</a:t>
            </a:r>
            <a:r>
              <a:rPr lang="en-US" baseline="0" dirty="0"/>
              <a:t> </a:t>
            </a:r>
            <a:r>
              <a:rPr lang="vi-VN" dirty="0"/>
              <a:t>hệ thống </a:t>
            </a:r>
            <a:r>
              <a:rPr lang="en-US" dirty="0" err="1"/>
              <a:t>được</a:t>
            </a:r>
            <a:r>
              <a:rPr lang="en-US" baseline="0" dirty="0"/>
              <a:t> </a:t>
            </a:r>
            <a:r>
              <a:rPr lang="en-US" dirty="0" err="1"/>
              <a:t>mong</a:t>
            </a:r>
            <a:r>
              <a:rPr lang="en-US" baseline="0" dirty="0"/>
              <a:t> </a:t>
            </a:r>
            <a:r>
              <a:rPr lang="en-US" baseline="0" dirty="0" err="1"/>
              <a:t>đợi</a:t>
            </a:r>
            <a:r>
              <a:rPr lang="vi-VN" dirty="0"/>
              <a:t>.</a:t>
            </a:r>
          </a:p>
          <a:p>
            <a:endParaRPr lang="vi-VN" dirty="0"/>
          </a:p>
          <a:p>
            <a:r>
              <a:rPr lang="vi-VN" dirty="0"/>
              <a:t>4. Kiểm tra hiện thực</a:t>
            </a:r>
            <a:r>
              <a:rPr lang="en-US" dirty="0"/>
              <a:t>:</a:t>
            </a:r>
            <a:r>
              <a:rPr lang="vi-VN" dirty="0"/>
              <a:t> </a:t>
            </a:r>
            <a:r>
              <a:rPr lang="en-US" dirty="0" err="1"/>
              <a:t>Bằng</a:t>
            </a:r>
            <a:r>
              <a:rPr lang="en-US" baseline="0" dirty="0"/>
              <a:t> </a:t>
            </a:r>
            <a:r>
              <a:rPr lang="en-US" baseline="0" dirty="0" err="1"/>
              <a:t>việc</a:t>
            </a:r>
            <a:r>
              <a:rPr lang="en-US" baseline="0" dirty="0"/>
              <a:t> s</a:t>
            </a:r>
            <a:r>
              <a:rPr lang="vi-VN" dirty="0"/>
              <a:t>ử dụng kiến ​​thức về công nghệ hiện có, các yêu cầu cần được kiểm tra để đảm bảo rằng chúng thực sự </a:t>
            </a:r>
            <a:r>
              <a:rPr lang="en-US" dirty="0" err="1"/>
              <a:t>có</a:t>
            </a:r>
            <a:r>
              <a:rPr lang="en-US" baseline="0" dirty="0"/>
              <a:t> </a:t>
            </a:r>
            <a:r>
              <a:rPr lang="en-US" baseline="0" dirty="0" err="1"/>
              <a:t>thể</a:t>
            </a:r>
            <a:r>
              <a:rPr lang="en-US" baseline="0" dirty="0"/>
              <a:t> </a:t>
            </a:r>
            <a:r>
              <a:rPr lang="en-US" baseline="0" dirty="0" err="1"/>
              <a:t>được</a:t>
            </a:r>
            <a:r>
              <a:rPr lang="en-US" baseline="0" dirty="0"/>
              <a:t> </a:t>
            </a:r>
            <a:r>
              <a:rPr lang="vi-VN" dirty="0"/>
              <a:t>hiện</a:t>
            </a:r>
            <a:r>
              <a:rPr lang="en-US" dirty="0"/>
              <a:t> </a:t>
            </a:r>
            <a:r>
              <a:rPr lang="en-US" dirty="0" err="1"/>
              <a:t>thực</a:t>
            </a:r>
            <a:r>
              <a:rPr lang="en-US" baseline="0" dirty="0"/>
              <a:t> </a:t>
            </a:r>
            <a:r>
              <a:rPr lang="en-US" dirty="0" err="1"/>
              <a:t>hóa</a:t>
            </a:r>
            <a:r>
              <a:rPr lang="vi-VN" dirty="0"/>
              <a:t>. Những kiểm tra này cũng nên tính đến ngân sách và lịch biểu cho việc phát triển hệ thống.</a:t>
            </a:r>
          </a:p>
          <a:p>
            <a:endParaRPr lang="vi-VN" dirty="0"/>
          </a:p>
          <a:p>
            <a:r>
              <a:rPr lang="vi-VN" dirty="0"/>
              <a:t>5. </a:t>
            </a:r>
            <a:r>
              <a:rPr lang="en-US" dirty="0" err="1"/>
              <a:t>Kiểm</a:t>
            </a:r>
            <a:r>
              <a:rPr lang="en-US" baseline="0" dirty="0"/>
              <a:t> </a:t>
            </a:r>
            <a:r>
              <a:rPr lang="en-US" baseline="0" dirty="0" err="1"/>
              <a:t>chứng</a:t>
            </a:r>
            <a:r>
              <a:rPr lang="en-US" baseline="0" dirty="0"/>
              <a:t>: </a:t>
            </a:r>
            <a:r>
              <a:rPr lang="vi-VN" dirty="0"/>
              <a:t>Để giảm khả năng tranh chấp giữa khách hàng và nhà thầu, yêu cầu hệ thống luôn được viết </a:t>
            </a:r>
            <a:r>
              <a:rPr lang="en-US" dirty="0" err="1"/>
              <a:t>theo</a:t>
            </a:r>
            <a:r>
              <a:rPr lang="en-US" dirty="0"/>
              <a:t> </a:t>
            </a:r>
            <a:r>
              <a:rPr lang="en-US" dirty="0" err="1"/>
              <a:t>cách</a:t>
            </a:r>
            <a:r>
              <a:rPr lang="en-US" baseline="0" dirty="0"/>
              <a:t> </a:t>
            </a:r>
            <a:r>
              <a:rPr lang="vi-VN" dirty="0"/>
              <a:t>có thể kiểm chứng được. Điều này có nghĩa là </a:t>
            </a:r>
            <a:r>
              <a:rPr lang="en-US" dirty="0" err="1"/>
              <a:t>cần</a:t>
            </a:r>
            <a:r>
              <a:rPr lang="en-US" baseline="0" dirty="0"/>
              <a:t> </a:t>
            </a:r>
            <a:r>
              <a:rPr lang="en-US" baseline="0" dirty="0" err="1"/>
              <a:t>phải</a:t>
            </a:r>
            <a:r>
              <a:rPr lang="en-US" baseline="0" dirty="0"/>
              <a:t> </a:t>
            </a:r>
            <a:r>
              <a:rPr lang="en-US" dirty="0" err="1"/>
              <a:t>xác</a:t>
            </a:r>
            <a:r>
              <a:rPr lang="en-US" baseline="0" dirty="0"/>
              <a:t> </a:t>
            </a:r>
            <a:r>
              <a:rPr lang="en-US" baseline="0" dirty="0" err="1"/>
              <a:t>định</a:t>
            </a:r>
            <a:r>
              <a:rPr lang="en-US" baseline="0" dirty="0"/>
              <a:t> </a:t>
            </a:r>
            <a:r>
              <a:rPr lang="vi-VN" dirty="0"/>
              <a:t>một tập các </a:t>
            </a:r>
            <a:r>
              <a:rPr lang="en-US" dirty="0" err="1"/>
              <a:t>ca</a:t>
            </a:r>
            <a:r>
              <a:rPr lang="en-US" dirty="0"/>
              <a:t> </a:t>
            </a:r>
            <a:r>
              <a:rPr lang="en-US" dirty="0" err="1"/>
              <a:t>kiểm</a:t>
            </a:r>
            <a:r>
              <a:rPr lang="en-US" baseline="0" dirty="0"/>
              <a:t> </a:t>
            </a:r>
            <a:r>
              <a:rPr lang="en-US" baseline="0" dirty="0" err="1"/>
              <a:t>thử</a:t>
            </a:r>
            <a:r>
              <a:rPr lang="en-US" baseline="0" dirty="0"/>
              <a:t> </a:t>
            </a:r>
            <a:r>
              <a:rPr lang="en-US" baseline="0" dirty="0" err="1"/>
              <a:t>để</a:t>
            </a:r>
            <a:r>
              <a:rPr lang="en-US" baseline="0" dirty="0"/>
              <a:t> </a:t>
            </a:r>
            <a:r>
              <a:rPr lang="vi-VN" dirty="0"/>
              <a:t>có thể chứng minh</a:t>
            </a:r>
            <a:r>
              <a:rPr lang="en-US" dirty="0"/>
              <a:t> </a:t>
            </a:r>
            <a:r>
              <a:rPr lang="vi-VN" dirty="0"/>
              <a:t>rằng hệ thống được </a:t>
            </a:r>
            <a:r>
              <a:rPr lang="en-US" dirty="0" err="1"/>
              <a:t>chuyển</a:t>
            </a:r>
            <a:r>
              <a:rPr lang="en-US" baseline="0" dirty="0"/>
              <a:t> </a:t>
            </a:r>
            <a:r>
              <a:rPr lang="en-US" baseline="0" dirty="0" err="1"/>
              <a:t>giao</a:t>
            </a:r>
            <a:r>
              <a:rPr lang="en-US" baseline="0" dirty="0"/>
              <a:t> </a:t>
            </a:r>
            <a:r>
              <a:rPr lang="en-US" baseline="0" dirty="0" err="1"/>
              <a:t>sẽ</a:t>
            </a:r>
            <a:r>
              <a:rPr lang="en-US" baseline="0" dirty="0"/>
              <a:t> </a:t>
            </a:r>
            <a:r>
              <a:rPr lang="vi-VN" dirty="0"/>
              <a:t>đáp ứng </a:t>
            </a:r>
            <a:r>
              <a:rPr lang="en-US" dirty="0" err="1"/>
              <a:t>được</a:t>
            </a:r>
            <a:r>
              <a:rPr lang="en-US" baseline="0" dirty="0"/>
              <a:t> </a:t>
            </a:r>
            <a:r>
              <a:rPr lang="en-US" baseline="0" dirty="0" err="1"/>
              <a:t>tất</a:t>
            </a:r>
            <a:r>
              <a:rPr lang="en-US" baseline="0" dirty="0"/>
              <a:t> </a:t>
            </a:r>
            <a:r>
              <a:rPr lang="en-US" baseline="0" dirty="0" err="1"/>
              <a:t>cả</a:t>
            </a:r>
            <a:r>
              <a:rPr lang="en-US" baseline="0" dirty="0"/>
              <a:t> </a:t>
            </a:r>
            <a:r>
              <a:rPr lang="en-US" baseline="0" dirty="0" err="1"/>
              <a:t>các</a:t>
            </a:r>
            <a:r>
              <a:rPr lang="en-US" baseline="0" dirty="0"/>
              <a:t> </a:t>
            </a:r>
            <a:r>
              <a:rPr lang="vi-VN" dirty="0"/>
              <a:t>yêu cầu cụ thể.</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22</a:t>
            </a:fld>
            <a:endParaRPr lang="en-US"/>
          </a:p>
        </p:txBody>
      </p:sp>
    </p:spTree>
    <p:extLst>
      <p:ext uri="{BB962C8B-B14F-4D97-AF65-F5344CB8AC3E}">
        <p14:creationId xmlns:p14="http://schemas.microsoft.com/office/powerpoint/2010/main" val="3980852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một số kỹ thuật </a:t>
            </a:r>
            <a:r>
              <a:rPr lang="en-US" dirty="0" err="1"/>
              <a:t>thẩm</a:t>
            </a:r>
            <a:r>
              <a:rPr lang="en-US" baseline="0" dirty="0"/>
              <a:t> </a:t>
            </a:r>
            <a:r>
              <a:rPr lang="en-US" baseline="0" dirty="0" err="1"/>
              <a:t>định</a:t>
            </a:r>
            <a:r>
              <a:rPr lang="en-US" baseline="0" dirty="0"/>
              <a:t> </a:t>
            </a:r>
            <a:r>
              <a:rPr lang="vi-VN" dirty="0"/>
              <a:t>yêu cầu có thể được sử dụng riêng lẻ hoặc kết hợp với nhau:</a:t>
            </a:r>
          </a:p>
          <a:p>
            <a:endParaRPr lang="vi-VN" dirty="0"/>
          </a:p>
          <a:p>
            <a:r>
              <a:rPr lang="vi-VN" dirty="0"/>
              <a:t>1. </a:t>
            </a:r>
            <a:r>
              <a:rPr lang="en-US" dirty="0" err="1"/>
              <a:t>Kiểm</a:t>
            </a:r>
            <a:r>
              <a:rPr lang="en-US" baseline="0" dirty="0"/>
              <a:t> </a:t>
            </a:r>
            <a:r>
              <a:rPr lang="en-US" baseline="0" dirty="0" err="1"/>
              <a:t>định</a:t>
            </a:r>
            <a:r>
              <a:rPr lang="en-US" baseline="0" dirty="0"/>
              <a:t> </a:t>
            </a:r>
            <a:r>
              <a:rPr lang="en-US" baseline="0" dirty="0" err="1"/>
              <a:t>và</a:t>
            </a:r>
            <a:r>
              <a:rPr lang="en-US" baseline="0" dirty="0"/>
              <a:t> </a:t>
            </a:r>
            <a:r>
              <a:rPr lang="en-US" baseline="0" dirty="0" err="1"/>
              <a:t>đánh</a:t>
            </a:r>
            <a:r>
              <a:rPr lang="en-US" baseline="0" dirty="0"/>
              <a:t> </a:t>
            </a:r>
            <a:r>
              <a:rPr lang="en-US" baseline="0" dirty="0" err="1"/>
              <a:t>giá</a:t>
            </a:r>
            <a:r>
              <a:rPr lang="en-US" baseline="0" dirty="0"/>
              <a:t> </a:t>
            </a:r>
            <a:r>
              <a:rPr lang="vi-VN" dirty="0"/>
              <a:t>yêu cầu</a:t>
            </a:r>
            <a:r>
              <a:rPr lang="en-US" dirty="0"/>
              <a:t>: </a:t>
            </a:r>
            <a:r>
              <a:rPr lang="en-US" dirty="0" err="1"/>
              <a:t>Các</a:t>
            </a:r>
            <a:r>
              <a:rPr lang="en-US" baseline="0" dirty="0"/>
              <a:t> </a:t>
            </a:r>
            <a:r>
              <a:rPr lang="en-US" baseline="0" dirty="0" err="1"/>
              <a:t>yêu</a:t>
            </a:r>
            <a:r>
              <a:rPr lang="en-US" baseline="0" dirty="0"/>
              <a:t> </a:t>
            </a:r>
            <a:r>
              <a:rPr lang="en-US" baseline="0" dirty="0" err="1"/>
              <a:t>cầu</a:t>
            </a:r>
            <a:r>
              <a:rPr lang="vi-VN" dirty="0"/>
              <a:t> được phân tích một cách hệ thống bởi một nhóm các nhà</a:t>
            </a:r>
            <a:r>
              <a:rPr lang="en-US" baseline="0" dirty="0"/>
              <a:t> </a:t>
            </a:r>
            <a:r>
              <a:rPr lang="en-US" baseline="0" dirty="0" err="1"/>
              <a:t>kiểm</a:t>
            </a:r>
            <a:r>
              <a:rPr lang="en-US" baseline="0" dirty="0"/>
              <a:t> </a:t>
            </a:r>
            <a:r>
              <a:rPr lang="en-US" baseline="0" dirty="0" err="1"/>
              <a:t>định</a:t>
            </a:r>
            <a:r>
              <a:rPr lang="vi-VN" dirty="0"/>
              <a:t>, những người kiểm tra lỗi và mâu thuẫn.</a:t>
            </a:r>
          </a:p>
          <a:p>
            <a:endParaRPr lang="vi-VN" dirty="0"/>
          </a:p>
          <a:p>
            <a:r>
              <a:rPr lang="vi-VN" dirty="0"/>
              <a:t>2. </a:t>
            </a:r>
            <a:r>
              <a:rPr lang="en-US" dirty="0" err="1"/>
              <a:t>Làm</a:t>
            </a:r>
            <a:r>
              <a:rPr lang="en-US" baseline="0" dirty="0"/>
              <a:t> </a:t>
            </a:r>
            <a:r>
              <a:rPr lang="en-US" baseline="0" dirty="0" err="1"/>
              <a:t>bản</a:t>
            </a:r>
            <a:r>
              <a:rPr lang="en-US" baseline="0" dirty="0"/>
              <a:t> </a:t>
            </a:r>
            <a:r>
              <a:rPr lang="en-US" baseline="0" dirty="0" err="1"/>
              <a:t>mẫu</a:t>
            </a:r>
            <a:r>
              <a:rPr lang="en-US" baseline="0" dirty="0"/>
              <a:t>: </a:t>
            </a:r>
            <a:r>
              <a:rPr lang="vi-VN" dirty="0"/>
              <a:t>Trong phương pháp này để </a:t>
            </a:r>
            <a:r>
              <a:rPr lang="en-US" dirty="0" err="1"/>
              <a:t>thẩm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vi-VN" dirty="0"/>
              <a:t>, một mô hình thực thi của hệ thống được </a:t>
            </a:r>
            <a:r>
              <a:rPr lang="en-US" dirty="0" err="1"/>
              <a:t>trình</a:t>
            </a:r>
            <a:r>
              <a:rPr lang="en-US" baseline="0" dirty="0"/>
              <a:t> </a:t>
            </a:r>
            <a:r>
              <a:rPr lang="en-US" baseline="0" dirty="0" err="1"/>
              <a:t>diễn</a:t>
            </a:r>
            <a:r>
              <a:rPr lang="en-US" baseline="0" dirty="0"/>
              <a:t> </a:t>
            </a:r>
            <a:r>
              <a:rPr lang="vi-VN" dirty="0"/>
              <a:t>cho người dùng cuối và khách hàng. Họ có thể thử nghiệm với mô hình này để xem nó có đáp ứng nhu cầu thực sự của họ hay không.</a:t>
            </a:r>
          </a:p>
          <a:p>
            <a:endParaRPr lang="vi-VN" dirty="0"/>
          </a:p>
          <a:p>
            <a:r>
              <a:rPr lang="vi-VN" dirty="0"/>
              <a:t>3. </a:t>
            </a:r>
            <a:r>
              <a:rPr lang="en-US" dirty="0" err="1"/>
              <a:t>Sinh</a:t>
            </a:r>
            <a:r>
              <a:rPr lang="en-US" dirty="0"/>
              <a:t> </a:t>
            </a:r>
            <a:r>
              <a:rPr lang="en-US" dirty="0" err="1"/>
              <a:t>ca</a:t>
            </a:r>
            <a:r>
              <a:rPr lang="en-US" dirty="0"/>
              <a:t> </a:t>
            </a:r>
            <a:r>
              <a:rPr lang="en-US" dirty="0" err="1"/>
              <a:t>kiểm</a:t>
            </a:r>
            <a:r>
              <a:rPr lang="en-US" baseline="0" dirty="0"/>
              <a:t> </a:t>
            </a:r>
            <a:r>
              <a:rPr lang="en-US" baseline="0" dirty="0" err="1"/>
              <a:t>thử</a:t>
            </a:r>
            <a:r>
              <a:rPr lang="en-US" dirty="0"/>
              <a:t>: </a:t>
            </a:r>
            <a:r>
              <a:rPr lang="en-US" dirty="0" err="1"/>
              <a:t>Khi</a:t>
            </a:r>
            <a:r>
              <a:rPr lang="en-US" dirty="0"/>
              <a:t> </a:t>
            </a:r>
            <a:r>
              <a:rPr lang="vi-VN" dirty="0"/>
              <a:t>các </a:t>
            </a:r>
            <a:r>
              <a:rPr lang="en-US" dirty="0" err="1"/>
              <a:t>kiểm</a:t>
            </a:r>
            <a:r>
              <a:rPr lang="en-US" baseline="0" dirty="0"/>
              <a:t> </a:t>
            </a:r>
            <a:r>
              <a:rPr lang="en-US" dirty="0" err="1"/>
              <a:t>thử</a:t>
            </a:r>
            <a:r>
              <a:rPr lang="en-US" baseline="0" dirty="0"/>
              <a:t> </a:t>
            </a:r>
            <a:r>
              <a:rPr lang="vi-VN" dirty="0"/>
              <a:t>cho các yêu cầu được đưa ra như là một phần của quá trình </a:t>
            </a:r>
            <a:r>
              <a:rPr lang="en-US" dirty="0" err="1"/>
              <a:t>thẩm</a:t>
            </a:r>
            <a:r>
              <a:rPr lang="en-US" baseline="0" dirty="0"/>
              <a:t> </a:t>
            </a:r>
            <a:r>
              <a:rPr lang="en-US" baseline="0" dirty="0" err="1"/>
              <a:t>định</a:t>
            </a:r>
            <a:r>
              <a:rPr lang="vi-VN" dirty="0"/>
              <a:t>, </a:t>
            </a:r>
            <a:r>
              <a:rPr lang="en-US" dirty="0" err="1"/>
              <a:t>các</a:t>
            </a:r>
            <a:r>
              <a:rPr lang="en-US" baseline="0" dirty="0"/>
              <a:t> </a:t>
            </a:r>
            <a:r>
              <a:rPr lang="vi-VN" dirty="0"/>
              <a:t>vấn đề </a:t>
            </a:r>
            <a:r>
              <a:rPr lang="en-US" dirty="0" err="1"/>
              <a:t>về</a:t>
            </a:r>
            <a:r>
              <a:rPr lang="en-US" baseline="0" dirty="0"/>
              <a:t> </a:t>
            </a:r>
            <a:r>
              <a:rPr lang="vi-VN" dirty="0"/>
              <a:t>yêu cầu</a:t>
            </a:r>
            <a:r>
              <a:rPr lang="en-US" dirty="0"/>
              <a:t> qua </a:t>
            </a:r>
            <a:r>
              <a:rPr lang="en-US" dirty="0" err="1"/>
              <a:t>đó</a:t>
            </a:r>
            <a:r>
              <a:rPr lang="en-US" baseline="0" dirty="0"/>
              <a:t> </a:t>
            </a:r>
            <a:r>
              <a:rPr lang="en-US" dirty="0" err="1"/>
              <a:t>thường</a:t>
            </a:r>
            <a:r>
              <a:rPr lang="en-US" baseline="0" dirty="0"/>
              <a:t> </a:t>
            </a:r>
            <a:r>
              <a:rPr lang="en-US" baseline="0" dirty="0" err="1"/>
              <a:t>được</a:t>
            </a:r>
            <a:r>
              <a:rPr lang="en-US" baseline="0" dirty="0"/>
              <a:t> </a:t>
            </a:r>
            <a:r>
              <a:rPr lang="en-US" baseline="0" dirty="0" err="1"/>
              <a:t>làm</a:t>
            </a:r>
            <a:r>
              <a:rPr lang="en-US" baseline="0" dirty="0"/>
              <a:t> </a:t>
            </a:r>
            <a:r>
              <a:rPr lang="en-US" baseline="0" dirty="0" err="1"/>
              <a:t>rõ</a:t>
            </a:r>
            <a:r>
              <a:rPr lang="vi-VN" dirty="0"/>
              <a:t>. Nếu một </a:t>
            </a:r>
            <a:r>
              <a:rPr lang="en-US" dirty="0" err="1"/>
              <a:t>kiểm</a:t>
            </a:r>
            <a:r>
              <a:rPr lang="en-US" baseline="0" dirty="0"/>
              <a:t> </a:t>
            </a:r>
            <a:r>
              <a:rPr lang="en-US" baseline="0" dirty="0" err="1"/>
              <a:t>thử</a:t>
            </a:r>
            <a:r>
              <a:rPr lang="en-US" baseline="0" dirty="0"/>
              <a:t> </a:t>
            </a:r>
            <a:r>
              <a:rPr lang="vi-VN" dirty="0"/>
              <a:t>là khó khăn hoặc không thể thiết kế, điều này thường có nghĩa là các yêu cầu sẽ khó thực hiện và cần được xem xét lại. </a:t>
            </a:r>
            <a:r>
              <a:rPr lang="en-US" dirty="0" err="1"/>
              <a:t>Xây</a:t>
            </a:r>
            <a:r>
              <a:rPr lang="en-US" baseline="0" dirty="0"/>
              <a:t> </a:t>
            </a:r>
            <a:r>
              <a:rPr lang="en-US" baseline="0" dirty="0" err="1"/>
              <a:t>dựng</a:t>
            </a:r>
            <a:r>
              <a:rPr lang="en-US" baseline="0" dirty="0"/>
              <a:t> </a:t>
            </a:r>
            <a:r>
              <a:rPr lang="vi-VN" dirty="0"/>
              <a:t>ác </a:t>
            </a:r>
            <a:r>
              <a:rPr lang="en-US" dirty="0" err="1"/>
              <a:t>ca</a:t>
            </a:r>
            <a:r>
              <a:rPr lang="en-US" dirty="0"/>
              <a:t> </a:t>
            </a:r>
            <a:r>
              <a:rPr lang="en-US" dirty="0" err="1"/>
              <a:t>kiểm</a:t>
            </a:r>
            <a:r>
              <a:rPr lang="en-US" baseline="0" dirty="0"/>
              <a:t> </a:t>
            </a:r>
            <a:r>
              <a:rPr lang="en-US" baseline="0" dirty="0" err="1"/>
              <a:t>thử</a:t>
            </a:r>
            <a:r>
              <a:rPr lang="en-US" baseline="0" dirty="0"/>
              <a:t> </a:t>
            </a:r>
            <a:r>
              <a:rPr lang="vi-VN" dirty="0"/>
              <a:t>từ các yêu cầu của người dùng trước khi </a:t>
            </a:r>
            <a:r>
              <a:rPr lang="en-US" dirty="0" err="1"/>
              <a:t>cài</a:t>
            </a:r>
            <a:r>
              <a:rPr lang="en-US" baseline="0" dirty="0"/>
              <a:t> </a:t>
            </a:r>
            <a:r>
              <a:rPr lang="en-US" baseline="0" dirty="0" err="1"/>
              <a:t>đặt</a:t>
            </a:r>
            <a:r>
              <a:rPr lang="en-US" baseline="0" dirty="0"/>
              <a:t> </a:t>
            </a:r>
            <a:r>
              <a:rPr lang="vi-VN" dirty="0"/>
              <a:t>là một phần không thể thiếu trong lập trình cực đoan.</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23</a:t>
            </a:fld>
            <a:endParaRPr lang="en-US"/>
          </a:p>
        </p:txBody>
      </p:sp>
    </p:spTree>
    <p:extLst>
      <p:ext uri="{BB962C8B-B14F-4D97-AF65-F5344CB8AC3E}">
        <p14:creationId xmlns:p14="http://schemas.microsoft.com/office/powerpoint/2010/main" val="1303461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Kiểm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là</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thẩm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này</a:t>
            </a:r>
            <a:r>
              <a:rPr lang="en-US" baseline="0" dirty="0"/>
              <a:t> </a:t>
            </a:r>
            <a:r>
              <a:rPr lang="en-US" baseline="0" dirty="0" err="1"/>
              <a:t>được</a:t>
            </a:r>
            <a:r>
              <a:rPr lang="en-US" baseline="0" dirty="0"/>
              <a:t> </a:t>
            </a:r>
            <a:r>
              <a:rPr lang="en-US" baseline="0" dirty="0" err="1"/>
              <a:t>thực</a:t>
            </a:r>
            <a:r>
              <a:rPr lang="en-US" baseline="0" dirty="0"/>
              <a:t> </a:t>
            </a:r>
            <a:r>
              <a:rPr lang="en-US" baseline="0" dirty="0" err="1"/>
              <a:t>hiện</a:t>
            </a:r>
            <a:r>
              <a:rPr lang="en-US" baseline="0" dirty="0"/>
              <a:t> song </a:t>
            </a:r>
            <a:r>
              <a:rPr lang="en-US" baseline="0" dirty="0" err="1"/>
              <a:t>song</a:t>
            </a:r>
            <a:r>
              <a:rPr lang="en-US" baseline="0" dirty="0"/>
              <a:t> </a:t>
            </a:r>
            <a:r>
              <a:rPr lang="en-US" baseline="0" dirty="0" err="1"/>
              <a:t>với</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a:t>
            </a:r>
            <a:r>
              <a:rPr lang="en-US" baseline="0" dirty="0" err="1"/>
              <a:t>được</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bởi</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hợp</a:t>
            </a:r>
            <a:r>
              <a:rPr lang="en-US" baseline="0" dirty="0"/>
              <a:t> </a:t>
            </a:r>
            <a:r>
              <a:rPr lang="en-US" baseline="0" dirty="0" err="1"/>
              <a:t>đồng</a:t>
            </a:r>
            <a:r>
              <a:rPr lang="en-US" baseline="0" dirty="0"/>
              <a:t>. </a:t>
            </a:r>
            <a:r>
              <a:rPr lang="en-US" baseline="0" dirty="0" err="1"/>
              <a:t>Kiểm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một</a:t>
            </a:r>
            <a:r>
              <a:rPr lang="en-US" baseline="0" dirty="0"/>
              <a:t> </a:t>
            </a:r>
            <a:r>
              <a:rPr lang="en-US" baseline="0" dirty="0" err="1"/>
              <a:t>cách</a:t>
            </a:r>
            <a:r>
              <a:rPr lang="en-US" baseline="0" dirty="0"/>
              <a:t> </a:t>
            </a:r>
            <a:r>
              <a:rPr lang="en-US" baseline="0" dirty="0" err="1"/>
              <a:t>hình</a:t>
            </a:r>
            <a:r>
              <a:rPr lang="en-US" baseline="0" dirty="0"/>
              <a:t> </a:t>
            </a:r>
            <a:r>
              <a:rPr lang="en-US" baseline="0" dirty="0" err="1"/>
              <a:t>thức</a:t>
            </a:r>
            <a:r>
              <a:rPr lang="en-US" baseline="0" dirty="0"/>
              <a:t> </a:t>
            </a:r>
            <a:r>
              <a:rPr lang="en-US" baseline="0" dirty="0" err="1"/>
              <a:t>bằng</a:t>
            </a:r>
            <a:r>
              <a:rPr lang="en-US" baseline="0" dirty="0"/>
              <a:t> </a:t>
            </a:r>
            <a:r>
              <a:rPr lang="en-US" baseline="0" dirty="0" err="1"/>
              <a:t>việc</a:t>
            </a:r>
            <a:r>
              <a:rPr lang="en-US" baseline="0" dirty="0"/>
              <a:t> </a:t>
            </a:r>
            <a:r>
              <a:rPr lang="en-US" baseline="0" dirty="0" err="1"/>
              <a:t>lập</a:t>
            </a:r>
            <a:r>
              <a:rPr lang="en-US" baseline="0" dirty="0"/>
              <a:t> </a:t>
            </a:r>
            <a:r>
              <a:rPr lang="en-US" baseline="0" dirty="0" err="1"/>
              <a:t>các</a:t>
            </a:r>
            <a:r>
              <a:rPr lang="en-US" baseline="0" dirty="0"/>
              <a:t> </a:t>
            </a:r>
            <a:r>
              <a:rPr lang="en-US" baseline="0" dirty="0" err="1"/>
              <a:t>hội</a:t>
            </a:r>
            <a:r>
              <a:rPr lang="en-US" baseline="0" dirty="0"/>
              <a:t> </a:t>
            </a:r>
            <a:r>
              <a:rPr lang="en-US" baseline="0" dirty="0" err="1"/>
              <a:t>đồng</a:t>
            </a:r>
            <a:r>
              <a:rPr lang="en-US" baseline="0" dirty="0"/>
              <a:t> </a:t>
            </a:r>
            <a:r>
              <a:rPr lang="en-US" baseline="0" dirty="0" err="1"/>
              <a:t>kiểm</a:t>
            </a:r>
            <a:r>
              <a:rPr lang="en-US" baseline="0" dirty="0"/>
              <a:t> </a:t>
            </a:r>
            <a:r>
              <a:rPr lang="en-US" baseline="0" dirty="0" err="1"/>
              <a:t>định</a:t>
            </a:r>
            <a:r>
              <a:rPr lang="en-US" baseline="0" dirty="0"/>
              <a:t> </a:t>
            </a:r>
            <a:r>
              <a:rPr lang="en-US" baseline="0" dirty="0" err="1"/>
              <a:t>hoặc</a:t>
            </a:r>
            <a:r>
              <a:rPr lang="en-US" baseline="0" dirty="0"/>
              <a:t> </a:t>
            </a:r>
            <a:r>
              <a:rPr lang="en-US" baseline="0" dirty="0" err="1"/>
              <a:t>được</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theo</a:t>
            </a:r>
            <a:r>
              <a:rPr lang="en-US" baseline="0" dirty="0"/>
              <a:t> </a:t>
            </a:r>
            <a:r>
              <a:rPr lang="en-US" baseline="0" dirty="0" err="1"/>
              <a:t>cách</a:t>
            </a:r>
            <a:r>
              <a:rPr lang="en-US" baseline="0" dirty="0"/>
              <a:t> phi </a:t>
            </a:r>
            <a:r>
              <a:rPr lang="en-US" baseline="0" dirty="0" err="1"/>
              <a:t>hình</a:t>
            </a:r>
            <a:r>
              <a:rPr lang="en-US" baseline="0" dirty="0"/>
              <a:t> </a:t>
            </a:r>
            <a:r>
              <a:rPr lang="en-US" baseline="0" dirty="0" err="1"/>
              <a:t>thức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kiểm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đòi</a:t>
            </a:r>
            <a:r>
              <a:rPr lang="en-US" baseline="0" dirty="0"/>
              <a:t> </a:t>
            </a:r>
            <a:r>
              <a:rPr lang="en-US" baseline="0" dirty="0" err="1"/>
              <a:t>hỏi</a:t>
            </a:r>
            <a:r>
              <a:rPr lang="en-US" baseline="0" dirty="0"/>
              <a:t> </a:t>
            </a:r>
            <a:r>
              <a:rPr lang="en-US" baseline="0" dirty="0" err="1"/>
              <a:t>khả</a:t>
            </a:r>
            <a:r>
              <a:rPr lang="en-US" baseline="0" dirty="0"/>
              <a:t> </a:t>
            </a:r>
            <a:r>
              <a:rPr lang="en-US" baseline="0" dirty="0" err="1"/>
              <a:t>năng</a:t>
            </a:r>
            <a:r>
              <a:rPr lang="en-US" baseline="0" dirty="0"/>
              <a:t> </a:t>
            </a:r>
            <a:r>
              <a:rPr lang="en-US" baseline="0" dirty="0" err="1"/>
              <a:t>giao</a:t>
            </a:r>
            <a:r>
              <a:rPr lang="en-US" baseline="0" dirty="0"/>
              <a:t> </a:t>
            </a:r>
            <a:r>
              <a:rPr lang="en-US" baseline="0" dirty="0" err="1"/>
              <a:t>tiếp</a:t>
            </a:r>
            <a:r>
              <a:rPr lang="en-US" baseline="0" dirty="0"/>
              <a:t> </a:t>
            </a:r>
            <a:r>
              <a:rPr lang="en-US" baseline="0" dirty="0" err="1"/>
              <a:t>tốt</a:t>
            </a:r>
            <a:r>
              <a:rPr lang="en-US" baseline="0" dirty="0"/>
              <a:t> </a:t>
            </a:r>
            <a:r>
              <a:rPr lang="en-US" baseline="0" dirty="0" err="1"/>
              <a:t>với</a:t>
            </a:r>
            <a:r>
              <a:rPr lang="en-US" baseline="0" dirty="0"/>
              <a:t> </a:t>
            </a:r>
            <a:r>
              <a:rPr lang="en-US" baseline="0" dirty="0" err="1"/>
              <a:t>người</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khách</a:t>
            </a:r>
            <a:r>
              <a:rPr lang="en-US" baseline="0" dirty="0"/>
              <a:t> </a:t>
            </a:r>
            <a:r>
              <a:rPr lang="en-US" baseline="0" dirty="0" err="1"/>
              <a:t>hàng</a:t>
            </a:r>
            <a:r>
              <a:rPr lang="en-US" baseline="0" dirty="0"/>
              <a:t> </a:t>
            </a:r>
            <a:r>
              <a:rPr lang="en-US" baseline="0" dirty="0" err="1"/>
              <a:t>và</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cuối</a:t>
            </a:r>
            <a:r>
              <a:rPr lang="en-US" baseline="0" dirty="0"/>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24</a:t>
            </a:fld>
            <a:endParaRPr lang="en-US"/>
          </a:p>
        </p:txBody>
      </p:sp>
    </p:spTree>
    <p:extLst>
      <p:ext uri="{BB962C8B-B14F-4D97-AF65-F5344CB8AC3E}">
        <p14:creationId xmlns:p14="http://schemas.microsoft.com/office/powerpoint/2010/main" val="3661669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Hoạt</a:t>
            </a:r>
            <a:r>
              <a:rPr lang="en-US" baseline="0" dirty="0"/>
              <a:t> </a:t>
            </a:r>
            <a:r>
              <a:rPr lang="en-US" baseline="0" dirty="0" err="1"/>
              <a:t>động</a:t>
            </a:r>
            <a:r>
              <a:rPr lang="en-US" baseline="0" dirty="0"/>
              <a:t> </a:t>
            </a:r>
            <a:r>
              <a:rPr lang="en-US" baseline="0" dirty="0" err="1"/>
              <a:t>kiểm</a:t>
            </a:r>
            <a:r>
              <a:rPr lang="en-US" baseline="0" dirty="0"/>
              <a:t> </a:t>
            </a:r>
            <a:r>
              <a:rPr lang="en-US" baseline="0" dirty="0" err="1"/>
              <a:t>định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thường</a:t>
            </a:r>
            <a:r>
              <a:rPr lang="en-US" baseline="0" dirty="0"/>
              <a:t> </a:t>
            </a:r>
            <a:r>
              <a:rPr lang="en-US" baseline="0" dirty="0" err="1"/>
              <a:t>bao</a:t>
            </a:r>
            <a:r>
              <a:rPr lang="en-US" baseline="0" dirty="0"/>
              <a:t> </a:t>
            </a:r>
            <a:r>
              <a:rPr lang="en-US" baseline="0" dirty="0" err="1"/>
              <a:t>gồm</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sau</a:t>
            </a:r>
            <a:r>
              <a:rPr lang="en-US" baseline="0" dirty="0"/>
              <a:t>:</a:t>
            </a:r>
          </a:p>
          <a:p>
            <a:endParaRPr lang="en-US" dirty="0"/>
          </a:p>
          <a:p>
            <a:pPr marL="1440" indent="0">
              <a:lnSpc>
                <a:spcPct val="100000"/>
              </a:lnSpc>
              <a:spcBef>
                <a:spcPts val="601"/>
              </a:spcBef>
              <a:buClr>
                <a:srgbClr val="000000"/>
              </a:buClr>
              <a:buFontTx/>
              <a:buNone/>
            </a:pPr>
            <a:r>
              <a:rPr lang="en-US" sz="3000" b="0" strike="noStrike" spc="-1" dirty="0" err="1">
                <a:solidFill>
                  <a:srgbClr val="000000"/>
                </a:solidFill>
                <a:uFill>
                  <a:solidFill>
                    <a:srgbClr val="FFFFFF"/>
                  </a:solidFill>
                </a:uFill>
                <a:latin typeface="+mn-lt"/>
                <a:ea typeface="DejaVu Sans"/>
              </a:rPr>
              <a:t>Thứ</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nhất</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kiểm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định</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phần</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mềm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cần</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đ</a:t>
            </a:r>
            <a:r>
              <a:rPr lang="en-US" sz="3000" b="0" strike="noStrike" spc="-1" dirty="0" err="1">
                <a:solidFill>
                  <a:srgbClr val="000000"/>
                </a:solidFill>
                <a:uFill>
                  <a:solidFill>
                    <a:srgbClr val="FFFFFF"/>
                  </a:solidFill>
                </a:uFill>
                <a:latin typeface="+mn-lt"/>
                <a:ea typeface="DejaVu Sans"/>
              </a:rPr>
              <a:t>ảm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bảo</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t</a:t>
            </a:r>
            <a:r>
              <a:rPr lang="en-US" sz="3000" b="0" strike="noStrike" spc="-1" dirty="0" err="1">
                <a:solidFill>
                  <a:srgbClr val="000000"/>
                </a:solidFill>
                <a:uFill>
                  <a:solidFill>
                    <a:srgbClr val="FFFFFF"/>
                  </a:solidFill>
                </a:uFill>
                <a:latin typeface="+mn-lt"/>
                <a:ea typeface="DejaVu Sans"/>
              </a:rPr>
              <a:t>ính</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kiểm</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chứng</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được</a:t>
            </a:r>
            <a:r>
              <a:rPr lang="en-US" sz="3000" b="0" strike="noStrike" spc="-1" dirty="0">
                <a:solidFill>
                  <a:srgbClr val="000000"/>
                </a:solidFill>
                <a:uFill>
                  <a:solidFill>
                    <a:srgbClr val="FFFFFF"/>
                  </a:solidFill>
                </a:uFill>
                <a:latin typeface="+mn-lt"/>
                <a:ea typeface="DejaVu Sans"/>
              </a:rPr>
              <a:t>,</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nghĩa</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là</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với</a:t>
            </a:r>
            <a:r>
              <a:rPr lang="en-US" sz="3000" b="0" strike="noStrike" spc="-1" baseline="0"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các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yêu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cầu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được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phát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biểu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chúng</a:t>
            </a:r>
            <a:r>
              <a:rPr lang="en-US" sz="3000" spc="-1" baseline="0" dirty="0">
                <a:solidFill>
                  <a:srgbClr val="000000"/>
                </a:solidFill>
                <a:uFill>
                  <a:solidFill>
                    <a:srgbClr val="FFFFFF"/>
                  </a:solidFill>
                </a:uFill>
                <a:latin typeface="+mn-lt"/>
                <a:ea typeface="DejaVu Sans"/>
              </a:rPr>
              <a:t> ta </a:t>
            </a:r>
            <a:r>
              <a:rPr lang="en-US" sz="3000" spc="-1" dirty="0" err="1">
                <a:solidFill>
                  <a:srgbClr val="000000"/>
                </a:solidFill>
                <a:uFill>
                  <a:solidFill>
                    <a:srgbClr val="FFFFFF"/>
                  </a:solidFill>
                </a:uFill>
                <a:latin typeface="+mn-lt"/>
                <a:ea typeface="DejaVu Sans"/>
              </a:rPr>
              <a:t>có</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thể</a:t>
            </a:r>
            <a:r>
              <a:rPr lang="en-US" sz="3000" spc="-1" baseline="0"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kiểm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tra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được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hệ</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thống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có</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thỏa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mãn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này</a:t>
            </a:r>
            <a:r>
              <a:rPr lang="en-US" sz="3000" spc="-1" baseline="0" dirty="0">
                <a:solidFill>
                  <a:srgbClr val="000000"/>
                </a:solidFill>
                <a:uFill>
                  <a:solidFill>
                    <a:srgbClr val="FFFFFF"/>
                  </a:solidFill>
                </a:uFill>
                <a:latin typeface="+mn-lt"/>
                <a:ea typeface="DejaVu Sans"/>
              </a:rPr>
              <a:t> hay </a:t>
            </a:r>
            <a:r>
              <a:rPr lang="en-US" sz="3000" spc="-1" baseline="0" dirty="0" err="1">
                <a:solidFill>
                  <a:srgbClr val="000000"/>
                </a:solidFill>
                <a:uFill>
                  <a:solidFill>
                    <a:srgbClr val="FFFFFF"/>
                  </a:solidFill>
                </a:uFill>
                <a:latin typeface="+mn-lt"/>
                <a:ea typeface="DejaVu Sans"/>
              </a:rPr>
              <a:t>không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Với</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phi </a:t>
            </a:r>
            <a:r>
              <a:rPr lang="en-US" sz="3000" spc="-1" baseline="0" dirty="0" err="1">
                <a:solidFill>
                  <a:srgbClr val="000000"/>
                </a:solidFill>
                <a:uFill>
                  <a:solidFill>
                    <a:srgbClr val="FFFFFF"/>
                  </a:solidFill>
                </a:uFill>
                <a:latin typeface="+mn-lt"/>
                <a:ea typeface="DejaVu Sans"/>
              </a:rPr>
              <a:t>chức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năng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việc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kiểm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tra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này</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thường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gặp</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nhiều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khó</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khăn</a:t>
            </a:r>
            <a:r>
              <a:rPr lang="en-US" sz="3000" spc="-1" baseline="0" dirty="0">
                <a:solidFill>
                  <a:srgbClr val="000000"/>
                </a:solidFill>
                <a:uFill>
                  <a:solidFill>
                    <a:srgbClr val="FFFFFF"/>
                  </a:solidFill>
                </a:uFill>
                <a:latin typeface="+mn-lt"/>
                <a:ea typeface="DejaVu Sans"/>
              </a:rPr>
              <a:t> so </a:t>
            </a:r>
            <a:r>
              <a:rPr lang="en-US" sz="3000" spc="-1" baseline="0" dirty="0" err="1">
                <a:solidFill>
                  <a:srgbClr val="000000"/>
                </a:solidFill>
                <a:uFill>
                  <a:solidFill>
                    <a:srgbClr val="FFFFFF"/>
                  </a:solidFill>
                </a:uFill>
                <a:latin typeface="+mn-lt"/>
                <a:ea typeface="DejaVu Sans"/>
              </a:rPr>
              <a:t>với</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chức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năng</a:t>
            </a:r>
            <a:r>
              <a:rPr lang="en-US" sz="3000" spc="-1" baseline="0" dirty="0">
                <a:solidFill>
                  <a:srgbClr val="000000"/>
                </a:solidFill>
                <a:uFill>
                  <a:solidFill>
                    <a:srgbClr val="FFFFFF"/>
                  </a:solidFill>
                </a:uFill>
                <a:latin typeface="+mn-lt"/>
                <a:ea typeface="DejaVu Sans"/>
              </a:rPr>
              <a:t>.</a:t>
            </a:r>
            <a:endParaRPr lang="en-US" sz="3000" spc="-1" dirty="0">
              <a:solidFill>
                <a:srgbClr val="000000"/>
              </a:solidFill>
              <a:uFill>
                <a:solidFill>
                  <a:srgbClr val="FFFFFF"/>
                </a:solidFill>
              </a:uFill>
              <a:latin typeface="+mn-lt"/>
              <a:ea typeface="DejaVu Sans"/>
            </a:endParaRPr>
          </a:p>
          <a:p>
            <a:pPr marL="1440" indent="0">
              <a:lnSpc>
                <a:spcPct val="100000"/>
              </a:lnSpc>
              <a:spcBef>
                <a:spcPts val="601"/>
              </a:spcBef>
              <a:buClr>
                <a:srgbClr val="000000"/>
              </a:buClr>
              <a:buFontTx/>
              <a:buNone/>
            </a:pPr>
            <a:endParaRPr lang="en-US" sz="3000" spc="-1" dirty="0">
              <a:solidFill>
                <a:srgbClr val="000000"/>
              </a:solidFill>
              <a:uFill>
                <a:solidFill>
                  <a:srgbClr val="FFFFFF"/>
                </a:solidFill>
              </a:uFill>
              <a:latin typeface="+mn-lt"/>
              <a:ea typeface="DejaVu Sans"/>
            </a:endParaRPr>
          </a:p>
          <a:p>
            <a:pPr marL="1440" indent="0">
              <a:lnSpc>
                <a:spcPct val="100000"/>
              </a:lnSpc>
              <a:spcBef>
                <a:spcPts val="601"/>
              </a:spcBef>
              <a:buClr>
                <a:srgbClr val="000000"/>
              </a:buClr>
              <a:buFontTx/>
              <a:buNone/>
            </a:pPr>
            <a:r>
              <a:rPr lang="en-US" sz="3000" b="0" strike="noStrike" spc="-1" dirty="0" err="1">
                <a:solidFill>
                  <a:srgbClr val="000000"/>
                </a:solidFill>
                <a:uFill>
                  <a:solidFill>
                    <a:srgbClr val="FFFFFF"/>
                  </a:solidFill>
                </a:uFill>
                <a:latin typeface="+mn-lt"/>
                <a:ea typeface="DejaVu Sans"/>
              </a:rPr>
              <a:t>Thứ</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hai</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kiểm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định</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phần</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mềm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cần</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đ</a:t>
            </a:r>
            <a:r>
              <a:rPr lang="en-US" sz="3000" b="0" strike="noStrike" spc="-1" dirty="0" err="1">
                <a:solidFill>
                  <a:srgbClr val="000000"/>
                </a:solidFill>
                <a:uFill>
                  <a:solidFill>
                    <a:srgbClr val="FFFFFF"/>
                  </a:solidFill>
                </a:uFill>
                <a:latin typeface="+mn-lt"/>
                <a:ea typeface="DejaVu Sans"/>
              </a:rPr>
              <a:t>ảm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bảo</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t</a:t>
            </a:r>
            <a:r>
              <a:rPr lang="en-US" sz="3000" b="0" strike="noStrike" spc="-1" dirty="0" err="1">
                <a:solidFill>
                  <a:srgbClr val="000000"/>
                </a:solidFill>
                <a:uFill>
                  <a:solidFill>
                    <a:srgbClr val="FFFFFF"/>
                  </a:solidFill>
                </a:uFill>
                <a:latin typeface="+mn-lt"/>
                <a:ea typeface="DejaVu Sans"/>
              </a:rPr>
              <a:t>ính</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hiểu</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được</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nghĩa</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là</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kiểm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tra</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xem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các</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phát</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biểu</a:t>
            </a:r>
            <a:r>
              <a:rPr lang="en-US" sz="3000" b="0" strike="noStrike" spc="-1" baseline="0"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yêu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cầu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có</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thể</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hiểu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được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trọn</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vẹn</a:t>
            </a:r>
            <a:r>
              <a:rPr lang="en-US" sz="3000" spc="-1" baseline="0" dirty="0">
                <a:solidFill>
                  <a:srgbClr val="000000"/>
                </a:solidFill>
                <a:uFill>
                  <a:solidFill>
                    <a:srgbClr val="FFFFFF"/>
                  </a:solidFill>
                </a:uFill>
                <a:latin typeface="+mn-lt"/>
                <a:ea typeface="DejaVu Sans"/>
              </a:rPr>
              <a:t> hay </a:t>
            </a:r>
            <a:r>
              <a:rPr lang="en-US" sz="3000" spc="-1" baseline="0" dirty="0" err="1">
                <a:solidFill>
                  <a:srgbClr val="000000"/>
                </a:solidFill>
                <a:uFill>
                  <a:solidFill>
                    <a:srgbClr val="FFFFFF"/>
                  </a:solidFill>
                </a:uFill>
                <a:latin typeface="+mn-lt"/>
                <a:ea typeface="DejaVu Sans"/>
              </a:rPr>
              <a:t>không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Đây</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điều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thiết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để</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đảm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bảo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được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tính</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thống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nhất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giữa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bên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liên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quan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về</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đặt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ra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cho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hệ</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thống</a:t>
            </a:r>
            <a:r>
              <a:rPr lang="en-US" sz="3000" spc="-1" baseline="0" dirty="0">
                <a:solidFill>
                  <a:srgbClr val="000000"/>
                </a:solidFill>
                <a:uFill>
                  <a:solidFill>
                    <a:srgbClr val="FFFFFF"/>
                  </a:solidFill>
                </a:uFill>
                <a:latin typeface="+mn-lt"/>
                <a:ea typeface="DejaVu Sans"/>
              </a:rPr>
              <a:t>.</a:t>
            </a:r>
            <a:endParaRPr lang="en-US" sz="3000" spc="-1" dirty="0">
              <a:solidFill>
                <a:srgbClr val="000000"/>
              </a:solidFill>
              <a:uFill>
                <a:solidFill>
                  <a:srgbClr val="FFFFFF"/>
                </a:solidFill>
              </a:uFill>
              <a:latin typeface="+mn-lt"/>
              <a:ea typeface="DejaVu Sans"/>
            </a:endParaRPr>
          </a:p>
          <a:p>
            <a:pPr marL="1440" indent="0">
              <a:lnSpc>
                <a:spcPct val="100000"/>
              </a:lnSpc>
              <a:spcBef>
                <a:spcPts val="601"/>
              </a:spcBef>
              <a:buClr>
                <a:srgbClr val="000000"/>
              </a:buClr>
              <a:buFontTx/>
              <a:buNone/>
            </a:pPr>
            <a:endParaRPr lang="en-US" sz="3000" spc="-1" dirty="0">
              <a:solidFill>
                <a:srgbClr val="000000"/>
              </a:solidFill>
              <a:uFill>
                <a:solidFill>
                  <a:srgbClr val="FFFFFF"/>
                </a:solidFill>
              </a:uFill>
              <a:latin typeface="+mn-lt"/>
              <a:ea typeface="DejaVu Sans"/>
            </a:endParaRPr>
          </a:p>
          <a:p>
            <a:pPr marL="1440" indent="0">
              <a:lnSpc>
                <a:spcPct val="100000"/>
              </a:lnSpc>
              <a:spcBef>
                <a:spcPts val="601"/>
              </a:spcBef>
              <a:buClr>
                <a:srgbClr val="000000"/>
              </a:buClr>
              <a:buFontTx/>
              <a:buNone/>
            </a:pPr>
            <a:r>
              <a:rPr lang="en-US" sz="3000" b="0" strike="noStrike" spc="-1" dirty="0" err="1">
                <a:solidFill>
                  <a:srgbClr val="000000"/>
                </a:solidFill>
                <a:uFill>
                  <a:solidFill>
                    <a:srgbClr val="FFFFFF"/>
                  </a:solidFill>
                </a:uFill>
                <a:latin typeface="+mn-lt"/>
                <a:ea typeface="DejaVu Sans"/>
              </a:rPr>
              <a:t>Thứ</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ba</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kiểm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định</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phần</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mềm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cần</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đ</a:t>
            </a:r>
            <a:r>
              <a:rPr lang="en-US" sz="3000" b="0" strike="noStrike" spc="-1" dirty="0" err="1">
                <a:solidFill>
                  <a:srgbClr val="000000"/>
                </a:solidFill>
                <a:uFill>
                  <a:solidFill>
                    <a:srgbClr val="FFFFFF"/>
                  </a:solidFill>
                </a:uFill>
                <a:latin typeface="+mn-lt"/>
                <a:ea typeface="DejaVu Sans"/>
              </a:rPr>
              <a:t>ảm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bảo</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t</a:t>
            </a:r>
            <a:r>
              <a:rPr lang="en-US" sz="3000" b="0" strike="noStrike" spc="-1" dirty="0" err="1">
                <a:solidFill>
                  <a:srgbClr val="000000"/>
                </a:solidFill>
                <a:uFill>
                  <a:solidFill>
                    <a:srgbClr val="FFFFFF"/>
                  </a:solidFill>
                </a:uFill>
                <a:latin typeface="+mn-lt"/>
                <a:ea typeface="DejaVu Sans"/>
              </a:rPr>
              <a:t>ính</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lần</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vết</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được</a:t>
            </a:r>
            <a:r>
              <a:rPr lang="en-US" sz="3000" b="0" strike="noStrike" spc="-1" dirty="0">
                <a:solidFill>
                  <a:srgbClr val="000000"/>
                </a:solidFill>
                <a:uFill>
                  <a:solidFill>
                    <a:srgbClr val="FFFFFF"/>
                  </a:solidFill>
                </a:uFill>
                <a:latin typeface="+mn-lt"/>
                <a:ea typeface="DejaVu Sans"/>
              </a:rPr>
              <a:t>,</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nghĩa</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là</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cần</a:t>
            </a:r>
            <a:r>
              <a:rPr lang="en-US" sz="3000" b="0" strike="noStrike" spc="-1" baseline="0"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làm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rõ</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và</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duy</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trì</a:t>
            </a:r>
            <a:r>
              <a:rPr lang="en-US" sz="3000" b="0" strike="noStrike" spc="-1" baseline="0"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nguồn</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gốc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của</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các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yêu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cầu</a:t>
            </a:r>
            <a:r>
              <a:rPr lang="en-US" sz="3000" spc="-1" dirty="0">
                <a:solidFill>
                  <a:srgbClr val="000000"/>
                </a:solidFill>
                <a:uFill>
                  <a:solidFill>
                    <a:srgbClr val="FFFFFF"/>
                  </a:solidFill>
                </a:uFill>
                <a:latin typeface="+mn-lt"/>
                <a:ea typeface="DejaVu Sans"/>
              </a:rPr>
              <a: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liên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quan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đến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bên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liên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quan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nào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được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xác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định</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trong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ngữ</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cảnh</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nào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phục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vụ</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cho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mục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tiêu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nào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của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hệ</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thống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có</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quan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hệ</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phụ</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thuộc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với</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những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nào</a:t>
            </a:r>
            <a:r>
              <a:rPr lang="en-US" sz="3000" spc="-1" baseline="0" dirty="0">
                <a:solidFill>
                  <a:srgbClr val="000000"/>
                </a:solidFill>
                <a:uFill>
                  <a:solidFill>
                    <a:srgbClr val="FFFFFF"/>
                  </a:solidFill>
                </a:uFill>
                <a:latin typeface="+mn-lt"/>
                <a:ea typeface="DejaVu Sans"/>
              </a:rPr>
              <a:t>.</a:t>
            </a:r>
          </a:p>
          <a:p>
            <a:pPr marL="1440" indent="0">
              <a:lnSpc>
                <a:spcPct val="100000"/>
              </a:lnSpc>
              <a:spcBef>
                <a:spcPts val="601"/>
              </a:spcBef>
              <a:buClr>
                <a:srgbClr val="000000"/>
              </a:buClr>
              <a:buFontTx/>
              <a:buNone/>
            </a:pPr>
            <a:endParaRPr lang="en-US" sz="3000" spc="-1" baseline="0" dirty="0">
              <a:solidFill>
                <a:srgbClr val="000000"/>
              </a:solidFill>
              <a:uFill>
                <a:solidFill>
                  <a:srgbClr val="FFFFFF"/>
                </a:solidFill>
              </a:uFill>
              <a:latin typeface="+mn-lt"/>
              <a:ea typeface="DejaVu Sans"/>
            </a:endParaRPr>
          </a:p>
          <a:p>
            <a:pPr marL="1440" indent="0">
              <a:lnSpc>
                <a:spcPct val="100000"/>
              </a:lnSpc>
              <a:spcBef>
                <a:spcPts val="601"/>
              </a:spcBef>
              <a:buClr>
                <a:srgbClr val="000000"/>
              </a:buClr>
              <a:buFontTx/>
              <a:buNone/>
            </a:pPr>
            <a:r>
              <a:rPr lang="en-US" sz="3000" spc="-1" dirty="0" err="1">
                <a:solidFill>
                  <a:srgbClr val="000000"/>
                </a:solidFill>
                <a:uFill>
                  <a:solidFill>
                    <a:srgbClr val="FFFFFF"/>
                  </a:solidFill>
                </a:uFill>
                <a:latin typeface="+mn-lt"/>
                <a:ea typeface="DejaVu Sans"/>
              </a:rPr>
              <a:t>Nội</a:t>
            </a:r>
            <a:r>
              <a:rPr lang="en-US" sz="3000" spc="-1" baseline="0" dirty="0">
                <a:solidFill>
                  <a:srgbClr val="000000"/>
                </a:solidFill>
                <a:uFill>
                  <a:solidFill>
                    <a:srgbClr val="FFFFFF"/>
                  </a:solidFill>
                </a:uFill>
                <a:latin typeface="+mn-lt"/>
                <a:ea typeface="DejaVu Sans"/>
              </a:rPr>
              <a:t> dung </a:t>
            </a:r>
            <a:r>
              <a:rPr lang="en-US" sz="3000" spc="-1" baseline="0" dirty="0" err="1">
                <a:solidFill>
                  <a:srgbClr val="000000"/>
                </a:solidFill>
                <a:uFill>
                  <a:solidFill>
                    <a:srgbClr val="FFFFFF"/>
                  </a:solidFill>
                </a:uFill>
                <a:latin typeface="+mn-lt"/>
                <a:ea typeface="DejaVu Sans"/>
              </a:rPr>
              <a:t>nữa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trong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kiểm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định</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phần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mềm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a:t>
            </a:r>
            <a:r>
              <a:rPr lang="en-US" sz="3000" b="0" strike="noStrike" spc="-1" dirty="0" err="1">
                <a:solidFill>
                  <a:srgbClr val="000000"/>
                </a:solidFill>
                <a:uFill>
                  <a:solidFill>
                    <a:srgbClr val="FFFFFF"/>
                  </a:solidFill>
                </a:uFill>
                <a:latin typeface="+mn-lt"/>
                <a:ea typeface="DejaVu Sans"/>
              </a:rPr>
              <a:t>ảm</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bảo</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t</a:t>
            </a:r>
            <a:r>
              <a:rPr lang="en-US" sz="3000" b="0" strike="noStrike" spc="-1" dirty="0" err="1">
                <a:solidFill>
                  <a:srgbClr val="000000"/>
                </a:solidFill>
                <a:uFill>
                  <a:solidFill>
                    <a:srgbClr val="FFFFFF"/>
                  </a:solidFill>
                </a:uFill>
                <a:latin typeface="+mn-lt"/>
                <a:ea typeface="DejaVu Sans"/>
              </a:rPr>
              <a:t>ính</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thích</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ứng</a:t>
            </a:r>
            <a:r>
              <a:rPr lang="en-US" sz="3000" b="0" strike="noStrike" spc="-1" dirty="0">
                <a:solidFill>
                  <a:srgbClr val="000000"/>
                </a:solidFill>
                <a:uFill>
                  <a:solidFill>
                    <a:srgbClr val="FFFFFF"/>
                  </a:solidFill>
                </a:uFill>
                <a:latin typeface="+mn-lt"/>
                <a:ea typeface="DejaVu Sans"/>
              </a:rPr>
              <a:t> </a:t>
            </a:r>
            <a:r>
              <a:rPr lang="en-US" sz="3000" b="0" strike="noStrike" spc="-1" dirty="0" err="1">
                <a:solidFill>
                  <a:srgbClr val="000000"/>
                </a:solidFill>
                <a:uFill>
                  <a:solidFill>
                    <a:srgbClr val="FFFFFF"/>
                  </a:solidFill>
                </a:uFill>
                <a:latin typeface="+mn-lt"/>
                <a:ea typeface="DejaVu Sans"/>
              </a:rPr>
              <a:t>được</a:t>
            </a:r>
            <a:r>
              <a:rPr lang="en-US" sz="3000" b="0" strike="noStrike" spc="-1" dirty="0">
                <a:solidFill>
                  <a:srgbClr val="000000"/>
                </a:solidFill>
                <a:uFill>
                  <a:solidFill>
                    <a:srgbClr val="FFFFFF"/>
                  </a:solidFill>
                </a:uFill>
                <a:latin typeface="+mn-lt"/>
                <a:ea typeface="DejaVu Sans"/>
              </a:rPr>
              <a:t>,</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nghĩa</a:t>
            </a:r>
            <a:r>
              <a:rPr lang="en-US" sz="3000" b="0" strike="noStrike" spc="-1" baseline="0" dirty="0">
                <a:solidFill>
                  <a:srgbClr val="000000"/>
                </a:solidFill>
                <a:uFill>
                  <a:solidFill>
                    <a:srgbClr val="FFFFFF"/>
                  </a:solidFill>
                </a:uFill>
                <a:latin typeface="+mn-lt"/>
                <a:ea typeface="DejaVu Sans"/>
              </a:rPr>
              <a:t> </a:t>
            </a:r>
            <a:r>
              <a:rPr lang="en-US" sz="3000" b="0" strike="noStrike" spc="-1" baseline="0" dirty="0" err="1">
                <a:solidFill>
                  <a:srgbClr val="000000"/>
                </a:solidFill>
                <a:uFill>
                  <a:solidFill>
                    <a:srgbClr val="FFFFFF"/>
                  </a:solidFill>
                </a:uFill>
                <a:latin typeface="+mn-lt"/>
                <a:ea typeface="DejaVu Sans"/>
              </a:rPr>
              <a:t>là</a:t>
            </a:r>
            <a:r>
              <a:rPr lang="en-US" sz="3000" b="0" strike="noStrike" spc="-1" baseline="0"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các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yêu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cầu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có</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thể</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được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thay</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đổi</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mà</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không</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làm</a:t>
            </a:r>
            <a:r>
              <a:rPr lang="en-US" sz="3000" spc="-1" baseline="0"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ảnh</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hưởng</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lớn</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đến</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các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yêu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cầu</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khác</a:t>
            </a:r>
            <a:r>
              <a:rPr lang="en-US" sz="3000" spc="-1" dirty="0">
                <a:solidFill>
                  <a:srgbClr val="000000"/>
                </a:solidFill>
                <a:uFill>
                  <a:solidFill>
                    <a:srgbClr val="FFFFFF"/>
                  </a:solidFill>
                </a:uFill>
                <a:latin typeface="+mn-lt"/>
                <a:ea typeface="DejaVu Sans"/>
              </a:rPr>
              <a:t>. </a:t>
            </a:r>
            <a:r>
              <a:rPr lang="en-US" sz="3000" spc="-1" dirty="0" err="1">
                <a:solidFill>
                  <a:srgbClr val="000000"/>
                </a:solidFill>
                <a:uFill>
                  <a:solidFill>
                    <a:srgbClr val="FFFFFF"/>
                  </a:solidFill>
                </a:uFill>
                <a:latin typeface="+mn-lt"/>
                <a:ea typeface="DejaVu Sans"/>
              </a:rPr>
              <a:t>Việc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thay</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đổi</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yêu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cầu</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tiến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hóa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phần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mềm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tất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yếu</a:t>
            </a:r>
            <a:r>
              <a:rPr lang="en-US" sz="3000" spc="-1" baseline="0" dirty="0">
                <a:solidFill>
                  <a:srgbClr val="000000"/>
                </a:solidFill>
                <a:uFill>
                  <a:solidFill>
                    <a:srgbClr val="FFFFFF"/>
                  </a:solidFill>
                </a:uFill>
                <a:latin typeface="+mn-lt"/>
                <a:ea typeface="DejaVu Sans"/>
              </a:rPr>
              <a:t>, do </a:t>
            </a:r>
            <a:r>
              <a:rPr lang="en-US" sz="3000" spc="-1" baseline="0" dirty="0" err="1">
                <a:solidFill>
                  <a:srgbClr val="000000"/>
                </a:solidFill>
                <a:uFill>
                  <a:solidFill>
                    <a:srgbClr val="FFFFFF"/>
                  </a:solidFill>
                </a:uFill>
                <a:latin typeface="+mn-lt"/>
                <a:ea typeface="DejaVu Sans"/>
              </a:rPr>
              <a:t>đó</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đảm</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bảo</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tính</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thích</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ứng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cần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thiết</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trong</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nỗ</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lực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giảm</a:t>
            </a:r>
            <a:r>
              <a:rPr lang="en-US" sz="3000" spc="-1" baseline="0" dirty="0">
                <a:solidFill>
                  <a:srgbClr val="000000"/>
                </a:solidFill>
                <a:uFill>
                  <a:solidFill>
                    <a:srgbClr val="FFFFFF"/>
                  </a:solidFill>
                </a:uFill>
                <a:latin typeface="+mn-lt"/>
                <a:ea typeface="DejaVu Sans"/>
              </a:rPr>
              <a:t> chi </a:t>
            </a:r>
            <a:r>
              <a:rPr lang="en-US" sz="3000" spc="-1" baseline="0" dirty="0" err="1">
                <a:solidFill>
                  <a:srgbClr val="000000"/>
                </a:solidFill>
                <a:uFill>
                  <a:solidFill>
                    <a:srgbClr val="FFFFFF"/>
                  </a:solidFill>
                </a:uFill>
                <a:latin typeface="+mn-lt"/>
                <a:ea typeface="DejaVu Sans"/>
              </a:rPr>
              <a:t>phí</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và</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hiện</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thực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hóa</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các</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thay</a:t>
            </a:r>
            <a:r>
              <a:rPr lang="en-US" sz="3000" spc="-1" baseline="0" dirty="0">
                <a:solidFill>
                  <a:srgbClr val="000000"/>
                </a:solidFill>
                <a:uFill>
                  <a:solidFill>
                    <a:srgbClr val="FFFFFF"/>
                  </a:solidFill>
                </a:uFill>
                <a:latin typeface="+mn-lt"/>
                <a:ea typeface="DejaVu Sans"/>
              </a:rPr>
              <a:t> </a:t>
            </a:r>
            <a:r>
              <a:rPr lang="en-US" sz="3000" spc="-1" baseline="0" dirty="0" err="1">
                <a:solidFill>
                  <a:srgbClr val="000000"/>
                </a:solidFill>
                <a:uFill>
                  <a:solidFill>
                    <a:srgbClr val="FFFFFF"/>
                  </a:solidFill>
                </a:uFill>
                <a:latin typeface="+mn-lt"/>
                <a:ea typeface="DejaVu Sans"/>
              </a:rPr>
              <a:t>đổi</a:t>
            </a:r>
            <a:r>
              <a:rPr lang="en-US" sz="3000" spc="-1" baseline="0" dirty="0">
                <a:solidFill>
                  <a:srgbClr val="000000"/>
                </a:solidFill>
                <a:uFill>
                  <a:solidFill>
                    <a:srgbClr val="FFFFFF"/>
                  </a:solidFill>
                </a:uFill>
                <a:latin typeface="+mn-lt"/>
                <a:ea typeface="DejaVu Sans"/>
              </a:rPr>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25</a:t>
            </a:fld>
            <a:endParaRPr lang="en-US"/>
          </a:p>
        </p:txBody>
      </p:sp>
    </p:spTree>
    <p:extLst>
      <p:ext uri="{BB962C8B-B14F-4D97-AF65-F5344CB8AC3E}">
        <p14:creationId xmlns:p14="http://schemas.microsoft.com/office/powerpoint/2010/main" val="163495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yêu cầu đối với các hệ thống phần mềm lớn luôn thay đổi. Một lý do cho điều này là các hệ thống này thường được phát triển để giải quyết các vấn đề wicked</a:t>
            </a:r>
            <a:r>
              <a:rPr lang="en-US" dirty="0"/>
              <a:t>,</a:t>
            </a:r>
            <a:r>
              <a:rPr lang="en-US" baseline="0" dirty="0"/>
              <a:t> </a:t>
            </a:r>
            <a:r>
              <a:rPr lang="en-US" baseline="0" dirty="0" err="1"/>
              <a:t>tức</a:t>
            </a:r>
            <a:r>
              <a:rPr lang="en-US" baseline="0" dirty="0"/>
              <a:t> </a:t>
            </a:r>
            <a:r>
              <a:rPr lang="en-US" baseline="0" dirty="0" err="1"/>
              <a:t>là</a:t>
            </a:r>
            <a:r>
              <a:rPr lang="en-US" baseline="0" dirty="0"/>
              <a:t> </a:t>
            </a:r>
            <a:r>
              <a:rPr lang="vi-VN" dirty="0"/>
              <a:t>những vấn đề không thể được xác định hoàn toàn. Bởi vì vấn đề không thể được xác định đầy đủ, các yêu cầu phần mềm </a:t>
            </a:r>
            <a:r>
              <a:rPr lang="en-US" dirty="0" err="1"/>
              <a:t>luôn</a:t>
            </a:r>
            <a:r>
              <a:rPr lang="en-US" baseline="0" dirty="0"/>
              <a:t> </a:t>
            </a:r>
            <a:r>
              <a:rPr lang="en-US" baseline="0" dirty="0" err="1"/>
              <a:t>luôn</a:t>
            </a:r>
            <a:r>
              <a:rPr lang="en-US" baseline="0" dirty="0"/>
              <a:t> </a:t>
            </a:r>
            <a:r>
              <a:rPr lang="vi-VN" dirty="0"/>
              <a:t>không đầy đủ. Trong </a:t>
            </a:r>
            <a:r>
              <a:rPr lang="en-US" dirty="0" err="1"/>
              <a:t>quy</a:t>
            </a:r>
            <a:r>
              <a:rPr lang="en-US" dirty="0"/>
              <a:t> </a:t>
            </a:r>
            <a:r>
              <a:rPr lang="en-US" dirty="0" err="1"/>
              <a:t>trình</a:t>
            </a:r>
            <a:r>
              <a:rPr lang="en-US" baseline="0" dirty="0"/>
              <a:t> </a:t>
            </a:r>
            <a:r>
              <a:rPr lang="vi-VN" dirty="0"/>
              <a:t>phần mềm, sự hiểu biết của các bên liên quan về vấn đề này liên tục thay đổi. Các yêu cầu hệ thống </a:t>
            </a:r>
            <a:r>
              <a:rPr lang="en-US" dirty="0" err="1"/>
              <a:t>theo</a:t>
            </a:r>
            <a:r>
              <a:rPr lang="en-US" dirty="0"/>
              <a:t> </a:t>
            </a:r>
            <a:r>
              <a:rPr lang="vi-VN" dirty="0"/>
              <a:t>đó cũng phải </a:t>
            </a:r>
            <a:r>
              <a:rPr lang="en-US" dirty="0" err="1"/>
              <a:t>được</a:t>
            </a:r>
            <a:r>
              <a:rPr lang="en-US" baseline="0" dirty="0"/>
              <a:t> </a:t>
            </a:r>
            <a:r>
              <a:rPr lang="en-US" dirty="0" err="1"/>
              <a:t>cập</a:t>
            </a:r>
            <a:r>
              <a:rPr lang="en-US" baseline="0" dirty="0"/>
              <a:t> </a:t>
            </a:r>
            <a:r>
              <a:rPr lang="en-US" baseline="0" dirty="0" err="1"/>
              <a:t>nhật</a:t>
            </a:r>
            <a:r>
              <a:rPr lang="en-US" baseline="0" dirty="0"/>
              <a:t> </a:t>
            </a:r>
            <a:r>
              <a:rPr lang="vi-VN" dirty="0"/>
              <a:t>để phản ánh </a:t>
            </a:r>
            <a:r>
              <a:rPr lang="en-US" dirty="0" err="1"/>
              <a:t>các</a:t>
            </a:r>
            <a:r>
              <a:rPr lang="en-US" baseline="0" dirty="0"/>
              <a:t> </a:t>
            </a:r>
            <a:r>
              <a:rPr lang="vi-VN" dirty="0"/>
              <a:t>thay đổi </a:t>
            </a:r>
            <a:r>
              <a:rPr lang="en-US" dirty="0" err="1"/>
              <a:t>về</a:t>
            </a:r>
            <a:r>
              <a:rPr lang="en-US" baseline="0" dirty="0"/>
              <a:t> </a:t>
            </a:r>
            <a:r>
              <a:rPr lang="en-US" baseline="0" dirty="0" err="1"/>
              <a:t>quan</a:t>
            </a:r>
            <a:r>
              <a:rPr lang="en-US" baseline="0" dirty="0"/>
              <a:t> </a:t>
            </a:r>
            <a:r>
              <a:rPr lang="en-US" baseline="0" dirty="0" err="1"/>
              <a:t>điểm</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này</a:t>
            </a:r>
            <a:r>
              <a:rPr lang="vi-VN" dirty="0"/>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26</a:t>
            </a:fld>
            <a:endParaRPr lang="en-US"/>
          </a:p>
        </p:txBody>
      </p:sp>
    </p:spTree>
    <p:extLst>
      <p:ext uri="{BB962C8B-B14F-4D97-AF65-F5344CB8AC3E}">
        <p14:creationId xmlns:p14="http://schemas.microsoft.com/office/powerpoint/2010/main" val="14352315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khi hệ thống đã được cài đặt và </a:t>
            </a:r>
            <a:r>
              <a:rPr lang="en-US" dirty="0" err="1"/>
              <a:t>vận</a:t>
            </a:r>
            <a:r>
              <a:rPr lang="en-US" baseline="0" dirty="0"/>
              <a:t> </a:t>
            </a:r>
            <a:r>
              <a:rPr lang="en-US" baseline="0" dirty="0" err="1"/>
              <a:t>hành</a:t>
            </a:r>
            <a:r>
              <a:rPr lang="vi-VN" dirty="0"/>
              <a:t>, các yêu cầu mới chắc chắn sẽ xuất hiện. </a:t>
            </a:r>
            <a:r>
              <a:rPr lang="en-US" dirty="0"/>
              <a:t>N</a:t>
            </a:r>
            <a:r>
              <a:rPr lang="vi-VN" dirty="0"/>
              <a:t>gười dùng và khách hàng hệ thống </a:t>
            </a:r>
            <a:r>
              <a:rPr lang="en-US" dirty="0" err="1"/>
              <a:t>thường</a:t>
            </a:r>
            <a:r>
              <a:rPr lang="en-US" baseline="0" dirty="0"/>
              <a:t> </a:t>
            </a:r>
            <a:r>
              <a:rPr lang="en-US" baseline="0" dirty="0" err="1"/>
              <a:t>rất</a:t>
            </a:r>
            <a:r>
              <a:rPr lang="en-US" baseline="0" dirty="0"/>
              <a:t> </a:t>
            </a:r>
            <a:r>
              <a:rPr lang="en-US" baseline="0" dirty="0" err="1"/>
              <a:t>khó</a:t>
            </a:r>
            <a:r>
              <a:rPr lang="en-US" baseline="0" dirty="0"/>
              <a:t> </a:t>
            </a:r>
            <a:r>
              <a:rPr lang="vi-VN" dirty="0"/>
              <a:t>để dự đoán những tác động của hệ thống mới </a:t>
            </a:r>
            <a:r>
              <a:rPr lang="en-US" dirty="0" err="1"/>
              <a:t>lên</a:t>
            </a:r>
            <a:r>
              <a:rPr lang="en-US" baseline="0" dirty="0"/>
              <a:t> </a:t>
            </a:r>
            <a:r>
              <a:rPr lang="vi-VN" dirty="0"/>
              <a:t>quy trình </a:t>
            </a:r>
            <a:r>
              <a:rPr lang="en-US" dirty="0" err="1"/>
              <a:t>nghiệp</a:t>
            </a:r>
            <a:r>
              <a:rPr lang="en-US" baseline="0" dirty="0"/>
              <a:t> </a:t>
            </a:r>
            <a:r>
              <a:rPr lang="en-US" baseline="0" dirty="0" err="1"/>
              <a:t>vụ</a:t>
            </a:r>
            <a:r>
              <a:rPr lang="en-US" baseline="0" dirty="0"/>
              <a:t> </a:t>
            </a:r>
            <a:r>
              <a:rPr lang="vi-VN" dirty="0"/>
              <a:t>của họ. Một khi người dùng cuối có kinh nghiệm về hệ thống, họ sẽ khám phá ra những nhu cầu </a:t>
            </a:r>
            <a:r>
              <a:rPr lang="en-US" dirty="0" err="1"/>
              <a:t>mới</a:t>
            </a:r>
            <a:r>
              <a:rPr lang="en-US" baseline="0" dirty="0"/>
              <a:t> </a:t>
            </a:r>
            <a:r>
              <a:rPr lang="en-US" baseline="0" dirty="0" err="1"/>
              <a:t>cũng</a:t>
            </a:r>
            <a:r>
              <a:rPr lang="en-US" baseline="0" dirty="0"/>
              <a:t> </a:t>
            </a:r>
            <a:r>
              <a:rPr lang="en-US" baseline="0" dirty="0" err="1"/>
              <a:t>như</a:t>
            </a:r>
            <a:r>
              <a:rPr lang="en-US" baseline="0" dirty="0"/>
              <a:t> </a:t>
            </a:r>
            <a:r>
              <a:rPr lang="en-US" baseline="0" dirty="0" err="1"/>
              <a:t>đặt</a:t>
            </a:r>
            <a:r>
              <a:rPr lang="en-US" baseline="0" dirty="0"/>
              <a:t> </a:t>
            </a:r>
            <a:r>
              <a:rPr lang="en-US" baseline="0" dirty="0" err="1"/>
              <a:t>ra</a:t>
            </a:r>
            <a:r>
              <a:rPr lang="en-US" baseline="0" dirty="0"/>
              <a:t> </a:t>
            </a:r>
            <a:r>
              <a:rPr lang="en-US" baseline="0" dirty="0" err="1"/>
              <a:t>các</a:t>
            </a:r>
            <a:r>
              <a:rPr lang="en-US" baseline="0" dirty="0"/>
              <a:t> </a:t>
            </a:r>
            <a:r>
              <a:rPr lang="en-US" baseline="0" dirty="0" err="1"/>
              <a:t>mức</a:t>
            </a:r>
            <a:r>
              <a:rPr lang="en-US" baseline="0" dirty="0"/>
              <a:t> </a:t>
            </a:r>
            <a:r>
              <a:rPr lang="vi-VN" dirty="0"/>
              <a:t>ưu tiên mới. Có một số lý do khiến thay đổi là không thể tránh khỏi:</a:t>
            </a:r>
          </a:p>
          <a:p>
            <a:endParaRPr lang="vi-VN" dirty="0"/>
          </a:p>
          <a:p>
            <a:r>
              <a:rPr lang="vi-VN" dirty="0"/>
              <a:t>1. Môi trường kinh doanh và kỹ thuật của hệ thống luôn thay đổi sau khi lắp đặt. Phần cứng mới có thể được giới thiệu</a:t>
            </a:r>
            <a:r>
              <a:rPr lang="en-US" dirty="0"/>
              <a:t>;</a:t>
            </a:r>
            <a:r>
              <a:rPr lang="en-US" baseline="0" dirty="0"/>
              <a:t> </a:t>
            </a:r>
            <a:r>
              <a:rPr lang="en-US" baseline="0" dirty="0" err="1"/>
              <a:t>hệ</a:t>
            </a:r>
            <a:r>
              <a:rPr lang="en-US" baseline="0" dirty="0"/>
              <a:t> </a:t>
            </a:r>
            <a:r>
              <a:rPr lang="en-US" baseline="0" dirty="0" err="1"/>
              <a:t>thống</a:t>
            </a:r>
            <a:r>
              <a:rPr lang="vi-VN" dirty="0"/>
              <a:t> có thể cần thiết phải giao tiếp với các hệ thống khác</a:t>
            </a:r>
            <a:r>
              <a:rPr lang="en-US" dirty="0"/>
              <a:t>;</a:t>
            </a:r>
            <a:r>
              <a:rPr lang="en-US" baseline="0" dirty="0"/>
              <a:t> </a:t>
            </a:r>
            <a:r>
              <a:rPr lang="vi-VN" dirty="0"/>
              <a:t>các ưu tiên kinh doanh có thể thay đổi (</a:t>
            </a:r>
            <a:r>
              <a:rPr lang="en-US" dirty="0" err="1"/>
              <a:t>dẫn</a:t>
            </a:r>
            <a:r>
              <a:rPr lang="en-US" baseline="0" dirty="0"/>
              <a:t> </a:t>
            </a:r>
            <a:r>
              <a:rPr lang="en-US" baseline="0" dirty="0" err="1"/>
              <a:t>đến</a:t>
            </a:r>
            <a:r>
              <a:rPr lang="en-US" baseline="0" dirty="0"/>
              <a:t> </a:t>
            </a:r>
            <a:r>
              <a:rPr lang="en-US" baseline="0" dirty="0" err="1"/>
              <a:t>các</a:t>
            </a:r>
            <a:r>
              <a:rPr lang="en-US" baseline="0" dirty="0"/>
              <a:t> </a:t>
            </a:r>
            <a:r>
              <a:rPr lang="vi-VN" dirty="0"/>
              <a:t>thay đổi </a:t>
            </a:r>
            <a:r>
              <a:rPr lang="en-US" dirty="0" err="1"/>
              <a:t>yêu</a:t>
            </a:r>
            <a:r>
              <a:rPr lang="en-US" baseline="0" dirty="0"/>
              <a:t> </a:t>
            </a:r>
            <a:r>
              <a:rPr lang="en-US" baseline="0" dirty="0" err="1"/>
              <a:t>cầu</a:t>
            </a:r>
            <a:r>
              <a:rPr lang="en-US" baseline="0" dirty="0"/>
              <a:t> </a:t>
            </a:r>
            <a:r>
              <a:rPr lang="vi-VN" dirty="0"/>
              <a:t>hệ thống)</a:t>
            </a:r>
            <a:r>
              <a:rPr lang="en-US" dirty="0"/>
              <a:t>; </a:t>
            </a:r>
            <a:r>
              <a:rPr lang="vi-VN" dirty="0"/>
              <a:t>và </a:t>
            </a:r>
            <a:r>
              <a:rPr lang="en-US" dirty="0" err="1"/>
              <a:t>các</a:t>
            </a:r>
            <a:r>
              <a:rPr lang="en-US" baseline="0" dirty="0"/>
              <a:t> </a:t>
            </a:r>
            <a:r>
              <a:rPr lang="vi-VN" dirty="0"/>
              <a:t>luật </a:t>
            </a:r>
            <a:r>
              <a:rPr lang="en-US" dirty="0" err="1"/>
              <a:t>định</a:t>
            </a:r>
            <a:r>
              <a:rPr lang="en-US" baseline="0" dirty="0"/>
              <a:t>, </a:t>
            </a:r>
            <a:r>
              <a:rPr lang="vi-VN" dirty="0"/>
              <a:t>quy định mới có thể </a:t>
            </a:r>
            <a:r>
              <a:rPr lang="en-US" dirty="0" err="1"/>
              <a:t>mới</a:t>
            </a:r>
            <a:r>
              <a:rPr lang="en-US" baseline="0" dirty="0"/>
              <a:t> </a:t>
            </a:r>
            <a:r>
              <a:rPr lang="vi-VN" dirty="0"/>
              <a:t>được </a:t>
            </a:r>
            <a:r>
              <a:rPr lang="en-US" dirty="0"/>
              <a:t>ban </a:t>
            </a:r>
            <a:r>
              <a:rPr lang="en-US" dirty="0" err="1"/>
              <a:t>hành</a:t>
            </a:r>
            <a:r>
              <a:rPr lang="en-US" baseline="0" dirty="0"/>
              <a:t> </a:t>
            </a:r>
            <a:r>
              <a:rPr lang="en-US" baseline="0" dirty="0" err="1"/>
              <a:t>và</a:t>
            </a:r>
            <a:r>
              <a:rPr lang="en-US" baseline="0" dirty="0"/>
              <a:t> </a:t>
            </a:r>
            <a:r>
              <a:rPr lang="en-US" baseline="0" dirty="0" err="1"/>
              <a:t>có</a:t>
            </a:r>
            <a:r>
              <a:rPr lang="en-US" baseline="0" dirty="0"/>
              <a:t> </a:t>
            </a:r>
            <a:r>
              <a:rPr lang="en-US" baseline="0" dirty="0" err="1"/>
              <a:t>hiệu</a:t>
            </a:r>
            <a:r>
              <a:rPr lang="en-US" baseline="0" dirty="0"/>
              <a:t> </a:t>
            </a:r>
            <a:r>
              <a:rPr lang="en-US" baseline="0" dirty="0" err="1"/>
              <a:t>lực</a:t>
            </a:r>
            <a:r>
              <a:rPr lang="vi-VN" dirty="0"/>
              <a:t>.</a:t>
            </a:r>
          </a:p>
          <a:p>
            <a:endParaRPr lang="vi-VN" dirty="0"/>
          </a:p>
          <a:p>
            <a:r>
              <a:rPr lang="vi-VN" dirty="0"/>
              <a:t>2. Những người trả tiền cho một hệ thống và người sử dụng hệ thống đó hiếm khi là cùng một người. Khách hàng hệ thống áp đặt các yêu cầu do ràng buộc về tổ chức và ngân sách. Điều này có thể xung đột với các yêu cầu của người dùng cuối và sau khi </a:t>
            </a:r>
            <a:r>
              <a:rPr lang="en-US" dirty="0" err="1"/>
              <a:t>chuyển</a:t>
            </a:r>
            <a:r>
              <a:rPr lang="en-US" baseline="0" dirty="0"/>
              <a:t> </a:t>
            </a:r>
            <a:r>
              <a:rPr lang="en-US" baseline="0" dirty="0" err="1"/>
              <a:t>giao</a:t>
            </a:r>
            <a:r>
              <a:rPr lang="vi-VN" dirty="0"/>
              <a:t>, các tính năng mới có thể phải được thêm vào để hỗ trợ người dùng </a:t>
            </a:r>
            <a:r>
              <a:rPr lang="en-US" dirty="0" err="1"/>
              <a:t>để</a:t>
            </a:r>
            <a:r>
              <a:rPr lang="en-US" baseline="0" dirty="0"/>
              <a:t> </a:t>
            </a:r>
            <a:r>
              <a:rPr lang="vi-VN" dirty="0"/>
              <a:t>hệ thống đáp ứng </a:t>
            </a:r>
            <a:r>
              <a:rPr lang="en-US" dirty="0" err="1"/>
              <a:t>được</a:t>
            </a:r>
            <a:r>
              <a:rPr lang="en-US" baseline="0" dirty="0"/>
              <a:t> </a:t>
            </a:r>
            <a:r>
              <a:rPr lang="vi-VN" dirty="0"/>
              <a:t>các mục tiêu của nó.</a:t>
            </a:r>
          </a:p>
          <a:p>
            <a:endParaRPr lang="vi-VN" dirty="0"/>
          </a:p>
          <a:p>
            <a:r>
              <a:rPr lang="vi-VN" dirty="0"/>
              <a:t>3. Các hệ thống lớn thường có một cộng đồng người dùng đa dạng, với nhiều người dùng có các yêu cầu và ưu tiên khác nhau</a:t>
            </a:r>
            <a:r>
              <a:rPr lang="en-US" dirty="0"/>
              <a:t>,</a:t>
            </a:r>
            <a:r>
              <a:rPr lang="vi-VN" dirty="0"/>
              <a:t> có thể </a:t>
            </a:r>
            <a:r>
              <a:rPr lang="en-US" dirty="0" err="1"/>
              <a:t>xung</a:t>
            </a:r>
            <a:r>
              <a:rPr lang="en-US" dirty="0"/>
              <a:t> </a:t>
            </a:r>
            <a:r>
              <a:rPr lang="en-US" dirty="0" err="1"/>
              <a:t>đột</a:t>
            </a:r>
            <a:r>
              <a:rPr lang="en-US" baseline="0" dirty="0"/>
              <a:t> </a:t>
            </a:r>
            <a:r>
              <a:rPr lang="en-US" dirty="0" err="1"/>
              <a:t>và</a:t>
            </a:r>
            <a:r>
              <a:rPr lang="en-US" baseline="0" dirty="0"/>
              <a:t> </a:t>
            </a:r>
            <a:r>
              <a:rPr lang="vi-VN" dirty="0"/>
              <a:t>mâu thuẫn. </a:t>
            </a:r>
            <a:r>
              <a:rPr lang="en-US" dirty="0" err="1"/>
              <a:t>Các</a:t>
            </a:r>
            <a:r>
              <a:rPr lang="en-US" baseline="0" dirty="0"/>
              <a:t> y</a:t>
            </a:r>
            <a:r>
              <a:rPr lang="vi-VN" dirty="0"/>
              <a:t>êu cầu </a:t>
            </a:r>
            <a:r>
              <a:rPr lang="en-US" dirty="0" err="1"/>
              <a:t>đặt</a:t>
            </a:r>
            <a:r>
              <a:rPr lang="en-US" baseline="0" dirty="0"/>
              <a:t> </a:t>
            </a:r>
            <a:r>
              <a:rPr lang="en-US" baseline="0" dirty="0" err="1"/>
              <a:t>ra</a:t>
            </a:r>
            <a:r>
              <a:rPr lang="en-US" baseline="0" dirty="0"/>
              <a:t> </a:t>
            </a:r>
            <a:r>
              <a:rPr lang="en-US" baseline="0" dirty="0" err="1"/>
              <a:t>cho</a:t>
            </a:r>
            <a:r>
              <a:rPr lang="en-US" baseline="0" dirty="0"/>
              <a:t> </a:t>
            </a:r>
            <a:r>
              <a:rPr lang="vi-VN" dirty="0"/>
              <a:t>hệ thống </a:t>
            </a:r>
            <a:r>
              <a:rPr lang="en-US" dirty="0" err="1"/>
              <a:t>được</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dựa</a:t>
            </a:r>
            <a:r>
              <a:rPr lang="en-US" baseline="0" dirty="0"/>
              <a:t> </a:t>
            </a:r>
            <a:r>
              <a:rPr lang="en-US" baseline="0" dirty="0" err="1"/>
              <a:t>trên</a:t>
            </a:r>
            <a:r>
              <a:rPr lang="en-US" baseline="0" dirty="0"/>
              <a:t> </a:t>
            </a:r>
            <a:r>
              <a:rPr lang="vi-VN" dirty="0"/>
              <a:t>sự thỏa hiệp giữa </a:t>
            </a:r>
            <a:r>
              <a:rPr lang="en-US"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vi-VN" dirty="0"/>
              <a:t>và</a:t>
            </a:r>
            <a:r>
              <a:rPr lang="en-US" dirty="0"/>
              <a:t> </a:t>
            </a:r>
            <a:r>
              <a:rPr lang="en-US" dirty="0" err="1"/>
              <a:t>thực</a:t>
            </a:r>
            <a:r>
              <a:rPr lang="en-US" baseline="0" dirty="0"/>
              <a:t> </a:t>
            </a:r>
            <a:r>
              <a:rPr lang="en-US" baseline="0" dirty="0" err="1"/>
              <a:t>tế</a:t>
            </a:r>
            <a:r>
              <a:rPr lang="en-US" baseline="0" dirty="0"/>
              <a:t> </a:t>
            </a:r>
            <a:r>
              <a:rPr lang="en-US" baseline="0" dirty="0" err="1"/>
              <a:t>đã</a:t>
            </a:r>
            <a:r>
              <a:rPr lang="en-US" baseline="0" dirty="0"/>
              <a:t>  </a:t>
            </a:r>
            <a:r>
              <a:rPr lang="en-US" baseline="0" dirty="0" err="1"/>
              <a:t>chỉ</a:t>
            </a:r>
            <a:r>
              <a:rPr lang="en-US" baseline="0" dirty="0"/>
              <a:t> </a:t>
            </a:r>
            <a:r>
              <a:rPr lang="en-US" baseline="0" dirty="0" err="1"/>
              <a:t>ra</a:t>
            </a:r>
            <a:r>
              <a:rPr lang="en-US" baseline="0" dirty="0"/>
              <a:t> </a:t>
            </a:r>
            <a:r>
              <a:rPr lang="en-US" baseline="0" dirty="0" err="1"/>
              <a:t>rằng</a:t>
            </a:r>
            <a:r>
              <a:rPr lang="vi-VN" dirty="0"/>
              <a:t> sự cân bằng </a:t>
            </a:r>
            <a:r>
              <a:rPr lang="en-US" dirty="0" err="1"/>
              <a:t>trong</a:t>
            </a:r>
            <a:r>
              <a:rPr lang="en-US" dirty="0"/>
              <a:t> </a:t>
            </a:r>
            <a:r>
              <a:rPr lang="en-US" dirty="0" err="1"/>
              <a:t>sự</a:t>
            </a:r>
            <a:r>
              <a:rPr lang="en-US" baseline="0" dirty="0"/>
              <a:t> </a:t>
            </a:r>
            <a:r>
              <a:rPr lang="en-US" baseline="0" dirty="0" err="1"/>
              <a:t>thỏa</a:t>
            </a:r>
            <a:r>
              <a:rPr lang="en-US" baseline="0" dirty="0"/>
              <a:t> </a:t>
            </a:r>
            <a:r>
              <a:rPr lang="en-US" baseline="0" dirty="0" err="1"/>
              <a:t>hiệp</a:t>
            </a:r>
            <a:r>
              <a:rPr lang="en-US" baseline="0" dirty="0"/>
              <a:t> </a:t>
            </a:r>
            <a:r>
              <a:rPr lang="en-US" baseline="0" dirty="0" err="1"/>
              <a:t>này</a:t>
            </a:r>
            <a:r>
              <a:rPr lang="en-US" baseline="0" dirty="0"/>
              <a:t> </a:t>
            </a:r>
            <a:r>
              <a:rPr lang="en-US" baseline="0" dirty="0" err="1"/>
              <a:t>thường</a:t>
            </a:r>
            <a:r>
              <a:rPr lang="en-US" baseline="0" dirty="0"/>
              <a:t> </a:t>
            </a:r>
            <a:r>
              <a:rPr lang="en-US" baseline="0" dirty="0" err="1"/>
              <a:t>không</a:t>
            </a:r>
            <a:r>
              <a:rPr lang="en-US" baseline="0" dirty="0"/>
              <a:t> </a:t>
            </a:r>
            <a:r>
              <a:rPr lang="en-US" baseline="0" dirty="0" err="1"/>
              <a:t>giữ</a:t>
            </a:r>
            <a:r>
              <a:rPr lang="en-US" baseline="0" dirty="0"/>
              <a:t> </a:t>
            </a:r>
            <a:r>
              <a:rPr lang="en-US" baseline="0" dirty="0" err="1"/>
              <a:t>được</a:t>
            </a:r>
            <a:r>
              <a:rPr lang="en-US" baseline="0" dirty="0"/>
              <a:t> </a:t>
            </a:r>
            <a:r>
              <a:rPr lang="en-US" baseline="0" dirty="0" err="1"/>
              <a:t>lâu</a:t>
            </a:r>
            <a:r>
              <a:rPr lang="en-US" baseline="0" dirty="0"/>
              <a:t> </a:t>
            </a:r>
            <a:r>
              <a:rPr lang="en-US" baseline="0" dirty="0" err="1"/>
              <a:t>và</a:t>
            </a:r>
            <a:r>
              <a:rPr lang="en-US" baseline="0" dirty="0"/>
              <a:t> </a:t>
            </a:r>
            <a:r>
              <a:rPr lang="en-US" baseline="0" dirty="0" err="1"/>
              <a:t>cần</a:t>
            </a:r>
            <a:r>
              <a:rPr lang="en-US" baseline="0" dirty="0"/>
              <a:t> </a:t>
            </a:r>
            <a:r>
              <a:rPr lang="vi-VN" dirty="0"/>
              <a:t>phải được thay đổi.</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27</a:t>
            </a:fld>
            <a:endParaRPr lang="en-US"/>
          </a:p>
        </p:txBody>
      </p:sp>
    </p:spTree>
    <p:extLst>
      <p:ext uri="{BB962C8B-B14F-4D97-AF65-F5344CB8AC3E}">
        <p14:creationId xmlns:p14="http://schemas.microsoft.com/office/powerpoint/2010/main" val="32469720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baseline="0" dirty="0">
                <a:solidFill>
                  <a:schemeClr val="tx1"/>
                </a:solidFill>
                <a:latin typeface="+mn-lt"/>
                <a:ea typeface="+mn-ea"/>
                <a:cs typeface="+mn-cs"/>
              </a:rPr>
              <a:t>Quản lý yêu cầu là quá trình hiểu và kiểm soát các thay đổi đối với các yêu cầu hệ thống.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cần phải </a:t>
            </a:r>
            <a:r>
              <a:rPr lang="en-US" sz="1200" b="0" i="0" u="none" strike="noStrike" kern="1200" baseline="0" dirty="0" err="1">
                <a:solidFill>
                  <a:schemeClr val="tx1"/>
                </a:solidFill>
                <a:latin typeface="+mn-lt"/>
                <a:ea typeface="+mn-ea"/>
                <a:cs typeface="+mn-cs"/>
              </a:rPr>
              <a:t>giám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từng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yêu cầu và duy trì </a:t>
            </a:r>
            <a:r>
              <a:rPr lang="en-US" sz="1200" b="0" i="0" u="none" strike="noStrike" kern="1200" baseline="0" dirty="0" err="1">
                <a:solidFill>
                  <a:schemeClr val="tx1"/>
                </a:solidFill>
                <a:latin typeface="+mn-lt"/>
                <a:ea typeface="+mn-ea"/>
                <a:cs typeface="+mn-cs"/>
              </a:rPr>
              <a:t>quan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phụ</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thuộc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giữa các yêu cầu</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 để </a:t>
            </a:r>
            <a:r>
              <a:rPr lang="en-US" sz="1200" b="0" i="0" u="none" strike="noStrike" kern="1200" baseline="0" dirty="0">
                <a:solidFill>
                  <a:schemeClr val="tx1"/>
                </a:solidFill>
                <a:latin typeface="+mn-lt"/>
                <a:ea typeface="+mn-ea"/>
                <a:cs typeface="+mn-cs"/>
              </a:rPr>
              <a:t>qua </a:t>
            </a:r>
            <a:r>
              <a:rPr lang="en-US" sz="1200" b="0" i="0" u="none" strike="noStrike" kern="1200" baseline="0" dirty="0" err="1">
                <a:solidFill>
                  <a:schemeClr val="tx1"/>
                </a:solidFill>
                <a:latin typeface="+mn-lt"/>
                <a:ea typeface="+mn-ea"/>
                <a:cs typeface="+mn-cs"/>
              </a:rPr>
              <a:t>đó</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có thể đánh giá tác động của các thay đổi yêu cầu.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đòi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hỏi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thiết lập một quy trình chính thức để thực hiện các đề xuất thay đổi và liên kết các yêu cầu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này với các yêu cầu hệ thống. Quy trình quản lý yêu cầu sẽ bắt đầu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ngay khi có phiên bản dự thảo của tài liệu yêu cầu. Tuy nhiên,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thực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tế</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kế hoạch quản lý yêu cầu </a:t>
            </a:r>
            <a:r>
              <a:rPr lang="en-US" sz="1200" b="0" i="0" u="none" strike="noStrike" kern="1200" baseline="0" dirty="0" err="1">
                <a:solidFill>
                  <a:schemeClr val="tx1"/>
                </a:solidFill>
                <a:latin typeface="+mn-lt"/>
                <a:ea typeface="+mn-ea"/>
                <a:cs typeface="+mn-cs"/>
              </a:rPr>
              <a:t>thường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quá</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thập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28</a:t>
            </a:fld>
            <a:endParaRPr lang="en-US"/>
          </a:p>
        </p:txBody>
      </p:sp>
    </p:spTree>
    <p:extLst>
      <p:ext uri="{BB962C8B-B14F-4D97-AF65-F5344CB8AC3E}">
        <p14:creationId xmlns:p14="http://schemas.microsoft.com/office/powerpoint/2010/main" val="2568655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Lập kế hoạch là giai đoạn đầu tiên cần thiết trong quy trình quản lý yêu cầu. Trong giai đoạn quản lý yêu cầu, </a:t>
            </a:r>
            <a:r>
              <a:rPr lang="en-US" dirty="0" err="1"/>
              <a:t>chúng</a:t>
            </a:r>
            <a:r>
              <a:rPr lang="en-US" baseline="0" dirty="0"/>
              <a:t> ta </a:t>
            </a:r>
            <a:r>
              <a:rPr lang="en-US" baseline="0" dirty="0" err="1"/>
              <a:t>cần</a:t>
            </a:r>
            <a:r>
              <a:rPr lang="en-US" baseline="0" dirty="0"/>
              <a:t> </a:t>
            </a:r>
            <a:r>
              <a:rPr lang="vi-VN" dirty="0"/>
              <a:t>phải </a:t>
            </a:r>
            <a:r>
              <a:rPr lang="en-US" dirty="0" err="1"/>
              <a:t>đưa</a:t>
            </a:r>
            <a:r>
              <a:rPr lang="en-US" baseline="0" dirty="0"/>
              <a:t> </a:t>
            </a:r>
            <a:r>
              <a:rPr lang="en-US" baseline="0" dirty="0" err="1"/>
              <a:t>ra</a:t>
            </a:r>
            <a:r>
              <a:rPr lang="en-US" baseline="0" dirty="0"/>
              <a:t> </a:t>
            </a:r>
            <a:r>
              <a:rPr lang="en-US" baseline="0" dirty="0" err="1"/>
              <a:t>các</a:t>
            </a:r>
            <a:r>
              <a:rPr lang="en-US" baseline="0" dirty="0"/>
              <a:t> </a:t>
            </a:r>
            <a:r>
              <a:rPr lang="vi-VN" dirty="0"/>
              <a:t>quyết định</a:t>
            </a:r>
            <a:r>
              <a:rPr lang="en-US" dirty="0"/>
              <a:t> </a:t>
            </a:r>
            <a:r>
              <a:rPr lang="en-US" dirty="0" err="1"/>
              <a:t>sau</a:t>
            </a:r>
            <a:r>
              <a:rPr lang="vi-VN" dirty="0"/>
              <a:t>:</a:t>
            </a:r>
          </a:p>
          <a:p>
            <a:endParaRPr lang="vi-VN" dirty="0"/>
          </a:p>
          <a:p>
            <a:r>
              <a:rPr lang="en-US" dirty="0" err="1"/>
              <a:t>Thứ</a:t>
            </a:r>
            <a:r>
              <a:rPr lang="en-US" baseline="0" dirty="0"/>
              <a:t> </a:t>
            </a:r>
            <a:r>
              <a:rPr lang="en-US" baseline="0" dirty="0" err="1"/>
              <a:t>nhất</a:t>
            </a:r>
            <a:r>
              <a:rPr lang="en-US" baseline="0" dirty="0"/>
              <a:t>, </a:t>
            </a:r>
            <a:r>
              <a:rPr lang="en-US" baseline="0" dirty="0" err="1"/>
              <a:t>cần</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định</a:t>
            </a:r>
            <a:r>
              <a:rPr lang="en-US" baseline="0" dirty="0"/>
              <a:t> </a:t>
            </a:r>
            <a:r>
              <a:rPr lang="en-US" baseline="0" dirty="0" err="1"/>
              <a:t>danh</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vi-VN" dirty="0"/>
              <a:t>Mỗi yêu cầu phải được xác định duy nhất để nó có thể được tham chiếu chéo với các yêu cầu khác và được sử dụng trong các đánh giá truy xuất nguồn gốc.</a:t>
            </a:r>
          </a:p>
          <a:p>
            <a:endParaRPr lang="vi-VN" dirty="0"/>
          </a:p>
          <a:p>
            <a:r>
              <a:rPr lang="en-US" dirty="0" err="1"/>
              <a:t>Thứ</a:t>
            </a:r>
            <a:r>
              <a:rPr lang="en-US" baseline="0" dirty="0"/>
              <a:t> </a:t>
            </a:r>
            <a:r>
              <a:rPr lang="en-US" baseline="0" dirty="0" err="1"/>
              <a:t>hai</a:t>
            </a:r>
            <a:r>
              <a:rPr lang="en-US" baseline="0" dirty="0"/>
              <a:t>, </a:t>
            </a:r>
            <a:r>
              <a:rPr lang="en-US" baseline="0" dirty="0" err="1"/>
              <a:t>cần</a:t>
            </a:r>
            <a:r>
              <a:rPr lang="en-US" baseline="0" dirty="0"/>
              <a:t> </a:t>
            </a:r>
            <a:r>
              <a:rPr lang="en-US" baseline="0" dirty="0" err="1"/>
              <a:t>thiết</a:t>
            </a:r>
            <a:r>
              <a:rPr lang="en-US" baseline="0" dirty="0"/>
              <a:t> </a:t>
            </a:r>
            <a:r>
              <a:rPr lang="en-US" baseline="0" dirty="0" err="1"/>
              <a:t>lập</a:t>
            </a:r>
            <a:r>
              <a:rPr lang="en-US" baseline="0" dirty="0"/>
              <a:t> q</a:t>
            </a:r>
            <a:r>
              <a:rPr lang="vi-VN" dirty="0"/>
              <a:t>uy trình quản lý thay đổi</a:t>
            </a:r>
            <a:r>
              <a:rPr lang="en-US" dirty="0"/>
              <a:t>. </a:t>
            </a:r>
            <a:r>
              <a:rPr lang="en-US" dirty="0" err="1"/>
              <a:t>Đó</a:t>
            </a:r>
            <a:r>
              <a:rPr lang="en-US" baseline="0" dirty="0"/>
              <a:t> </a:t>
            </a:r>
            <a:r>
              <a:rPr lang="vi-VN" dirty="0"/>
              <a:t>là tập hợp các hoạt động đánh giá tác động và chi phí thay đổi. </a:t>
            </a:r>
            <a:r>
              <a:rPr lang="en-US" dirty="0" err="1"/>
              <a:t>Chúng</a:t>
            </a:r>
            <a:r>
              <a:rPr lang="en-US" baseline="0" dirty="0"/>
              <a:t> ta </a:t>
            </a:r>
            <a:r>
              <a:rPr lang="en-US" baseline="0" dirty="0" err="1"/>
              <a:t>sẽ</a:t>
            </a:r>
            <a:r>
              <a:rPr lang="en-US" baseline="0" dirty="0"/>
              <a:t> </a:t>
            </a:r>
            <a:r>
              <a:rPr lang="en-US" baseline="0" dirty="0" err="1"/>
              <a:t>thảo</a:t>
            </a:r>
            <a:r>
              <a:rPr lang="en-US" baseline="0" dirty="0"/>
              <a:t> </a:t>
            </a:r>
            <a:r>
              <a:rPr lang="en-US" baseline="0" dirty="0" err="1"/>
              <a:t>luận</a:t>
            </a:r>
            <a:r>
              <a:rPr lang="en-US" baseline="0" dirty="0"/>
              <a:t> </a:t>
            </a:r>
            <a:r>
              <a:rPr lang="en-US" baseline="0" dirty="0" err="1"/>
              <a:t>nội</a:t>
            </a:r>
            <a:r>
              <a:rPr lang="en-US" baseline="0" dirty="0"/>
              <a:t> dung </a:t>
            </a:r>
            <a:r>
              <a:rPr lang="en-US" baseline="0" dirty="0" err="1"/>
              <a:t>này</a:t>
            </a:r>
            <a:r>
              <a:rPr lang="en-US" baseline="0" dirty="0"/>
              <a:t> </a:t>
            </a:r>
            <a:r>
              <a:rPr lang="en-US" baseline="0" dirty="0" err="1"/>
              <a:t>trong</a:t>
            </a:r>
            <a:r>
              <a:rPr lang="en-US" baseline="0" dirty="0"/>
              <a:t> slide </a:t>
            </a:r>
            <a:r>
              <a:rPr lang="en-US" baseline="0" dirty="0" err="1"/>
              <a:t>tiếp</a:t>
            </a:r>
            <a:r>
              <a:rPr lang="en-US" baseline="0" dirty="0"/>
              <a:t> </a:t>
            </a:r>
            <a:r>
              <a:rPr lang="en-US" baseline="0" dirty="0" err="1"/>
              <a:t>theo.</a:t>
            </a:r>
            <a:endParaRPr lang="vi-VN" dirty="0"/>
          </a:p>
          <a:p>
            <a:endParaRPr lang="vi-VN" dirty="0"/>
          </a:p>
          <a:p>
            <a:r>
              <a:rPr lang="en-US" dirty="0" err="1"/>
              <a:t>Thứ</a:t>
            </a:r>
            <a:r>
              <a:rPr lang="en-US" baseline="0" dirty="0"/>
              <a:t> </a:t>
            </a:r>
            <a:r>
              <a:rPr lang="en-US" baseline="0" dirty="0" err="1"/>
              <a:t>ba</a:t>
            </a:r>
            <a:r>
              <a:rPr lang="en-US" baseline="0" dirty="0"/>
              <a:t>, </a:t>
            </a:r>
            <a:r>
              <a:rPr lang="en-US" baseline="0" dirty="0" err="1"/>
              <a:t>cần</a:t>
            </a:r>
            <a:r>
              <a:rPr lang="en-US" baseline="0" dirty="0"/>
              <a:t> </a:t>
            </a:r>
            <a:r>
              <a:rPr lang="en-US" baseline="0" dirty="0" err="1"/>
              <a:t>thiết</a:t>
            </a:r>
            <a:r>
              <a:rPr lang="en-US" baseline="0" dirty="0"/>
              <a:t> </a:t>
            </a:r>
            <a:r>
              <a:rPr lang="en-US" baseline="0" dirty="0" err="1"/>
              <a:t>lập</a:t>
            </a:r>
            <a:r>
              <a:rPr lang="en-US" baseline="0" dirty="0"/>
              <a:t> </a:t>
            </a:r>
            <a:r>
              <a:rPr lang="en-US" dirty="0"/>
              <a:t>c</a:t>
            </a:r>
            <a:r>
              <a:rPr lang="vi-VN" dirty="0"/>
              <a:t>hính sách </a:t>
            </a:r>
            <a:r>
              <a:rPr lang="en-US" dirty="0" err="1"/>
              <a:t>lần</a:t>
            </a:r>
            <a:r>
              <a:rPr lang="en-US" baseline="0" dirty="0"/>
              <a:t> </a:t>
            </a:r>
            <a:r>
              <a:rPr lang="en-US" baseline="0" dirty="0" err="1"/>
              <a:t>vết</a:t>
            </a:r>
            <a:r>
              <a:rPr lang="en-US" baseline="0" dirty="0"/>
              <a:t>. </a:t>
            </a:r>
            <a:r>
              <a:rPr lang="vi-VN" dirty="0"/>
              <a:t>Các chính sách này xác định mối quan hệ giữa </a:t>
            </a:r>
            <a:r>
              <a:rPr lang="en-US" dirty="0" err="1"/>
              <a:t>các</a:t>
            </a:r>
            <a:r>
              <a:rPr lang="en-US" baseline="0" dirty="0"/>
              <a:t> </a:t>
            </a:r>
            <a:r>
              <a:rPr lang="vi-VN" dirty="0"/>
              <a:t>yêu cầu và giữa các yêu cầu </a:t>
            </a:r>
            <a:r>
              <a:rPr lang="en-US" dirty="0" err="1"/>
              <a:t>và</a:t>
            </a:r>
            <a:r>
              <a:rPr lang="en-US" baseline="0" dirty="0"/>
              <a:t> </a:t>
            </a:r>
            <a:r>
              <a:rPr lang="en-US" baseline="0" dirty="0" err="1"/>
              <a:t>bản</a:t>
            </a:r>
            <a:r>
              <a:rPr lang="en-US" baseline="0" dirty="0"/>
              <a:t> </a:t>
            </a:r>
            <a:r>
              <a:rPr lang="vi-VN" dirty="0"/>
              <a:t>thiết kế hệ thống. Chính sách </a:t>
            </a:r>
            <a:r>
              <a:rPr lang="en-US" dirty="0" err="1"/>
              <a:t>lần</a:t>
            </a:r>
            <a:r>
              <a:rPr lang="en-US" baseline="0" dirty="0"/>
              <a:t> </a:t>
            </a:r>
            <a:r>
              <a:rPr lang="en-US" baseline="0" dirty="0" err="1"/>
              <a:t>vết</a:t>
            </a:r>
            <a:r>
              <a:rPr lang="en-US" baseline="0" dirty="0"/>
              <a:t> </a:t>
            </a:r>
            <a:r>
              <a:rPr lang="vi-VN" dirty="0"/>
              <a:t>cũng </a:t>
            </a:r>
            <a:r>
              <a:rPr lang="en-US" dirty="0" err="1"/>
              <a:t>cần</a:t>
            </a:r>
            <a:r>
              <a:rPr lang="en-US" baseline="0" dirty="0"/>
              <a:t> </a:t>
            </a:r>
            <a:r>
              <a:rPr lang="en-US" baseline="0" dirty="0" err="1"/>
              <a:t>nêu</a:t>
            </a:r>
            <a:r>
              <a:rPr lang="en-US" baseline="0" dirty="0"/>
              <a:t> </a:t>
            </a:r>
            <a:r>
              <a:rPr lang="en-US" baseline="0" dirty="0" err="1"/>
              <a:t>rõ</a:t>
            </a:r>
            <a:r>
              <a:rPr lang="en-US" baseline="0" dirty="0"/>
              <a:t> </a:t>
            </a:r>
            <a:r>
              <a:rPr lang="vi-VN" dirty="0"/>
              <a:t>cách </a:t>
            </a:r>
            <a:r>
              <a:rPr lang="en-US" dirty="0" err="1"/>
              <a:t>thức</a:t>
            </a:r>
            <a:r>
              <a:rPr lang="en-US" baseline="0" dirty="0"/>
              <a:t> </a:t>
            </a:r>
            <a:r>
              <a:rPr lang="vi-VN" dirty="0"/>
              <a:t>các </a:t>
            </a:r>
            <a:r>
              <a:rPr lang="en-US" dirty="0" err="1"/>
              <a:t>chế</a:t>
            </a:r>
            <a:r>
              <a:rPr lang="en-US" baseline="0" dirty="0"/>
              <a:t> </a:t>
            </a:r>
            <a:r>
              <a:rPr lang="en-US" baseline="0" dirty="0" err="1"/>
              <a:t>tác</a:t>
            </a:r>
            <a:r>
              <a:rPr lang="en-US" baseline="0" dirty="0"/>
              <a:t> </a:t>
            </a:r>
            <a:r>
              <a:rPr lang="vi-VN" dirty="0"/>
              <a:t>này</a:t>
            </a:r>
            <a:r>
              <a:rPr lang="en-US" dirty="0"/>
              <a:t> </a:t>
            </a:r>
            <a:r>
              <a:rPr lang="en-US" dirty="0" err="1"/>
              <a:t>được</a:t>
            </a:r>
            <a:r>
              <a:rPr lang="en-US" baseline="0" dirty="0"/>
              <a:t> </a:t>
            </a:r>
            <a:r>
              <a:rPr lang="en-US" baseline="0" dirty="0" err="1"/>
              <a:t>lưu</a:t>
            </a:r>
            <a:r>
              <a:rPr lang="en-US" baseline="0" dirty="0"/>
              <a:t> </a:t>
            </a:r>
            <a:r>
              <a:rPr lang="en-US" baseline="0" dirty="0" err="1"/>
              <a:t>trữ</a:t>
            </a:r>
            <a:r>
              <a:rPr lang="vi-VN" dirty="0"/>
              <a:t>.</a:t>
            </a:r>
            <a:endParaRPr lang="en-US" dirty="0"/>
          </a:p>
          <a:p>
            <a:endParaRPr lang="en-US" dirty="0"/>
          </a:p>
          <a:p>
            <a:r>
              <a:rPr lang="en-US" dirty="0" err="1"/>
              <a:t>Thứ</a:t>
            </a:r>
            <a:r>
              <a:rPr lang="en-US" baseline="0" dirty="0"/>
              <a:t> </a:t>
            </a:r>
            <a:r>
              <a:rPr lang="en-US" baseline="0" dirty="0" err="1"/>
              <a:t>tư</a:t>
            </a:r>
            <a:r>
              <a:rPr lang="en-US" baseline="0" dirty="0"/>
              <a:t> </a:t>
            </a:r>
            <a:r>
              <a:rPr lang="en-US" baseline="0" dirty="0" err="1"/>
              <a:t>là</a:t>
            </a:r>
            <a:r>
              <a:rPr lang="en-US" baseline="0" dirty="0"/>
              <a:t> </a:t>
            </a:r>
            <a:r>
              <a:rPr lang="en-US" baseline="0" dirty="0" err="1"/>
              <a:t>các</a:t>
            </a:r>
            <a:r>
              <a:rPr lang="en-US" baseline="0" dirty="0"/>
              <a:t> </a:t>
            </a:r>
            <a:r>
              <a:rPr lang="en-US" baseline="0" dirty="0" err="1"/>
              <a:t>quyết</a:t>
            </a:r>
            <a:r>
              <a:rPr lang="en-US" baseline="0" dirty="0"/>
              <a:t> </a:t>
            </a:r>
            <a:r>
              <a:rPr lang="en-US" baseline="0" dirty="0" err="1"/>
              <a:t>định</a:t>
            </a:r>
            <a:r>
              <a:rPr lang="en-US" baseline="0" dirty="0"/>
              <a:t> </a:t>
            </a:r>
            <a:r>
              <a:rPr lang="en-US" baseline="0" dirty="0" err="1"/>
              <a:t>về</a:t>
            </a:r>
            <a:r>
              <a:rPr lang="en-US" baseline="0" dirty="0"/>
              <a:t> c</a:t>
            </a:r>
            <a:r>
              <a:rPr lang="vi-VN" dirty="0"/>
              <a:t>ông cụ</a:t>
            </a:r>
            <a:r>
              <a:rPr lang="en-US" dirty="0"/>
              <a:t> </a:t>
            </a:r>
            <a:r>
              <a:rPr lang="en-US" dirty="0" err="1"/>
              <a:t>hỗ</a:t>
            </a:r>
            <a:r>
              <a:rPr lang="en-US" baseline="0" dirty="0"/>
              <a:t> </a:t>
            </a:r>
            <a:r>
              <a:rPr lang="en-US" baseline="0" dirty="0" err="1"/>
              <a:t>trợ</a:t>
            </a:r>
            <a:r>
              <a:rPr lang="en-US" baseline="0" dirty="0"/>
              <a:t>. </a:t>
            </a:r>
            <a:r>
              <a:rPr lang="en-US" dirty="0"/>
              <a:t>Q</a:t>
            </a:r>
            <a:r>
              <a:rPr lang="vi-VN" dirty="0"/>
              <a:t>uản lý</a:t>
            </a:r>
            <a:r>
              <a:rPr lang="en-US" dirty="0"/>
              <a:t> </a:t>
            </a:r>
            <a:r>
              <a:rPr lang="en-US" dirty="0" err="1"/>
              <a:t>yêu</a:t>
            </a:r>
            <a:r>
              <a:rPr lang="en-US" baseline="0" dirty="0"/>
              <a:t> </a:t>
            </a:r>
            <a:r>
              <a:rPr lang="en-US" baseline="0" dirty="0" err="1"/>
              <a:t>cầu</a:t>
            </a:r>
            <a:r>
              <a:rPr lang="vi-VN" dirty="0"/>
              <a:t> liên quan đến việc xử lý một lượng lớn thông tin về các yêu cầu. Các công cụ </a:t>
            </a:r>
            <a:r>
              <a:rPr lang="en-US" dirty="0" err="1"/>
              <a:t>hỗ</a:t>
            </a:r>
            <a:r>
              <a:rPr lang="en-US" baseline="0" dirty="0"/>
              <a:t> </a:t>
            </a:r>
            <a:r>
              <a:rPr lang="en-US" baseline="0" dirty="0" err="1"/>
              <a:t>trợ</a:t>
            </a:r>
            <a:r>
              <a:rPr lang="en-US" baseline="0" dirty="0"/>
              <a:t> </a:t>
            </a:r>
            <a:r>
              <a:rPr lang="vi-VN" dirty="0"/>
              <a:t>có thể được sử dụng</a:t>
            </a:r>
            <a:r>
              <a:rPr lang="en-US" dirty="0"/>
              <a:t>,</a:t>
            </a:r>
            <a:r>
              <a:rPr lang="en-US" baseline="0" dirty="0"/>
              <a:t> </a:t>
            </a:r>
            <a:r>
              <a:rPr lang="vi-VN" dirty="0"/>
              <a:t>từ các</a:t>
            </a:r>
            <a:r>
              <a:rPr lang="en-US" baseline="0" dirty="0"/>
              <a:t> </a:t>
            </a:r>
            <a:r>
              <a:rPr lang="en-US" baseline="0" dirty="0" err="1"/>
              <a:t>công</a:t>
            </a:r>
            <a:r>
              <a:rPr lang="en-US" baseline="0" dirty="0"/>
              <a:t> </a:t>
            </a:r>
            <a:r>
              <a:rPr lang="en-US" baseline="0" dirty="0" err="1"/>
              <a:t>cụ</a:t>
            </a:r>
            <a:r>
              <a:rPr lang="en-US" baseline="0" dirty="0"/>
              <a:t> </a:t>
            </a:r>
            <a:r>
              <a:rPr lang="vi-VN" dirty="0"/>
              <a:t>quản lý yêu cầu chuyên </a:t>
            </a:r>
            <a:r>
              <a:rPr lang="en-US" dirty="0" err="1"/>
              <a:t>dụng</a:t>
            </a:r>
            <a:r>
              <a:rPr lang="en-US" baseline="0" dirty="0"/>
              <a:t> </a:t>
            </a:r>
            <a:r>
              <a:rPr lang="vi-VN" dirty="0"/>
              <a:t>đến </a:t>
            </a:r>
            <a:r>
              <a:rPr lang="en-US" dirty="0" err="1"/>
              <a:t>các</a:t>
            </a:r>
            <a:r>
              <a:rPr lang="en-US" baseline="0" dirty="0"/>
              <a:t> </a:t>
            </a:r>
            <a:r>
              <a:rPr lang="en-US" baseline="0" dirty="0" err="1"/>
              <a:t>công</a:t>
            </a:r>
            <a:r>
              <a:rPr lang="en-US" baseline="0" dirty="0"/>
              <a:t> </a:t>
            </a:r>
            <a:r>
              <a:rPr lang="en-US" baseline="0" dirty="0" err="1"/>
              <a:t>cụ</a:t>
            </a:r>
            <a:r>
              <a:rPr lang="en-US" baseline="0" dirty="0"/>
              <a:t> </a:t>
            </a:r>
            <a:r>
              <a:rPr lang="vi-VN" dirty="0"/>
              <a:t>bảng tính </a:t>
            </a:r>
            <a:r>
              <a:rPr lang="en-US" dirty="0"/>
              <a:t>hay</a:t>
            </a:r>
            <a:r>
              <a:rPr lang="en-US" baseline="0" dirty="0"/>
              <a:t> </a:t>
            </a:r>
            <a:r>
              <a:rPr lang="en-US" baseline="0" dirty="0" err="1"/>
              <a:t>các</a:t>
            </a:r>
            <a:r>
              <a:rPr lang="en-US" baseline="0" dirty="0"/>
              <a:t> </a:t>
            </a:r>
            <a:r>
              <a:rPr lang="vi-VN" dirty="0"/>
              <a:t>hệ </a:t>
            </a:r>
            <a:r>
              <a:rPr lang="en-US" dirty="0" err="1"/>
              <a:t>quản</a:t>
            </a:r>
            <a:r>
              <a:rPr lang="en-US" baseline="0" dirty="0"/>
              <a:t> </a:t>
            </a:r>
            <a:r>
              <a:rPr lang="en-US" baseline="0" dirty="0" err="1"/>
              <a:t>trị</a:t>
            </a:r>
            <a:r>
              <a:rPr lang="en-US" baseline="0" dirty="0"/>
              <a:t> </a:t>
            </a:r>
            <a:r>
              <a:rPr lang="vi-VN" dirty="0"/>
              <a:t>cơ sở dữ liệu đơn giản.</a:t>
            </a:r>
            <a:r>
              <a:rPr lang="en-US" dirty="0"/>
              <a:t> </a:t>
            </a:r>
            <a:r>
              <a:rPr lang="en-US" dirty="0" err="1"/>
              <a:t>Các</a:t>
            </a:r>
            <a:r>
              <a:rPr lang="en-US" baseline="0" dirty="0"/>
              <a:t> </a:t>
            </a:r>
            <a:r>
              <a:rPr lang="en-US" baseline="0" dirty="0" err="1"/>
              <a:t>công</a:t>
            </a:r>
            <a:r>
              <a:rPr lang="en-US" baseline="0" dirty="0"/>
              <a:t> </a:t>
            </a:r>
            <a:r>
              <a:rPr lang="en-US" baseline="0" dirty="0" err="1"/>
              <a:t>cụ</a:t>
            </a:r>
            <a:r>
              <a:rPr lang="en-US" baseline="0" dirty="0"/>
              <a:t> </a:t>
            </a:r>
            <a:r>
              <a:rPr lang="en-US" baseline="0" dirty="0" err="1"/>
              <a:t>này</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để</a:t>
            </a:r>
            <a:r>
              <a:rPr lang="en-US" baseline="0" dirty="0"/>
              <a:t> </a:t>
            </a:r>
            <a:r>
              <a:rPr lang="en-US" baseline="0" dirty="0" err="1"/>
              <a:t>hỗ</a:t>
            </a:r>
            <a:r>
              <a:rPr lang="en-US" baseline="0" dirty="0"/>
              <a:t> </a:t>
            </a:r>
            <a:r>
              <a:rPr lang="en-US" baseline="0" dirty="0" err="1"/>
              <a:t>trợ</a:t>
            </a:r>
            <a:r>
              <a:rPr lang="en-US" baseline="0" dirty="0"/>
              <a:t> </a:t>
            </a:r>
            <a:r>
              <a:rPr lang="en-US" baseline="0" dirty="0" err="1"/>
              <a:t>lưu</a:t>
            </a:r>
            <a:r>
              <a:rPr lang="en-US" baseline="0" dirty="0"/>
              <a:t> </a:t>
            </a:r>
            <a:r>
              <a:rPr lang="en-US" baseline="0" dirty="0" err="1"/>
              <a:t>trữ</a:t>
            </a:r>
            <a:r>
              <a:rPr lang="en-US" baseline="0" dirty="0"/>
              <a:t> </a:t>
            </a:r>
            <a:r>
              <a:rPr lang="en-US" baseline="0" dirty="0" err="1"/>
              <a:t>và</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truy</a:t>
            </a:r>
            <a:r>
              <a:rPr lang="en-US" baseline="0" dirty="0"/>
              <a:t> </a:t>
            </a:r>
            <a:r>
              <a:rPr lang="en-US" baseline="0" dirty="0" err="1"/>
              <a:t>cập</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hay </a:t>
            </a:r>
            <a:r>
              <a:rPr lang="en-US" baseline="0" dirty="0" err="1"/>
              <a:t>quản</a:t>
            </a:r>
            <a:r>
              <a:rPr lang="en-US" baseline="0" dirty="0"/>
              <a:t> </a:t>
            </a:r>
            <a:r>
              <a:rPr lang="en-US" baseline="0" dirty="0" err="1"/>
              <a:t>lý</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yêu</a:t>
            </a:r>
            <a:r>
              <a:rPr lang="en-US" baseline="0" dirty="0"/>
              <a:t> </a:t>
            </a:r>
            <a:r>
              <a:rPr lang="en-US" baseline="0" dirty="0" err="1"/>
              <a:t>cầu</a:t>
            </a:r>
            <a:r>
              <a:rPr lang="en-US" baseline="0" dirty="0"/>
              <a:t>, hay </a:t>
            </a:r>
            <a:r>
              <a:rPr lang="en-US" baseline="0" dirty="0" err="1"/>
              <a:t>hỗ</a:t>
            </a:r>
            <a:r>
              <a:rPr lang="en-US" baseline="0" dirty="0"/>
              <a:t> </a:t>
            </a:r>
            <a:r>
              <a:rPr lang="en-US" baseline="0" dirty="0" err="1"/>
              <a:t>trợ</a:t>
            </a:r>
            <a:r>
              <a:rPr lang="en-US" baseline="0" dirty="0"/>
              <a:t> </a:t>
            </a:r>
            <a:r>
              <a:rPr lang="en-US" baseline="0" dirty="0" err="1"/>
              <a:t>việc</a:t>
            </a:r>
            <a:r>
              <a:rPr lang="en-US" baseline="0" dirty="0"/>
              <a:t> </a:t>
            </a:r>
            <a:r>
              <a:rPr lang="en-US" baseline="0" dirty="0" err="1"/>
              <a:t>lưu</a:t>
            </a:r>
            <a:r>
              <a:rPr lang="en-US" baseline="0" dirty="0"/>
              <a:t> </a:t>
            </a:r>
            <a:r>
              <a:rPr lang="en-US" baseline="0" dirty="0" err="1"/>
              <a:t>trữ</a:t>
            </a:r>
            <a:r>
              <a:rPr lang="en-US" baseline="0" dirty="0"/>
              <a:t> </a:t>
            </a:r>
            <a:r>
              <a:rPr lang="en-US" baseline="0" dirty="0" err="1"/>
              <a:t>và</a:t>
            </a:r>
            <a:r>
              <a:rPr lang="en-US" baseline="0" dirty="0"/>
              <a:t> </a:t>
            </a:r>
            <a:r>
              <a:rPr lang="en-US" baseline="0" dirty="0" err="1"/>
              <a:t>truy</a:t>
            </a:r>
            <a:r>
              <a:rPr lang="en-US" baseline="0" dirty="0"/>
              <a:t> </a:t>
            </a:r>
            <a:r>
              <a:rPr lang="en-US" baseline="0" dirty="0" err="1"/>
              <a:t>xuất</a:t>
            </a:r>
            <a:r>
              <a:rPr lang="en-US" baseline="0" dirty="0"/>
              <a:t> </a:t>
            </a:r>
            <a:r>
              <a:rPr lang="en-US" baseline="0" dirty="0" err="1"/>
              <a:t>nguồn</a:t>
            </a:r>
            <a:r>
              <a:rPr lang="en-US" baseline="0" dirty="0"/>
              <a:t> </a:t>
            </a:r>
            <a:r>
              <a:rPr lang="en-US" baseline="0" dirty="0" err="1"/>
              <a:t>gốc</a:t>
            </a:r>
            <a:r>
              <a:rPr lang="en-US" baseline="0" dirty="0"/>
              <a:t> </a:t>
            </a:r>
            <a:r>
              <a:rPr lang="en-US" baseline="0" dirty="0" err="1"/>
              <a:t>của</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a:t>
            </a:r>
          </a:p>
        </p:txBody>
      </p:sp>
      <p:sp>
        <p:nvSpPr>
          <p:cNvPr id="4" name="Slide Number Placeholder 3"/>
          <p:cNvSpPr>
            <a:spLocks noGrp="1"/>
          </p:cNvSpPr>
          <p:nvPr>
            <p:ph type="sldNum" sz="quarter" idx="10"/>
          </p:nvPr>
        </p:nvSpPr>
        <p:spPr/>
        <p:txBody>
          <a:bodyPr/>
          <a:lstStyle/>
          <a:p>
            <a:fld id="{1F530D37-C3EB-47C6-9E35-94FCE4E0F4AA}" type="slidenum">
              <a:rPr lang="en-US" smtClean="0"/>
              <a:t>29</a:t>
            </a:fld>
            <a:endParaRPr lang="en-US"/>
          </a:p>
        </p:txBody>
      </p:sp>
    </p:spTree>
    <p:extLst>
      <p:ext uri="{BB962C8B-B14F-4D97-AF65-F5344CB8AC3E}">
        <p14:creationId xmlns:p14="http://schemas.microsoft.com/office/powerpoint/2010/main" val="160181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Q</a:t>
            </a:r>
            <a:r>
              <a:rPr lang="vi-VN" sz="1200" b="0" i="0" u="none" strike="noStrike" kern="1200" baseline="0" dirty="0">
                <a:solidFill>
                  <a:schemeClr val="tx1"/>
                </a:solidFill>
                <a:latin typeface="+mn-lt"/>
                <a:ea typeface="+mn-ea"/>
                <a:cs typeface="+mn-cs"/>
              </a:rPr>
              <a:t>uản lý thay đổi </a:t>
            </a:r>
            <a:r>
              <a:rPr lang="en-US" sz="1200" b="0" i="0" u="none" strike="noStrike" kern="1200" baseline="0" dirty="0">
                <a:solidFill>
                  <a:schemeClr val="tx1"/>
                </a:solidFill>
                <a:latin typeface="+mn-lt"/>
                <a:ea typeface="+mn-ea"/>
                <a:cs typeface="+mn-cs"/>
              </a:rPr>
              <a:t>y</a:t>
            </a:r>
            <a:r>
              <a:rPr lang="vi-VN" sz="1200" b="0" i="0" u="none" strike="noStrike" kern="1200" baseline="0" dirty="0">
                <a:solidFill>
                  <a:schemeClr val="tx1"/>
                </a:solidFill>
                <a:latin typeface="+mn-lt"/>
                <a:ea typeface="+mn-ea"/>
                <a:cs typeface="+mn-cs"/>
              </a:rPr>
              <a:t>êu cầu phải được áp dụng cho tất cả các đề xuất </a:t>
            </a:r>
            <a:r>
              <a:rPr lang="en-US" sz="1200" b="0" i="0" u="none" strike="noStrike" kern="1200" baseline="0" dirty="0" err="1">
                <a:solidFill>
                  <a:schemeClr val="tx1"/>
                </a:solidFill>
                <a:latin typeface="+mn-lt"/>
                <a:ea typeface="+mn-ea"/>
                <a:cs typeface="+mn-cs"/>
              </a:rPr>
              <a:t>xuất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đối với các yêu cầu của hệ thống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sau khi tài liệu yêu cầu đã được phê duyệt. </a:t>
            </a:r>
            <a:r>
              <a:rPr lang="en-US" sz="1200" b="0" i="0" u="none" strike="noStrike" kern="1200" baseline="0" dirty="0">
                <a:solidFill>
                  <a:schemeClr val="tx1"/>
                </a:solidFill>
                <a:latin typeface="+mn-lt"/>
                <a:ea typeface="+mn-ea"/>
                <a:cs typeface="+mn-cs"/>
              </a:rPr>
              <a:t>Q</a:t>
            </a:r>
            <a:r>
              <a:rPr lang="vi-VN" sz="1200" b="0" i="0" u="none" strike="noStrike" kern="1200" baseline="0" dirty="0">
                <a:solidFill>
                  <a:schemeClr val="tx1"/>
                </a:solidFill>
                <a:latin typeface="+mn-lt"/>
                <a:ea typeface="+mn-ea"/>
                <a:cs typeface="+mn-cs"/>
              </a:rPr>
              <a:t>uản lý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là điều cần thiết bởi vì </a:t>
            </a:r>
            <a:r>
              <a:rPr lang="en-US" sz="1200" b="0" i="0" u="none" strike="noStrike" kern="1200" baseline="0" dirty="0" err="1">
                <a:solidFill>
                  <a:schemeClr val="tx1"/>
                </a:solidFill>
                <a:latin typeface="+mn-lt"/>
                <a:ea typeface="+mn-ea"/>
                <a:cs typeface="+mn-cs"/>
              </a:rPr>
              <a:t>chúng</a:t>
            </a:r>
            <a:r>
              <a:rPr lang="en-US" sz="1200" b="0" i="0" u="none" strike="noStrike" kern="1200" baseline="0" dirty="0">
                <a:solidFill>
                  <a:schemeClr val="tx1"/>
                </a:solidFill>
                <a:latin typeface="+mn-lt"/>
                <a:ea typeface="+mn-ea"/>
                <a:cs typeface="+mn-cs"/>
              </a:rPr>
              <a:t> ta </a:t>
            </a:r>
            <a:r>
              <a:rPr lang="vi-VN" sz="1200" b="0" i="0" u="none" strike="noStrike" kern="1200" baseline="0" dirty="0">
                <a:solidFill>
                  <a:schemeClr val="tx1"/>
                </a:solidFill>
                <a:latin typeface="+mn-lt"/>
                <a:ea typeface="+mn-ea"/>
                <a:cs typeface="+mn-cs"/>
              </a:rPr>
              <a:t>cần phải </a:t>
            </a:r>
            <a:r>
              <a:rPr lang="en-US" sz="1200" b="0" i="0" u="none" strike="noStrike" kern="1200" baseline="0" dirty="0" err="1">
                <a:solidFill>
                  <a:schemeClr val="tx1"/>
                </a:solidFill>
                <a:latin typeface="+mn-lt"/>
                <a:ea typeface="+mn-ea"/>
                <a:cs typeface="+mn-cs"/>
              </a:rPr>
              <a:t>cân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nhắc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giữa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lợi ích của việc </a:t>
            </a:r>
            <a:r>
              <a:rPr lang="en-US" sz="1200" b="0" i="0" u="none" strike="noStrike" kern="1200" baseline="0" dirty="0" err="1">
                <a:solidFill>
                  <a:schemeClr val="tx1"/>
                </a:solidFill>
                <a:latin typeface="+mn-lt"/>
                <a:ea typeface="+mn-ea"/>
                <a:cs typeface="+mn-cs"/>
              </a:rPr>
              <a:t>đáp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ứng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các yêu cầu mới </a:t>
            </a:r>
            <a:r>
              <a:rPr lang="en-US" sz="1200" b="0" i="0" u="none" strike="noStrike" kern="1200" baseline="0" dirty="0">
                <a:solidFill>
                  <a:schemeClr val="tx1"/>
                </a:solidFill>
                <a:latin typeface="+mn-lt"/>
                <a:ea typeface="+mn-ea"/>
                <a:cs typeface="+mn-cs"/>
              </a:rPr>
              <a:t>so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mức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chi phí</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thiết</a:t>
            </a:r>
            <a:r>
              <a:rPr lang="vi-VN" sz="1200" b="0" i="0" u="none" strike="noStrike" kern="1200" baseline="0" dirty="0">
                <a:solidFill>
                  <a:schemeClr val="tx1"/>
                </a:solidFill>
                <a:latin typeface="+mn-lt"/>
                <a:ea typeface="+mn-ea"/>
                <a:cs typeface="+mn-cs"/>
              </a:rPr>
              <a:t>. Lợi thế của việc sử dụng một quy trình chính thức cho quản lý thay đổi là tất cả các đề xuất thay đổi được xử lý một cách nhất quán và các thay đổi đối với tài liệu yêu cầu được thực hiện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sự</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kiểm soát. Có ba giai đoạn chính đối với quy trình quản lý thay đổi:</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1. Phân tích vấn đề và đặc tả thay đổi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Quá trình bắt đầu với một vấn đề yêu cầu được xác định hoặc đôi khi, với một đề xuất thay đổi cụ thể. Trong giai đoạn này, vấn đề hoặc đề xuất thay đổi được phân tích để kiểm tra xem nó có hợp lệ hay không. Phân tích này được đưa trở lại cho người yêu cầu thay đổi, </a:t>
            </a:r>
            <a:r>
              <a:rPr lang="en-US" sz="1200" b="0" i="0" u="none" strike="noStrike" kern="1200" baseline="0" dirty="0" err="1">
                <a:solidFill>
                  <a:schemeClr val="tx1"/>
                </a:solidFill>
                <a:latin typeface="+mn-lt"/>
                <a:ea typeface="+mn-ea"/>
                <a:cs typeface="+mn-cs"/>
              </a:rPr>
              <a:t>để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chi </a:t>
            </a:r>
            <a:r>
              <a:rPr lang="en-US" sz="1200" b="0" i="0" u="none" strike="noStrike" kern="1200" baseline="0" dirty="0" err="1">
                <a:solidFill>
                  <a:schemeClr val="tx1"/>
                </a:solidFill>
                <a:latin typeface="+mn-lt"/>
                <a:ea typeface="+mn-ea"/>
                <a:cs typeface="+mn-cs"/>
              </a:rPr>
              <a:t>tiết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hóa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đề xuất thay đổi yêu cầu</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hoặc quyết định rút lại yêu cầu.</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2. </a:t>
            </a:r>
            <a:r>
              <a:rPr lang="en-US" sz="1200" b="0" i="0" u="none" strike="noStrike" kern="1200" baseline="0" dirty="0" err="1">
                <a:solidFill>
                  <a:schemeClr val="tx1"/>
                </a:solidFill>
                <a:latin typeface="+mn-lt"/>
                <a:ea typeface="+mn-ea"/>
                <a:cs typeface="+mn-cs"/>
              </a:rPr>
              <a:t>Phân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tích</a:t>
            </a:r>
            <a:r>
              <a:rPr lang="en-US" sz="1200" b="0" i="0" u="none" strike="noStrike" kern="1200" baseline="0" dirty="0">
                <a:solidFill>
                  <a:schemeClr val="tx1"/>
                </a:solidFill>
                <a:latin typeface="+mn-lt"/>
                <a:ea typeface="+mn-ea"/>
                <a:cs typeface="+mn-cs"/>
              </a:rPr>
              <a:t> t</a:t>
            </a:r>
            <a:r>
              <a:rPr lang="vi-VN" sz="1200" b="0" i="0" u="none" strike="noStrike" kern="1200" baseline="0" dirty="0">
                <a:solidFill>
                  <a:schemeClr val="tx1"/>
                </a:solidFill>
                <a:latin typeface="+mn-lt"/>
                <a:ea typeface="+mn-ea"/>
                <a:cs typeface="+mn-cs"/>
              </a:rPr>
              <a:t>hay đổi và chi phí</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 Hiệu quả của thay đổi được đề xuất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được đánh giá bằng cách sử dụng thông tin truy xuất nguồn gốc và kiến ​​thức chung về các yêu cầu hệ thống. Chi phí thực hiện thay đổi được ước tính cả về sửa đổi đối với tài liệu yêu cầu và</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để thiết kế và thực hiện hệ thống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trường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hợp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chấp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nhận</a:t>
            </a:r>
            <a:r>
              <a:rPr lang="vi-VN" sz="1200" b="0" i="0" u="none" strike="noStrike" kern="1200" baseline="0" dirty="0">
                <a:solidFill>
                  <a:schemeClr val="tx1"/>
                </a:solidFill>
                <a:latin typeface="+mn-lt"/>
                <a:ea typeface="+mn-ea"/>
                <a:cs typeface="+mn-cs"/>
              </a:rPr>
              <a:t>. Một khi phân tích này được hoàn thành, quyết định tiến hành </a:t>
            </a:r>
            <a:r>
              <a:rPr lang="en-US" sz="1200" b="0" i="0" u="none" strike="noStrike" kern="1200" baseline="0" dirty="0">
                <a:solidFill>
                  <a:schemeClr val="tx1"/>
                </a:solidFill>
                <a:latin typeface="+mn-lt"/>
                <a:ea typeface="+mn-ea"/>
                <a:cs typeface="+mn-cs"/>
              </a:rPr>
              <a:t>hay </a:t>
            </a:r>
            <a:r>
              <a:rPr lang="en-US" sz="1200" b="0" i="0" u="none" strike="noStrike" kern="1200" baseline="0" dirty="0" err="1">
                <a:solidFill>
                  <a:schemeClr val="tx1"/>
                </a:solidFill>
                <a:latin typeface="+mn-lt"/>
                <a:ea typeface="+mn-ea"/>
                <a:cs typeface="+mn-cs"/>
              </a:rPr>
              <a:t>không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thay đổi yêu 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ra</a:t>
            </a:r>
            <a:r>
              <a:rPr lang="vi-VN" sz="1200" b="0" i="0" u="none" strike="noStrike" kern="1200" baseline="0" dirty="0">
                <a:solidFill>
                  <a:schemeClr val="tx1"/>
                </a:solidFill>
                <a:latin typeface="+mn-lt"/>
                <a:ea typeface="+mn-ea"/>
                <a:cs typeface="+mn-cs"/>
              </a:rPr>
              <a:t>.</a:t>
            </a:r>
          </a:p>
          <a:p>
            <a:endParaRPr lang="vi-VN" sz="1200" b="0" i="0" u="none" strike="noStrike" kern="1200" baseline="0" dirty="0">
              <a:solidFill>
                <a:schemeClr val="tx1"/>
              </a:solidFill>
              <a:latin typeface="+mn-lt"/>
              <a:ea typeface="+mn-ea"/>
              <a:cs typeface="+mn-cs"/>
            </a:endParaRPr>
          </a:p>
          <a:p>
            <a:r>
              <a:rPr lang="vi-VN" sz="1200" b="0" i="0" u="none" strike="noStrike" kern="1200" baseline="0" dirty="0">
                <a:solidFill>
                  <a:schemeClr val="tx1"/>
                </a:solidFill>
                <a:latin typeface="+mn-lt"/>
                <a:ea typeface="+mn-ea"/>
                <a:cs typeface="+mn-cs"/>
              </a:rPr>
              <a:t>3. </a:t>
            </a:r>
            <a:r>
              <a:rPr lang="en-US" sz="1200" b="0" i="0" u="none" strike="noStrike" kern="1200" baseline="0" dirty="0">
                <a:solidFill>
                  <a:schemeClr val="tx1"/>
                </a:solidFill>
                <a:latin typeface="+mn-lt"/>
                <a:ea typeface="+mn-ea"/>
                <a:cs typeface="+mn-cs"/>
              </a:rPr>
              <a:t>T</a:t>
            </a:r>
            <a:r>
              <a:rPr lang="vi-VN" sz="1200" b="0" i="0" u="none" strike="noStrike" kern="1200" baseline="0" dirty="0">
                <a:solidFill>
                  <a:schemeClr val="tx1"/>
                </a:solidFill>
                <a:latin typeface="+mn-lt"/>
                <a:ea typeface="+mn-ea"/>
                <a:cs typeface="+mn-cs"/>
              </a:rPr>
              <a:t>hực hiện </a:t>
            </a:r>
            <a:r>
              <a:rPr lang="en-US" sz="1200" b="0" i="0" u="none" strike="noStrike" kern="1200" baseline="0" dirty="0" err="1">
                <a:solidFill>
                  <a:schemeClr val="tx1"/>
                </a:solidFill>
                <a:latin typeface="+mn-lt"/>
                <a:ea typeface="+mn-ea"/>
                <a:cs typeface="+mn-cs"/>
              </a:rPr>
              <a:t>thay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đổi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Tài liệu yêu cầu và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bản</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thiết kế và </a:t>
            </a:r>
            <a:r>
              <a:rPr lang="en-US" sz="1200" b="0" i="0" u="none" strike="noStrike" kern="1200" baseline="0" dirty="0" err="1">
                <a:solidFill>
                  <a:schemeClr val="tx1"/>
                </a:solidFill>
                <a:latin typeface="+mn-lt"/>
                <a:ea typeface="+mn-ea"/>
                <a:cs typeface="+mn-cs"/>
              </a:rPr>
              <a:t>cài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đặt</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hệ thống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được sửa đổi.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tổ chức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theo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thực hiện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thay đổi </a:t>
            </a:r>
            <a:r>
              <a:rPr lang="en-US" sz="1200" b="0" i="0" u="none" strike="noStrike" kern="1200" baseline="0" dirty="0" err="1">
                <a:solidFill>
                  <a:schemeClr val="tx1"/>
                </a:solidFill>
                <a:latin typeface="+mn-lt"/>
                <a:ea typeface="+mn-ea"/>
                <a:cs typeface="+mn-cs"/>
              </a:rPr>
              <a:t>sẽ</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không </a:t>
            </a:r>
            <a:r>
              <a:rPr lang="en-US" sz="1200" b="0" i="0" u="none" strike="noStrike" kern="1200" baseline="0" dirty="0" err="1">
                <a:solidFill>
                  <a:schemeClr val="tx1"/>
                </a:solidFill>
                <a:latin typeface="+mn-lt"/>
                <a:ea typeface="+mn-ea"/>
                <a:cs typeface="+mn-cs"/>
              </a:rPr>
              <a:t>đòi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hỏi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phải</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viết lại hoặc tổ chức lại </a:t>
            </a:r>
            <a:r>
              <a:rPr lang="en-US" sz="1200" b="0" i="0" u="none" strike="noStrike" kern="1200" baseline="0" dirty="0" err="1">
                <a:solidFill>
                  <a:schemeClr val="tx1"/>
                </a:solidFill>
                <a:latin typeface="+mn-lt"/>
                <a:ea typeface="+mn-ea"/>
                <a:cs typeface="+mn-cs"/>
              </a:rPr>
              <a:t>tài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Tương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tự</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với các chương trình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máy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tính</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tầm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hưởng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của</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thay đổi trong tài liệu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vi-VN"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có</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thể</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hạn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chế</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bằng cách giảm thiểu các tham chiếu bên ngoài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nghĩa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tăng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mô</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đun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hóa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tổ</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chức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tài liệu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vi-VN"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1F530D37-C3EB-47C6-9E35-94FCE4E0F4AA}" type="slidenum">
              <a:rPr lang="en-US" smtClean="0"/>
              <a:t>30</a:t>
            </a:fld>
            <a:endParaRPr lang="en-US"/>
          </a:p>
        </p:txBody>
      </p:sp>
    </p:spTree>
    <p:extLst>
      <p:ext uri="{BB962C8B-B14F-4D97-AF65-F5344CB8AC3E}">
        <p14:creationId xmlns:p14="http://schemas.microsoft.com/office/powerpoint/2010/main" val="21786417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F530D37-C3EB-47C6-9E35-94FCE4E0F4AA}" type="slidenum">
              <a:rPr lang="en-US" smtClean="0"/>
              <a:t>31</a:t>
            </a:fld>
            <a:endParaRPr lang="en-US"/>
          </a:p>
        </p:txBody>
      </p:sp>
    </p:spTree>
    <p:extLst>
      <p:ext uri="{BB962C8B-B14F-4D97-AF65-F5344CB8AC3E}">
        <p14:creationId xmlns:p14="http://schemas.microsoft.com/office/powerpoint/2010/main" val="2279505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bài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học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này</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chúng</a:t>
            </a:r>
            <a:r>
              <a:rPr lang="en-US" sz="1200" b="0" i="0" u="none" strike="noStrike" kern="1200" baseline="0" dirty="0">
                <a:solidFill>
                  <a:schemeClr val="tx1"/>
                </a:solidFill>
                <a:latin typeface="+mn-lt"/>
                <a:ea typeface="+mn-ea"/>
                <a:cs typeface="+mn-cs"/>
              </a:rPr>
              <a:t> ta </a:t>
            </a:r>
            <a:r>
              <a:rPr lang="en-US" sz="1200" b="0" i="0" u="none" strike="noStrike" kern="1200" baseline="0" dirty="0" err="1">
                <a:solidFill>
                  <a:schemeClr val="tx1"/>
                </a:solidFill>
                <a:latin typeface="+mn-lt"/>
                <a:ea typeface="+mn-ea"/>
                <a:cs typeface="+mn-cs"/>
              </a:rPr>
              <a:t>đã</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được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tìm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một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số</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nội</a:t>
            </a:r>
            <a:r>
              <a:rPr lang="en-US" sz="1200" b="0" i="0" u="none" strike="noStrike" kern="1200" baseline="0" dirty="0">
                <a:solidFill>
                  <a:schemeClr val="tx1"/>
                </a:solidFill>
                <a:latin typeface="+mn-lt"/>
                <a:ea typeface="+mn-ea"/>
                <a:cs typeface="+mn-cs"/>
              </a:rPr>
              <a:t> dung </a:t>
            </a:r>
            <a:r>
              <a:rPr lang="en-US" sz="1200" b="0" i="0" u="none" strike="noStrike" kern="1200" baseline="0" dirty="0" err="1">
                <a:solidFill>
                  <a:schemeClr val="tx1"/>
                </a:solidFill>
                <a:latin typeface="+mn-lt"/>
                <a:ea typeface="+mn-ea"/>
                <a:cs typeface="+mn-cs"/>
              </a:rPr>
              <a:t>chính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về</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nghệ</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nhất</a:t>
            </a:r>
            <a:r>
              <a:rPr lang="en-US" sz="1200" b="0" i="0" u="none" strike="noStrike" kern="1200" baseline="0" dirty="0">
                <a:solidFill>
                  <a:schemeClr val="tx1"/>
                </a:solidFill>
                <a:latin typeface="+mn-lt"/>
                <a:ea typeface="+mn-ea"/>
                <a:cs typeface="+mn-cs"/>
              </a:rPr>
              <a:t>, q</a:t>
            </a:r>
            <a:r>
              <a:rPr lang="vi-VN" sz="1200" b="0" i="0" u="none" strike="noStrike" kern="1200" baseline="0" dirty="0">
                <a:solidFill>
                  <a:schemeClr val="tx1"/>
                </a:solidFill>
                <a:latin typeface="+mn-lt"/>
                <a:ea typeface="+mn-ea"/>
                <a:cs typeface="+mn-cs"/>
              </a:rPr>
              <a:t>uy trình kỹ thuật yêu cầu bao gồm nghiên cứu khả thi, yêu cầu và phân tích yêu cầu, đặc tả yêu cầu, xác nhận yêu cầu và quản lý yêu cầu.</a:t>
            </a:r>
          </a:p>
          <a:p>
            <a:endParaRPr lang="vi-VN"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hai</a:t>
            </a:r>
            <a:r>
              <a:rPr lang="en-US" sz="1200" b="0" i="0" u="none" strike="noStrike" kern="1200" baseline="0" dirty="0">
                <a:solidFill>
                  <a:schemeClr val="tx1"/>
                </a:solidFill>
                <a:latin typeface="+mn-lt"/>
                <a:ea typeface="+mn-ea"/>
                <a:cs typeface="+mn-cs"/>
              </a:rPr>
              <a:t>, y</a:t>
            </a:r>
            <a:r>
              <a:rPr lang="vi-VN" sz="1200" b="0" i="0" u="none" strike="noStrike" kern="1200" baseline="0" dirty="0">
                <a:solidFill>
                  <a:schemeClr val="tx1"/>
                </a:solidFill>
                <a:latin typeface="+mn-lt"/>
                <a:ea typeface="+mn-ea"/>
                <a:cs typeface="+mn-cs"/>
              </a:rPr>
              <a:t>êu cầu gợi ý và phân tích là một quá trình lặp lại có thể được biểu diễn như là một hoạt động xoắn ốc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với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chuỗi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bốn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hoạt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động</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khám phá yêu cầu</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phân loại yêu cầu</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tổ chức</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thương lượng yêu cầu</a:t>
            </a:r>
            <a:r>
              <a:rPr lang="en-US" sz="1200" b="0" i="0" u="none" strike="noStrike" kern="1200" baseline="0" dirty="0">
                <a:solidFill>
                  <a:schemeClr val="tx1"/>
                </a:solidFill>
                <a:latin typeface="+mn-lt"/>
                <a:ea typeface="+mn-ea"/>
                <a:cs typeface="+mn-cs"/>
              </a:rPr>
              <a:t>;</a:t>
            </a:r>
            <a:r>
              <a:rPr lang="vi-VN" sz="1200" b="0" i="0" u="none" strike="noStrike" kern="1200" baseline="0" dirty="0">
                <a:solidFill>
                  <a:schemeClr val="tx1"/>
                </a:solidFill>
                <a:latin typeface="+mn-lt"/>
                <a:ea typeface="+mn-ea"/>
                <a:cs typeface="+mn-cs"/>
              </a:rPr>
              <a:t> và </a:t>
            </a:r>
            <a:r>
              <a:rPr lang="en-US" sz="1200" b="0" i="0" u="none" strike="noStrike" kern="1200" baseline="0" dirty="0" err="1">
                <a:solidFill>
                  <a:schemeClr val="tx1"/>
                </a:solidFill>
                <a:latin typeface="+mn-lt"/>
                <a:ea typeface="+mn-ea"/>
                <a:cs typeface="+mn-cs"/>
              </a:rPr>
              <a:t>đặc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tả</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yêu cầu.</a:t>
            </a:r>
          </a:p>
          <a:p>
            <a:endParaRPr lang="vi-VN"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Thứ</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ba</a:t>
            </a:r>
            <a:r>
              <a:rPr lang="en-US" sz="1200" b="0" i="0" u="none" strike="noStrike" kern="1200" baseline="0" dirty="0">
                <a:solidFill>
                  <a:schemeClr val="tx1"/>
                </a:solidFill>
                <a:latin typeface="+mn-lt"/>
                <a:ea typeface="+mn-ea"/>
                <a:cs typeface="+mn-cs"/>
              </a:rPr>
              <a:t>, x</a:t>
            </a:r>
            <a:r>
              <a:rPr lang="vi-VN" sz="1200" b="0" i="0" u="none" strike="noStrike" kern="1200" baseline="0" dirty="0">
                <a:solidFill>
                  <a:schemeClr val="tx1"/>
                </a:solidFill>
                <a:latin typeface="+mn-lt"/>
                <a:ea typeface="+mn-ea"/>
                <a:cs typeface="+mn-cs"/>
              </a:rPr>
              <a:t>ác nhận yêu cầu là quá trình kiểm tra các yêu cầu về tính hợp lệ, nhất quán, đầy đủ, tính hiện thực và khả năng kiểm chứng.</a:t>
            </a:r>
          </a:p>
          <a:p>
            <a:endParaRPr lang="vi-VN"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điểm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cuối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cùng</a:t>
            </a:r>
            <a:r>
              <a:rPr lang="en-US" sz="1200" b="0" i="0" u="none" strike="noStrike" kern="1200" baseline="0" dirty="0">
                <a:solidFill>
                  <a:schemeClr val="tx1"/>
                </a:solidFill>
                <a:latin typeface="+mn-lt"/>
                <a:ea typeface="+mn-ea"/>
                <a:cs typeface="+mn-cs"/>
              </a:rPr>
              <a:t>, t</a:t>
            </a:r>
            <a:r>
              <a:rPr lang="vi-VN" sz="1200" b="0" i="0" u="none" strike="noStrike" kern="1200" baseline="0" dirty="0">
                <a:solidFill>
                  <a:schemeClr val="tx1"/>
                </a:solidFill>
                <a:latin typeface="+mn-lt"/>
                <a:ea typeface="+mn-ea"/>
                <a:cs typeface="+mn-cs"/>
              </a:rPr>
              <a:t>hay đổi về kinh doanh, tổ chức và kỹ thuật chắc chắn dẫn đến những thay đổi đối với các yêu cầu đối với hệ thống phần mềm. Quản lý yêu cầu là quá trình quản lý và kiểm soát những thay đổi này.</a:t>
            </a: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F530D37-C3EB-47C6-9E35-94FCE4E0F4AA}" type="slidenum">
              <a:rPr lang="en-US" smtClean="0"/>
              <a:t>33</a:t>
            </a:fld>
            <a:endParaRPr lang="en-US"/>
          </a:p>
        </p:txBody>
      </p:sp>
    </p:spTree>
    <p:extLst>
      <p:ext uri="{BB962C8B-B14F-4D97-AF65-F5344CB8AC3E}">
        <p14:creationId xmlns:p14="http://schemas.microsoft.com/office/powerpoint/2010/main" val="34624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2291377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8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2551804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3753030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2433371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657274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3364279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22724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252441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3527575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166657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2324310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37763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vi-VN"/>
              <a:t>Bộ môn Công nghệ phần mềm - Khoa CNTT - Trường ĐHCN - ĐHQGHN</a:t>
            </a:r>
            <a:endParaRPr lang="en-US"/>
          </a:p>
        </p:txBody>
      </p:sp>
      <p:sp>
        <p:nvSpPr>
          <p:cNvPr id="3" name="Slide Number Placeholder 2"/>
          <p:cNvSpPr>
            <a:spLocks noGrp="1"/>
          </p:cNvSpPr>
          <p:nvPr>
            <p:ph type="sldNum" sz="quarter" idx="11"/>
          </p:nvPr>
        </p:nvSpPr>
        <p:spPr/>
        <p:txBody>
          <a:bodyPr/>
          <a:lstStyle/>
          <a:p>
            <a:fld id="{FB909573-AB07-4D84-978D-E1A4AA3F0D88}" type="slidenum">
              <a:rPr lang="en-US" smtClean="0"/>
              <a:t>‹#›</a:t>
            </a:fld>
            <a:endParaRPr lang="en-US"/>
          </a:p>
        </p:txBody>
      </p:sp>
    </p:spTree>
    <p:extLst>
      <p:ext uri="{BB962C8B-B14F-4D97-AF65-F5344CB8AC3E}">
        <p14:creationId xmlns:p14="http://schemas.microsoft.com/office/powerpoint/2010/main" val="3713587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567217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8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3766708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3165123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3519348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3099470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711487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2751569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4127671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27551038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107362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2576561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2428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endParaRPr lang="en-US" dirty="0"/>
          </a:p>
        </p:txBody>
      </p:sp>
      <p:sp>
        <p:nvSpPr>
          <p:cNvPr id="5" name="Footer Placeholder 4"/>
          <p:cNvSpPr>
            <a:spLocks noGrp="1"/>
          </p:cNvSpPr>
          <p:nvPr>
            <p:ph type="ftr" sz="quarter" idx="3"/>
          </p:nvPr>
        </p:nvSpPr>
        <p:spPr>
          <a:xfrm>
            <a:off x="22669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dirty="0"/>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374400180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endParaRPr lang="en-US" dirty="0"/>
          </a:p>
        </p:txBody>
      </p:sp>
      <p:sp>
        <p:nvSpPr>
          <p:cNvPr id="5" name="Footer Placeholder 4"/>
          <p:cNvSpPr>
            <a:spLocks noGrp="1"/>
          </p:cNvSpPr>
          <p:nvPr>
            <p:ph type="ftr" sz="quarter" idx="3"/>
          </p:nvPr>
        </p:nvSpPr>
        <p:spPr>
          <a:xfrm>
            <a:off x="3111183" y="6332809"/>
            <a:ext cx="2883535"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48487069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d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2943" y="1597320"/>
            <a:ext cx="7740015" cy="1464580"/>
          </a:xfrm>
        </p:spPr>
        <p:txBody>
          <a:bodyPr/>
          <a:lstStyle/>
          <a:p>
            <a:r>
              <a:rPr lang="en-US" dirty="0" err="1"/>
              <a:t>Công</a:t>
            </a:r>
            <a:r>
              <a:rPr lang="en-US" dirty="0"/>
              <a:t> </a:t>
            </a:r>
            <a:r>
              <a:rPr lang="en-US" dirty="0" err="1"/>
              <a:t>nghệ</a:t>
            </a:r>
            <a:r>
              <a:rPr lang="en-US" dirty="0"/>
              <a:t> </a:t>
            </a:r>
            <a:r>
              <a:rPr lang="en-US" dirty="0" err="1"/>
              <a:t>phần</a:t>
            </a:r>
            <a:r>
              <a:rPr lang="en-US" dirty="0"/>
              <a:t> </a:t>
            </a:r>
            <a:r>
              <a:rPr lang="en-US" dirty="0" err="1"/>
              <a:t>mềm</a:t>
            </a:r>
            <a:endParaRPr lang="en-GB" dirty="0"/>
          </a:p>
        </p:txBody>
      </p:sp>
      <p:sp>
        <p:nvSpPr>
          <p:cNvPr id="5" name="Subtitle 4"/>
          <p:cNvSpPr>
            <a:spLocks noGrp="1"/>
          </p:cNvSpPr>
          <p:nvPr>
            <p:ph type="subTitle" idx="1"/>
          </p:nvPr>
        </p:nvSpPr>
        <p:spPr>
          <a:xfrm>
            <a:off x="1365885" y="3346591"/>
            <a:ext cx="6374130" cy="1746109"/>
          </a:xfrm>
        </p:spPr>
        <p:txBody>
          <a:bodyPr/>
          <a:lstStyle/>
          <a:p>
            <a:r>
              <a:rPr lang="en-GB" dirty="0" err="1"/>
              <a:t>Bài</a:t>
            </a:r>
            <a:r>
              <a:rPr lang="en-GB" dirty="0"/>
              <a:t> 06: Thu </a:t>
            </a:r>
            <a:r>
              <a:rPr lang="en-GB" dirty="0" err="1"/>
              <a:t>thập</a:t>
            </a:r>
            <a:r>
              <a:rPr lang="en-GB" dirty="0"/>
              <a:t> </a:t>
            </a:r>
            <a:r>
              <a:rPr lang="en-GB" dirty="0" err="1"/>
              <a:t>và</a:t>
            </a:r>
            <a:r>
              <a:rPr lang="en-GB" dirty="0"/>
              <a:t> </a:t>
            </a:r>
            <a:r>
              <a:rPr lang="en-GB" dirty="0" err="1"/>
              <a:t>phân</a:t>
            </a:r>
            <a:r>
              <a:rPr lang="en-GB" dirty="0"/>
              <a:t> </a:t>
            </a:r>
            <a:r>
              <a:rPr lang="en-GB" dirty="0" err="1"/>
              <a:t>tích</a:t>
            </a:r>
            <a:r>
              <a:rPr lang="en-GB" dirty="0"/>
              <a:t> </a:t>
            </a:r>
            <a:r>
              <a:rPr lang="en-GB" dirty="0" err="1"/>
              <a:t>yêu</a:t>
            </a:r>
            <a:r>
              <a:rPr lang="en-GB" dirty="0"/>
              <a:t> </a:t>
            </a:r>
            <a:r>
              <a:rPr lang="en-GB" dirty="0" err="1"/>
              <a:t>cầu</a:t>
            </a:r>
            <a:br>
              <a:rPr lang="en-GB" dirty="0"/>
            </a:br>
            <a:r>
              <a:rPr lang="en-GB" dirty="0"/>
              <a:t>(</a:t>
            </a:r>
            <a:r>
              <a:rPr lang="en-GB" dirty="0" err="1"/>
              <a:t>phần</a:t>
            </a:r>
            <a:r>
              <a:rPr lang="en-GB" dirty="0"/>
              <a:t> 2)</a:t>
            </a:r>
          </a:p>
        </p:txBody>
      </p:sp>
    </p:spTree>
    <p:extLst>
      <p:ext uri="{BB962C8B-B14F-4D97-AF65-F5344CB8AC3E}">
        <p14:creationId xmlns:p14="http://schemas.microsoft.com/office/powerpoint/2010/main" val="293353535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Nội dung</a:t>
            </a:r>
            <a:endParaRPr lang="en-US" sz="4200" b="0" strike="noStrike" spc="-1">
              <a:solidFill>
                <a:srgbClr val="000000"/>
              </a:solidFill>
              <a:uFill>
                <a:solidFill>
                  <a:srgbClr val="FFFFFF"/>
                </a:solidFill>
              </a:uFill>
              <a:latin typeface="Arial"/>
            </a:endParaRPr>
          </a:p>
        </p:txBody>
      </p:sp>
      <p:sp>
        <p:nvSpPr>
          <p:cNvPr id="81"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90000"/>
              </a:lnSpc>
              <a:spcBef>
                <a:spcPts val="601"/>
              </a:spcBef>
              <a:buClr>
                <a:srgbClr val="000000"/>
              </a:buClr>
              <a:buFont typeface="Arial"/>
              <a:buChar char="•"/>
            </a:pPr>
            <a:r>
              <a:rPr lang="en-US" sz="3000" b="0" strike="noStrike" spc="-1" dirty="0" err="1">
                <a:solidFill>
                  <a:srgbClr val="CCCCCC"/>
                </a:solidFill>
                <a:uFill>
                  <a:solidFill>
                    <a:srgbClr val="FFFFFF"/>
                  </a:solidFill>
                </a:uFill>
                <a:latin typeface="Calibri"/>
                <a:ea typeface="DejaVu Sans"/>
              </a:rPr>
              <a:t>Các</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khái</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niệm</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cơ</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bản</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về</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yêu</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cầu</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phần</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mềm</a:t>
            </a:r>
            <a:endParaRPr lang="en-US" sz="3000" b="0" strike="noStrike" spc="-1" dirty="0">
              <a:solidFill>
                <a:srgbClr val="000000"/>
              </a:solidFill>
              <a:uFill>
                <a:solidFill>
                  <a:srgbClr val="FFFFFF"/>
                </a:solidFill>
              </a:uFill>
              <a:latin typeface="Arial"/>
            </a:endParaRPr>
          </a:p>
          <a:p>
            <a:pPr marL="326160" indent="-324720">
              <a:lnSpc>
                <a:spcPct val="90000"/>
              </a:lnSpc>
              <a:spcBef>
                <a:spcPts val="601"/>
              </a:spcBef>
              <a:buClr>
                <a:srgbClr val="000000"/>
              </a:buClr>
              <a:buFont typeface="Arial"/>
              <a:buChar char="•"/>
            </a:pPr>
            <a:r>
              <a:rPr lang="en-US" sz="3000" b="0" strike="noStrike" spc="-1" dirty="0" err="1">
                <a:solidFill>
                  <a:srgbClr val="CCCCCC"/>
                </a:solidFill>
                <a:uFill>
                  <a:solidFill>
                    <a:srgbClr val="FFFFFF"/>
                  </a:solidFill>
                </a:uFill>
                <a:latin typeface="Calibri"/>
                <a:ea typeface="DejaVu Sans"/>
              </a:rPr>
              <a:t>Tài</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liệu</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yêu</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90000"/>
              </a:lnSpc>
              <a:spcBef>
                <a:spcPts val="601"/>
              </a:spcBef>
              <a:buClr>
                <a:srgbClr val="000000"/>
              </a:buClr>
              <a:buFont typeface="Arial"/>
              <a:buChar char="•"/>
            </a:pPr>
            <a:r>
              <a:rPr lang="en-US" sz="3000" b="0" strike="noStrike" spc="-1" dirty="0" err="1">
                <a:solidFill>
                  <a:srgbClr val="CCCCCC"/>
                </a:solidFill>
                <a:uFill>
                  <a:solidFill>
                    <a:srgbClr val="FFFFFF"/>
                  </a:solidFill>
                </a:uFill>
                <a:latin typeface="Calibri"/>
                <a:ea typeface="DejaVu Sans"/>
              </a:rPr>
              <a:t>Đặc</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tả</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yêu</a:t>
            </a:r>
            <a:r>
              <a:rPr lang="en-US" sz="3000" b="0" strike="noStrike" spc="-1" dirty="0">
                <a:solidFill>
                  <a:srgbClr val="CCCCCC"/>
                </a:solidFill>
                <a:uFill>
                  <a:solidFill>
                    <a:srgbClr val="FFFFFF"/>
                  </a:solidFill>
                </a:uFill>
                <a:latin typeface="Calibri"/>
                <a:ea typeface="DejaVu Sans"/>
              </a:rPr>
              <a:t> </a:t>
            </a:r>
            <a:r>
              <a:rPr lang="en-US" sz="3000" b="0" strike="noStrike" spc="-1" dirty="0" err="1">
                <a:solidFill>
                  <a:srgbClr val="CCCCCC"/>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Quy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a:solidFill>
                  <a:srgbClr val="000000"/>
                </a:solidFill>
                <a:uFill>
                  <a:solidFill>
                    <a:srgbClr val="FFFFFF"/>
                  </a:solidFill>
                </a:uFill>
                <a:latin typeface="Calibri"/>
                <a:ea typeface="DejaVu Sans"/>
              </a:rPr>
              <a:t>Thu </a:t>
            </a:r>
            <a:r>
              <a:rPr lang="en-US" sz="3000" b="0" strike="noStrike" spc="-1" dirty="0" err="1">
                <a:solidFill>
                  <a:srgbClr val="000000"/>
                </a:solidFill>
                <a:uFill>
                  <a:solidFill>
                    <a:srgbClr val="FFFFFF"/>
                  </a:solidFill>
                </a:uFill>
                <a:latin typeface="Calibri"/>
                <a:ea typeface="DejaVu Sans"/>
              </a:rPr>
              <a:t>thập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Thẩm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định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p:txBody>
      </p:sp>
      <p:sp>
        <p:nvSpPr>
          <p:cNvPr id="82"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78B38146-6962-433F-B312-43C01603BBAF}" type="slidenum">
              <a:rPr lang="en-US" sz="1100" b="0" strike="noStrike" spc="-1">
                <a:solidFill>
                  <a:srgbClr val="8B8B8B"/>
                </a:solidFill>
                <a:uFill>
                  <a:solidFill>
                    <a:srgbClr val="FFFFFF"/>
                  </a:solidFill>
                </a:uFill>
                <a:latin typeface="Calibri"/>
                <a:ea typeface="DejaVu Sans"/>
              </a:rPr>
              <a:t>2</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Quy trình kỹ nghệ yêu cầu</a:t>
            </a:r>
            <a:endParaRPr lang="en-US" sz="4200" b="0" strike="noStrike" spc="-1">
              <a:solidFill>
                <a:srgbClr val="000000"/>
              </a:solidFill>
              <a:uFill>
                <a:solidFill>
                  <a:srgbClr val="FFFFFF"/>
                </a:solidFill>
              </a:uFill>
              <a:latin typeface="Arial"/>
            </a:endParaRPr>
          </a:p>
        </p:txBody>
      </p:sp>
      <p:sp>
        <p:nvSpPr>
          <p:cNvPr id="84"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lnSpcReduction="10000"/>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Phụ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thuộc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miền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ứng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liên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quan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tổ</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triển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Hoạt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nhất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432000" lvl="1" indent="-215280">
              <a:lnSpc>
                <a:spcPct val="100000"/>
              </a:lnSpc>
              <a:spcBef>
                <a:spcPts val="601"/>
              </a:spcBef>
              <a:buClr>
                <a:srgbClr val="000000"/>
              </a:buClr>
              <a:buSzPct val="45000"/>
              <a:buFont typeface="OpenSymbol"/>
              <a:buChar char="-"/>
            </a:pPr>
            <a:r>
              <a:rPr lang="en-US" sz="3000" b="0" strike="noStrike" spc="-1" dirty="0">
                <a:solidFill>
                  <a:srgbClr val="000000"/>
                </a:solidFill>
                <a:uFill>
                  <a:solidFill>
                    <a:srgbClr val="FFFFFF"/>
                  </a:solidFill>
                </a:uFill>
                <a:latin typeface="Calibri"/>
                <a:ea typeface="DejaVu Sans"/>
              </a:rPr>
              <a:t>Thu </a:t>
            </a:r>
            <a:r>
              <a:rPr lang="en-US" sz="3000" b="0" strike="noStrike" spc="-1" dirty="0" err="1">
                <a:solidFill>
                  <a:srgbClr val="000000"/>
                </a:solidFill>
                <a:uFill>
                  <a:solidFill>
                    <a:srgbClr val="FFFFFF"/>
                  </a:solidFill>
                </a:uFill>
                <a:latin typeface="Calibri"/>
                <a:ea typeface="DejaVu Sans"/>
              </a:rPr>
              <a:t>thập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432000" lvl="1" indent="-215280">
              <a:lnSpc>
                <a:spcPct val="100000"/>
              </a:lnSpc>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Đặc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432000" lvl="1" indent="-215280">
              <a:lnSpc>
                <a:spcPct val="100000"/>
              </a:lnSpc>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Thẩm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định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endParaRPr lang="en-US" sz="3000" b="0" strike="noStrike" spc="-1" dirty="0">
              <a:solidFill>
                <a:srgbClr val="000000"/>
              </a:solidFill>
              <a:uFill>
                <a:solidFill>
                  <a:srgbClr val="FFFFFF"/>
                </a:solidFill>
              </a:uFill>
              <a:latin typeface="Arial"/>
            </a:endParaRPr>
          </a:p>
          <a:p>
            <a:pPr marL="432000" lvl="1" indent="-215280">
              <a:lnSpc>
                <a:spcPct val="100000"/>
              </a:lnSpc>
              <a:spcBef>
                <a:spcPts val="601"/>
              </a:spcBef>
              <a:buClr>
                <a:srgbClr val="000000"/>
              </a:buClr>
              <a:buSzPct val="45000"/>
              <a:buFont typeface="OpenSymbol"/>
              <a:buChar char="-"/>
            </a:pP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bao</a:t>
            </a:r>
            <a:r>
              <a:rPr lang="en-US" sz="3000" b="0" strike="noStrike"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gồm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hoạt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lặp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hoạt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gối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nhau</a:t>
            </a:r>
            <a:endParaRPr lang="en-US" sz="3000" b="0" strike="noStrike" spc="-1" dirty="0">
              <a:solidFill>
                <a:srgbClr val="000000"/>
              </a:solidFill>
              <a:uFill>
                <a:solidFill>
                  <a:srgbClr val="FFFFFF"/>
                </a:solidFill>
              </a:uFill>
              <a:latin typeface="Arial"/>
            </a:endParaRPr>
          </a:p>
        </p:txBody>
      </p:sp>
      <p:sp>
        <p:nvSpPr>
          <p:cNvPr id="85"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573817E6-A4B3-4B7B-8B87-73A8FE18C4F0}" type="slidenum">
              <a:rPr lang="en-US" sz="1100" b="0" strike="noStrike" spc="-1">
                <a:solidFill>
                  <a:srgbClr val="8B8B8B"/>
                </a:solidFill>
                <a:uFill>
                  <a:solidFill>
                    <a:srgbClr val="FFFFFF"/>
                  </a:solidFill>
                </a:uFill>
                <a:latin typeface="Calibri"/>
                <a:ea typeface="DejaVu Sans"/>
              </a:rPr>
              <a:t>3</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3</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426960" y="10655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Quy</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trình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kỹ</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nghệ</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r>
              <a:rPr lang="en-US" sz="4200" b="0" strike="noStrike" spc="-1" dirty="0">
                <a:solidFill>
                  <a:srgbClr val="0070C0"/>
                </a:solidFill>
                <a:uFill>
                  <a:solidFill>
                    <a:srgbClr val="FFFFFF"/>
                  </a:solidFill>
                </a:uFill>
                <a:latin typeface="Calibri"/>
                <a:ea typeface="DejaVu Sans"/>
              </a:rPr>
              <a:t> </a:t>
            </a:r>
            <a:br>
              <a:rPr dirty="0"/>
            </a:br>
            <a:r>
              <a:rPr lang="en-US" sz="4200" b="0" strike="noStrike" spc="-1" dirty="0" err="1">
                <a:solidFill>
                  <a:srgbClr val="0070C0"/>
                </a:solidFill>
                <a:uFill>
                  <a:solidFill>
                    <a:srgbClr val="FFFFFF"/>
                  </a:solidFill>
                </a:uFill>
                <a:latin typeface="Calibri"/>
                <a:ea typeface="DejaVu Sans"/>
              </a:rPr>
              <a:t>từ</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khung</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nhìn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xoắn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ốc</a:t>
            </a:r>
            <a:endParaRPr lang="en-US" sz="4200" b="0" strike="noStrike" spc="-1" dirty="0">
              <a:solidFill>
                <a:srgbClr val="000000"/>
              </a:solidFill>
              <a:uFill>
                <a:solidFill>
                  <a:srgbClr val="FFFFFF"/>
                </a:solidFill>
              </a:uFill>
              <a:latin typeface="Arial"/>
            </a:endParaRPr>
          </a:p>
        </p:txBody>
      </p:sp>
      <p:sp>
        <p:nvSpPr>
          <p:cNvPr id="87" name="CustomShape 2"/>
          <p:cNvSpPr/>
          <p:nvPr/>
        </p:nvSpPr>
        <p:spPr>
          <a:xfrm>
            <a:off x="5257800" y="1803980"/>
            <a:ext cx="3867150" cy="49651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1440">
              <a:lnSpc>
                <a:spcPct val="100000"/>
              </a:lnSpc>
              <a:spcBef>
                <a:spcPts val="601"/>
              </a:spcBef>
              <a:buClr>
                <a:srgbClr val="000000"/>
              </a:buClr>
            </a:pPr>
            <a:r>
              <a:rPr lang="en-US" sz="2400" b="0" strike="noStrike" spc="-1" dirty="0" err="1">
                <a:solidFill>
                  <a:srgbClr val="000000"/>
                </a:solidFill>
                <a:uFill>
                  <a:solidFill>
                    <a:srgbClr val="FFFFFF"/>
                  </a:solidFill>
                </a:uFill>
                <a:latin typeface="Calibri"/>
                <a:ea typeface="DejaVu Sans"/>
              </a:rPr>
              <a:t>Các</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hoạt</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động</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chung</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nhất</a:t>
            </a:r>
            <a:r>
              <a:rPr lang="en-US" sz="2400" b="0" strike="noStrike" spc="-1" dirty="0">
                <a:solidFill>
                  <a:srgbClr val="000000"/>
                </a:solidFill>
                <a:uFill>
                  <a:solidFill>
                    <a:srgbClr val="FFFFFF"/>
                  </a:solidFill>
                </a:uFill>
                <a:latin typeface="Calibri"/>
                <a:ea typeface="DejaVu Sans"/>
              </a:rPr>
              <a:t>:</a:t>
            </a:r>
            <a:endParaRPr lang="en-US" sz="2400" b="0" strike="noStrike" spc="-1" dirty="0">
              <a:solidFill>
                <a:srgbClr val="000000"/>
              </a:solidFill>
              <a:uFill>
                <a:solidFill>
                  <a:srgbClr val="FFFFFF"/>
                </a:solidFill>
              </a:uFill>
              <a:latin typeface="Arial"/>
            </a:endParaRPr>
          </a:p>
          <a:p>
            <a:pPr marL="559620" lvl="1" indent="-342900">
              <a:lnSpc>
                <a:spcPct val="100000"/>
              </a:lnSpc>
              <a:spcBef>
                <a:spcPts val="601"/>
              </a:spcBef>
              <a:buClr>
                <a:srgbClr val="000000"/>
              </a:buClr>
              <a:buSzPct val="55000"/>
              <a:buFont typeface="Wingdings" pitchFamily="2" charset="2"/>
              <a:buChar char="§"/>
            </a:pPr>
            <a:r>
              <a:rPr lang="en-US" sz="2400" b="0" strike="noStrike" spc="-1" dirty="0">
                <a:solidFill>
                  <a:srgbClr val="000000"/>
                </a:solidFill>
                <a:uFill>
                  <a:solidFill>
                    <a:srgbClr val="FFFFFF"/>
                  </a:solidFill>
                </a:uFill>
                <a:latin typeface="Calibri"/>
                <a:ea typeface="DejaVu Sans"/>
              </a:rPr>
              <a:t>Thu </a:t>
            </a:r>
            <a:r>
              <a:rPr lang="en-US" sz="2400" b="0" strike="noStrike" spc="-1" dirty="0" err="1">
                <a:solidFill>
                  <a:srgbClr val="000000"/>
                </a:solidFill>
                <a:uFill>
                  <a:solidFill>
                    <a:srgbClr val="FFFFFF"/>
                  </a:solidFill>
                </a:uFill>
                <a:latin typeface="Calibri"/>
                <a:ea typeface="DejaVu Sans"/>
              </a:rPr>
              <a:t>thập</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yêu</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cầu</a:t>
            </a:r>
            <a:r>
              <a:rPr lang="en-US" sz="2400" b="0" strike="noStrike" spc="-1" dirty="0">
                <a:solidFill>
                  <a:srgbClr val="000000"/>
                </a:solidFill>
                <a:uFill>
                  <a:solidFill>
                    <a:srgbClr val="FFFFFF"/>
                  </a:solidFill>
                </a:uFill>
                <a:latin typeface="Calibri"/>
                <a:ea typeface="DejaVu Sans"/>
              </a:rPr>
              <a:t> </a:t>
            </a:r>
            <a:br>
              <a:rPr lang="en-US" sz="2400" b="0" strike="noStrike" spc="-1" dirty="0">
                <a:solidFill>
                  <a:srgbClr val="000000"/>
                </a:solidFill>
                <a:uFill>
                  <a:solidFill>
                    <a:srgbClr val="FFFFFF"/>
                  </a:solidFill>
                </a:uFill>
                <a:latin typeface="Calibri"/>
                <a:ea typeface="DejaVu Sans"/>
              </a:rPr>
            </a:br>
            <a:r>
              <a:rPr lang="en-US" sz="2000" b="0" strike="noStrike" spc="-1" dirty="0">
                <a:solidFill>
                  <a:srgbClr val="000000"/>
                </a:solidFill>
                <a:uFill>
                  <a:solidFill>
                    <a:srgbClr val="FFFFFF"/>
                  </a:solidFill>
                </a:uFill>
                <a:latin typeface="Calibri"/>
                <a:ea typeface="DejaVu Sans"/>
              </a:rPr>
              <a:t>(requirements elicitation)</a:t>
            </a:r>
            <a:endParaRPr lang="en-US" sz="2000" b="0" strike="noStrike" spc="-1" dirty="0">
              <a:solidFill>
                <a:srgbClr val="000000"/>
              </a:solidFill>
              <a:uFill>
                <a:solidFill>
                  <a:srgbClr val="FFFFFF"/>
                </a:solidFill>
              </a:uFill>
              <a:latin typeface="Arial"/>
            </a:endParaRPr>
          </a:p>
          <a:p>
            <a:pPr marL="559620" lvl="1" indent="-342900">
              <a:lnSpc>
                <a:spcPct val="100000"/>
              </a:lnSpc>
              <a:spcBef>
                <a:spcPts val="601"/>
              </a:spcBef>
              <a:buClr>
                <a:srgbClr val="000000"/>
              </a:buClr>
              <a:buSzPct val="55000"/>
              <a:buFont typeface="Wingdings" pitchFamily="2" charset="2"/>
              <a:buChar char="§"/>
            </a:pPr>
            <a:r>
              <a:rPr lang="en-US" sz="2400" spc="-1" dirty="0" err="1">
                <a:solidFill>
                  <a:srgbClr val="000000"/>
                </a:solidFill>
                <a:uFill>
                  <a:solidFill>
                    <a:srgbClr val="FFFFFF"/>
                  </a:solidFill>
                </a:uFill>
                <a:latin typeface="Calibri"/>
                <a:ea typeface="DejaVu Sans"/>
              </a:rPr>
              <a:t>Đặc</a:t>
            </a:r>
            <a:r>
              <a:rPr lang="en-US" sz="2400" spc="-1" dirty="0">
                <a:solidFill>
                  <a:srgbClr val="000000"/>
                </a:solidFill>
                <a:uFill>
                  <a:solidFill>
                    <a:srgbClr val="FFFFFF"/>
                  </a:solidFill>
                </a:uFill>
                <a:latin typeface="Calibri"/>
                <a:ea typeface="DejaVu Sans"/>
              </a:rPr>
              <a:t> </a:t>
            </a:r>
            <a:r>
              <a:rPr lang="en-US" sz="2400" spc="-1" dirty="0" err="1">
                <a:solidFill>
                  <a:srgbClr val="000000"/>
                </a:solidFill>
                <a:uFill>
                  <a:solidFill>
                    <a:srgbClr val="FFFFFF"/>
                  </a:solidFill>
                </a:uFill>
                <a:latin typeface="Calibri"/>
                <a:ea typeface="DejaVu Sans"/>
              </a:rPr>
              <a:t>tả</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yêu</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cầu</a:t>
            </a:r>
            <a:br>
              <a:rPr lang="en-US" sz="2400" b="0" strike="noStrike" spc="-1" dirty="0">
                <a:solidFill>
                  <a:srgbClr val="000000"/>
                </a:solidFill>
                <a:uFill>
                  <a:solidFill>
                    <a:srgbClr val="FFFFFF"/>
                  </a:solidFill>
                </a:uFill>
                <a:latin typeface="Calibri"/>
                <a:ea typeface="DejaVu Sans"/>
              </a:rPr>
            </a:br>
            <a:r>
              <a:rPr lang="en-US" sz="2000" b="0" strike="noStrike" spc="-1" dirty="0">
                <a:solidFill>
                  <a:srgbClr val="000000"/>
                </a:solidFill>
                <a:uFill>
                  <a:solidFill>
                    <a:srgbClr val="FFFFFF"/>
                  </a:solidFill>
                </a:uFill>
                <a:latin typeface="Calibri"/>
                <a:ea typeface="DejaVu Sans"/>
              </a:rPr>
              <a:t>(requirements specification)</a:t>
            </a:r>
            <a:endParaRPr lang="en-US" sz="2000" b="0" strike="noStrike" spc="-1" dirty="0">
              <a:solidFill>
                <a:srgbClr val="000000"/>
              </a:solidFill>
              <a:uFill>
                <a:solidFill>
                  <a:srgbClr val="FFFFFF"/>
                </a:solidFill>
              </a:uFill>
              <a:latin typeface="Arial"/>
            </a:endParaRPr>
          </a:p>
          <a:p>
            <a:pPr marL="559620" lvl="1" indent="-342900">
              <a:lnSpc>
                <a:spcPct val="100000"/>
              </a:lnSpc>
              <a:spcBef>
                <a:spcPts val="601"/>
              </a:spcBef>
              <a:buClr>
                <a:srgbClr val="000000"/>
              </a:buClr>
              <a:buSzPct val="55000"/>
              <a:buFont typeface="Wingdings" pitchFamily="2" charset="2"/>
              <a:buChar char="§"/>
            </a:pPr>
            <a:r>
              <a:rPr lang="en-US" sz="2400" spc="-1" dirty="0" err="1">
                <a:solidFill>
                  <a:srgbClr val="000000"/>
                </a:solidFill>
                <a:uFill>
                  <a:solidFill>
                    <a:srgbClr val="FFFFFF"/>
                  </a:solidFill>
                </a:uFill>
                <a:latin typeface="Calibri"/>
                <a:ea typeface="DejaVu Sans"/>
              </a:rPr>
              <a:t>Thẩm</a:t>
            </a:r>
            <a:r>
              <a:rPr lang="en-US" sz="2400" spc="-1" dirty="0">
                <a:solidFill>
                  <a:srgbClr val="000000"/>
                </a:solidFill>
                <a:uFill>
                  <a:solidFill>
                    <a:srgbClr val="FFFFFF"/>
                  </a:solidFill>
                </a:uFill>
                <a:latin typeface="Calibri"/>
                <a:ea typeface="DejaVu Sans"/>
              </a:rPr>
              <a:t> </a:t>
            </a:r>
            <a:r>
              <a:rPr lang="en-US" sz="2400" spc="-1" dirty="0" err="1">
                <a:solidFill>
                  <a:srgbClr val="000000"/>
                </a:solidFill>
                <a:uFill>
                  <a:solidFill>
                    <a:srgbClr val="FFFFFF"/>
                  </a:solidFill>
                </a:uFill>
                <a:latin typeface="Calibri"/>
                <a:ea typeface="DejaVu Sans"/>
              </a:rPr>
              <a:t>định</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yêu</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cầu</a:t>
            </a:r>
            <a:br>
              <a:rPr lang="en-US" sz="2400" spc="-1" dirty="0">
                <a:solidFill>
                  <a:srgbClr val="000000"/>
                </a:solidFill>
                <a:uFill>
                  <a:solidFill>
                    <a:srgbClr val="FFFFFF"/>
                  </a:solidFill>
                </a:uFill>
                <a:latin typeface="Calibri"/>
                <a:ea typeface="DejaVu Sans"/>
              </a:rPr>
            </a:br>
            <a:r>
              <a:rPr lang="en-US" sz="2000" spc="-1" dirty="0">
                <a:solidFill>
                  <a:srgbClr val="000000"/>
                </a:solidFill>
                <a:uFill>
                  <a:solidFill>
                    <a:srgbClr val="FFFFFF"/>
                  </a:solidFill>
                </a:uFill>
                <a:latin typeface="Calibri"/>
              </a:rPr>
              <a:t>(requirements validation)</a:t>
            </a:r>
            <a:endParaRPr lang="en-US" sz="2000" b="0" strike="noStrike" spc="-1" dirty="0">
              <a:solidFill>
                <a:srgbClr val="000000"/>
              </a:solidFill>
              <a:uFill>
                <a:solidFill>
                  <a:srgbClr val="FFFFFF"/>
                </a:solidFill>
              </a:uFill>
              <a:latin typeface="Arial"/>
            </a:endParaRPr>
          </a:p>
          <a:p>
            <a:pPr marL="559620" lvl="1" indent="-342900">
              <a:lnSpc>
                <a:spcPct val="100000"/>
              </a:lnSpc>
              <a:spcBef>
                <a:spcPts val="601"/>
              </a:spcBef>
              <a:buClr>
                <a:srgbClr val="000000"/>
              </a:buClr>
              <a:buSzPct val="55000"/>
              <a:buFont typeface="Wingdings" pitchFamily="2" charset="2"/>
              <a:buChar char="§"/>
            </a:pPr>
            <a:r>
              <a:rPr lang="en-US" sz="2400" b="0" strike="noStrike" spc="-1" dirty="0" err="1">
                <a:solidFill>
                  <a:srgbClr val="000000"/>
                </a:solidFill>
                <a:uFill>
                  <a:solidFill>
                    <a:srgbClr val="FFFFFF"/>
                  </a:solidFill>
                </a:uFill>
                <a:latin typeface="Calibri"/>
                <a:ea typeface="DejaVu Sans"/>
              </a:rPr>
              <a:t>Quản</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lý</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yêu</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cầu</a:t>
            </a:r>
            <a:endParaRPr lang="en-US" sz="2400" b="0" strike="noStrike" spc="-1" dirty="0">
              <a:solidFill>
                <a:srgbClr val="000000"/>
              </a:solidFill>
              <a:uFill>
                <a:solidFill>
                  <a:srgbClr val="FFFFFF"/>
                </a:solidFill>
              </a:uFill>
              <a:latin typeface="Arial"/>
            </a:endParaRPr>
          </a:p>
        </p:txBody>
      </p:sp>
      <p:sp>
        <p:nvSpPr>
          <p:cNvPr id="88"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DCA10B33-C411-4F7C-9FCE-16888832C0F4}" type="slidenum">
              <a:rPr lang="en-US" sz="1100" b="0" strike="noStrike" spc="-1">
                <a:solidFill>
                  <a:srgbClr val="8B8B8B"/>
                </a:solidFill>
                <a:uFill>
                  <a:solidFill>
                    <a:srgbClr val="FFFFFF"/>
                  </a:solidFill>
                </a:uFill>
                <a:latin typeface="Calibri"/>
                <a:ea typeface="DejaVu Sans"/>
              </a:rPr>
              <a:t>4</a:t>
            </a:fld>
            <a:endParaRPr lang="en-US" sz="1100" b="0" strike="noStrike" spc="-1">
              <a:solidFill>
                <a:srgbClr val="000000"/>
              </a:solidFill>
              <a:uFill>
                <a:solidFill>
                  <a:srgbClr val="FFFFFF"/>
                </a:solidFill>
              </a:uFill>
              <a:latin typeface="Arial"/>
            </a:endParaRPr>
          </a:p>
        </p:txBody>
      </p:sp>
      <p:pic>
        <p:nvPicPr>
          <p:cNvPr id="5" name="Picture 4" descr="4.12 ReqEngSpiral.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9050" y="1689090"/>
            <a:ext cx="5356174" cy="4622810"/>
          </a:xfrm>
          <a:prstGeom prst="rect">
            <a:avLst/>
          </a:prstGeom>
        </p:spPr>
      </p:pic>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4</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Thu thập và phân tích yêu cầu</a:t>
            </a:r>
            <a:endParaRPr lang="en-US" sz="4200" b="0" strike="noStrike" spc="-1">
              <a:solidFill>
                <a:srgbClr val="000000"/>
              </a:solidFill>
              <a:uFill>
                <a:solidFill>
                  <a:srgbClr val="FFFFFF"/>
                </a:solidFill>
              </a:uFill>
              <a:latin typeface="Arial"/>
            </a:endParaRPr>
          </a:p>
        </p:txBody>
      </p:sp>
      <p:sp>
        <p:nvSpPr>
          <p:cNvPr id="90"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Calibri"/>
                <a:ea typeface="DejaVu Sans"/>
              </a:rPr>
              <a:t>Đôi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gọi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chung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a:t>
            </a:r>
            <a:r>
              <a:rPr lang="en-US" sz="3000" b="0" strike="noStrike" spc="-1" dirty="0" err="1">
                <a:solidFill>
                  <a:srgbClr val="000000"/>
                </a:solidFill>
                <a:uFill>
                  <a:solidFill>
                    <a:srgbClr val="FFFFFF"/>
                  </a:solidFill>
                </a:uFill>
                <a:latin typeface="Calibri"/>
                <a:ea typeface="DejaVu Sans"/>
              </a:rPr>
              <a:t>hu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thập</a:t>
            </a:r>
            <a:r>
              <a:rPr lang="en-US" sz="3000" b="0" strike="noStrike" spc="-1" dirty="0">
                <a:solidFill>
                  <a:srgbClr val="000000"/>
                </a:solidFill>
                <a:uFill>
                  <a:solidFill>
                    <a:srgbClr val="FFFFFF"/>
                  </a:solidFill>
                </a:uFill>
                <a:latin typeface="Calibri"/>
                <a:ea typeface="DejaVu Sans"/>
              </a:rPr>
              <a:t> hay </a:t>
            </a:r>
            <a:r>
              <a:rPr lang="en-US" sz="3000" b="0" strike="noStrike" spc="-1" dirty="0" err="1">
                <a:solidFill>
                  <a:srgbClr val="000000"/>
                </a:solidFill>
                <a:uFill>
                  <a:solidFill>
                    <a:srgbClr val="FFFFFF"/>
                  </a:solidFill>
                </a:uFill>
                <a:latin typeface="Calibri"/>
                <a:ea typeface="DejaVu Sans"/>
              </a:rPr>
              <a:t>khám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(requirements elicitation/discovery)</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Tìm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hiểu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miền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ứng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dịch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cấp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ràng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buộc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hoạt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liên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quan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dùng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cuối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sư</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vận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hành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bảo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chuyên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miền</a:t>
            </a:r>
            <a:r>
              <a:rPr lang="en-US" sz="3000" b="0" strike="noStrike" spc="-1" dirty="0">
                <a:solidFill>
                  <a:srgbClr val="000000"/>
                </a:solidFill>
                <a:uFill>
                  <a:solidFill>
                    <a:srgbClr val="FFFFFF"/>
                  </a:solidFill>
                </a:uFill>
                <a:latin typeface="Calibri"/>
                <a:ea typeface="DejaVu Sans"/>
              </a:rPr>
              <a:t>, …)</a:t>
            </a:r>
            <a:endParaRPr lang="en-US" sz="3000" b="0" strike="noStrike" spc="-1" dirty="0">
              <a:solidFill>
                <a:srgbClr val="000000"/>
              </a:solidFill>
              <a:uFill>
                <a:solidFill>
                  <a:srgbClr val="FFFFFF"/>
                </a:solidFill>
              </a:uFill>
              <a:latin typeface="Arial"/>
            </a:endParaRPr>
          </a:p>
        </p:txBody>
      </p:sp>
      <p:sp>
        <p:nvSpPr>
          <p:cNvPr id="91"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F9A0358B-12B2-4142-89C7-CC78F69AA501}" type="slidenum">
              <a:rPr lang="en-US" sz="1100" b="0" strike="noStrike" spc="-1">
                <a:solidFill>
                  <a:srgbClr val="8B8B8B"/>
                </a:solidFill>
                <a:uFill>
                  <a:solidFill>
                    <a:srgbClr val="FFFFFF"/>
                  </a:solidFill>
                </a:uFill>
                <a:latin typeface="Calibri"/>
                <a:ea typeface="DejaVu Sans"/>
              </a:rPr>
              <a:t>5</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5</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Các vấn đề của phân tích yêu cầu</a:t>
            </a:r>
            <a:endParaRPr lang="en-US" sz="4200" b="0" strike="noStrike" spc="-1">
              <a:solidFill>
                <a:srgbClr val="000000"/>
              </a:solidFill>
              <a:uFill>
                <a:solidFill>
                  <a:srgbClr val="FFFFFF"/>
                </a:solidFill>
              </a:uFill>
              <a:latin typeface="Arial"/>
            </a:endParaRPr>
          </a:p>
        </p:txBody>
      </p:sp>
      <p:sp>
        <p:nvSpPr>
          <p:cNvPr id="93"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lnSpcReduction="10000"/>
          </a:bodyPr>
          <a:lstStyle/>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Các bên liên quan không thực sự biết họ muốn gì</a:t>
            </a:r>
            <a:endParaRPr lang="en-US" sz="3000" b="0" strike="noStrike" spc="-1">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Các bên liên quan diễn đạt các yêu cầu theo ngôn ngữ của họ =&gt; khó cho trao đổi, giao tiếp</a:t>
            </a:r>
            <a:endParaRPr lang="en-US" sz="3000" b="0" strike="noStrike" spc="-1">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Các bên liên quan có thể có các xung đột yêu cầu</a:t>
            </a:r>
            <a:endParaRPr lang="en-US" sz="3000" b="0" strike="noStrike" spc="-1">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Các chính sách của đơn vị tổ chức có thể ảnh hưởng đến các yêu cầu hệ thống</a:t>
            </a:r>
            <a:endParaRPr lang="en-US" sz="3000" b="0" strike="noStrike" spc="-1">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Các yêu cầu thường thay đổi trong quá trình phân tích yêu cầu. Người liên quan mới có thể xuất hiện hoặc môi trường nghiệp vụ thay đổi.</a:t>
            </a:r>
            <a:endParaRPr lang="en-US" sz="3000" b="0" strike="noStrike" spc="-1">
              <a:solidFill>
                <a:srgbClr val="000000"/>
              </a:solidFill>
              <a:uFill>
                <a:solidFill>
                  <a:srgbClr val="FFFFFF"/>
                </a:solidFill>
              </a:uFill>
              <a:latin typeface="Arial"/>
            </a:endParaRPr>
          </a:p>
          <a:p>
            <a:pPr>
              <a:lnSpc>
                <a:spcPct val="100000"/>
              </a:lnSpc>
              <a:spcBef>
                <a:spcPts val="601"/>
              </a:spcBef>
            </a:pPr>
            <a:endParaRPr lang="en-US" sz="3000" b="0" strike="noStrike" spc="-1">
              <a:solidFill>
                <a:srgbClr val="000000"/>
              </a:solidFill>
              <a:uFill>
                <a:solidFill>
                  <a:srgbClr val="FFFFFF"/>
                </a:solidFill>
              </a:uFill>
              <a:latin typeface="Arial"/>
            </a:endParaRPr>
          </a:p>
        </p:txBody>
      </p:sp>
      <p:sp>
        <p:nvSpPr>
          <p:cNvPr id="94"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43F7BCB1-3D0C-4C0E-AD48-F7E509882ABB}" type="slidenum">
              <a:rPr lang="en-US" sz="1100" b="0" strike="noStrike" spc="-1">
                <a:solidFill>
                  <a:srgbClr val="8B8B8B"/>
                </a:solidFill>
                <a:uFill>
                  <a:solidFill>
                    <a:srgbClr val="FFFFFF"/>
                  </a:solidFill>
                </a:uFill>
                <a:latin typeface="Calibri"/>
                <a:ea typeface="DejaVu Sans"/>
              </a:rPr>
              <a:t>6</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6</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CustomShape 1"/>
          <p:cNvSpPr/>
          <p:nvPr/>
        </p:nvSpPr>
        <p:spPr>
          <a:xfrm>
            <a:off x="-182640" y="145460"/>
            <a:ext cx="953619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Quy</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trình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thập</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và</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phân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tích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96" name="CustomShape 2"/>
          <p:cNvSpPr/>
          <p:nvPr/>
        </p:nvSpPr>
        <p:spPr>
          <a:xfrm>
            <a:off x="5105400" y="1663700"/>
            <a:ext cx="3943350" cy="453840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fontScale="77500" lnSpcReduction="20000"/>
          </a:bodyPr>
          <a:lstStyle/>
          <a:p>
            <a:pPr>
              <a:lnSpc>
                <a:spcPct val="100000"/>
              </a:lnSpc>
              <a:spcBef>
                <a:spcPts val="601"/>
              </a:spcBef>
            </a:pPr>
            <a:r>
              <a:rPr lang="en-US" sz="2800" b="0" strike="noStrike" spc="-1" dirty="0">
                <a:solidFill>
                  <a:srgbClr val="000000"/>
                </a:solidFill>
                <a:uFill>
                  <a:solidFill>
                    <a:srgbClr val="FFFFFF"/>
                  </a:solidFill>
                </a:uFill>
                <a:latin typeface="Calibri"/>
                <a:ea typeface="DejaVu Sans"/>
              </a:rPr>
              <a:t>Thu </a:t>
            </a:r>
            <a:r>
              <a:rPr lang="en-US" sz="2800" b="0" strike="noStrike" spc="-1" dirty="0" err="1">
                <a:solidFill>
                  <a:srgbClr val="000000"/>
                </a:solidFill>
                <a:uFill>
                  <a:solidFill>
                    <a:srgbClr val="FFFFFF"/>
                  </a:solidFill>
                </a:uFill>
                <a:latin typeface="Calibri"/>
                <a:ea typeface="DejaVu Sans"/>
              </a:rPr>
              <a:t>thập</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và</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phân</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tích</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yêu</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cầu</a:t>
            </a:r>
            <a:r>
              <a:rPr lang="en-US" sz="1600" dirty="0"/>
              <a:t>:</a:t>
            </a:r>
            <a:endParaRPr lang="en-US" sz="28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AutoNum type="arabicParenR"/>
            </a:pPr>
            <a:r>
              <a:rPr lang="en-US" sz="2800" b="0" strike="noStrike" spc="-1" dirty="0" err="1">
                <a:solidFill>
                  <a:srgbClr val="000000"/>
                </a:solidFill>
                <a:uFill>
                  <a:solidFill>
                    <a:srgbClr val="FFFFFF"/>
                  </a:solidFill>
                </a:uFill>
                <a:latin typeface="Calibri"/>
                <a:ea typeface="DejaVu Sans"/>
              </a:rPr>
              <a:t>Khám</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phá</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yêu</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cầu</a:t>
            </a:r>
            <a:endParaRPr lang="en-US" sz="2800" b="0" strike="noStrike" spc="-1" dirty="0">
              <a:solidFill>
                <a:srgbClr val="000000"/>
              </a:solidFill>
              <a:uFill>
                <a:solidFill>
                  <a:srgbClr val="FFFFFF"/>
                </a:solidFill>
              </a:uFill>
              <a:latin typeface="Calibri"/>
              <a:ea typeface="DejaVu Sans"/>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rPr>
              <a:t>Tương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liên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quan</a:t>
            </a:r>
            <a:endParaRPr lang="en-US" sz="3000" spc="-1" dirty="0">
              <a:solidFill>
                <a:srgbClr val="000000"/>
              </a:solidFill>
              <a:uFill>
                <a:solidFill>
                  <a:srgbClr val="FFFFFF"/>
                </a:solidFill>
              </a:uFill>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rPr>
              <a:t>Xác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định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yêu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cầu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miền</a:t>
            </a:r>
            <a:endParaRPr lang="en-US" sz="28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AutoNum type="arabicParenR"/>
            </a:pPr>
            <a:r>
              <a:rPr lang="en-US" sz="2800" b="0" strike="noStrike" spc="-1" dirty="0" err="1">
                <a:solidFill>
                  <a:srgbClr val="000000"/>
                </a:solidFill>
                <a:uFill>
                  <a:solidFill>
                    <a:srgbClr val="FFFFFF"/>
                  </a:solidFill>
                </a:uFill>
                <a:latin typeface="Calibri"/>
                <a:ea typeface="DejaVu Sans"/>
              </a:rPr>
              <a:t>Phân</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loại</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và</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tổ</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chức</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yêu</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cầu</a:t>
            </a:r>
            <a:endParaRPr lang="en-US" sz="2800" b="0" strike="noStrike" spc="-1" dirty="0">
              <a:solidFill>
                <a:srgbClr val="000000"/>
              </a:solidFill>
              <a:uFill>
                <a:solidFill>
                  <a:srgbClr val="FFFFFF"/>
                </a:solidFill>
              </a:uFill>
              <a:latin typeface="Calibri"/>
              <a:ea typeface="DejaVu Sans"/>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rPr>
              <a:t>Nhóm</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gộp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cấu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trúc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hóa</a:t>
            </a:r>
            <a:endParaRPr lang="en-US" sz="3000" spc="-1" dirty="0">
              <a:solidFill>
                <a:srgbClr val="000000"/>
              </a:solidFill>
              <a:uFill>
                <a:solidFill>
                  <a:srgbClr val="FFFFFF"/>
                </a:solidFill>
              </a:uFill>
              <a:latin typeface="Calibri"/>
            </a:endParaRPr>
          </a:p>
          <a:p>
            <a:pPr marL="326160" indent="-324720">
              <a:lnSpc>
                <a:spcPct val="100000"/>
              </a:lnSpc>
              <a:spcBef>
                <a:spcPts val="601"/>
              </a:spcBef>
              <a:buClr>
                <a:srgbClr val="000000"/>
              </a:buClr>
              <a:buFont typeface="Arial"/>
              <a:buAutoNum type="arabicParenR"/>
            </a:pPr>
            <a:r>
              <a:rPr lang="en-US" sz="2800" b="0" strike="noStrike" spc="-1" dirty="0" err="1">
                <a:solidFill>
                  <a:srgbClr val="000000"/>
                </a:solidFill>
                <a:uFill>
                  <a:solidFill>
                    <a:srgbClr val="FFFFFF"/>
                  </a:solidFill>
                </a:uFill>
                <a:latin typeface="Calibri"/>
                <a:ea typeface="DejaVu Sans"/>
              </a:rPr>
              <a:t>Thương</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lượng</a:t>
            </a:r>
            <a:r>
              <a:rPr lang="en-US" sz="2800"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gán</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độ</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ưu</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tiên</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cho</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các</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yêu</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cầu</a:t>
            </a:r>
            <a:endParaRPr lang="en-US" sz="2800" b="0" strike="noStrike" spc="-1" dirty="0">
              <a:solidFill>
                <a:srgbClr val="000000"/>
              </a:solidFill>
              <a:uFill>
                <a:solidFill>
                  <a:srgbClr val="FFFFFF"/>
                </a:solidFill>
              </a:uFill>
              <a:latin typeface="Calibri"/>
              <a:ea typeface="DejaVu Sans"/>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rPr>
              <a:t>Gán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độ</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ưu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tiên</a:t>
            </a:r>
            <a:r>
              <a:rPr lang="en-US" sz="3000" spc="-1" dirty="0">
                <a:solidFill>
                  <a:srgbClr val="000000"/>
                </a:solidFill>
                <a:uFill>
                  <a:solidFill>
                    <a:srgbClr val="FFFFFF"/>
                  </a:solidFill>
                </a:uFill>
                <a:latin typeface="Calibri"/>
              </a:rPr>
              <a:t> </a:t>
            </a:r>
            <a:endParaRPr lang="en-US" sz="3000" spc="-1" dirty="0">
              <a:solidFill>
                <a:srgbClr val="000000"/>
              </a:solidFill>
              <a:uFill>
                <a:solidFill>
                  <a:srgbClr val="FFFFFF"/>
                </a:solidFill>
              </a:uFill>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rPr>
              <a:t>Giải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xung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đột</a:t>
            </a:r>
            <a:endParaRPr lang="en-US" sz="28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AutoNum type="arabicParenR"/>
            </a:pPr>
            <a:r>
              <a:rPr lang="en-US" sz="2800" b="0" strike="noStrike" spc="-1" dirty="0" err="1">
                <a:solidFill>
                  <a:srgbClr val="000000"/>
                </a:solidFill>
                <a:uFill>
                  <a:solidFill>
                    <a:srgbClr val="FFFFFF"/>
                  </a:solidFill>
                </a:uFill>
                <a:latin typeface="Calibri"/>
                <a:ea typeface="DejaVu Sans"/>
              </a:rPr>
              <a:t>Đặc</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tả</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yêu</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cầu</a:t>
            </a:r>
            <a:endParaRPr lang="en-US" sz="2800" b="0" strike="noStrike" spc="-1" dirty="0">
              <a:solidFill>
                <a:srgbClr val="000000"/>
              </a:solidFill>
              <a:uFill>
                <a:solidFill>
                  <a:srgbClr val="FFFFFF"/>
                </a:solidFill>
              </a:uFill>
              <a:latin typeface="Arial"/>
            </a:endParaRPr>
          </a:p>
        </p:txBody>
      </p:sp>
      <p:sp>
        <p:nvSpPr>
          <p:cNvPr id="97"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621D7647-12C8-4177-8E3F-CA6F1B92C88F}" type="slidenum">
              <a:rPr lang="en-US" sz="1100" b="0" strike="noStrike" spc="-1">
                <a:solidFill>
                  <a:srgbClr val="8B8B8B"/>
                </a:solidFill>
                <a:uFill>
                  <a:solidFill>
                    <a:srgbClr val="FFFFFF"/>
                  </a:solidFill>
                </a:uFill>
                <a:latin typeface="Calibri"/>
                <a:ea typeface="DejaVu Sans"/>
              </a:rPr>
              <a:t>7</a:t>
            </a:fld>
            <a:endParaRPr lang="en-US" sz="1100" b="0" strike="noStrike" spc="-1">
              <a:solidFill>
                <a:srgbClr val="000000"/>
              </a:solidFill>
              <a:uFill>
                <a:solidFill>
                  <a:srgbClr val="FFFFFF"/>
                </a:solidFill>
              </a:uFill>
              <a:latin typeface="Arial"/>
            </a:endParaRPr>
          </a:p>
        </p:txBody>
      </p:sp>
      <p:grpSp>
        <p:nvGrpSpPr>
          <p:cNvPr id="26" name="Group 25"/>
          <p:cNvGrpSpPr/>
          <p:nvPr/>
        </p:nvGrpSpPr>
        <p:grpSpPr>
          <a:xfrm>
            <a:off x="47809" y="1968500"/>
            <a:ext cx="4967044" cy="3200400"/>
            <a:chOff x="47809" y="1968500"/>
            <a:chExt cx="4967044" cy="3200400"/>
          </a:xfrm>
        </p:grpSpPr>
        <p:sp>
          <p:nvSpPr>
            <p:cNvPr id="9" name="TextBox 8"/>
            <p:cNvSpPr txBox="1"/>
            <p:nvPr/>
          </p:nvSpPr>
          <p:spPr>
            <a:xfrm>
              <a:off x="47809" y="3111500"/>
              <a:ext cx="1228541" cy="646331"/>
            </a:xfrm>
            <a:prstGeom prst="rect">
              <a:avLst/>
            </a:prstGeom>
            <a:solidFill>
              <a:schemeClr val="bg1"/>
            </a:solidFill>
            <a:ln>
              <a:solidFill>
                <a:schemeClr val="accent1"/>
              </a:solidFill>
            </a:ln>
          </p:spPr>
          <p:txBody>
            <a:bodyPr wrap="none" rtlCol="0">
              <a:spAutoFit/>
            </a:bodyPr>
            <a:lstStyle/>
            <a:p>
              <a:pPr marL="233363" indent="-233363" algn="just"/>
              <a:r>
                <a:rPr lang="en-US" dirty="0"/>
                <a:t>4. </a:t>
              </a:r>
              <a:r>
                <a:rPr lang="en-US" dirty="0" err="1"/>
                <a:t>Đặc</a:t>
              </a:r>
              <a:r>
                <a:rPr lang="en-US" dirty="0"/>
                <a:t> </a:t>
              </a:r>
              <a:r>
                <a:rPr lang="en-US" dirty="0" err="1"/>
                <a:t>tả</a:t>
              </a:r>
              <a:br>
                <a:rPr lang="en-US" dirty="0"/>
              </a:br>
              <a:r>
                <a:rPr lang="en-US" dirty="0" err="1"/>
                <a:t>yêu</a:t>
              </a:r>
              <a:r>
                <a:rPr lang="en-US" dirty="0"/>
                <a:t> </a:t>
              </a:r>
              <a:r>
                <a:rPr lang="en-US" dirty="0" err="1"/>
                <a:t>cầu</a:t>
              </a:r>
              <a:endParaRPr lang="en-US" dirty="0"/>
            </a:p>
          </p:txBody>
        </p:sp>
        <p:grpSp>
          <p:nvGrpSpPr>
            <p:cNvPr id="25" name="Group 24"/>
            <p:cNvGrpSpPr/>
            <p:nvPr/>
          </p:nvGrpSpPr>
          <p:grpSpPr>
            <a:xfrm>
              <a:off x="662080" y="1968500"/>
              <a:ext cx="4352773" cy="3200400"/>
              <a:chOff x="662080" y="1968500"/>
              <a:chExt cx="4352773" cy="3200400"/>
            </a:xfrm>
          </p:grpSpPr>
          <p:sp>
            <p:nvSpPr>
              <p:cNvPr id="2" name="TextBox 1"/>
              <p:cNvSpPr txBox="1"/>
              <p:nvPr/>
            </p:nvSpPr>
            <p:spPr>
              <a:xfrm>
                <a:off x="1657350" y="1968500"/>
                <a:ext cx="1556836" cy="646331"/>
              </a:xfrm>
              <a:prstGeom prst="rect">
                <a:avLst/>
              </a:prstGeom>
              <a:solidFill>
                <a:schemeClr val="bg1"/>
              </a:solidFill>
              <a:ln>
                <a:solidFill>
                  <a:schemeClr val="accent1"/>
                </a:solidFill>
              </a:ln>
            </p:spPr>
            <p:txBody>
              <a:bodyPr wrap="none" rtlCol="0">
                <a:spAutoFit/>
              </a:bodyPr>
              <a:lstStyle/>
              <a:p>
                <a:pPr marL="233363" indent="-233363"/>
                <a:r>
                  <a:rPr lang="en-US" dirty="0"/>
                  <a:t>1. </a:t>
                </a:r>
                <a:r>
                  <a:rPr lang="en-US" dirty="0" err="1"/>
                  <a:t>Khám</a:t>
                </a:r>
                <a:r>
                  <a:rPr lang="en-US" dirty="0"/>
                  <a:t> </a:t>
                </a:r>
                <a:r>
                  <a:rPr lang="en-US" dirty="0" err="1"/>
                  <a:t>phá</a:t>
                </a:r>
                <a:r>
                  <a:rPr lang="en-US" dirty="0"/>
                  <a:t> </a:t>
                </a:r>
                <a:br>
                  <a:rPr lang="en-US" dirty="0"/>
                </a:br>
                <a:r>
                  <a:rPr lang="en-US" dirty="0" err="1"/>
                  <a:t>yêu</a:t>
                </a:r>
                <a:r>
                  <a:rPr lang="en-US" dirty="0"/>
                  <a:t> </a:t>
                </a:r>
                <a:r>
                  <a:rPr lang="en-US" dirty="0" err="1"/>
                  <a:t>cầu</a:t>
                </a:r>
                <a:endParaRPr lang="en-US" dirty="0"/>
              </a:p>
            </p:txBody>
          </p:sp>
          <p:sp>
            <p:nvSpPr>
              <p:cNvPr id="7" name="TextBox 6"/>
              <p:cNvSpPr txBox="1"/>
              <p:nvPr/>
            </p:nvSpPr>
            <p:spPr>
              <a:xfrm>
                <a:off x="2952750" y="3187700"/>
                <a:ext cx="2062103" cy="646331"/>
              </a:xfrm>
              <a:prstGeom prst="rect">
                <a:avLst/>
              </a:prstGeom>
              <a:solidFill>
                <a:schemeClr val="bg1"/>
              </a:solidFill>
              <a:ln>
                <a:solidFill>
                  <a:schemeClr val="accent1"/>
                </a:solidFill>
              </a:ln>
            </p:spPr>
            <p:txBody>
              <a:bodyPr wrap="none" rtlCol="0">
                <a:spAutoFit/>
              </a:bodyPr>
              <a:lstStyle/>
              <a:p>
                <a:pPr marL="233363" indent="-233363" algn="just"/>
                <a:r>
                  <a:rPr lang="en-US" dirty="0"/>
                  <a:t>2. </a:t>
                </a:r>
                <a:r>
                  <a:rPr lang="en-US" dirty="0" err="1"/>
                  <a:t>Phân</a:t>
                </a:r>
                <a:r>
                  <a:rPr lang="en-US" dirty="0"/>
                  <a:t> </a:t>
                </a:r>
                <a:r>
                  <a:rPr lang="en-US" dirty="0" err="1"/>
                  <a:t>loại</a:t>
                </a:r>
                <a:r>
                  <a:rPr lang="en-US" dirty="0"/>
                  <a:t> </a:t>
                </a:r>
                <a:r>
                  <a:rPr lang="en-US" dirty="0" err="1"/>
                  <a:t>và</a:t>
                </a:r>
                <a:br>
                  <a:rPr lang="en-US" dirty="0"/>
                </a:br>
                <a:r>
                  <a:rPr lang="en-US" dirty="0" err="1"/>
                  <a:t>tổ</a:t>
                </a:r>
                <a:r>
                  <a:rPr lang="en-US" dirty="0"/>
                  <a:t> </a:t>
                </a:r>
                <a:r>
                  <a:rPr lang="en-US" dirty="0" err="1"/>
                  <a:t>chức</a:t>
                </a:r>
                <a:r>
                  <a:rPr lang="en-US" dirty="0"/>
                  <a:t> </a:t>
                </a:r>
                <a:r>
                  <a:rPr lang="en-US" dirty="0" err="1"/>
                  <a:t>yêu</a:t>
                </a:r>
                <a:r>
                  <a:rPr lang="en-US" dirty="0"/>
                  <a:t> </a:t>
                </a:r>
                <a:r>
                  <a:rPr lang="en-US" dirty="0" err="1"/>
                  <a:t>cầu</a:t>
                </a:r>
                <a:endParaRPr lang="en-US" dirty="0"/>
              </a:p>
            </p:txBody>
          </p:sp>
          <p:sp>
            <p:nvSpPr>
              <p:cNvPr id="8" name="TextBox 7"/>
              <p:cNvSpPr txBox="1"/>
              <p:nvPr/>
            </p:nvSpPr>
            <p:spPr>
              <a:xfrm>
                <a:off x="1276350" y="4522569"/>
                <a:ext cx="2215991" cy="646331"/>
              </a:xfrm>
              <a:prstGeom prst="rect">
                <a:avLst/>
              </a:prstGeom>
              <a:solidFill>
                <a:schemeClr val="bg1"/>
              </a:solidFill>
              <a:ln>
                <a:solidFill>
                  <a:schemeClr val="accent1"/>
                </a:solidFill>
              </a:ln>
            </p:spPr>
            <p:txBody>
              <a:bodyPr wrap="none" rtlCol="0">
                <a:spAutoFit/>
              </a:bodyPr>
              <a:lstStyle/>
              <a:p>
                <a:pPr marL="233363" indent="-233363" algn="just"/>
                <a:r>
                  <a:rPr lang="en-US" dirty="0"/>
                  <a:t>3. </a:t>
                </a:r>
                <a:r>
                  <a:rPr lang="en-US" dirty="0" err="1"/>
                  <a:t>Thương</a:t>
                </a:r>
                <a:r>
                  <a:rPr lang="en-US" dirty="0"/>
                  <a:t> </a:t>
                </a:r>
                <a:r>
                  <a:rPr lang="en-US" dirty="0" err="1"/>
                  <a:t>lượng</a:t>
                </a:r>
                <a:br>
                  <a:rPr lang="en-US" dirty="0"/>
                </a:br>
                <a:r>
                  <a:rPr lang="en-US" dirty="0" err="1"/>
                  <a:t>và</a:t>
                </a:r>
                <a:r>
                  <a:rPr lang="en-US" dirty="0"/>
                  <a:t> </a:t>
                </a:r>
                <a:r>
                  <a:rPr lang="en-US" dirty="0" err="1"/>
                  <a:t>gán</a:t>
                </a:r>
                <a:r>
                  <a:rPr lang="en-US" dirty="0"/>
                  <a:t> </a:t>
                </a:r>
                <a:r>
                  <a:rPr lang="en-US" dirty="0" err="1"/>
                  <a:t>độ</a:t>
                </a:r>
                <a:r>
                  <a:rPr lang="en-US" dirty="0"/>
                  <a:t> </a:t>
                </a:r>
                <a:r>
                  <a:rPr lang="en-US" dirty="0" err="1"/>
                  <a:t>ưu</a:t>
                </a:r>
                <a:r>
                  <a:rPr lang="en-US" dirty="0"/>
                  <a:t> </a:t>
                </a:r>
                <a:r>
                  <a:rPr lang="en-US" dirty="0" err="1"/>
                  <a:t>tiên</a:t>
                </a:r>
                <a:endParaRPr lang="en-US" dirty="0"/>
              </a:p>
            </p:txBody>
          </p:sp>
          <p:cxnSp>
            <p:nvCxnSpPr>
              <p:cNvPr id="10" name="Curved Connector 9"/>
              <p:cNvCxnSpPr>
                <a:stCxn id="9" idx="0"/>
                <a:endCxn id="2" idx="1"/>
              </p:cNvCxnSpPr>
              <p:nvPr/>
            </p:nvCxnSpPr>
            <p:spPr>
              <a:xfrm rot="5400000" flipH="1" flipV="1">
                <a:off x="749798" y="2203948"/>
                <a:ext cx="819834" cy="99527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Curved Connector 17"/>
              <p:cNvCxnSpPr>
                <a:stCxn id="7" idx="2"/>
                <a:endCxn id="8" idx="3"/>
              </p:cNvCxnSpPr>
              <p:nvPr/>
            </p:nvCxnSpPr>
            <p:spPr>
              <a:xfrm rot="5400000">
                <a:off x="3232220" y="4094153"/>
                <a:ext cx="1011704" cy="491461"/>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Curved Connector 19"/>
              <p:cNvCxnSpPr>
                <a:stCxn id="8" idx="1"/>
                <a:endCxn id="9" idx="2"/>
              </p:cNvCxnSpPr>
              <p:nvPr/>
            </p:nvCxnSpPr>
            <p:spPr>
              <a:xfrm rot="10800000">
                <a:off x="662080" y="3757831"/>
                <a:ext cx="614270" cy="108790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Curved Connector 21"/>
              <p:cNvCxnSpPr>
                <a:stCxn id="2" idx="3"/>
                <a:endCxn id="7" idx="0"/>
              </p:cNvCxnSpPr>
              <p:nvPr/>
            </p:nvCxnSpPr>
            <p:spPr>
              <a:xfrm>
                <a:off x="3214186" y="2291666"/>
                <a:ext cx="769616" cy="89603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DD031BC6-5C94-4CD4-B195-0CCA50D36433}" type="slidenum">
              <a:rPr lang="en-US" smtClean="0"/>
              <a:pPr>
                <a:defRPr/>
              </a:pPr>
              <a:t>7</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Khám</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phá</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105"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Quá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thông</a:t>
            </a:r>
            <a:r>
              <a:rPr lang="en-US" sz="3000" b="0" strike="noStrike" spc="-1" dirty="0">
                <a:solidFill>
                  <a:srgbClr val="000000"/>
                </a:solidFill>
                <a:uFill>
                  <a:solidFill>
                    <a:srgbClr val="FFFFFF"/>
                  </a:solidFill>
                </a:uFill>
                <a:latin typeface="Calibri"/>
                <a:ea typeface="DejaVu Sans"/>
              </a:rPr>
              <a:t> tin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hiện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thời</a:t>
            </a:r>
            <a:r>
              <a:rPr lang="en-US" sz="3000" b="0" strike="noStrike" spc="-1" dirty="0">
                <a:solidFill>
                  <a:srgbClr val="000000"/>
                </a:solidFill>
                <a:uFill>
                  <a:solidFill>
                    <a:srgbClr val="FFFFFF"/>
                  </a:solidFill>
                </a:uFill>
                <a:latin typeface="Calibri"/>
                <a:ea typeface="DejaVu Sans"/>
              </a:rPr>
              <a:t> (system-as-is)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(system-to-be), </a:t>
            </a:r>
            <a:r>
              <a:rPr lang="en-US" sz="3000" b="0" strike="noStrike" spc="-1" dirty="0" err="1">
                <a:solidFill>
                  <a:srgbClr val="000000"/>
                </a:solidFill>
                <a:uFill>
                  <a:solidFill>
                    <a:srgbClr val="FFFFFF"/>
                  </a:solidFill>
                </a:uFill>
                <a:latin typeface="Calibri"/>
                <a:ea typeface="DejaVu Sans"/>
              </a:rPr>
              <a:t>cơ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sở</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dùng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endParaRPr lang="en-US" sz="3000" b="0" strike="noStrike" spc="-1" dirty="0">
              <a:solidFill>
                <a:srgbClr val="000000"/>
              </a:solidFill>
              <a:uFill>
                <a:solidFill>
                  <a:srgbClr val="FFFFFF"/>
                </a:solidFill>
              </a:uFill>
              <a:latin typeface="Calibri"/>
              <a:ea typeface="DejaVu Sans"/>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Calibri"/>
              </a:rPr>
              <a:t>Tương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với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liên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quan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từ</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người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quản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lý</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đến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người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cơ</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quan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bộ</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ngành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ngoài</a:t>
            </a:r>
            <a:endParaRPr lang="en-US" sz="3000" spc="-1" dirty="0">
              <a:solidFill>
                <a:srgbClr val="000000"/>
              </a:solidFill>
              <a:uFill>
                <a:solidFill>
                  <a:srgbClr val="FFFFFF"/>
                </a:solidFill>
              </a:uFill>
              <a:latin typeface="Calibri"/>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hệ</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thống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thường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có</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một</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danh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sách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liên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quan</a:t>
            </a:r>
            <a:endParaRPr lang="en-US" sz="3000" b="0" strike="noStrike" spc="-1" dirty="0">
              <a:solidFill>
                <a:srgbClr val="000000"/>
              </a:solidFill>
              <a:uFill>
                <a:solidFill>
                  <a:srgbClr val="FFFFFF"/>
                </a:solidFill>
              </a:uFill>
              <a:latin typeface="Arial"/>
            </a:endParaRPr>
          </a:p>
        </p:txBody>
      </p:sp>
      <p:sp>
        <p:nvSpPr>
          <p:cNvPr id="106"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5F76BE7C-CC05-4B9D-AD6D-808046EF9B13}" type="slidenum">
              <a:rPr lang="en-US" sz="1100" b="0" strike="noStrike" spc="-1">
                <a:solidFill>
                  <a:srgbClr val="8B8B8B"/>
                </a:solidFill>
                <a:uFill>
                  <a:solidFill>
                    <a:srgbClr val="FFFFFF"/>
                  </a:solidFill>
                </a:uFill>
                <a:latin typeface="Calibri"/>
                <a:ea typeface="DejaVu Sans"/>
              </a:rPr>
              <a:t>8</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8</a:t>
            </a:fld>
            <a:endParaRPr lang="en-US"/>
          </a:p>
        </p:txBody>
      </p:sp>
    </p:spTree>
    <p:extLst>
      <p:ext uri="{BB962C8B-B14F-4D97-AF65-F5344CB8AC3E}">
        <p14:creationId xmlns:p14="http://schemas.microsoft.com/office/powerpoint/2010/main" val="126550116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Ví</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dụ</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về</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các</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bên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liên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quan</a:t>
            </a:r>
            <a:endParaRPr lang="en-US" sz="4200" b="0" strike="noStrike" spc="-1" dirty="0">
              <a:solidFill>
                <a:srgbClr val="000000"/>
              </a:solidFill>
              <a:uFill>
                <a:solidFill>
                  <a:srgbClr val="FFFFFF"/>
                </a:solidFill>
              </a:uFill>
              <a:latin typeface="Arial"/>
            </a:endParaRPr>
          </a:p>
        </p:txBody>
      </p:sp>
      <p:sp>
        <p:nvSpPr>
          <p:cNvPr id="105" name="CustomShape 2"/>
          <p:cNvSpPr/>
          <p:nvPr/>
        </p:nvSpPr>
        <p:spPr>
          <a:xfrm>
            <a:off x="455400" y="173990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1440">
              <a:lnSpc>
                <a:spcPct val="100000"/>
              </a:lnSpc>
              <a:spcBef>
                <a:spcPts val="601"/>
              </a:spcBef>
              <a:buClr>
                <a:srgbClr val="000000"/>
              </a:buClr>
            </a:pPr>
            <a:r>
              <a:rPr lang="en-US" sz="3000" b="0" strike="noStrike" spc="-1" dirty="0" err="1">
                <a:solidFill>
                  <a:srgbClr val="000000"/>
                </a:solidFill>
                <a:uFill>
                  <a:solidFill>
                    <a:srgbClr val="FFFFFF"/>
                  </a:solidFill>
                </a:uFill>
                <a:latin typeface="Arial"/>
              </a:rPr>
              <a:t>Hệ</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thống</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quản</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lý</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phòng</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khám</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Arial"/>
              </a:rPr>
              <a:t>Bệnh</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nhân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có</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hồ</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sơ</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bệnh</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án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được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lưu</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trữ</a:t>
            </a:r>
            <a:endParaRPr lang="en-US" sz="3000"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Arial"/>
              </a:rPr>
              <a:t>Bác</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sĩ</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người</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có</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trách</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nhiệm</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khám</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bệnh</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spc="-1" dirty="0">
                <a:solidFill>
                  <a:srgbClr val="000000"/>
                </a:solidFill>
                <a:uFill>
                  <a:solidFill>
                    <a:srgbClr val="FFFFFF"/>
                  </a:solidFill>
                </a:uFill>
                <a:latin typeface="Arial"/>
              </a:rPr>
              <a:t>Y </a:t>
            </a:r>
            <a:r>
              <a:rPr lang="en-US" sz="3000" spc="-1" dirty="0" err="1">
                <a:solidFill>
                  <a:srgbClr val="000000"/>
                </a:solidFill>
                <a:uFill>
                  <a:solidFill>
                    <a:srgbClr val="FFFFFF"/>
                  </a:solidFill>
                </a:uFill>
                <a:latin typeface="Arial"/>
              </a:rPr>
              <a:t>tá</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hỗ</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trợ</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bác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sĩ</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trong</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khám</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bệnh</a:t>
            </a:r>
            <a:endParaRPr lang="en-US" sz="3000"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Arial"/>
              </a:rPr>
              <a:t>Tiếp</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tân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quản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lý</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các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cuộc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hẹn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khám</a:t>
            </a:r>
            <a:endParaRPr lang="en-US" sz="3000"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Arial"/>
              </a:rPr>
              <a:t>Nhân</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viên</a:t>
            </a:r>
            <a:r>
              <a:rPr lang="en-US" sz="3000" b="0" strike="noStrike" spc="-1" dirty="0">
                <a:solidFill>
                  <a:srgbClr val="000000"/>
                </a:solidFill>
                <a:uFill>
                  <a:solidFill>
                    <a:srgbClr val="FFFFFF"/>
                  </a:solidFill>
                </a:uFill>
                <a:latin typeface="Arial"/>
              </a:rPr>
              <a:t> CNTT: </a:t>
            </a:r>
            <a:r>
              <a:rPr lang="en-US" sz="3000" b="0" strike="noStrike" spc="-1" dirty="0" err="1">
                <a:solidFill>
                  <a:srgbClr val="000000"/>
                </a:solidFill>
                <a:uFill>
                  <a:solidFill>
                    <a:srgbClr val="FFFFFF"/>
                  </a:solidFill>
                </a:uFill>
                <a:latin typeface="Arial"/>
              </a:rPr>
              <a:t>người</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có</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trách</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nhiệm</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cài</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đặt</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và</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vận</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hành</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hệ</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thống</a:t>
            </a:r>
            <a:endParaRPr lang="en-US" sz="3000" b="0" strike="noStrike" spc="-1" dirty="0">
              <a:solidFill>
                <a:srgbClr val="000000"/>
              </a:solidFill>
              <a:uFill>
                <a:solidFill>
                  <a:srgbClr val="FFFFFF"/>
                </a:solidFill>
              </a:uFill>
              <a:latin typeface="Arial"/>
            </a:endParaRPr>
          </a:p>
        </p:txBody>
      </p:sp>
      <p:sp>
        <p:nvSpPr>
          <p:cNvPr id="106"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5F76BE7C-CC05-4B9D-AD6D-808046EF9B13}" type="slidenum">
              <a:rPr lang="en-US" sz="1100" b="0" strike="noStrike" spc="-1">
                <a:solidFill>
                  <a:srgbClr val="8B8B8B"/>
                </a:solidFill>
                <a:uFill>
                  <a:solidFill>
                    <a:srgbClr val="FFFFFF"/>
                  </a:solidFill>
                </a:uFill>
                <a:latin typeface="Calibri"/>
                <a:ea typeface="DejaVu Sans"/>
              </a:rPr>
              <a:t>9</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9</a:t>
            </a:fld>
            <a:endParaRPr lang="en-US"/>
          </a:p>
        </p:txBody>
      </p:sp>
    </p:spTree>
    <p:extLst>
      <p:ext uri="{BB962C8B-B14F-4D97-AF65-F5344CB8AC3E}">
        <p14:creationId xmlns:p14="http://schemas.microsoft.com/office/powerpoint/2010/main" val="332478859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Ví</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dụ</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về</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các</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bên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liên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quan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tiếp</a:t>
            </a:r>
            <a:r>
              <a:rPr lang="en-US" sz="4200" b="0" strike="noStrike" spc="-1" dirty="0">
                <a:solidFill>
                  <a:srgbClr val="0070C0"/>
                </a:solidFill>
                <a:uFill>
                  <a:solidFill>
                    <a:srgbClr val="FFFFFF"/>
                  </a:solidFill>
                </a:uFill>
                <a:latin typeface="Calibri"/>
                <a:ea typeface="DejaVu Sans"/>
              </a:rPr>
              <a:t>)</a:t>
            </a:r>
            <a:endParaRPr lang="en-US" sz="4200" b="0" strike="noStrike" spc="-1" dirty="0">
              <a:solidFill>
                <a:srgbClr val="000000"/>
              </a:solidFill>
              <a:uFill>
                <a:solidFill>
                  <a:srgbClr val="FFFFFF"/>
                </a:solidFill>
              </a:uFill>
              <a:latin typeface="Arial"/>
            </a:endParaRPr>
          </a:p>
        </p:txBody>
      </p:sp>
      <p:sp>
        <p:nvSpPr>
          <p:cNvPr id="105" name="CustomShape 2"/>
          <p:cNvSpPr/>
          <p:nvPr/>
        </p:nvSpPr>
        <p:spPr>
          <a:xfrm>
            <a:off x="455400" y="1816100"/>
            <a:ext cx="8193960" cy="380306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1440">
              <a:lnSpc>
                <a:spcPct val="100000"/>
              </a:lnSpc>
              <a:spcBef>
                <a:spcPts val="601"/>
              </a:spcBef>
              <a:buClr>
                <a:srgbClr val="000000"/>
              </a:buClr>
            </a:pPr>
            <a:r>
              <a:rPr lang="en-US" sz="3000" b="0" strike="noStrike" spc="-1" dirty="0" err="1">
                <a:solidFill>
                  <a:srgbClr val="000000"/>
                </a:solidFill>
                <a:uFill>
                  <a:solidFill>
                    <a:srgbClr val="FFFFFF"/>
                  </a:solidFill>
                </a:uFill>
                <a:latin typeface="Arial"/>
              </a:rPr>
              <a:t>Hệ</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thống</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quản</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lý</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phòng</a:t>
            </a:r>
            <a:r>
              <a:rPr lang="en-US" sz="3000" b="0" strike="noStrike" spc="-1" dirty="0">
                <a:solidFill>
                  <a:srgbClr val="000000"/>
                </a:solidFill>
                <a:uFill>
                  <a:solidFill>
                    <a:srgbClr val="FFFFFF"/>
                  </a:solidFill>
                </a:uFill>
                <a:latin typeface="Arial"/>
              </a:rPr>
              <a:t> </a:t>
            </a:r>
            <a:r>
              <a:rPr lang="en-US" sz="3000" b="0" strike="noStrike" spc="-1" dirty="0" err="1">
                <a:solidFill>
                  <a:srgbClr val="000000"/>
                </a:solidFill>
                <a:uFill>
                  <a:solidFill>
                    <a:srgbClr val="FFFFFF"/>
                  </a:solidFill>
                </a:uFill>
                <a:latin typeface="Arial"/>
              </a:rPr>
              <a:t>khám</a:t>
            </a:r>
            <a:r>
              <a:rPr lang="en-US" sz="3000" b="0" strike="noStrike" spc="-1" dirty="0">
                <a:solidFill>
                  <a:srgbClr val="000000"/>
                </a:solidFill>
                <a:uFill>
                  <a:solidFill>
                    <a:srgbClr val="FFFFFF"/>
                  </a:solidFill>
                </a:uFill>
                <a:latin typeface="Arial"/>
              </a:rPr>
              <a:t>:</a:t>
            </a: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quản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lý</a:t>
            </a:r>
            <a:r>
              <a:rPr lang="en-US" sz="3000" spc="-1" dirty="0">
                <a:solidFill>
                  <a:srgbClr val="000000"/>
                </a:solidFill>
                <a:uFill>
                  <a:solidFill>
                    <a:srgbClr val="FFFFFF"/>
                  </a:solidFill>
                </a:uFill>
                <a:latin typeface="Arial"/>
              </a:rPr>
              <a:t> y </a:t>
            </a:r>
            <a:r>
              <a:rPr lang="en-US" sz="3000" spc="-1" dirty="0" err="1">
                <a:solidFill>
                  <a:srgbClr val="000000"/>
                </a:solidFill>
                <a:uFill>
                  <a:solidFill>
                    <a:srgbClr val="FFFFFF"/>
                  </a:solidFill>
                </a:uFill>
                <a:latin typeface="Arial"/>
              </a:rPr>
              <a:t>đức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đảm</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bảo</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hệ</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thống</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đáp</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ứng</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các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chuẩn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mức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sức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khỏe</a:t>
            </a:r>
            <a:endParaRPr lang="en-US" sz="3000"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quản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lý</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chăm</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sóc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sức</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khỏe</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cần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truy</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xuất</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thông</a:t>
            </a:r>
            <a:r>
              <a:rPr lang="en-US" sz="3000" spc="-1" dirty="0">
                <a:solidFill>
                  <a:srgbClr val="000000"/>
                </a:solidFill>
                <a:uFill>
                  <a:solidFill>
                    <a:srgbClr val="FFFFFF"/>
                  </a:solidFill>
                </a:uFill>
                <a:latin typeface="Arial"/>
              </a:rPr>
              <a:t> tin </a:t>
            </a:r>
            <a:r>
              <a:rPr lang="en-US" sz="3000" spc="-1" dirty="0" err="1">
                <a:solidFill>
                  <a:srgbClr val="000000"/>
                </a:solidFill>
                <a:uFill>
                  <a:solidFill>
                    <a:srgbClr val="FFFFFF"/>
                  </a:solidFill>
                </a:uFill>
                <a:latin typeface="Arial"/>
              </a:rPr>
              <a:t>quản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lý</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từ</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hệ</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thống</a:t>
            </a:r>
            <a:r>
              <a:rPr lang="en-US" sz="3000" spc="-1" dirty="0">
                <a:solidFill>
                  <a:srgbClr val="000000"/>
                </a:solidFill>
                <a:uFill>
                  <a:solidFill>
                    <a:srgbClr val="FFFFFF"/>
                  </a:solidFill>
                </a:uFill>
                <a:latin typeface="Arial"/>
              </a:rPr>
              <a:t> </a:t>
            </a: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quản</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lý</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hồ</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sơ</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người</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cập</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nhật</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thông</a:t>
            </a:r>
            <a:r>
              <a:rPr lang="en-US" sz="3000" spc="-1" dirty="0">
                <a:solidFill>
                  <a:srgbClr val="000000"/>
                </a:solidFill>
                <a:uFill>
                  <a:solidFill>
                    <a:srgbClr val="FFFFFF"/>
                  </a:solidFill>
                </a:uFill>
                <a:latin typeface="Arial"/>
              </a:rPr>
              <a:t> tin </a:t>
            </a:r>
            <a:r>
              <a:rPr lang="en-US" sz="3000" spc="-1" dirty="0" err="1">
                <a:solidFill>
                  <a:srgbClr val="000000"/>
                </a:solidFill>
                <a:uFill>
                  <a:solidFill>
                    <a:srgbClr val="FFFFFF"/>
                  </a:solidFill>
                </a:uFill>
                <a:latin typeface="Arial"/>
              </a:rPr>
              <a:t>hồ</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sơ</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bệnh</a:t>
            </a:r>
            <a:r>
              <a:rPr lang="en-US" sz="3000" spc="-1" dirty="0">
                <a:solidFill>
                  <a:srgbClr val="000000"/>
                </a:solidFill>
                <a:uFill>
                  <a:solidFill>
                    <a:srgbClr val="FFFFFF"/>
                  </a:solidFill>
                </a:uFill>
                <a:latin typeface="Arial"/>
              </a:rPr>
              <a:t> </a:t>
            </a:r>
            <a:r>
              <a:rPr lang="en-US" sz="3000" spc="-1" dirty="0" err="1">
                <a:solidFill>
                  <a:srgbClr val="000000"/>
                </a:solidFill>
                <a:uFill>
                  <a:solidFill>
                    <a:srgbClr val="FFFFFF"/>
                  </a:solidFill>
                </a:uFill>
                <a:latin typeface="Arial"/>
              </a:rPr>
              <a:t>án</a:t>
            </a:r>
            <a:endParaRPr lang="en-US" sz="3000"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endParaRPr lang="en-US" sz="3000" spc="-1" dirty="0">
              <a:solidFill>
                <a:srgbClr val="000000"/>
              </a:solidFill>
              <a:uFill>
                <a:solidFill>
                  <a:srgbClr val="FFFFFF"/>
                </a:solidFill>
              </a:uFill>
              <a:latin typeface="Arial"/>
            </a:endParaRPr>
          </a:p>
        </p:txBody>
      </p:sp>
      <p:sp>
        <p:nvSpPr>
          <p:cNvPr id="106"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5F76BE7C-CC05-4B9D-AD6D-808046EF9B13}" type="slidenum">
              <a:rPr lang="en-US" sz="1100" b="0" strike="noStrike" spc="-1">
                <a:solidFill>
                  <a:srgbClr val="8B8B8B"/>
                </a:solidFill>
                <a:uFill>
                  <a:solidFill>
                    <a:srgbClr val="FFFFFF"/>
                  </a:solidFill>
                </a:uFill>
                <a:latin typeface="Calibri"/>
                <a:ea typeface="DejaVu Sans"/>
              </a:rPr>
              <a:t>10</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10</a:t>
            </a:fld>
            <a:endParaRPr lang="en-US"/>
          </a:p>
        </p:txBody>
      </p:sp>
    </p:spTree>
    <p:extLst>
      <p:ext uri="{BB962C8B-B14F-4D97-AF65-F5344CB8AC3E}">
        <p14:creationId xmlns:p14="http://schemas.microsoft.com/office/powerpoint/2010/main" val="396023812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Một số kỹ thuật khám phá yêu cầu</a:t>
            </a:r>
            <a:endParaRPr lang="en-US" sz="4200" b="0" strike="noStrike" spc="-1">
              <a:solidFill>
                <a:srgbClr val="000000"/>
              </a:solidFill>
              <a:uFill>
                <a:solidFill>
                  <a:srgbClr val="FFFFFF"/>
                </a:solidFill>
              </a:uFill>
              <a:latin typeface="Arial"/>
            </a:endParaRPr>
          </a:p>
        </p:txBody>
      </p:sp>
      <p:sp>
        <p:nvSpPr>
          <p:cNvPr id="105" name="CustomShape 2"/>
          <p:cNvSpPr/>
          <p:nvPr/>
        </p:nvSpPr>
        <p:spPr>
          <a:xfrm>
            <a:off x="322050" y="1823040"/>
            <a:ext cx="8650500" cy="410786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Autofit/>
          </a:bodyPr>
          <a:lstStyle/>
          <a:p>
            <a:pPr marL="326160" indent="-324720">
              <a:lnSpc>
                <a:spcPct val="100000"/>
              </a:lnSpc>
              <a:spcBef>
                <a:spcPts val="601"/>
              </a:spcBef>
              <a:buClr>
                <a:srgbClr val="000000"/>
              </a:buClr>
              <a:buFont typeface="Arial"/>
              <a:buChar char="•"/>
            </a:pPr>
            <a:r>
              <a:rPr lang="en-US" sz="3500" b="0" strike="noStrike" spc="-1" dirty="0" err="1">
                <a:solidFill>
                  <a:srgbClr val="000000"/>
                </a:solidFill>
                <a:uFill>
                  <a:solidFill>
                    <a:srgbClr val="FFFFFF"/>
                  </a:solidFill>
                </a:uFill>
                <a:latin typeface="Calibri"/>
                <a:ea typeface="DejaVu Sans"/>
              </a:rPr>
              <a:t>Kỹ</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thuật</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phỏng</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vấn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tương</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tác</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với</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các</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bên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liên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quan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để</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thu</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thập</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thông</a:t>
            </a:r>
            <a:r>
              <a:rPr lang="en-US" sz="3500" b="0" strike="noStrike" spc="-1" dirty="0">
                <a:solidFill>
                  <a:srgbClr val="000000"/>
                </a:solidFill>
                <a:uFill>
                  <a:solidFill>
                    <a:srgbClr val="FFFFFF"/>
                  </a:solidFill>
                </a:uFill>
                <a:latin typeface="Calibri"/>
                <a:ea typeface="DejaVu Sans"/>
              </a:rPr>
              <a:t> tin</a:t>
            </a:r>
            <a:endParaRPr lang="en-US" sz="35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500" b="0" strike="noStrike" spc="-1" dirty="0" err="1">
                <a:solidFill>
                  <a:srgbClr val="000000"/>
                </a:solidFill>
                <a:uFill>
                  <a:solidFill>
                    <a:srgbClr val="FFFFFF"/>
                  </a:solidFill>
                </a:uFill>
                <a:latin typeface="Calibri"/>
                <a:ea typeface="DejaVu Sans"/>
              </a:rPr>
              <a:t>Kỹ</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thuật</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dùng</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các</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kịch</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bản</a:t>
            </a:r>
            <a:r>
              <a:rPr lang="en-US" sz="3500" b="0" strike="noStrike" spc="-1" dirty="0">
                <a:solidFill>
                  <a:srgbClr val="000000"/>
                </a:solidFill>
                <a:uFill>
                  <a:solidFill>
                    <a:srgbClr val="FFFFFF"/>
                  </a:solidFill>
                </a:uFill>
                <a:latin typeface="Calibri"/>
                <a:ea typeface="DejaVu Sans"/>
              </a:rPr>
              <a:t> </a:t>
            </a:r>
            <a:r>
              <a:rPr lang="en-US" sz="3200" b="0" strike="noStrike" spc="-1" dirty="0">
                <a:solidFill>
                  <a:srgbClr val="000000"/>
                </a:solidFill>
                <a:uFill>
                  <a:solidFill>
                    <a:srgbClr val="FFFFFF"/>
                  </a:solidFill>
                </a:uFill>
                <a:latin typeface="Calibri"/>
                <a:ea typeface="DejaVu Sans"/>
              </a:rPr>
              <a:t>(scenarios)</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dựa</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vào</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các</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ví</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dụ</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cụ</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thể</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để</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thu</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thập</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và</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phân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tích</a:t>
            </a:r>
            <a:endParaRPr lang="en-US" sz="35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500" b="0" strike="noStrike" spc="-1" dirty="0" err="1">
                <a:solidFill>
                  <a:srgbClr val="000000"/>
                </a:solidFill>
                <a:uFill>
                  <a:solidFill>
                    <a:srgbClr val="FFFFFF"/>
                  </a:solidFill>
                </a:uFill>
                <a:latin typeface="Calibri"/>
                <a:ea typeface="DejaVu Sans"/>
              </a:rPr>
              <a:t>Kỹ</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thuật</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nghiên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cứu</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nhân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học</a:t>
            </a:r>
            <a:r>
              <a:rPr lang="en-US" sz="3500" b="0" strike="noStrike" spc="-1" dirty="0">
                <a:solidFill>
                  <a:srgbClr val="000000"/>
                </a:solidFill>
                <a:uFill>
                  <a:solidFill>
                    <a:srgbClr val="FFFFFF"/>
                  </a:solidFill>
                </a:uFill>
                <a:latin typeface="Calibri"/>
                <a:ea typeface="DejaVu Sans"/>
              </a:rPr>
              <a:t> </a:t>
            </a:r>
            <a:r>
              <a:rPr lang="en-US" sz="3200" b="0" strike="noStrike" spc="-1" dirty="0">
                <a:solidFill>
                  <a:srgbClr val="000000"/>
                </a:solidFill>
                <a:uFill>
                  <a:solidFill>
                    <a:srgbClr val="FFFFFF"/>
                  </a:solidFill>
                </a:uFill>
                <a:latin typeface="Calibri"/>
                <a:ea typeface="DejaVu Sans"/>
              </a:rPr>
              <a:t>(ethnography)</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dựa</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vào</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quan</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sát</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hoạt</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động</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nghiệp</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vụ</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trong</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thực</a:t>
            </a:r>
            <a:r>
              <a:rPr lang="en-US" sz="3500" b="0" strike="noStrike" spc="-1" dirty="0">
                <a:solidFill>
                  <a:srgbClr val="000000"/>
                </a:solidFill>
                <a:uFill>
                  <a:solidFill>
                    <a:srgbClr val="FFFFFF"/>
                  </a:solidFill>
                </a:uFill>
                <a:latin typeface="Calibri"/>
                <a:ea typeface="DejaVu Sans"/>
              </a:rPr>
              <a:t> </a:t>
            </a:r>
            <a:r>
              <a:rPr lang="en-US" sz="3500" b="0" strike="noStrike" spc="-1" dirty="0" err="1">
                <a:solidFill>
                  <a:srgbClr val="000000"/>
                </a:solidFill>
                <a:uFill>
                  <a:solidFill>
                    <a:srgbClr val="FFFFFF"/>
                  </a:solidFill>
                </a:uFill>
                <a:latin typeface="Calibri"/>
                <a:ea typeface="DejaVu Sans"/>
              </a:rPr>
              <a:t>tế</a:t>
            </a:r>
            <a:r>
              <a:rPr lang="en-US" sz="3500" b="0" strike="noStrike" spc="-1" dirty="0">
                <a:solidFill>
                  <a:srgbClr val="000000"/>
                </a:solidFill>
                <a:uFill>
                  <a:solidFill>
                    <a:srgbClr val="FFFFFF"/>
                  </a:solidFill>
                </a:uFill>
                <a:latin typeface="Calibri"/>
                <a:ea typeface="DejaVu Sans"/>
              </a:rPr>
              <a:t> </a:t>
            </a:r>
            <a:endParaRPr lang="en-US" sz="3500" b="0" strike="noStrike" spc="-1" dirty="0">
              <a:solidFill>
                <a:srgbClr val="000000"/>
              </a:solidFill>
              <a:uFill>
                <a:solidFill>
                  <a:srgbClr val="FFFFFF"/>
                </a:solidFill>
              </a:uFill>
              <a:latin typeface="Arial"/>
            </a:endParaRPr>
          </a:p>
        </p:txBody>
      </p:sp>
      <p:sp>
        <p:nvSpPr>
          <p:cNvPr id="106"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5F76BE7C-CC05-4B9D-AD6D-808046EF9B13}" type="slidenum">
              <a:rPr lang="en-US" sz="1100" b="0" strike="noStrike" spc="-1">
                <a:solidFill>
                  <a:srgbClr val="8B8B8B"/>
                </a:solidFill>
                <a:uFill>
                  <a:solidFill>
                    <a:srgbClr val="FFFFFF"/>
                  </a:solidFill>
                </a:uFill>
                <a:latin typeface="Calibri"/>
                <a:ea typeface="DejaVu Sans"/>
              </a:rPr>
              <a:t>11</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11</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Kỹ thuật phỏng vấn</a:t>
            </a:r>
            <a:endParaRPr lang="en-US" sz="4200" b="0" strike="noStrike" spc="-1">
              <a:solidFill>
                <a:srgbClr val="000000"/>
              </a:solidFill>
              <a:uFill>
                <a:solidFill>
                  <a:srgbClr val="FFFFFF"/>
                </a:solidFill>
              </a:uFill>
              <a:latin typeface="Arial"/>
            </a:endParaRPr>
          </a:p>
        </p:txBody>
      </p:sp>
      <p:sp>
        <p:nvSpPr>
          <p:cNvPr id="108"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lnSpcReduction="10000"/>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Hỏi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đáp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một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hoặc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không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với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liên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quan</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kiểu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phỏng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vấn</a:t>
            </a:r>
            <a:endParaRPr lang="en-US" sz="3000" b="0" strike="noStrike" spc="-1" dirty="0">
              <a:solidFill>
                <a:srgbClr val="000000"/>
              </a:solidFill>
              <a:uFill>
                <a:solidFill>
                  <a:srgbClr val="FFFFFF"/>
                </a:solidFill>
              </a:uFill>
              <a:latin typeface="Arial"/>
            </a:endParaRPr>
          </a:p>
          <a:p>
            <a:pPr marL="432000" lvl="1" indent="-215280">
              <a:spcBef>
                <a:spcPts val="601"/>
              </a:spcBef>
              <a:buClr>
                <a:srgbClr val="000000"/>
              </a:buClr>
              <a:buSzPct val="45000"/>
              <a:buFont typeface="OpenSymbol"/>
              <a:buChar char="-"/>
            </a:pPr>
            <a:r>
              <a:rPr lang="en-US" sz="2800" b="0" strike="noStrike" spc="-1" dirty="0" err="1">
                <a:solidFill>
                  <a:srgbClr val="000000"/>
                </a:solidFill>
                <a:uFill>
                  <a:solidFill>
                    <a:srgbClr val="FFFFFF"/>
                  </a:solidFill>
                </a:uFill>
                <a:latin typeface="Calibri"/>
                <a:ea typeface="DejaVu Sans"/>
              </a:rPr>
              <a:t>Phỏng</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vấn</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đóng</a:t>
            </a:r>
            <a:endParaRPr lang="en-US" sz="2800" b="0" strike="noStrike" spc="-1" dirty="0">
              <a:solidFill>
                <a:srgbClr val="000000"/>
              </a:solidFill>
              <a:uFill>
                <a:solidFill>
                  <a:srgbClr val="FFFFFF"/>
                </a:solidFill>
              </a:uFill>
              <a:latin typeface="Arial"/>
            </a:endParaRPr>
          </a:p>
          <a:p>
            <a:pPr marL="432000" lvl="1" indent="-215280">
              <a:spcBef>
                <a:spcPts val="601"/>
              </a:spcBef>
              <a:buClr>
                <a:srgbClr val="000000"/>
              </a:buClr>
              <a:buSzPct val="45000"/>
              <a:buFont typeface="OpenSymbol"/>
              <a:buChar char="-"/>
            </a:pPr>
            <a:r>
              <a:rPr lang="en-US" sz="2800" b="0" strike="noStrike" spc="-1" dirty="0" err="1">
                <a:solidFill>
                  <a:srgbClr val="000000"/>
                </a:solidFill>
                <a:uFill>
                  <a:solidFill>
                    <a:srgbClr val="FFFFFF"/>
                  </a:solidFill>
                </a:uFill>
                <a:latin typeface="Calibri"/>
                <a:ea typeface="DejaVu Sans"/>
              </a:rPr>
              <a:t>Phỏng</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vấn</a:t>
            </a:r>
            <a:r>
              <a:rPr lang="en-US" sz="2800" b="0" strike="noStrike" spc="-1" dirty="0">
                <a:solidFill>
                  <a:srgbClr val="000000"/>
                </a:solidFill>
                <a:uFill>
                  <a:solidFill>
                    <a:srgbClr val="FFFFFF"/>
                  </a:solidFill>
                </a:uFill>
                <a:latin typeface="Calibri"/>
                <a:ea typeface="DejaVu Sans"/>
              </a:rPr>
              <a:t> </a:t>
            </a:r>
            <a:r>
              <a:rPr lang="en-US" sz="2800" b="0" strike="noStrike" spc="-1" dirty="0" err="1">
                <a:solidFill>
                  <a:srgbClr val="000000"/>
                </a:solidFill>
                <a:uFill>
                  <a:solidFill>
                    <a:srgbClr val="FFFFFF"/>
                  </a:solidFill>
                </a:uFill>
                <a:latin typeface="Calibri"/>
                <a:ea typeface="DejaVu Sans"/>
              </a:rPr>
              <a:t>mở</a:t>
            </a:r>
            <a:endParaRPr lang="en-US" sz="28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Một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số</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chỉ</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dẫn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phỏng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vấn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hiệu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quả</a:t>
            </a:r>
            <a:r>
              <a:rPr lang="en-US" sz="3000" b="0" strike="noStrike" spc="-1" dirty="0">
                <a:solidFill>
                  <a:srgbClr val="000000"/>
                </a:solidFill>
                <a:uFill>
                  <a:solidFill>
                    <a:srgbClr val="FFFFFF"/>
                  </a:solidFill>
                </a:uFill>
                <a:latin typeface="Calibri"/>
                <a:ea typeface="DejaVu Sans"/>
              </a:rPr>
              <a:t>  </a:t>
            </a: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Tinh</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thần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tiếp</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nhận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và</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lắng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nghe</a:t>
            </a:r>
            <a:endParaRPr lang="en-US" sz="28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Hướng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người</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được</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phỏng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vấn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tham</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gia</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tình</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huống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được</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thiết</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kế</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trước</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sử</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dụng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bảng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câu</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hỏi</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bản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đề</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xuất</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yêu</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cầu</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hoặc</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bản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mẫu</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hệ</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thống</a:t>
            </a:r>
            <a:endParaRPr lang="en-US" sz="2800" spc="-1" dirty="0">
              <a:solidFill>
                <a:srgbClr val="000000"/>
              </a:solidFill>
              <a:uFill>
                <a:solidFill>
                  <a:srgbClr val="FFFFFF"/>
                </a:solidFill>
              </a:uFill>
              <a:latin typeface="Calibri"/>
              <a:ea typeface="DejaVu Sans"/>
            </a:endParaRPr>
          </a:p>
        </p:txBody>
      </p:sp>
      <p:sp>
        <p:nvSpPr>
          <p:cNvPr id="109"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E3FB1C43-9AA9-4E01-ABFB-BB85E18E8858}" type="slidenum">
              <a:rPr lang="en-US" sz="1100" b="0" strike="noStrike" spc="-1">
                <a:solidFill>
                  <a:srgbClr val="8B8B8B"/>
                </a:solidFill>
                <a:uFill>
                  <a:solidFill>
                    <a:srgbClr val="FFFFFF"/>
                  </a:solidFill>
                </a:uFill>
                <a:latin typeface="Calibri"/>
                <a:ea typeface="DejaVu Sans"/>
              </a:rPr>
              <a:t>12</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12</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Đặc điểm kỹ thuật phỏng vấn</a:t>
            </a:r>
            <a:endParaRPr lang="en-US" sz="4200" b="0" strike="noStrike" spc="-1">
              <a:solidFill>
                <a:srgbClr val="000000"/>
              </a:solidFill>
              <a:uFill>
                <a:solidFill>
                  <a:srgbClr val="FFFFFF"/>
                </a:solidFill>
              </a:uFill>
              <a:latin typeface="Arial"/>
            </a:endParaRPr>
          </a:p>
        </p:txBody>
      </p:sp>
      <p:sp>
        <p:nvSpPr>
          <p:cNvPr id="111" name="CustomShape 2"/>
          <p:cNvSpPr/>
          <p:nvPr/>
        </p:nvSpPr>
        <p:spPr>
          <a:xfrm>
            <a:off x="209550" y="1651580"/>
            <a:ext cx="876300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Thường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kết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hợp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phỏng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vấn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đóng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mở</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Ưu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cấp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nhìn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tổng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quan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liên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quan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hiện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tương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với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Một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số</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hạn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chế</a:t>
            </a:r>
            <a:endParaRPr lang="en-US" sz="3000" b="0" strike="noStrike"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Người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tích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gặp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khăn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với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thuật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ngữ</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tri </a:t>
            </a:r>
            <a:r>
              <a:rPr lang="en-US" sz="3000" spc="-1" dirty="0" err="1">
                <a:solidFill>
                  <a:srgbClr val="000000"/>
                </a:solidFill>
                <a:uFill>
                  <a:solidFill>
                    <a:srgbClr val="FFFFFF"/>
                  </a:solidFill>
                </a:uFill>
                <a:latin typeface="Calibri"/>
                <a:ea typeface="DejaVu Sans"/>
              </a:rPr>
              <a:t>thức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chuyên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biệt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miền</a:t>
            </a:r>
            <a:endParaRPr lang="en-US" sz="30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Một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kiến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thức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miền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phát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biểu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tường</a:t>
            </a:r>
            <a:r>
              <a:rPr lang="en-US" sz="3000" spc="-1" dirty="0">
                <a:solidFill>
                  <a:srgbClr val="000000"/>
                </a:solidFill>
                <a:uFill>
                  <a:solidFill>
                    <a:srgbClr val="FFFFFF"/>
                  </a:solidFill>
                </a:uFill>
                <a:latin typeface="Calibri"/>
                <a:ea typeface="DejaVu Sans"/>
              </a:rPr>
              <a:t> minh do </a:t>
            </a:r>
            <a:r>
              <a:rPr lang="en-US" sz="3000" spc="-1" dirty="0" err="1">
                <a:solidFill>
                  <a:srgbClr val="000000"/>
                </a:solidFill>
                <a:uFill>
                  <a:solidFill>
                    <a:srgbClr val="FFFFFF"/>
                  </a:solidFill>
                </a:uFill>
                <a:latin typeface="Calibri"/>
                <a:ea typeface="DejaVu Sans"/>
              </a:rPr>
              <a:t>quá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quen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thuộc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với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chuyên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gia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miền</a:t>
            </a:r>
            <a:endParaRPr lang="en-US" sz="3000" spc="-1" dirty="0">
              <a:solidFill>
                <a:srgbClr val="000000"/>
              </a:solidFill>
              <a:uFill>
                <a:solidFill>
                  <a:srgbClr val="FFFFFF"/>
                </a:solidFill>
              </a:uFill>
              <a:latin typeface="Calibri"/>
              <a:ea typeface="DejaVu Sans"/>
            </a:endParaRPr>
          </a:p>
          <a:p>
            <a:pPr>
              <a:lnSpc>
                <a:spcPct val="100000"/>
              </a:lnSpc>
              <a:spcBef>
                <a:spcPts val="601"/>
              </a:spcBef>
            </a:pPr>
            <a:endParaRPr lang="en-US" sz="3000" b="0" strike="noStrike" spc="-1" dirty="0">
              <a:solidFill>
                <a:srgbClr val="000000"/>
              </a:solidFill>
              <a:uFill>
                <a:solidFill>
                  <a:srgbClr val="FFFFFF"/>
                </a:solidFill>
              </a:uFill>
              <a:latin typeface="Arial"/>
            </a:endParaRPr>
          </a:p>
        </p:txBody>
      </p:sp>
      <p:sp>
        <p:nvSpPr>
          <p:cNvPr id="112"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EEFDEA95-E3AE-47A6-9D6F-CC245A50BF76}" type="slidenum">
              <a:rPr lang="en-US" sz="1100" b="0" strike="noStrike" spc="-1">
                <a:solidFill>
                  <a:srgbClr val="8B8B8B"/>
                </a:solidFill>
                <a:uFill>
                  <a:solidFill>
                    <a:srgbClr val="FFFFFF"/>
                  </a:solidFill>
                </a:uFill>
                <a:latin typeface="Calibri"/>
                <a:ea typeface="DejaVu Sans"/>
              </a:rPr>
              <a:t>13</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13</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Kỹ thuật dùng kịch bản</a:t>
            </a:r>
            <a:endParaRPr lang="en-US" sz="4200" b="0" strike="noStrike" spc="-1">
              <a:solidFill>
                <a:srgbClr val="000000"/>
              </a:solidFill>
              <a:uFill>
                <a:solidFill>
                  <a:srgbClr val="FFFFFF"/>
                </a:solidFill>
              </a:uFill>
              <a:latin typeface="Arial"/>
            </a:endParaRPr>
          </a:p>
        </p:txBody>
      </p:sp>
      <p:sp>
        <p:nvSpPr>
          <p:cNvPr id="114"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Sử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trong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tế</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cấp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nội</a:t>
            </a:r>
            <a:r>
              <a:rPr lang="en-US" sz="3000" b="0" strike="noStrike" spc="-1" dirty="0">
                <a:solidFill>
                  <a:srgbClr val="000000"/>
                </a:solidFill>
                <a:uFill>
                  <a:solidFill>
                    <a:srgbClr val="FFFFFF"/>
                  </a:solidFill>
                </a:uFill>
                <a:latin typeface="Calibri"/>
                <a:ea typeface="DejaVu Sans"/>
              </a:rPr>
              <a:t> dung </a:t>
            </a:r>
            <a:r>
              <a:rPr lang="en-US" sz="3000" b="0" strike="noStrike" spc="-1" dirty="0" err="1">
                <a:solidFill>
                  <a:srgbClr val="000000"/>
                </a:solidFill>
                <a:uFill>
                  <a:solidFill>
                    <a:srgbClr val="FFFFFF"/>
                  </a:solidFill>
                </a:uFill>
                <a:latin typeface="Calibri"/>
                <a:ea typeface="DejaVu Sans"/>
              </a:rPr>
              <a:t>theo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huống</a:t>
            </a:r>
            <a:endParaRPr lang="en-US" sz="30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thời</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điểm</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bắt</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đầu</a:t>
            </a:r>
            <a:endParaRPr lang="en-US" sz="28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dòng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sự</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kiện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thông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thường</a:t>
            </a:r>
            <a:endParaRPr lang="en-US" sz="28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dòng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sự</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kiện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bất</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thường</a:t>
            </a:r>
            <a:endParaRPr lang="en-US" sz="28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quan</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hệ</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tương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tranh</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giữa</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các</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hoạt</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động</a:t>
            </a:r>
            <a:endParaRPr lang="en-US" sz="2800" spc="-1" dirty="0">
              <a:solidFill>
                <a:srgbClr val="000000"/>
              </a:solidFill>
              <a:uFill>
                <a:solidFill>
                  <a:srgbClr val="FFFFFF"/>
                </a:solidFill>
              </a:uFill>
              <a:latin typeface="Calibri"/>
              <a:ea typeface="DejaVu Sans"/>
            </a:endParaRPr>
          </a:p>
          <a:p>
            <a:pPr marL="432000" lvl="1" indent="-215280">
              <a:lnSpc>
                <a:spcPct val="100000"/>
              </a:lnSpc>
              <a:spcBef>
                <a:spcPts val="601"/>
              </a:spcBef>
              <a:buClr>
                <a:srgbClr val="000000"/>
              </a:buClr>
              <a:buSzPct val="45000"/>
              <a:buFont typeface="OpenSymbol"/>
              <a:buChar char="-"/>
            </a:pPr>
            <a:r>
              <a:rPr lang="en-US" sz="2800" spc="-1" dirty="0" err="1">
                <a:solidFill>
                  <a:srgbClr val="000000"/>
                </a:solidFill>
                <a:uFill>
                  <a:solidFill>
                    <a:srgbClr val="FFFFFF"/>
                  </a:solidFill>
                </a:uFill>
                <a:latin typeface="Calibri"/>
                <a:ea typeface="DejaVu Sans"/>
              </a:rPr>
              <a:t>trạng</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thái</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kết</a:t>
            </a:r>
            <a:r>
              <a:rPr lang="en-US" sz="2800" spc="-1" dirty="0">
                <a:solidFill>
                  <a:srgbClr val="000000"/>
                </a:solidFill>
                <a:uFill>
                  <a:solidFill>
                    <a:srgbClr val="FFFFFF"/>
                  </a:solidFill>
                </a:uFill>
                <a:latin typeface="Calibri"/>
                <a:ea typeface="DejaVu Sans"/>
              </a:rPr>
              <a:t> </a:t>
            </a:r>
            <a:r>
              <a:rPr lang="en-US" sz="2800" spc="-1" dirty="0" err="1">
                <a:solidFill>
                  <a:srgbClr val="000000"/>
                </a:solidFill>
                <a:uFill>
                  <a:solidFill>
                    <a:srgbClr val="FFFFFF"/>
                  </a:solidFill>
                </a:uFill>
                <a:latin typeface="Calibri"/>
                <a:ea typeface="DejaVu Sans"/>
              </a:rPr>
              <a:t>thúc</a:t>
            </a:r>
            <a:endParaRPr lang="en-US" sz="2800" spc="-1" dirty="0">
              <a:solidFill>
                <a:srgbClr val="000000"/>
              </a:solidFill>
              <a:uFill>
                <a:solidFill>
                  <a:srgbClr val="FFFFFF"/>
                </a:solidFill>
              </a:uFill>
              <a:latin typeface="Calibri"/>
              <a:ea typeface="DejaVu Sans"/>
            </a:endParaRPr>
          </a:p>
        </p:txBody>
      </p:sp>
      <p:sp>
        <p:nvSpPr>
          <p:cNvPr id="115"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8BFEE477-B224-4C73-9B91-729DAE3A96F3}" type="slidenum">
              <a:rPr lang="en-US" sz="1100" b="0" strike="noStrike" spc="-1">
                <a:solidFill>
                  <a:srgbClr val="8B8B8B"/>
                </a:solidFill>
                <a:uFill>
                  <a:solidFill>
                    <a:srgbClr val="FFFFFF"/>
                  </a:solidFill>
                </a:uFill>
                <a:latin typeface="Calibri"/>
                <a:ea typeface="DejaVu Sans"/>
              </a:rPr>
              <a:t>14</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14</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Ví</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dụ</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về</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thập</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dựa</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vào</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kịch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bản</a:t>
            </a:r>
            <a:endParaRPr lang="en-US" sz="4200" b="0" strike="noStrike" spc="-1" dirty="0">
              <a:solidFill>
                <a:srgbClr val="000000"/>
              </a:solidFill>
              <a:uFill>
                <a:solidFill>
                  <a:srgbClr val="FFFFFF"/>
                </a:solidFill>
              </a:uFill>
              <a:latin typeface="Arial"/>
            </a:endParaRPr>
          </a:p>
        </p:txBody>
      </p:sp>
      <p:sp>
        <p:nvSpPr>
          <p:cNvPr id="114" name="CustomShape 2"/>
          <p:cNvSpPr/>
          <p:nvPr/>
        </p:nvSpPr>
        <p:spPr>
          <a:xfrm>
            <a:off x="209550" y="1594440"/>
            <a:ext cx="8763000" cy="510048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fontScale="85000" lnSpcReduction="10000"/>
          </a:bodyPr>
          <a:lstStyle/>
          <a:p>
            <a:pPr marL="1440" algn="just">
              <a:lnSpc>
                <a:spcPct val="100000"/>
              </a:lnSpc>
              <a:spcBef>
                <a:spcPts val="601"/>
              </a:spcBef>
              <a:buClr>
                <a:srgbClr val="000000"/>
              </a:buClr>
            </a:pPr>
            <a:r>
              <a:rPr lang="en-US" sz="3000" spc="-1" dirty="0" err="1">
                <a:solidFill>
                  <a:srgbClr val="000000"/>
                </a:solidFill>
                <a:uFill>
                  <a:solidFill>
                    <a:srgbClr val="FFFFFF"/>
                  </a:solidFill>
                </a:uFill>
                <a:latin typeface="Calibri"/>
              </a:rPr>
              <a:t>Hệ</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thống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quản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lý</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phòng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khám</a:t>
            </a:r>
            <a:r>
              <a:rPr lang="en-US" sz="3000" spc="-1" dirty="0">
                <a:solidFill>
                  <a:srgbClr val="000000"/>
                </a:solidFill>
                <a:uFill>
                  <a:solidFill>
                    <a:srgbClr val="FFFFFF"/>
                  </a:solidFill>
                </a:uFill>
                <a:latin typeface="Calibri"/>
              </a:rPr>
              <a:t> - </a:t>
            </a:r>
            <a:r>
              <a:rPr lang="en-US" sz="3000" b="0" strike="noStrike" spc="-1" dirty="0" err="1">
                <a:solidFill>
                  <a:srgbClr val="000000"/>
                </a:solidFill>
                <a:uFill>
                  <a:solidFill>
                    <a:srgbClr val="FFFFFF"/>
                  </a:solidFill>
                </a:uFill>
                <a:latin typeface="Calibri"/>
                <a:ea typeface="DejaVu Sans"/>
              </a:rPr>
              <a:t>Cập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nhật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lịch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bệnh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án</a:t>
            </a:r>
            <a:endParaRPr lang="en-US" sz="3000" b="0" strike="noStrike" spc="-1" dirty="0">
              <a:solidFill>
                <a:srgbClr val="000000"/>
              </a:solidFill>
              <a:uFill>
                <a:solidFill>
                  <a:srgbClr val="FFFFFF"/>
                </a:solidFill>
              </a:uFill>
              <a:latin typeface="Arial"/>
            </a:endParaRPr>
          </a:p>
          <a:p>
            <a:pPr marL="1440" algn="just">
              <a:lnSpc>
                <a:spcPct val="100000"/>
              </a:lnSpc>
              <a:spcBef>
                <a:spcPts val="601"/>
              </a:spcBef>
              <a:buClr>
                <a:srgbClr val="000000"/>
              </a:buClr>
            </a:pPr>
            <a:r>
              <a:rPr lang="en-US" sz="3000" b="1" strike="noStrike" spc="-1" dirty="0" err="1">
                <a:solidFill>
                  <a:srgbClr val="000000"/>
                </a:solidFill>
                <a:uFill>
                  <a:solidFill>
                    <a:srgbClr val="FFFFFF"/>
                  </a:solidFill>
                </a:uFill>
                <a:latin typeface="Calibri"/>
                <a:ea typeface="DejaVu Sans"/>
              </a:rPr>
              <a:t>Giả</a:t>
            </a:r>
            <a:r>
              <a:rPr lang="en-US" sz="3000" b="1" strike="noStrike" spc="-1" dirty="0">
                <a:solidFill>
                  <a:srgbClr val="000000"/>
                </a:solidFill>
                <a:uFill>
                  <a:solidFill>
                    <a:srgbClr val="FFFFFF"/>
                  </a:solidFill>
                </a:uFill>
                <a:latin typeface="Calibri"/>
                <a:ea typeface="DejaVu Sans"/>
              </a:rPr>
              <a:t> </a:t>
            </a:r>
            <a:r>
              <a:rPr lang="en-US" sz="3000" b="1" strike="noStrike" spc="-1" dirty="0" err="1">
                <a:solidFill>
                  <a:srgbClr val="000000"/>
                </a:solidFill>
                <a:uFill>
                  <a:solidFill>
                    <a:srgbClr val="FFFFFF"/>
                  </a:solidFill>
                </a:uFill>
                <a:latin typeface="Calibri"/>
                <a:ea typeface="DejaVu Sans"/>
              </a:rPr>
              <a:t>định</a:t>
            </a:r>
            <a:r>
              <a:rPr lang="en-US" sz="3000" b="1" strike="noStrike" spc="-1" dirty="0">
                <a:solidFill>
                  <a:srgbClr val="000000"/>
                </a:solidFill>
                <a:uFill>
                  <a:solidFill>
                    <a:srgbClr val="FFFFFF"/>
                  </a:solidFill>
                </a:uFill>
                <a:latin typeface="Calibri"/>
                <a:ea typeface="DejaVu Sans"/>
              </a:rPr>
              <a:t> ban </a:t>
            </a:r>
            <a:r>
              <a:rPr lang="en-US" sz="3000" b="1" strike="noStrike" spc="-1" dirty="0" err="1">
                <a:solidFill>
                  <a:srgbClr val="000000"/>
                </a:solidFill>
                <a:uFill>
                  <a:solidFill>
                    <a:srgbClr val="FFFFFF"/>
                  </a:solidFill>
                </a:uFill>
                <a:latin typeface="Calibri"/>
                <a:ea typeface="DejaVu Sans"/>
              </a:rPr>
              <a:t>đầu</a:t>
            </a:r>
            <a:r>
              <a:rPr lang="en-US" sz="3000" b="1"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bệnh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gặp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tiếp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nhật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thông</a:t>
            </a:r>
            <a:r>
              <a:rPr lang="en-US" sz="3000" b="0" strike="noStrike" spc="-1" dirty="0">
                <a:solidFill>
                  <a:srgbClr val="000000"/>
                </a:solidFill>
                <a:uFill>
                  <a:solidFill>
                    <a:srgbClr val="FFFFFF"/>
                  </a:solidFill>
                </a:uFill>
                <a:latin typeface="Calibri"/>
                <a:ea typeface="DejaVu Sans"/>
              </a:rPr>
              <a:t> tin </a:t>
            </a:r>
            <a:r>
              <a:rPr lang="en-US" sz="3000" b="0" strike="noStrike" spc="-1" dirty="0" err="1">
                <a:solidFill>
                  <a:srgbClr val="000000"/>
                </a:solidFill>
                <a:uFill>
                  <a:solidFill>
                    <a:srgbClr val="FFFFFF"/>
                  </a:solidFill>
                </a:uFill>
                <a:latin typeface="Calibri"/>
                <a:ea typeface="DejaVu Sans"/>
              </a:rPr>
              <a:t>bệnh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án</a:t>
            </a:r>
            <a:r>
              <a:rPr lang="en-US" sz="3000" b="0" strike="noStrike" spc="-1" dirty="0">
                <a:solidFill>
                  <a:srgbClr val="000000"/>
                </a:solidFill>
                <a:uFill>
                  <a:solidFill>
                    <a:srgbClr val="FFFFFF"/>
                  </a:solidFill>
                </a:uFill>
                <a:latin typeface="Calibri"/>
                <a:ea typeface="DejaVu Sans"/>
              </a:rPr>
              <a:t>. Y </a:t>
            </a:r>
            <a:r>
              <a:rPr lang="en-US" sz="3000" b="0" strike="noStrike" spc="-1" dirty="0" err="1">
                <a:solidFill>
                  <a:srgbClr val="000000"/>
                </a:solidFill>
                <a:uFill>
                  <a:solidFill>
                    <a:srgbClr val="FFFFFF"/>
                  </a:solidFill>
                </a:uFill>
                <a:latin typeface="Calibri"/>
                <a:ea typeface="DejaVu Sans"/>
              </a:rPr>
              <a:t>tá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đăng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đang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cậ</a:t>
            </a:r>
            <a:r>
              <a:rPr lang="en-US" sz="3000" spc="-1" dirty="0" err="1">
                <a:solidFill>
                  <a:srgbClr val="000000"/>
                </a:solidFill>
                <a:uFill>
                  <a:solidFill>
                    <a:srgbClr val="FFFFFF"/>
                  </a:solidFill>
                </a:uFill>
                <a:latin typeface="Calibri"/>
                <a:ea typeface="DejaVu Sans"/>
              </a:rPr>
              <a:t>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tin </a:t>
            </a:r>
            <a:r>
              <a:rPr lang="en-US" sz="3000" spc="-1" dirty="0" err="1">
                <a:solidFill>
                  <a:srgbClr val="000000"/>
                </a:solidFill>
                <a:uFill>
                  <a:solidFill>
                    <a:srgbClr val="FFFFFF"/>
                  </a:solidFill>
                </a:uFill>
                <a:latin typeface="Calibri"/>
                <a:ea typeface="DejaVu Sans"/>
              </a:rPr>
              <a:t>lịch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bệnh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án</a:t>
            </a:r>
            <a:r>
              <a:rPr lang="en-US" sz="3000" spc="-1" dirty="0">
                <a:solidFill>
                  <a:srgbClr val="000000"/>
                </a:solidFill>
                <a:uFill>
                  <a:solidFill>
                    <a:srgbClr val="FFFFFF"/>
                  </a:solidFill>
                </a:uFill>
                <a:latin typeface="Calibri"/>
                <a:ea typeface="DejaVu Sans"/>
              </a:rPr>
              <a:t>.</a:t>
            </a:r>
          </a:p>
          <a:p>
            <a:pPr marL="1440" algn="just">
              <a:lnSpc>
                <a:spcPct val="100000"/>
              </a:lnSpc>
              <a:spcBef>
                <a:spcPts val="601"/>
              </a:spcBef>
              <a:buClr>
                <a:srgbClr val="000000"/>
              </a:buClr>
            </a:pPr>
            <a:r>
              <a:rPr lang="en-US" sz="3000" b="1" spc="-1" dirty="0" err="1">
                <a:solidFill>
                  <a:srgbClr val="000000"/>
                </a:solidFill>
                <a:uFill>
                  <a:solidFill>
                    <a:srgbClr val="FFFFFF"/>
                  </a:solidFill>
                </a:uFill>
                <a:latin typeface="Calibri"/>
              </a:rPr>
              <a:t>Thông</a:t>
            </a:r>
            <a:r>
              <a:rPr lang="en-US" sz="3000" b="1" spc="-1" dirty="0">
                <a:solidFill>
                  <a:srgbClr val="000000"/>
                </a:solidFill>
                <a:uFill>
                  <a:solidFill>
                    <a:srgbClr val="FFFFFF"/>
                  </a:solidFill>
                </a:uFill>
                <a:latin typeface="Calibri"/>
              </a:rPr>
              <a:t> </a:t>
            </a:r>
            <a:r>
              <a:rPr lang="en-US" sz="3000" b="1" spc="-1" dirty="0" err="1">
                <a:solidFill>
                  <a:srgbClr val="000000"/>
                </a:solidFill>
                <a:uFill>
                  <a:solidFill>
                    <a:srgbClr val="FFFFFF"/>
                  </a:solidFill>
                </a:uFill>
                <a:latin typeface="Calibri"/>
              </a:rPr>
              <a:t>thường</a:t>
            </a:r>
            <a:r>
              <a:rPr lang="en-US" sz="3000" spc="-1" dirty="0">
                <a:solidFill>
                  <a:srgbClr val="000000"/>
                </a:solidFill>
                <a:uFill>
                  <a:solidFill>
                    <a:srgbClr val="FFFFFF"/>
                  </a:solidFill>
                </a:uFill>
                <a:latin typeface="Calibri"/>
              </a:rPr>
              <a:t>: Y </a:t>
            </a:r>
            <a:r>
              <a:rPr lang="en-US" sz="3000" spc="-1" dirty="0" err="1">
                <a:solidFill>
                  <a:srgbClr val="000000"/>
                </a:solidFill>
                <a:uFill>
                  <a:solidFill>
                    <a:srgbClr val="FFFFFF"/>
                  </a:solidFill>
                </a:uFill>
                <a:latin typeface="Calibri"/>
              </a:rPr>
              <a:t>tá</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tìm</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kiếm</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bệnh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nhân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dựa</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vào</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họ</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Nếu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có</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cùng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họ</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thì</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bệnh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nhân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được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xác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định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dựa</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vào</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và</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ngày</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sinh</a:t>
            </a:r>
            <a:r>
              <a:rPr lang="en-US" sz="3000" spc="-1" dirty="0">
                <a:solidFill>
                  <a:srgbClr val="000000"/>
                </a:solidFill>
                <a:uFill>
                  <a:solidFill>
                    <a:srgbClr val="FFFFFF"/>
                  </a:solidFill>
                </a:uFill>
                <a:latin typeface="Calibri"/>
              </a:rPr>
              <a:t>.</a:t>
            </a:r>
          </a:p>
          <a:p>
            <a:pPr marL="1440" algn="just">
              <a:lnSpc>
                <a:spcPct val="100000"/>
              </a:lnSpc>
              <a:spcBef>
                <a:spcPts val="601"/>
              </a:spcBef>
              <a:buClr>
                <a:srgbClr val="000000"/>
              </a:buClr>
            </a:pPr>
            <a:r>
              <a:rPr lang="en-US" sz="3000" spc="-1" dirty="0">
                <a:solidFill>
                  <a:srgbClr val="000000"/>
                </a:solidFill>
                <a:uFill>
                  <a:solidFill>
                    <a:srgbClr val="FFFFFF"/>
                  </a:solidFill>
                </a:uFill>
                <a:latin typeface="Calibri"/>
              </a:rPr>
              <a:t>Y </a:t>
            </a:r>
            <a:r>
              <a:rPr lang="en-US" sz="3000" spc="-1" dirty="0" err="1">
                <a:solidFill>
                  <a:srgbClr val="000000"/>
                </a:solidFill>
                <a:uFill>
                  <a:solidFill>
                    <a:srgbClr val="FFFFFF"/>
                  </a:solidFill>
                </a:uFill>
                <a:latin typeface="Calibri"/>
              </a:rPr>
              <a:t>tá</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chọn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chức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năng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cập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nhật</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lịch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sử</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bệnh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án</a:t>
            </a:r>
            <a:r>
              <a:rPr lang="en-US" sz="3000" spc="-1" dirty="0">
                <a:solidFill>
                  <a:srgbClr val="000000"/>
                </a:solidFill>
                <a:uFill>
                  <a:solidFill>
                    <a:srgbClr val="FFFFFF"/>
                  </a:solidFill>
                </a:uFill>
                <a:latin typeface="Calibri"/>
              </a:rPr>
              <a:t>.</a:t>
            </a:r>
          </a:p>
          <a:p>
            <a:pPr marL="1440" algn="just">
              <a:lnSpc>
                <a:spcPct val="100000"/>
              </a:lnSpc>
              <a:spcBef>
                <a:spcPts val="601"/>
              </a:spcBef>
              <a:buClr>
                <a:srgbClr val="000000"/>
              </a:buClr>
            </a:pPr>
            <a:r>
              <a:rPr lang="en-US" sz="3000" spc="-1" dirty="0">
                <a:solidFill>
                  <a:srgbClr val="000000"/>
                </a:solidFill>
                <a:uFill>
                  <a:solidFill>
                    <a:srgbClr val="FFFFFF"/>
                  </a:solidFill>
                </a:uFill>
                <a:latin typeface="Calibri"/>
              </a:rPr>
              <a:t>Y </a:t>
            </a:r>
            <a:r>
              <a:rPr lang="en-US" sz="3000" spc="-1" dirty="0" err="1">
                <a:solidFill>
                  <a:srgbClr val="000000"/>
                </a:solidFill>
                <a:uFill>
                  <a:solidFill>
                    <a:srgbClr val="FFFFFF"/>
                  </a:solidFill>
                </a:uFill>
                <a:latin typeface="Calibri"/>
              </a:rPr>
              <a:t>tá</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tương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với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hệ</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thống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để</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nhập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thông</a:t>
            </a:r>
            <a:r>
              <a:rPr lang="en-US" sz="3000" spc="-1" dirty="0">
                <a:solidFill>
                  <a:srgbClr val="000000"/>
                </a:solidFill>
                <a:uFill>
                  <a:solidFill>
                    <a:srgbClr val="FFFFFF"/>
                  </a:solidFill>
                </a:uFill>
                <a:latin typeface="Calibri"/>
              </a:rPr>
              <a:t> tin </a:t>
            </a:r>
            <a:r>
              <a:rPr lang="en-US" sz="3000" spc="-1" dirty="0" err="1">
                <a:solidFill>
                  <a:srgbClr val="000000"/>
                </a:solidFill>
                <a:uFill>
                  <a:solidFill>
                    <a:srgbClr val="FFFFFF"/>
                  </a:solidFill>
                </a:uFill>
                <a:latin typeface="Calibri"/>
              </a:rPr>
              <a:t>về</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lịch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sử</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bệnh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án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bao</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gồm</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kết</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luận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khám</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trước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đó</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về</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sức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khỏe</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nhập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văn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bản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tự</a:t>
            </a:r>
            <a:r>
              <a:rPr lang="en-US" sz="3000" spc="-1" dirty="0">
                <a:solidFill>
                  <a:srgbClr val="000000"/>
                </a:solidFill>
                <a:uFill>
                  <a:solidFill>
                    <a:srgbClr val="FFFFFF"/>
                  </a:solidFill>
                </a:uFill>
                <a:latin typeface="Calibri"/>
              </a:rPr>
              <a:t> do), </a:t>
            </a:r>
            <a:r>
              <a:rPr lang="en-US" sz="3000" spc="-1" dirty="0" err="1">
                <a:solidFill>
                  <a:srgbClr val="000000"/>
                </a:solidFill>
                <a:uFill>
                  <a:solidFill>
                    <a:srgbClr val="FFFFFF"/>
                  </a:solidFill>
                </a:uFill>
                <a:latin typeface="Calibri"/>
              </a:rPr>
              <a:t>điều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kiện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sức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khỏe</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hiện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thời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chọn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từ</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thực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đơn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đơn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thuốc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đang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dùng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chọn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từ</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thực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đơn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dị</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ứng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thuốc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nhập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văn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bản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tự</a:t>
            </a:r>
            <a:r>
              <a:rPr lang="en-US" sz="3000" spc="-1" dirty="0">
                <a:solidFill>
                  <a:srgbClr val="000000"/>
                </a:solidFill>
                <a:uFill>
                  <a:solidFill>
                    <a:srgbClr val="FFFFFF"/>
                  </a:solidFill>
                </a:uFill>
                <a:latin typeface="Calibri"/>
              </a:rPr>
              <a:t> do), </a:t>
            </a:r>
            <a:r>
              <a:rPr lang="en-US" sz="3000" spc="-1" dirty="0" err="1">
                <a:solidFill>
                  <a:srgbClr val="000000"/>
                </a:solidFill>
                <a:uFill>
                  <a:solidFill>
                    <a:srgbClr val="FFFFFF"/>
                  </a:solidFill>
                </a:uFill>
                <a:latin typeface="Calibri"/>
              </a:rPr>
              <a:t>và</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gia</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cảnh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nhập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theo</a:t>
            </a:r>
            <a:r>
              <a:rPr lang="en-US" sz="3000" spc="-1" dirty="0">
                <a:solidFill>
                  <a:srgbClr val="000000"/>
                </a:solidFill>
                <a:uFill>
                  <a:solidFill>
                    <a:srgbClr val="FFFFFF"/>
                  </a:solidFill>
                </a:uFill>
                <a:latin typeface="Calibri"/>
              </a:rPr>
              <a:t> form)</a:t>
            </a:r>
          </a:p>
        </p:txBody>
      </p:sp>
      <p:sp>
        <p:nvSpPr>
          <p:cNvPr id="115"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8BFEE477-B224-4C73-9B91-729DAE3A96F3}" type="slidenum">
              <a:rPr lang="en-US" sz="1100" b="0" strike="noStrike" spc="-1">
                <a:solidFill>
                  <a:srgbClr val="8B8B8B"/>
                </a:solidFill>
                <a:uFill>
                  <a:solidFill>
                    <a:srgbClr val="FFFFFF"/>
                  </a:solidFill>
                </a:uFill>
                <a:latin typeface="Calibri"/>
                <a:ea typeface="DejaVu Sans"/>
              </a:rPr>
              <a:t>15</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15</a:t>
            </a:fld>
            <a:endParaRPr lang="en-US"/>
          </a:p>
        </p:txBody>
      </p:sp>
    </p:spTree>
    <p:extLst>
      <p:ext uri="{BB962C8B-B14F-4D97-AF65-F5344CB8AC3E}">
        <p14:creationId xmlns:p14="http://schemas.microsoft.com/office/powerpoint/2010/main" val="41797598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1"/>
          <p:cNvSpPr/>
          <p:nvPr/>
        </p:nvSpPr>
        <p:spPr>
          <a:xfrm>
            <a:off x="274560" y="213480"/>
            <a:ext cx="854559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Ví</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dụ</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về</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thập</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dựa</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vào</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kịch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bản</a:t>
            </a:r>
            <a:r>
              <a:rPr lang="en-US" sz="4200" b="0" strike="noStrike" spc="-1" dirty="0">
                <a:solidFill>
                  <a:srgbClr val="0070C0"/>
                </a:solidFill>
                <a:uFill>
                  <a:solidFill>
                    <a:srgbClr val="FFFFFF"/>
                  </a:solidFill>
                </a:uFill>
                <a:latin typeface="Calibri"/>
                <a:ea typeface="DejaVu Sans"/>
              </a:rPr>
              <a:t> (2)</a:t>
            </a:r>
            <a:endParaRPr lang="en-US" sz="4200" b="0" strike="noStrike" spc="-1" dirty="0">
              <a:solidFill>
                <a:srgbClr val="000000"/>
              </a:solidFill>
              <a:uFill>
                <a:solidFill>
                  <a:srgbClr val="FFFFFF"/>
                </a:solidFill>
              </a:uFill>
              <a:latin typeface="Arial"/>
            </a:endParaRPr>
          </a:p>
        </p:txBody>
      </p:sp>
      <p:sp>
        <p:nvSpPr>
          <p:cNvPr id="114" name="CustomShape 2"/>
          <p:cNvSpPr/>
          <p:nvPr/>
        </p:nvSpPr>
        <p:spPr>
          <a:xfrm>
            <a:off x="209550" y="1453580"/>
            <a:ext cx="8763000" cy="52393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fontScale="85000" lnSpcReduction="20000"/>
          </a:bodyPr>
          <a:lstStyle/>
          <a:p>
            <a:pPr marL="1440" algn="just">
              <a:lnSpc>
                <a:spcPct val="100000"/>
              </a:lnSpc>
              <a:spcBef>
                <a:spcPts val="601"/>
              </a:spcBef>
              <a:buClr>
                <a:srgbClr val="000000"/>
              </a:buClr>
            </a:pPr>
            <a:r>
              <a:rPr lang="en-US" sz="3000" spc="-1" dirty="0" err="1">
                <a:solidFill>
                  <a:srgbClr val="000000"/>
                </a:solidFill>
                <a:uFill>
                  <a:solidFill>
                    <a:srgbClr val="FFFFFF"/>
                  </a:solidFill>
                </a:uFill>
                <a:latin typeface="Calibri"/>
              </a:rPr>
              <a:t>Hệ</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thống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quản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lý</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phòng</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khám</a:t>
            </a:r>
            <a:r>
              <a:rPr lang="en-US" sz="3000" spc="-1" dirty="0">
                <a:solidFill>
                  <a:srgbClr val="000000"/>
                </a:solidFill>
                <a:uFill>
                  <a:solidFill>
                    <a:srgbClr val="FFFFFF"/>
                  </a:solidFill>
                </a:uFill>
                <a:latin typeface="Calibri"/>
              </a:rPr>
              <a:t> - </a:t>
            </a:r>
            <a:r>
              <a:rPr lang="en-US" sz="3000" b="0" strike="noStrike" spc="-1" dirty="0" err="1">
                <a:solidFill>
                  <a:srgbClr val="000000"/>
                </a:solidFill>
                <a:uFill>
                  <a:solidFill>
                    <a:srgbClr val="FFFFFF"/>
                  </a:solidFill>
                </a:uFill>
                <a:latin typeface="Calibri"/>
                <a:ea typeface="DejaVu Sans"/>
              </a:rPr>
              <a:t>Cập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nhật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lịch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bệnh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án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tiếp</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1440" algn="just">
              <a:lnSpc>
                <a:spcPct val="100000"/>
              </a:lnSpc>
              <a:spcBef>
                <a:spcPts val="601"/>
              </a:spcBef>
              <a:buClr>
                <a:srgbClr val="000000"/>
              </a:buClr>
            </a:pPr>
            <a:r>
              <a:rPr lang="en-US" sz="3000" b="1" strike="noStrike" spc="-1" dirty="0" err="1">
                <a:solidFill>
                  <a:srgbClr val="000000"/>
                </a:solidFill>
                <a:uFill>
                  <a:solidFill>
                    <a:srgbClr val="FFFFFF"/>
                  </a:solidFill>
                </a:uFill>
                <a:latin typeface="Calibri"/>
                <a:ea typeface="DejaVu Sans"/>
              </a:rPr>
              <a:t>Bất</a:t>
            </a:r>
            <a:r>
              <a:rPr lang="en-US" sz="3000" b="1" strike="noStrike" spc="-1" dirty="0">
                <a:solidFill>
                  <a:srgbClr val="000000"/>
                </a:solidFill>
                <a:uFill>
                  <a:solidFill>
                    <a:srgbClr val="FFFFFF"/>
                  </a:solidFill>
                </a:uFill>
                <a:latin typeface="Calibri"/>
                <a:ea typeface="DejaVu Sans"/>
              </a:rPr>
              <a:t> </a:t>
            </a:r>
            <a:r>
              <a:rPr lang="en-US" sz="3000" b="1" strike="noStrike" spc="-1" dirty="0" err="1">
                <a:solidFill>
                  <a:srgbClr val="000000"/>
                </a:solidFill>
                <a:uFill>
                  <a:solidFill>
                    <a:srgbClr val="FFFFFF"/>
                  </a:solidFill>
                </a:uFill>
                <a:latin typeface="Calibri"/>
                <a:ea typeface="DejaVu Sans"/>
              </a:rPr>
              <a:t>thường</a:t>
            </a:r>
            <a:r>
              <a:rPr lang="en-US" sz="3000" strike="noStrike" spc="-1" dirty="0">
                <a:solidFill>
                  <a:srgbClr val="000000"/>
                </a:solidFill>
                <a:uFill>
                  <a:solidFill>
                    <a:srgbClr val="FFFFFF"/>
                  </a:solidFill>
                </a:uFill>
                <a:latin typeface="Calibri"/>
                <a:ea typeface="DejaVu Sans"/>
              </a:rPr>
              <a:t>: </a:t>
            </a:r>
            <a:r>
              <a:rPr lang="en-US" sz="3000" strike="noStrike" spc="-1" dirty="0" err="1">
                <a:solidFill>
                  <a:srgbClr val="000000"/>
                </a:solidFill>
                <a:uFill>
                  <a:solidFill>
                    <a:srgbClr val="FFFFFF"/>
                  </a:solidFill>
                </a:uFill>
                <a:latin typeface="Calibri"/>
                <a:ea typeface="DejaVu Sans"/>
              </a:rPr>
              <a:t>bệnh</a:t>
            </a:r>
            <a:r>
              <a:rPr lang="en-US" sz="3000" strike="noStrike" spc="-1" dirty="0">
                <a:solidFill>
                  <a:srgbClr val="000000"/>
                </a:solidFill>
                <a:uFill>
                  <a:solidFill>
                    <a:srgbClr val="FFFFFF"/>
                  </a:solidFill>
                </a:uFill>
                <a:latin typeface="Calibri"/>
                <a:ea typeface="DejaVu Sans"/>
              </a:rPr>
              <a:t> </a:t>
            </a:r>
            <a:r>
              <a:rPr lang="en-US" sz="3000" strike="noStrike" spc="-1" dirty="0" err="1">
                <a:solidFill>
                  <a:srgbClr val="000000"/>
                </a:solidFill>
                <a:uFill>
                  <a:solidFill>
                    <a:srgbClr val="FFFFFF"/>
                  </a:solidFill>
                </a:uFill>
                <a:latin typeface="Calibri"/>
                <a:ea typeface="DejaVu Sans"/>
              </a:rPr>
              <a:t>án</a:t>
            </a:r>
            <a:r>
              <a:rPr lang="en-US" sz="3000" strike="noStrike" spc="-1" dirty="0">
                <a:solidFill>
                  <a:srgbClr val="000000"/>
                </a:solidFill>
                <a:uFill>
                  <a:solidFill>
                    <a:srgbClr val="FFFFFF"/>
                  </a:solidFill>
                </a:uFill>
                <a:latin typeface="Calibri"/>
                <a:ea typeface="DejaVu Sans"/>
              </a:rPr>
              <a:t> </a:t>
            </a:r>
            <a:r>
              <a:rPr lang="en-US" sz="3000" strike="noStrike" spc="-1" dirty="0" err="1">
                <a:solidFill>
                  <a:srgbClr val="000000"/>
                </a:solidFill>
                <a:uFill>
                  <a:solidFill>
                    <a:srgbClr val="FFFFFF"/>
                  </a:solidFill>
                </a:uFill>
                <a:latin typeface="Calibri"/>
                <a:ea typeface="DejaVu Sans"/>
              </a:rPr>
              <a:t>của</a:t>
            </a:r>
            <a:r>
              <a:rPr lang="en-US" sz="300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bệnh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không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tồn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tại</a:t>
            </a:r>
            <a:r>
              <a:rPr lang="en-US" sz="3000" b="0" strike="noStrike" spc="-1" dirty="0">
                <a:solidFill>
                  <a:srgbClr val="000000"/>
                </a:solidFill>
                <a:uFill>
                  <a:solidFill>
                    <a:srgbClr val="FFFFFF"/>
                  </a:solidFill>
                </a:uFill>
                <a:latin typeface="Calibri"/>
                <a:ea typeface="DejaVu Sans"/>
              </a:rPr>
              <a:t>. </a:t>
            </a:r>
            <a:r>
              <a:rPr lang="en-US" sz="3000" spc="-1" dirty="0">
                <a:solidFill>
                  <a:srgbClr val="000000"/>
                </a:solidFill>
                <a:uFill>
                  <a:solidFill>
                    <a:srgbClr val="FFFFFF"/>
                  </a:solidFill>
                </a:uFill>
                <a:latin typeface="Calibri"/>
                <a:ea typeface="DejaVu Sans"/>
              </a:rPr>
              <a:t>Y </a:t>
            </a:r>
            <a:r>
              <a:rPr lang="en-US" sz="3000" spc="-1" dirty="0" err="1">
                <a:solidFill>
                  <a:srgbClr val="000000"/>
                </a:solidFill>
                <a:uFill>
                  <a:solidFill>
                    <a:srgbClr val="FFFFFF"/>
                  </a:solidFill>
                </a:uFill>
                <a:latin typeface="Calibri"/>
                <a:ea typeface="DejaVu Sans"/>
              </a:rPr>
              <a:t>tá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tạo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hồ</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mới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tin </a:t>
            </a:r>
            <a:r>
              <a:rPr lang="en-US" sz="3000" spc="-1" dirty="0" err="1">
                <a:solidFill>
                  <a:srgbClr val="000000"/>
                </a:solidFill>
                <a:uFill>
                  <a:solidFill>
                    <a:srgbClr val="FFFFFF"/>
                  </a:solidFill>
                </a:uFill>
                <a:latin typeface="Calibri"/>
                <a:ea typeface="DejaVu Sans"/>
              </a:rPr>
              <a:t>bệnh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nhân</a:t>
            </a:r>
            <a:r>
              <a:rPr lang="en-US" sz="3000" spc="-1" dirty="0">
                <a:solidFill>
                  <a:srgbClr val="000000"/>
                </a:solidFill>
                <a:uFill>
                  <a:solidFill>
                    <a:srgbClr val="FFFFFF"/>
                  </a:solidFill>
                </a:uFill>
                <a:latin typeface="Calibri"/>
                <a:ea typeface="DejaVu Sans"/>
              </a:rPr>
              <a:t>.</a:t>
            </a:r>
          </a:p>
          <a:p>
            <a:pPr marL="1440" algn="just">
              <a:lnSpc>
                <a:spcPct val="100000"/>
              </a:lnSpc>
              <a:spcBef>
                <a:spcPts val="601"/>
              </a:spcBef>
              <a:buClr>
                <a:srgbClr val="000000"/>
              </a:buClr>
            </a:pP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mục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về</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điều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kiện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sức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khỏe</a:t>
            </a:r>
            <a:r>
              <a:rPr lang="en-US" sz="3000" spc="-1" dirty="0">
                <a:solidFill>
                  <a:srgbClr val="000000"/>
                </a:solidFill>
                <a:uFill>
                  <a:solidFill>
                    <a:srgbClr val="FFFFFF"/>
                  </a:solidFill>
                </a:uFill>
                <a:latin typeface="Calibri"/>
                <a:ea typeface="DejaVu Sans"/>
              </a:rPr>
              <a:t> hay </a:t>
            </a:r>
            <a:r>
              <a:rPr lang="en-US" sz="3000" spc="-1" dirty="0" err="1">
                <a:solidFill>
                  <a:srgbClr val="000000"/>
                </a:solidFill>
                <a:uFill>
                  <a:solidFill>
                    <a:srgbClr val="FFFFFF"/>
                  </a:solidFill>
                </a:uFill>
                <a:latin typeface="Calibri"/>
                <a:ea typeface="DejaVu Sans"/>
              </a:rPr>
              <a:t>đơn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thuốc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hiện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thời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trong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danh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mục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chọn</a:t>
            </a:r>
            <a:r>
              <a:rPr lang="en-US" sz="3000" spc="-1" dirty="0">
                <a:solidFill>
                  <a:srgbClr val="000000"/>
                </a:solidFill>
                <a:uFill>
                  <a:solidFill>
                    <a:srgbClr val="FFFFFF"/>
                  </a:solidFill>
                </a:uFill>
                <a:latin typeface="Calibri"/>
                <a:ea typeface="DejaVu Sans"/>
              </a:rPr>
              <a:t>. Y </a:t>
            </a:r>
            <a:r>
              <a:rPr lang="en-US" sz="3000" spc="-1" dirty="0" err="1">
                <a:solidFill>
                  <a:srgbClr val="000000"/>
                </a:solidFill>
                <a:uFill>
                  <a:solidFill>
                    <a:srgbClr val="FFFFFF"/>
                  </a:solidFill>
                </a:uFill>
                <a:latin typeface="Calibri"/>
                <a:ea typeface="DejaVu Sans"/>
              </a:rPr>
              <a:t>tá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chọn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mục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dạng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văn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bản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mô</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tả</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tin. </a:t>
            </a:r>
          </a:p>
          <a:p>
            <a:pPr marL="1440" algn="just">
              <a:lnSpc>
                <a:spcPct val="100000"/>
              </a:lnSpc>
              <a:spcBef>
                <a:spcPts val="601"/>
              </a:spcBef>
              <a:buClr>
                <a:srgbClr val="000000"/>
              </a:buClr>
            </a:pPr>
            <a:r>
              <a:rPr lang="en-US" sz="3000" spc="-1" dirty="0" err="1">
                <a:solidFill>
                  <a:srgbClr val="000000"/>
                </a:solidFill>
                <a:uFill>
                  <a:solidFill>
                    <a:srgbClr val="FFFFFF"/>
                  </a:solidFill>
                </a:uFill>
                <a:latin typeface="Calibri"/>
                <a:ea typeface="DejaVu Sans"/>
              </a:rPr>
              <a:t>Bệnh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sẵn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lòng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hoặc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cung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cấp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tin </a:t>
            </a:r>
            <a:r>
              <a:rPr lang="en-US" sz="3000" spc="-1" dirty="0" err="1">
                <a:solidFill>
                  <a:srgbClr val="000000"/>
                </a:solidFill>
                <a:uFill>
                  <a:solidFill>
                    <a:srgbClr val="FFFFFF"/>
                  </a:solidFill>
                </a:uFill>
                <a:latin typeface="Calibri"/>
                <a:ea typeface="DejaVu Sans"/>
              </a:rPr>
              <a:t>về</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lịch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khám</a:t>
            </a:r>
            <a:r>
              <a:rPr lang="en-US" sz="3000" spc="-1" dirty="0">
                <a:solidFill>
                  <a:srgbClr val="000000"/>
                </a:solidFill>
                <a:uFill>
                  <a:solidFill>
                    <a:srgbClr val="FFFFFF"/>
                  </a:solidFill>
                </a:uFill>
                <a:latin typeface="Calibri"/>
                <a:ea typeface="DejaVu Sans"/>
              </a:rPr>
              <a:t>. Y </a:t>
            </a:r>
            <a:r>
              <a:rPr lang="en-US" sz="3000" spc="-1" dirty="0" err="1">
                <a:solidFill>
                  <a:srgbClr val="000000"/>
                </a:solidFill>
                <a:uFill>
                  <a:solidFill>
                    <a:srgbClr val="FFFFFF"/>
                  </a:solidFill>
                </a:uFill>
                <a:latin typeface="Calibri"/>
                <a:ea typeface="DejaVu Sans"/>
              </a:rPr>
              <a:t>tá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tin </a:t>
            </a:r>
            <a:r>
              <a:rPr lang="en-US" sz="3000" spc="-1" dirty="0" err="1">
                <a:solidFill>
                  <a:srgbClr val="000000"/>
                </a:solidFill>
                <a:uFill>
                  <a:solidFill>
                    <a:srgbClr val="FFFFFF"/>
                  </a:solidFill>
                </a:uFill>
                <a:latin typeface="Calibri"/>
                <a:ea typeface="DejaVu Sans"/>
              </a:rPr>
              <a:t>về</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việc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bệnh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sẵn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lòng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hoặc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cung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cấp</a:t>
            </a:r>
            <a:r>
              <a:rPr lang="en-US" sz="3000" spc="-1" dirty="0">
                <a:solidFill>
                  <a:srgbClr val="000000"/>
                </a:solidFill>
                <a:uFill>
                  <a:solidFill>
                    <a:srgbClr val="FFFFFF"/>
                  </a:solidFill>
                </a:uFill>
                <a:latin typeface="Calibri"/>
                <a:ea typeface="DejaVu Sans"/>
              </a:rPr>
              <a:t> tin. </a:t>
            </a:r>
            <a:r>
              <a:rPr lang="en-US" sz="3000" spc="-1" dirty="0" err="1">
                <a:solidFill>
                  <a:srgbClr val="000000"/>
                </a:solidFill>
                <a:uFill>
                  <a:solidFill>
                    <a:srgbClr val="FFFFFF"/>
                  </a:solidFill>
                </a:uFill>
                <a:latin typeface="Calibri"/>
                <a:ea typeface="DejaVu Sans"/>
              </a:rPr>
              <a:t>Hệ</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xuất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ra</a:t>
            </a:r>
            <a:r>
              <a:rPr lang="en-US" sz="3000" spc="-1" dirty="0">
                <a:solidFill>
                  <a:srgbClr val="000000"/>
                </a:solidFill>
                <a:uFill>
                  <a:solidFill>
                    <a:srgbClr val="FFFFFF"/>
                  </a:solidFill>
                </a:uFill>
                <a:latin typeface="Calibri"/>
                <a:ea typeface="DejaVu Sans"/>
              </a:rPr>
              <a:t> form </a:t>
            </a:r>
            <a:r>
              <a:rPr lang="en-US" sz="3000" spc="-1" dirty="0" err="1">
                <a:solidFill>
                  <a:srgbClr val="000000"/>
                </a:solidFill>
                <a:uFill>
                  <a:solidFill>
                    <a:srgbClr val="FFFFFF"/>
                  </a:solidFill>
                </a:uFill>
                <a:latin typeface="Calibri"/>
                <a:ea typeface="DejaVu Sans"/>
              </a:rPr>
              <a:t>để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bệnh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ký</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xác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việc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này</a:t>
            </a:r>
            <a:r>
              <a:rPr lang="en-US" sz="3000" spc="-1" dirty="0">
                <a:solidFill>
                  <a:srgbClr val="000000"/>
                </a:solidFill>
                <a:uFill>
                  <a:solidFill>
                    <a:srgbClr val="FFFFFF"/>
                  </a:solidFill>
                </a:uFill>
                <a:latin typeface="Calibri"/>
                <a:ea typeface="DejaVu Sans"/>
              </a:rPr>
              <a:t>.</a:t>
            </a:r>
          </a:p>
          <a:p>
            <a:pPr marL="1440" algn="just">
              <a:lnSpc>
                <a:spcPct val="100000"/>
              </a:lnSpc>
              <a:spcBef>
                <a:spcPts val="601"/>
              </a:spcBef>
              <a:buClr>
                <a:srgbClr val="000000"/>
              </a:buClr>
            </a:pPr>
            <a:r>
              <a:rPr lang="en-US" sz="3000" b="1" spc="-1" dirty="0" err="1">
                <a:solidFill>
                  <a:srgbClr val="000000"/>
                </a:solidFill>
                <a:uFill>
                  <a:solidFill>
                    <a:srgbClr val="FFFFFF"/>
                  </a:solidFill>
                </a:uFill>
                <a:latin typeface="Calibri"/>
                <a:ea typeface="DejaVu Sans"/>
              </a:rPr>
              <a:t>Các</a:t>
            </a:r>
            <a:r>
              <a:rPr lang="en-US" sz="3000" b="1" spc="-1" dirty="0">
                <a:solidFill>
                  <a:srgbClr val="000000"/>
                </a:solidFill>
                <a:uFill>
                  <a:solidFill>
                    <a:srgbClr val="FFFFFF"/>
                  </a:solidFill>
                </a:uFill>
                <a:latin typeface="Calibri"/>
                <a:ea typeface="DejaVu Sans"/>
              </a:rPr>
              <a:t> </a:t>
            </a:r>
            <a:r>
              <a:rPr lang="en-US" sz="3000" b="1" spc="-1" dirty="0" err="1">
                <a:solidFill>
                  <a:srgbClr val="000000"/>
                </a:solidFill>
                <a:uFill>
                  <a:solidFill>
                    <a:srgbClr val="FFFFFF"/>
                  </a:solidFill>
                </a:uFill>
                <a:latin typeface="Calibri"/>
                <a:ea typeface="DejaVu Sans"/>
              </a:rPr>
              <a:t>hoạt</a:t>
            </a:r>
            <a:r>
              <a:rPr lang="en-US" sz="3000" b="1" spc="-1" dirty="0">
                <a:solidFill>
                  <a:srgbClr val="000000"/>
                </a:solidFill>
                <a:uFill>
                  <a:solidFill>
                    <a:srgbClr val="FFFFFF"/>
                  </a:solidFill>
                </a:uFill>
                <a:latin typeface="Calibri"/>
                <a:ea typeface="DejaVu Sans"/>
              </a:rPr>
              <a:t> </a:t>
            </a:r>
            <a:r>
              <a:rPr lang="en-US" sz="3000" b="1" spc="-1" dirty="0" err="1">
                <a:solidFill>
                  <a:srgbClr val="000000"/>
                </a:solidFill>
                <a:uFill>
                  <a:solidFill>
                    <a:srgbClr val="FFFFFF"/>
                  </a:solidFill>
                </a:uFill>
                <a:latin typeface="Calibri"/>
                <a:ea typeface="DejaVu Sans"/>
              </a:rPr>
              <a:t>động</a:t>
            </a:r>
            <a:r>
              <a:rPr lang="en-US" sz="3000" b="1" spc="-1" dirty="0">
                <a:solidFill>
                  <a:srgbClr val="000000"/>
                </a:solidFill>
                <a:uFill>
                  <a:solidFill>
                    <a:srgbClr val="FFFFFF"/>
                  </a:solidFill>
                </a:uFill>
                <a:latin typeface="Calibri"/>
                <a:ea typeface="DejaVu Sans"/>
              </a:rPr>
              <a:t> </a:t>
            </a:r>
            <a:r>
              <a:rPr lang="en-US" sz="3000" b="1" spc="-1" dirty="0" err="1">
                <a:solidFill>
                  <a:srgbClr val="000000"/>
                </a:solidFill>
                <a:uFill>
                  <a:solidFill>
                    <a:srgbClr val="FFFFFF"/>
                  </a:solidFill>
                </a:uFill>
                <a:latin typeface="Calibri"/>
                <a:ea typeface="DejaVu Sans"/>
              </a:rPr>
              <a:t>khác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Hồ</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xem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nhưng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bởi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viên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trong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trình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liệu</a:t>
            </a:r>
            <a:r>
              <a:rPr lang="en-US" sz="3000" spc="-1" dirty="0">
                <a:solidFill>
                  <a:srgbClr val="000000"/>
                </a:solidFill>
                <a:uFill>
                  <a:solidFill>
                    <a:srgbClr val="FFFFFF"/>
                  </a:solidFill>
                </a:uFill>
                <a:latin typeface="Calibri"/>
                <a:ea typeface="DejaVu Sans"/>
              </a:rPr>
              <a:t>.</a:t>
            </a:r>
          </a:p>
          <a:p>
            <a:pPr marL="1440" algn="just">
              <a:lnSpc>
                <a:spcPct val="100000"/>
              </a:lnSpc>
              <a:spcBef>
                <a:spcPts val="601"/>
              </a:spcBef>
              <a:buClr>
                <a:srgbClr val="000000"/>
              </a:buClr>
            </a:pPr>
            <a:r>
              <a:rPr lang="en-US" sz="3000" b="1" spc="-1" dirty="0" err="1">
                <a:solidFill>
                  <a:srgbClr val="000000"/>
                </a:solidFill>
                <a:uFill>
                  <a:solidFill>
                    <a:srgbClr val="FFFFFF"/>
                  </a:solidFill>
                </a:uFill>
                <a:latin typeface="Calibri"/>
                <a:ea typeface="DejaVu Sans"/>
              </a:rPr>
              <a:t>Trạng</a:t>
            </a:r>
            <a:r>
              <a:rPr lang="en-US" sz="3000" b="1" spc="-1" dirty="0">
                <a:solidFill>
                  <a:srgbClr val="000000"/>
                </a:solidFill>
                <a:uFill>
                  <a:solidFill>
                    <a:srgbClr val="FFFFFF"/>
                  </a:solidFill>
                </a:uFill>
                <a:latin typeface="Calibri"/>
                <a:ea typeface="DejaVu Sans"/>
              </a:rPr>
              <a:t> </a:t>
            </a:r>
            <a:r>
              <a:rPr lang="en-US" sz="3000" b="1" spc="-1" dirty="0" err="1">
                <a:solidFill>
                  <a:srgbClr val="000000"/>
                </a:solidFill>
                <a:uFill>
                  <a:solidFill>
                    <a:srgbClr val="FFFFFF"/>
                  </a:solidFill>
                </a:uFill>
                <a:latin typeface="Calibri"/>
                <a:ea typeface="DejaVu Sans"/>
              </a:rPr>
              <a:t>thái</a:t>
            </a:r>
            <a:r>
              <a:rPr lang="en-US" sz="3000" b="1" spc="-1" dirty="0">
                <a:solidFill>
                  <a:srgbClr val="000000"/>
                </a:solidFill>
                <a:uFill>
                  <a:solidFill>
                    <a:srgbClr val="FFFFFF"/>
                  </a:solidFill>
                </a:uFill>
                <a:latin typeface="Calibri"/>
                <a:ea typeface="DejaVu Sans"/>
              </a:rPr>
              <a:t> </a:t>
            </a:r>
            <a:r>
              <a:rPr lang="en-US" sz="3000" b="1" spc="-1" dirty="0" err="1">
                <a:solidFill>
                  <a:srgbClr val="000000"/>
                </a:solidFill>
                <a:uFill>
                  <a:solidFill>
                    <a:srgbClr val="FFFFFF"/>
                  </a:solidFill>
                </a:uFill>
                <a:latin typeface="Calibri"/>
                <a:ea typeface="DejaVu Sans"/>
              </a:rPr>
              <a:t>kết</a:t>
            </a:r>
            <a:r>
              <a:rPr lang="en-US" sz="3000" b="1" spc="-1" dirty="0">
                <a:solidFill>
                  <a:srgbClr val="000000"/>
                </a:solidFill>
                <a:uFill>
                  <a:solidFill>
                    <a:srgbClr val="FFFFFF"/>
                  </a:solidFill>
                </a:uFill>
                <a:latin typeface="Calibri"/>
                <a:ea typeface="DejaVu Sans"/>
              </a:rPr>
              <a:t> </a:t>
            </a:r>
            <a:r>
              <a:rPr lang="en-US" sz="3000" b="1" spc="-1" dirty="0" err="1">
                <a:solidFill>
                  <a:srgbClr val="000000"/>
                </a:solidFill>
                <a:uFill>
                  <a:solidFill>
                    <a:srgbClr val="FFFFFF"/>
                  </a:solidFill>
                </a:uFill>
                <a:latin typeface="Calibri"/>
                <a:ea typeface="DejaVu Sans"/>
              </a:rPr>
              <a:t>thúc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Hồ</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bệnh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về</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lịch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Hệ</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thống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lưu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ký</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về</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thời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gian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bắt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kết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thúc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liệu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thông</a:t>
            </a:r>
            <a:r>
              <a:rPr lang="en-US" sz="3000" spc="-1" dirty="0">
                <a:solidFill>
                  <a:srgbClr val="000000"/>
                </a:solidFill>
                <a:uFill>
                  <a:solidFill>
                    <a:srgbClr val="FFFFFF"/>
                  </a:solidFill>
                </a:uFill>
                <a:latin typeface="Calibri"/>
                <a:ea typeface="DejaVu Sans"/>
              </a:rPr>
              <a:t> tin </a:t>
            </a:r>
            <a:r>
              <a:rPr lang="en-US" sz="3000" spc="-1" dirty="0" err="1">
                <a:solidFill>
                  <a:srgbClr val="000000"/>
                </a:solidFill>
                <a:uFill>
                  <a:solidFill>
                    <a:srgbClr val="FFFFFF"/>
                  </a:solidFill>
                </a:uFill>
                <a:latin typeface="Calibri"/>
                <a:ea typeface="DejaVu Sans"/>
              </a:rPr>
              <a:t>về</a:t>
            </a:r>
            <a:r>
              <a:rPr lang="en-US" sz="3000" spc="-1" dirty="0">
                <a:solidFill>
                  <a:srgbClr val="000000"/>
                </a:solidFill>
                <a:uFill>
                  <a:solidFill>
                    <a:srgbClr val="FFFFFF"/>
                  </a:solidFill>
                </a:uFill>
                <a:latin typeface="Calibri"/>
                <a:ea typeface="DejaVu Sans"/>
              </a:rPr>
              <a:t> y </a:t>
            </a:r>
            <a:r>
              <a:rPr lang="en-US" sz="3000" spc="-1" dirty="0" err="1">
                <a:solidFill>
                  <a:srgbClr val="000000"/>
                </a:solidFill>
                <a:uFill>
                  <a:solidFill>
                    <a:srgbClr val="FFFFFF"/>
                  </a:solidFill>
                </a:uFill>
                <a:latin typeface="Calibri"/>
                <a:ea typeface="DejaVu Sans"/>
              </a:rPr>
              <a:t>tá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liệu</a:t>
            </a:r>
            <a:r>
              <a:rPr lang="en-US" sz="3000" spc="-1" dirty="0">
                <a:solidFill>
                  <a:srgbClr val="000000"/>
                </a:solidFill>
                <a:uFill>
                  <a:solidFill>
                    <a:srgbClr val="FFFFFF"/>
                  </a:solidFill>
                </a:uFill>
                <a:latin typeface="Calibri"/>
                <a:ea typeface="DejaVu Sans"/>
              </a:rPr>
              <a:t>.</a:t>
            </a:r>
          </a:p>
        </p:txBody>
      </p:sp>
      <p:sp>
        <p:nvSpPr>
          <p:cNvPr id="115"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8BFEE477-B224-4C73-9B91-729DAE3A96F3}" type="slidenum">
              <a:rPr lang="en-US" sz="1100" b="0" strike="noStrike" spc="-1">
                <a:solidFill>
                  <a:srgbClr val="8B8B8B"/>
                </a:solidFill>
                <a:uFill>
                  <a:solidFill>
                    <a:srgbClr val="FFFFFF"/>
                  </a:solidFill>
                </a:uFill>
                <a:latin typeface="Calibri"/>
                <a:ea typeface="DejaVu Sans"/>
              </a:rPr>
              <a:t>16</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16</a:t>
            </a:fld>
            <a:endParaRPr lang="en-US"/>
          </a:p>
        </p:txBody>
      </p:sp>
    </p:spTree>
    <p:extLst>
      <p:ext uri="{BB962C8B-B14F-4D97-AF65-F5344CB8AC3E}">
        <p14:creationId xmlns:p14="http://schemas.microsoft.com/office/powerpoint/2010/main" val="202626878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Kỹ thuật ca sử dụng</a:t>
            </a:r>
            <a:endParaRPr lang="en-US" sz="4200" b="0" strike="noStrike" spc="-1">
              <a:solidFill>
                <a:srgbClr val="000000"/>
              </a:solidFill>
              <a:uFill>
                <a:solidFill>
                  <a:srgbClr val="FFFFFF"/>
                </a:solidFill>
              </a:uFill>
              <a:latin typeface="Arial"/>
            </a:endParaRPr>
          </a:p>
        </p:txBody>
      </p:sp>
      <p:sp>
        <p:nvSpPr>
          <p:cNvPr id="117"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Là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một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thuật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dựa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kịch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bản</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năng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của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từ</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góc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nhìn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của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dùng</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tương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giữa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Có</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bổ</a:t>
            </a:r>
            <a:r>
              <a:rPr lang="en-US" sz="3000" b="0" strike="noStrike" spc="-1" dirty="0">
                <a:solidFill>
                  <a:srgbClr val="000000"/>
                </a:solidFill>
                <a:uFill>
                  <a:solidFill>
                    <a:srgbClr val="FFFFFF"/>
                  </a:solidFill>
                </a:uFill>
                <a:latin typeface="Calibri"/>
                <a:ea typeface="DejaVu Sans"/>
              </a:rPr>
              <a:t> sung </a:t>
            </a:r>
            <a:r>
              <a:rPr lang="en-US" sz="3000" b="0" strike="noStrike" spc="-1" dirty="0" err="1">
                <a:solidFill>
                  <a:srgbClr val="000000"/>
                </a:solidFill>
                <a:uFill>
                  <a:solidFill>
                    <a:srgbClr val="FFFFFF"/>
                  </a:solidFill>
                </a:uFill>
                <a:latin typeface="Calibri"/>
                <a:ea typeface="DejaVu Sans"/>
              </a:rPr>
              <a:t>bằng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biểu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đồ</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hoạt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tuần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tự</a:t>
            </a:r>
            <a:r>
              <a:rPr lang="en-US" sz="3000" b="0" strike="noStrike" spc="-1" dirty="0">
                <a:solidFill>
                  <a:srgbClr val="000000"/>
                </a:solidFill>
                <a:uFill>
                  <a:solidFill>
                    <a:srgbClr val="FFFFFF"/>
                  </a:solidFill>
                </a:uFill>
                <a:latin typeface="Calibri"/>
                <a:ea typeface="DejaVu Sans"/>
              </a:rPr>
              <a:t>, ...</a:t>
            </a:r>
            <a:endParaRPr lang="en-US" sz="3000" b="0" strike="noStrike" spc="-1" dirty="0">
              <a:solidFill>
                <a:srgbClr val="000000"/>
              </a:solidFill>
              <a:uFill>
                <a:solidFill>
                  <a:srgbClr val="FFFFFF"/>
                </a:solidFill>
              </a:uFill>
              <a:latin typeface="Arial"/>
            </a:endParaRPr>
          </a:p>
        </p:txBody>
      </p:sp>
      <p:sp>
        <p:nvSpPr>
          <p:cNvPr id="118"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0E4C338D-FE7E-4DAF-B5B8-DF777FF18D10}" type="slidenum">
              <a:rPr lang="en-US" sz="1100" b="0" strike="noStrike" spc="-1">
                <a:solidFill>
                  <a:srgbClr val="8B8B8B"/>
                </a:solidFill>
                <a:uFill>
                  <a:solidFill>
                    <a:srgbClr val="FFFFFF"/>
                  </a:solidFill>
                </a:uFill>
                <a:latin typeface="Calibri"/>
                <a:ea typeface="DejaVu Sans"/>
              </a:rPr>
              <a:t>17</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17</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Ví</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dụ</a:t>
            </a:r>
            <a:r>
              <a:rPr lang="en-US" sz="4200" b="0" strike="noStrike" spc="-1" dirty="0">
                <a:solidFill>
                  <a:srgbClr val="0070C0"/>
                </a:solidFill>
                <a:uFill>
                  <a:solidFill>
                    <a:srgbClr val="FFFFFF"/>
                  </a:solidFill>
                </a:uFill>
                <a:latin typeface="Calibri"/>
                <a:ea typeface="DejaVu Sans"/>
              </a:rPr>
              <a:t> </a:t>
            </a:r>
            <a:r>
              <a:rPr lang="en-US" sz="4200" spc="-1" dirty="0" err="1">
                <a:solidFill>
                  <a:srgbClr val="0070C0"/>
                </a:solidFill>
                <a:uFill>
                  <a:solidFill>
                    <a:srgbClr val="FFFFFF"/>
                  </a:solidFill>
                </a:uFill>
                <a:latin typeface="Calibri"/>
                <a:ea typeface="DejaVu Sans"/>
              </a:rPr>
              <a:t>về</a:t>
            </a:r>
            <a:r>
              <a:rPr lang="en-US" sz="4200" spc="-1" dirty="0">
                <a:solidFill>
                  <a:srgbClr val="0070C0"/>
                </a:solidFill>
                <a:uFill>
                  <a:solidFill>
                    <a:srgbClr val="FFFFFF"/>
                  </a:solidFill>
                </a:uFill>
                <a:latin typeface="Calibri"/>
                <a:ea typeface="DejaVu Sans"/>
              </a:rPr>
              <a:t> </a:t>
            </a:r>
            <a:r>
              <a:rPr lang="en-US" sz="4200" spc="-1" dirty="0" err="1">
                <a:solidFill>
                  <a:srgbClr val="0070C0"/>
                </a:solidFill>
                <a:uFill>
                  <a:solidFill>
                    <a:srgbClr val="FFFFFF"/>
                  </a:solidFill>
                </a:uFill>
                <a:latin typeface="Calibri"/>
                <a:ea typeface="DejaVu Sans"/>
              </a:rPr>
              <a:t>mô</a:t>
            </a:r>
            <a:r>
              <a:rPr lang="en-US" sz="4200" spc="-1" dirty="0">
                <a:solidFill>
                  <a:srgbClr val="0070C0"/>
                </a:solidFill>
                <a:uFill>
                  <a:solidFill>
                    <a:srgbClr val="FFFFFF"/>
                  </a:solidFill>
                </a:uFill>
                <a:latin typeface="Calibri"/>
                <a:ea typeface="DejaVu Sans"/>
              </a:rPr>
              <a:t> </a:t>
            </a:r>
            <a:r>
              <a:rPr lang="en-US" sz="4200" spc="-1" dirty="0" err="1">
                <a:solidFill>
                  <a:srgbClr val="0070C0"/>
                </a:solidFill>
                <a:uFill>
                  <a:solidFill>
                    <a:srgbClr val="FFFFFF"/>
                  </a:solidFill>
                </a:uFill>
                <a:latin typeface="Calibri"/>
                <a:ea typeface="DejaVu Sans"/>
              </a:rPr>
              <a:t>hình</a:t>
            </a:r>
            <a:r>
              <a:rPr lang="en-US" sz="4200"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ca</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sử</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dụng</a:t>
            </a:r>
            <a:endParaRPr lang="en-US" sz="4200" b="0" strike="noStrike" spc="-1" dirty="0">
              <a:solidFill>
                <a:srgbClr val="000000"/>
              </a:solidFill>
              <a:uFill>
                <a:solidFill>
                  <a:srgbClr val="FFFFFF"/>
                </a:solidFill>
              </a:uFill>
              <a:latin typeface="Arial"/>
            </a:endParaRPr>
          </a:p>
        </p:txBody>
      </p:sp>
      <p:sp>
        <p:nvSpPr>
          <p:cNvPr id="117" name="CustomShape 2"/>
          <p:cNvSpPr/>
          <p:nvPr/>
        </p:nvSpPr>
        <p:spPr>
          <a:xfrm>
            <a:off x="245850" y="1435100"/>
            <a:ext cx="865050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1440">
              <a:lnSpc>
                <a:spcPct val="100000"/>
              </a:lnSpc>
              <a:spcBef>
                <a:spcPts val="601"/>
              </a:spcBef>
              <a:buClr>
                <a:srgbClr val="000000"/>
              </a:buClr>
            </a:pP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của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phòng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khám</a:t>
            </a:r>
            <a:endParaRPr lang="en-US" sz="3000" b="0" strike="noStrike" spc="-1" dirty="0">
              <a:solidFill>
                <a:srgbClr val="000000"/>
              </a:solidFill>
              <a:uFill>
                <a:solidFill>
                  <a:srgbClr val="FFFFFF"/>
                </a:solidFill>
              </a:uFill>
              <a:latin typeface="Arial"/>
            </a:endParaRPr>
          </a:p>
        </p:txBody>
      </p:sp>
      <p:sp>
        <p:nvSpPr>
          <p:cNvPr id="118"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0E4C338D-FE7E-4DAF-B5B8-DF777FF18D10}" type="slidenum">
              <a:rPr lang="en-US" sz="1100" b="0" strike="noStrike" spc="-1">
                <a:solidFill>
                  <a:srgbClr val="8B8B8B"/>
                </a:solidFill>
                <a:uFill>
                  <a:solidFill>
                    <a:srgbClr val="FFFFFF"/>
                  </a:solidFill>
                </a:uFill>
                <a:latin typeface="Calibri"/>
                <a:ea typeface="DejaVu Sans"/>
              </a:rPr>
              <a:t>18</a:t>
            </a:fld>
            <a:endParaRPr lang="en-US" sz="1100" b="0" strike="noStrike" spc="-1">
              <a:solidFill>
                <a:srgbClr val="000000"/>
              </a:solidFill>
              <a:uFill>
                <a:solidFill>
                  <a:srgbClr val="FFFFFF"/>
                </a:solidFill>
              </a:uFill>
              <a:latin typeface="Arial"/>
            </a:endParaRPr>
          </a:p>
        </p:txBody>
      </p:sp>
      <p:grpSp>
        <p:nvGrpSpPr>
          <p:cNvPr id="3" name="Group 2"/>
          <p:cNvGrpSpPr/>
          <p:nvPr/>
        </p:nvGrpSpPr>
        <p:grpSpPr>
          <a:xfrm>
            <a:off x="751050" y="2177645"/>
            <a:ext cx="7391400" cy="4421620"/>
            <a:chOff x="361950" y="2273300"/>
            <a:chExt cx="7031758" cy="4168527"/>
          </a:xfrm>
        </p:grpSpPr>
        <p:pic>
          <p:nvPicPr>
            <p:cNvPr id="5" name="Picture 4" descr="4.15 UseCase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61950" y="2273300"/>
              <a:ext cx="7031758" cy="4168527"/>
            </a:xfrm>
            <a:prstGeom prst="rect">
              <a:avLst/>
            </a:prstGeom>
          </p:spPr>
        </p:pic>
        <p:sp>
          <p:nvSpPr>
            <p:cNvPr id="2" name="TextBox 1"/>
            <p:cNvSpPr txBox="1"/>
            <p:nvPr/>
          </p:nvSpPr>
          <p:spPr>
            <a:xfrm>
              <a:off x="590550" y="3573856"/>
              <a:ext cx="995785" cy="338554"/>
            </a:xfrm>
            <a:prstGeom prst="rect">
              <a:avLst/>
            </a:prstGeom>
            <a:noFill/>
          </p:spPr>
          <p:txBody>
            <a:bodyPr wrap="none" rtlCol="0">
              <a:spAutoFit/>
            </a:bodyPr>
            <a:lstStyle/>
            <a:p>
              <a:r>
                <a:rPr lang="en-US" sz="1600" dirty="0"/>
                <a:t>(</a:t>
              </a:r>
              <a:r>
                <a:rPr lang="en-US" sz="1600" dirty="0" err="1"/>
                <a:t>tiếp</a:t>
              </a:r>
              <a:r>
                <a:rPr lang="en-US" sz="1600" dirty="0"/>
                <a:t> </a:t>
              </a:r>
              <a:r>
                <a:rPr lang="en-US" sz="1600" dirty="0" err="1"/>
                <a:t>tân</a:t>
              </a:r>
              <a:r>
                <a:rPr lang="en-US" sz="1600" dirty="0"/>
                <a:t>)</a:t>
              </a:r>
            </a:p>
          </p:txBody>
        </p:sp>
        <p:sp>
          <p:nvSpPr>
            <p:cNvPr id="8" name="TextBox 7"/>
            <p:cNvSpPr txBox="1"/>
            <p:nvPr/>
          </p:nvSpPr>
          <p:spPr>
            <a:xfrm>
              <a:off x="831149" y="4984366"/>
              <a:ext cx="654346" cy="338554"/>
            </a:xfrm>
            <a:prstGeom prst="rect">
              <a:avLst/>
            </a:prstGeom>
            <a:noFill/>
          </p:spPr>
          <p:txBody>
            <a:bodyPr wrap="none" rtlCol="0">
              <a:spAutoFit/>
            </a:bodyPr>
            <a:lstStyle/>
            <a:p>
              <a:r>
                <a:rPr lang="en-US" sz="1600" dirty="0"/>
                <a:t>(y </a:t>
              </a:r>
              <a:r>
                <a:rPr lang="en-US" sz="1600" dirty="0" err="1"/>
                <a:t>tá</a:t>
              </a:r>
              <a:r>
                <a:rPr lang="en-US" sz="1600" dirty="0"/>
                <a:t>)</a:t>
              </a:r>
            </a:p>
          </p:txBody>
        </p:sp>
        <p:sp>
          <p:nvSpPr>
            <p:cNvPr id="9" name="TextBox 8"/>
            <p:cNvSpPr txBox="1"/>
            <p:nvPr/>
          </p:nvSpPr>
          <p:spPr>
            <a:xfrm>
              <a:off x="4807024" y="3340100"/>
              <a:ext cx="982961" cy="338554"/>
            </a:xfrm>
            <a:prstGeom prst="rect">
              <a:avLst/>
            </a:prstGeom>
            <a:noFill/>
          </p:spPr>
          <p:txBody>
            <a:bodyPr wrap="none" rtlCol="0">
              <a:spAutoFit/>
            </a:bodyPr>
            <a:lstStyle/>
            <a:p>
              <a:r>
                <a:rPr lang="en-US" sz="1600" dirty="0"/>
                <a:t>(</a:t>
              </a:r>
              <a:r>
                <a:rPr lang="en-US" sz="1600" dirty="0" err="1"/>
                <a:t>quản</a:t>
              </a:r>
              <a:r>
                <a:rPr lang="en-US" sz="1600" dirty="0"/>
                <a:t> </a:t>
              </a:r>
              <a:r>
                <a:rPr lang="en-US" sz="1600" dirty="0" err="1"/>
                <a:t>lý</a:t>
              </a:r>
              <a:r>
                <a:rPr lang="en-US" sz="1600" dirty="0"/>
                <a:t>)</a:t>
              </a:r>
            </a:p>
          </p:txBody>
        </p:sp>
        <p:sp>
          <p:nvSpPr>
            <p:cNvPr id="10" name="TextBox 9"/>
            <p:cNvSpPr txBox="1"/>
            <p:nvPr/>
          </p:nvSpPr>
          <p:spPr>
            <a:xfrm>
              <a:off x="4844654" y="5131610"/>
              <a:ext cx="870751" cy="338554"/>
            </a:xfrm>
            <a:prstGeom prst="rect">
              <a:avLst/>
            </a:prstGeom>
            <a:noFill/>
          </p:spPr>
          <p:txBody>
            <a:bodyPr wrap="none" rtlCol="0">
              <a:spAutoFit/>
            </a:bodyPr>
            <a:lstStyle/>
            <a:p>
              <a:r>
                <a:rPr lang="en-US" sz="1600" dirty="0"/>
                <a:t>(</a:t>
              </a:r>
              <a:r>
                <a:rPr lang="en-US" sz="1600" dirty="0" err="1"/>
                <a:t>bác</a:t>
              </a:r>
              <a:r>
                <a:rPr lang="en-US" sz="1600" dirty="0"/>
                <a:t> </a:t>
              </a:r>
              <a:r>
                <a:rPr lang="en-US" sz="1600" dirty="0" err="1"/>
                <a:t>sĩ</a:t>
              </a:r>
              <a:r>
                <a:rPr lang="en-US" sz="1600" dirty="0"/>
                <a:t>)</a:t>
              </a:r>
            </a:p>
          </p:txBody>
        </p:sp>
      </p:gr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p>
            <a:pPr>
              <a:defRPr/>
            </a:pPr>
            <a:fld id="{DD031BC6-5C94-4CD4-B195-0CCA50D36433}" type="slidenum">
              <a:rPr lang="en-US" smtClean="0"/>
              <a:pPr>
                <a:defRPr/>
              </a:pPr>
              <a:t>18</a:t>
            </a:fld>
            <a:endParaRPr lang="en-US"/>
          </a:p>
        </p:txBody>
      </p:sp>
    </p:spTree>
    <p:extLst>
      <p:ext uri="{BB962C8B-B14F-4D97-AF65-F5344CB8AC3E}">
        <p14:creationId xmlns:p14="http://schemas.microsoft.com/office/powerpoint/2010/main" val="313594735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Kỹ thuật nghiên cứu nhân học</a:t>
            </a:r>
            <a:endParaRPr lang="en-US" sz="4200" b="0" strike="noStrike" spc="-1">
              <a:solidFill>
                <a:srgbClr val="000000"/>
              </a:solidFill>
              <a:uFill>
                <a:solidFill>
                  <a:srgbClr val="FFFFFF"/>
                </a:solidFill>
              </a:uFill>
              <a:latin typeface="Arial"/>
            </a:endParaRPr>
          </a:p>
        </p:txBody>
      </p:sp>
      <p:sp>
        <p:nvSpPr>
          <p:cNvPr id="120"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Dành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gian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quan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hoạt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nghiệp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diễn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ra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trong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tế</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hiện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không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giải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thêm</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tố</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tổ</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xã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hội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có</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nắm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bắt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a:solidFill>
                  <a:srgbClr val="000000"/>
                </a:solidFill>
                <a:uFill>
                  <a:solidFill>
                    <a:srgbClr val="FFFFFF"/>
                  </a:solidFill>
                </a:uFill>
                <a:latin typeface="Calibri"/>
                <a:ea typeface="DejaVu Sans"/>
              </a:rPr>
              <a:t>Cho </a:t>
            </a:r>
            <a:r>
              <a:rPr lang="en-US" sz="3000" b="0" strike="noStrike" spc="-1" dirty="0" err="1">
                <a:solidFill>
                  <a:srgbClr val="000000"/>
                </a:solidFill>
                <a:uFill>
                  <a:solidFill>
                    <a:srgbClr val="FFFFFF"/>
                  </a:solidFill>
                </a:uFill>
                <a:latin typeface="Calibri"/>
                <a:ea typeface="DejaVu Sans"/>
              </a:rPr>
              <a:t>thấy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đầy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đủ</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tạp</a:t>
            </a:r>
            <a:r>
              <a:rPr lang="en-US" sz="3000" b="0" strike="noStrike" spc="-1" dirty="0">
                <a:solidFill>
                  <a:srgbClr val="000000"/>
                </a:solidFill>
                <a:uFill>
                  <a:solidFill>
                    <a:srgbClr val="FFFFFF"/>
                  </a:solidFill>
                </a:uFill>
                <a:latin typeface="Calibri"/>
                <a:ea typeface="DejaVu Sans"/>
              </a:rPr>
              <a:t> so </a:t>
            </a:r>
            <a:r>
              <a:rPr lang="en-US" sz="3000" b="0" strike="noStrike" spc="-1" dirty="0" err="1">
                <a:solidFill>
                  <a:srgbClr val="000000"/>
                </a:solidFill>
                <a:uFill>
                  <a:solidFill>
                    <a:srgbClr val="FFFFFF"/>
                  </a:solidFill>
                </a:uFill>
                <a:latin typeface="Calibri"/>
                <a:ea typeface="DejaVu Sans"/>
              </a:rPr>
              <a:t>với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bằng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hình</a:t>
            </a:r>
            <a:endParaRPr lang="en-US" sz="3000" b="0" strike="noStrike" spc="-1" dirty="0">
              <a:solidFill>
                <a:srgbClr val="000000"/>
              </a:solidFill>
              <a:uFill>
                <a:solidFill>
                  <a:srgbClr val="FFFFFF"/>
                </a:solidFill>
              </a:uFill>
              <a:latin typeface="Arial"/>
            </a:endParaRPr>
          </a:p>
        </p:txBody>
      </p:sp>
      <p:sp>
        <p:nvSpPr>
          <p:cNvPr id="121"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70F30A24-ADCE-47B8-BBB4-BE7183BC9F5C}" type="slidenum">
              <a:rPr lang="en-US" sz="1100" b="0" strike="noStrike" spc="-1">
                <a:solidFill>
                  <a:srgbClr val="8B8B8B"/>
                </a:solidFill>
                <a:uFill>
                  <a:solidFill>
                    <a:srgbClr val="FFFFFF"/>
                  </a:solidFill>
                </a:uFill>
                <a:latin typeface="Calibri"/>
                <a:ea typeface="DejaVu Sans"/>
              </a:rPr>
              <a:t>19</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19</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19050" y="213480"/>
            <a:ext cx="910590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spc="-1" dirty="0" err="1">
                <a:solidFill>
                  <a:srgbClr val="0070C0"/>
                </a:solidFill>
                <a:uFill>
                  <a:solidFill>
                    <a:srgbClr val="FFFFFF"/>
                  </a:solidFill>
                </a:uFill>
                <a:latin typeface="Calibri"/>
                <a:ea typeface="DejaVu Sans"/>
              </a:rPr>
              <a:t>Đặc</a:t>
            </a:r>
            <a:r>
              <a:rPr lang="en-US" sz="4200" spc="-1" dirty="0">
                <a:solidFill>
                  <a:srgbClr val="0070C0"/>
                </a:solidFill>
                <a:uFill>
                  <a:solidFill>
                    <a:srgbClr val="FFFFFF"/>
                  </a:solidFill>
                </a:uFill>
                <a:latin typeface="Calibri"/>
                <a:ea typeface="DejaVu Sans"/>
              </a:rPr>
              <a:t> </a:t>
            </a:r>
            <a:r>
              <a:rPr lang="en-US" sz="4200" spc="-1" dirty="0" err="1">
                <a:solidFill>
                  <a:srgbClr val="0070C0"/>
                </a:solidFill>
                <a:uFill>
                  <a:solidFill>
                    <a:srgbClr val="FFFFFF"/>
                  </a:solidFill>
                </a:uFill>
                <a:latin typeface="Calibri"/>
                <a:ea typeface="DejaVu Sans"/>
              </a:rPr>
              <a:t>điểm</a:t>
            </a:r>
            <a:r>
              <a:rPr lang="en-US" sz="4200" spc="-1" dirty="0">
                <a:solidFill>
                  <a:srgbClr val="0070C0"/>
                </a:solidFill>
                <a:uFill>
                  <a:solidFill>
                    <a:srgbClr val="FFFFFF"/>
                  </a:solidFill>
                </a:uFill>
                <a:latin typeface="Calibri"/>
                <a:ea typeface="DejaVu Sans"/>
              </a:rPr>
              <a:t> </a:t>
            </a:r>
            <a:r>
              <a:rPr lang="en-US" sz="4200" spc="-1" dirty="0" err="1">
                <a:solidFill>
                  <a:srgbClr val="0070C0"/>
                </a:solidFill>
                <a:uFill>
                  <a:solidFill>
                    <a:srgbClr val="FFFFFF"/>
                  </a:solidFill>
                </a:uFill>
                <a:latin typeface="Calibri"/>
                <a:ea typeface="DejaVu Sans"/>
              </a:rPr>
              <a:t>k</a:t>
            </a:r>
            <a:r>
              <a:rPr lang="en-US" sz="4200" b="0" strike="noStrike" spc="-1" dirty="0" err="1">
                <a:solidFill>
                  <a:srgbClr val="0070C0"/>
                </a:solidFill>
                <a:uFill>
                  <a:solidFill>
                    <a:srgbClr val="FFFFFF"/>
                  </a:solidFill>
                </a:uFill>
                <a:latin typeface="Calibri"/>
                <a:ea typeface="DejaVu Sans"/>
              </a:rPr>
              <a:t>ỹ</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thuật</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nghiên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cứu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nhân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học</a:t>
            </a:r>
            <a:endParaRPr lang="en-US" sz="4200" b="0" strike="noStrike" spc="-1" dirty="0">
              <a:solidFill>
                <a:srgbClr val="000000"/>
              </a:solidFill>
              <a:uFill>
                <a:solidFill>
                  <a:srgbClr val="FFFFFF"/>
                </a:solidFill>
              </a:uFill>
              <a:latin typeface="Arial"/>
            </a:endParaRPr>
          </a:p>
        </p:txBody>
      </p:sp>
      <p:sp>
        <p:nvSpPr>
          <p:cNvPr id="120"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spcBef>
                <a:spcPts val="601"/>
              </a:spcBef>
              <a:buClr>
                <a:srgbClr val="000000"/>
              </a:buClr>
              <a:buFont typeface="Arial"/>
              <a:buChar char="•"/>
            </a:pPr>
            <a:r>
              <a:rPr lang="en-US" sz="3000" spc="-1" dirty="0" err="1">
                <a:solidFill>
                  <a:srgbClr val="000000"/>
                </a:solidFill>
                <a:uFill>
                  <a:solidFill>
                    <a:srgbClr val="FFFFFF"/>
                  </a:solidFill>
                </a:uFill>
                <a:latin typeface="Calibri"/>
                <a:ea typeface="DejaVu Sans"/>
              </a:rPr>
              <a:t>Cách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thực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hiện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trong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thực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tế</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sai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khác</a:t>
            </a:r>
            <a:r>
              <a:rPr lang="en-US" sz="3000" spc="-1" dirty="0">
                <a:solidFill>
                  <a:srgbClr val="000000"/>
                </a:solidFill>
                <a:uFill>
                  <a:solidFill>
                    <a:srgbClr val="FFFFFF"/>
                  </a:solidFill>
                </a:uFill>
                <a:latin typeface="Calibri"/>
                <a:ea typeface="DejaVu Sans"/>
              </a:rPr>
              <a:t> so </a:t>
            </a:r>
            <a:r>
              <a:rPr lang="en-US" sz="3000" spc="-1" dirty="0" err="1">
                <a:solidFill>
                  <a:srgbClr val="000000"/>
                </a:solidFill>
                <a:uFill>
                  <a:solidFill>
                    <a:srgbClr val="FFFFFF"/>
                  </a:solidFill>
                </a:uFill>
                <a:latin typeface="Calibri"/>
                <a:ea typeface="DejaVu Sans"/>
              </a:rPr>
              <a:t>với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quy</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thực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hiện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theo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quy</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trình</a:t>
            </a:r>
            <a:endParaRPr lang="en-US" sz="3000" spc="-1" dirty="0">
              <a:solidFill>
                <a:srgbClr val="000000"/>
              </a:solidFill>
              <a:uFill>
                <a:solidFill>
                  <a:srgbClr val="FFFFFF"/>
                </a:solidFill>
              </a:uFill>
              <a:latin typeface="Calibri"/>
              <a:ea typeface="DejaVu Sans"/>
            </a:endParaRPr>
          </a:p>
          <a:p>
            <a:pPr marL="326160" indent="-324720">
              <a:spcBef>
                <a:spcPts val="601"/>
              </a:spcBef>
              <a:buClr>
                <a:srgbClr val="000000"/>
              </a:buClr>
              <a:buFont typeface="Arial"/>
              <a:buChar char="•"/>
            </a:pP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dẫn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xuất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từ</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sự</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phối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hợp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nhận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thức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từ</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hoạt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động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của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người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khác</a:t>
            </a:r>
            <a:br>
              <a:rPr lang="en-US" sz="3000" spc="-1" dirty="0">
                <a:solidFill>
                  <a:srgbClr val="000000"/>
                </a:solidFill>
                <a:uFill>
                  <a:solidFill>
                    <a:srgbClr val="FFFFFF"/>
                  </a:solidFill>
                </a:uFill>
                <a:latin typeface="Calibri"/>
                <a:ea typeface="DejaVu Sans"/>
              </a:rPr>
            </a:br>
            <a:r>
              <a:rPr lang="en-US" sz="3000" spc="-1" dirty="0">
                <a:solidFill>
                  <a:srgbClr val="000000"/>
                </a:solidFill>
                <a:uFill>
                  <a:solidFill>
                    <a:srgbClr val="FFFFFF"/>
                  </a:solidFill>
                </a:uFill>
                <a:latin typeface="Calibri"/>
                <a:ea typeface="DejaVu Sans"/>
              </a:rPr>
              <a:t>(</a:t>
            </a:r>
            <a:r>
              <a:rPr lang="en-US" sz="3000" spc="-1" dirty="0" err="1">
                <a:solidFill>
                  <a:srgbClr val="000000"/>
                </a:solidFill>
                <a:uFill>
                  <a:solidFill>
                    <a:srgbClr val="FFFFFF"/>
                  </a:solidFill>
                </a:uFill>
                <a:latin typeface="Calibri"/>
                <a:ea typeface="DejaVu Sans"/>
              </a:rPr>
              <a:t>dẫn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đến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thay</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đổi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chúng</a:t>
            </a:r>
            <a:r>
              <a:rPr lang="en-US" sz="3000" spc="-1" dirty="0">
                <a:solidFill>
                  <a:srgbClr val="000000"/>
                </a:solidFill>
                <a:uFill>
                  <a:solidFill>
                    <a:srgbClr val="FFFFFF"/>
                  </a:solidFill>
                </a:uFill>
                <a:latin typeface="Calibri"/>
                <a:ea typeface="DejaVu Sans"/>
              </a:rPr>
              <a:t> ta </a:t>
            </a:r>
            <a:r>
              <a:rPr lang="en-US" sz="3000" spc="-1" dirty="0" err="1">
                <a:solidFill>
                  <a:srgbClr val="000000"/>
                </a:solidFill>
                <a:uFill>
                  <a:solidFill>
                    <a:srgbClr val="FFFFFF"/>
                  </a:solidFill>
                </a:uFill>
                <a:latin typeface="Calibri"/>
                <a:ea typeface="DejaVu Sans"/>
              </a:rPr>
              <a:t>thực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hiện</a:t>
            </a:r>
            <a:r>
              <a:rPr lang="en-US" sz="3000" spc="-1" dirty="0">
                <a:solidFill>
                  <a:srgbClr val="000000"/>
                </a:solidFill>
                <a:uFill>
                  <a:solidFill>
                    <a:srgbClr val="FFFFFF"/>
                  </a:solidFill>
                </a:uFill>
                <a:latin typeface="Calibri"/>
                <a:ea typeface="DejaVu Sans"/>
              </a:rPr>
              <a:t>)</a:t>
            </a:r>
          </a:p>
          <a:p>
            <a:pPr marL="326160" indent="-324720">
              <a:spcBef>
                <a:spcPts val="601"/>
              </a:spcBef>
              <a:buClr>
                <a:srgbClr val="000000"/>
              </a:buClr>
              <a:buFont typeface="Arial"/>
              <a:buChar char="•"/>
            </a:pPr>
            <a:r>
              <a:rPr lang="en-US" sz="3000" spc="-1" dirty="0" err="1">
                <a:solidFill>
                  <a:srgbClr val="000000"/>
                </a:solidFill>
                <a:uFill>
                  <a:solidFill>
                    <a:srgbClr val="FFFFFF"/>
                  </a:solidFill>
                </a:uFill>
                <a:latin typeface="Calibri"/>
                <a:ea typeface="DejaVu Sans"/>
              </a:rPr>
              <a:t>Là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hiệu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quả</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hiểu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hệ</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thống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hiện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thời</a:t>
            </a:r>
            <a:r>
              <a:rPr lang="en-US" sz="3000" spc="-1" dirty="0">
                <a:solidFill>
                  <a:srgbClr val="000000"/>
                </a:solidFill>
                <a:uFill>
                  <a:solidFill>
                    <a:srgbClr val="FFFFFF"/>
                  </a:solidFill>
                </a:uFill>
                <a:latin typeface="Calibri"/>
                <a:ea typeface="DejaVu Sans"/>
              </a:rPr>
              <a:t> (system-as-is, </a:t>
            </a:r>
            <a:r>
              <a:rPr lang="en-US" sz="3000" spc="-1" dirty="0" err="1">
                <a:solidFill>
                  <a:srgbClr val="000000"/>
                </a:solidFill>
                <a:uFill>
                  <a:solidFill>
                    <a:srgbClr val="FFFFFF"/>
                  </a:solidFill>
                </a:uFill>
                <a:latin typeface="Calibri"/>
                <a:ea typeface="DejaVu Sans"/>
              </a:rPr>
              <a:t>nhưng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phép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xác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định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thuộc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tính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mới</a:t>
            </a:r>
            <a:r>
              <a:rPr lang="en-US" sz="3000" spc="-1" dirty="0">
                <a:solidFill>
                  <a:srgbClr val="000000"/>
                </a:solidFill>
                <a:uFill>
                  <a:solidFill>
                    <a:srgbClr val="FFFFFF"/>
                  </a:solidFill>
                </a:uFill>
                <a:latin typeface="Calibri"/>
                <a:ea typeface="DejaVu Sans"/>
              </a:rPr>
              <a:t> (system-to-be)</a:t>
            </a:r>
          </a:p>
          <a:p>
            <a:pPr marL="326160" indent="-324720">
              <a:spcBef>
                <a:spcPts val="601"/>
              </a:spcBef>
              <a:buClr>
                <a:srgbClr val="000000"/>
              </a:buClr>
              <a:buFont typeface="Arial"/>
              <a:buChar char="•"/>
            </a:pPr>
            <a:r>
              <a:rPr lang="en-US" sz="3000" spc="-1" dirty="0" err="1">
                <a:solidFill>
                  <a:srgbClr val="000000"/>
                </a:solidFill>
                <a:uFill>
                  <a:solidFill>
                    <a:srgbClr val="FFFFFF"/>
                  </a:solidFill>
                </a:uFill>
                <a:latin typeface="Calibri"/>
                <a:ea typeface="DejaVu Sans"/>
              </a:rPr>
              <a:t>Thường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kết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hợp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với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phương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pháp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bản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mẫu</a:t>
            </a:r>
            <a:endParaRPr lang="en-US" sz="3000" spc="-1" dirty="0">
              <a:solidFill>
                <a:srgbClr val="000000"/>
              </a:solidFill>
              <a:uFill>
                <a:solidFill>
                  <a:srgbClr val="FFFFFF"/>
                </a:solidFill>
              </a:uFill>
              <a:latin typeface="Calibri"/>
              <a:ea typeface="DejaVu Sans"/>
            </a:endParaRPr>
          </a:p>
        </p:txBody>
      </p:sp>
      <p:sp>
        <p:nvSpPr>
          <p:cNvPr id="121"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70F30A24-ADCE-47B8-BBB4-BE7183BC9F5C}" type="slidenum">
              <a:rPr lang="en-US" sz="1100" b="0" strike="noStrike" spc="-1">
                <a:solidFill>
                  <a:srgbClr val="8B8B8B"/>
                </a:solidFill>
                <a:uFill>
                  <a:solidFill>
                    <a:srgbClr val="FFFFFF"/>
                  </a:solidFill>
                </a:uFill>
                <a:latin typeface="Calibri"/>
                <a:ea typeface="DejaVu Sans"/>
              </a:rPr>
              <a:t>20</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20</a:t>
            </a:fld>
            <a:endParaRPr lang="en-US"/>
          </a:p>
        </p:txBody>
      </p:sp>
    </p:spTree>
    <p:extLst>
      <p:ext uri="{BB962C8B-B14F-4D97-AF65-F5344CB8AC3E}">
        <p14:creationId xmlns:p14="http://schemas.microsoft.com/office/powerpoint/2010/main" val="247302607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Thẩm</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định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123"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Đảm bảo các yêu cầu sẽ xác định đúng hệ thống mà khách hàng mong đợi</a:t>
            </a:r>
            <a:endParaRPr lang="en-US" sz="3000" b="0" strike="noStrike" spc="-1">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a:solidFill>
                  <a:srgbClr val="000000"/>
                </a:solidFill>
                <a:uFill>
                  <a:solidFill>
                    <a:srgbClr val="FFFFFF"/>
                  </a:solidFill>
                </a:uFill>
                <a:latin typeface="Calibri"/>
                <a:ea typeface="DejaVu Sans"/>
              </a:rPr>
              <a:t>Là khâu quan trọng vì chi phí sửa lỗi yêu câu tăng lên hàng trăm lần nếu được phát hiện muộn</a:t>
            </a:r>
            <a:endParaRPr lang="en-US" sz="3000" b="0" strike="noStrike" spc="-1">
              <a:solidFill>
                <a:srgbClr val="000000"/>
              </a:solidFill>
              <a:uFill>
                <a:solidFill>
                  <a:srgbClr val="FFFFFF"/>
                </a:solidFill>
              </a:uFill>
              <a:latin typeface="Arial"/>
            </a:endParaRPr>
          </a:p>
          <a:p>
            <a:pPr>
              <a:lnSpc>
                <a:spcPct val="100000"/>
              </a:lnSpc>
              <a:spcBef>
                <a:spcPts val="601"/>
              </a:spcBef>
            </a:pPr>
            <a:endParaRPr lang="en-US" sz="3000" b="0" strike="noStrike" spc="-1">
              <a:solidFill>
                <a:srgbClr val="000000"/>
              </a:solidFill>
              <a:uFill>
                <a:solidFill>
                  <a:srgbClr val="FFFFFF"/>
                </a:solidFill>
              </a:uFill>
              <a:latin typeface="Arial"/>
            </a:endParaRPr>
          </a:p>
        </p:txBody>
      </p:sp>
      <p:sp>
        <p:nvSpPr>
          <p:cNvPr id="124"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44814B44-6563-4C9A-9006-5E5DED02CFD8}" type="slidenum">
              <a:rPr lang="en-US" sz="1100" b="0" strike="noStrike" spc="-1">
                <a:solidFill>
                  <a:srgbClr val="8B8B8B"/>
                </a:solidFill>
                <a:uFill>
                  <a:solidFill>
                    <a:srgbClr val="FFFFFF"/>
                  </a:solidFill>
                </a:uFill>
                <a:latin typeface="Calibri"/>
                <a:ea typeface="DejaVu Sans"/>
              </a:rPr>
              <a:t>21</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21</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Nội dung kiểm tra yêu cầu</a:t>
            </a:r>
            <a:endParaRPr lang="en-US" sz="4200" b="0" strike="noStrike" spc="-1">
              <a:solidFill>
                <a:srgbClr val="000000"/>
              </a:solidFill>
              <a:uFill>
                <a:solidFill>
                  <a:srgbClr val="FFFFFF"/>
                </a:solidFill>
              </a:uFill>
              <a:latin typeface="Arial"/>
            </a:endParaRPr>
          </a:p>
        </p:txBody>
      </p:sp>
      <p:sp>
        <p:nvSpPr>
          <p:cNvPr id="126"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fontScale="92500" lnSpcReduction="10000"/>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Hợp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lệ</a:t>
            </a:r>
            <a:r>
              <a:rPr lang="en-US" sz="3000" b="0" strike="noStrike" spc="-1" dirty="0">
                <a:solidFill>
                  <a:srgbClr val="000000"/>
                </a:solidFill>
                <a:uFill>
                  <a:solidFill>
                    <a:srgbClr val="FFFFFF"/>
                  </a:solidFill>
                </a:uFill>
                <a:latin typeface="Calibri"/>
                <a:ea typeface="DejaVu Sans"/>
              </a:rPr>
              <a:t> (validity):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cấp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năng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hỗ</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tốt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nhất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hàng</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Nhất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quán</a:t>
            </a:r>
            <a:r>
              <a:rPr lang="en-US" sz="3000" b="0" strike="noStrike" spc="-1" dirty="0">
                <a:solidFill>
                  <a:srgbClr val="000000"/>
                </a:solidFill>
                <a:uFill>
                  <a:solidFill>
                    <a:srgbClr val="FFFFFF"/>
                  </a:solidFill>
                </a:uFill>
                <a:latin typeface="Calibri"/>
                <a:ea typeface="DejaVu Sans"/>
              </a:rPr>
              <a:t> (consistency): </a:t>
            </a:r>
            <a:r>
              <a:rPr lang="en-US" sz="3000" b="0" strike="noStrike" spc="-1" dirty="0" err="1">
                <a:solidFill>
                  <a:srgbClr val="000000"/>
                </a:solidFill>
                <a:uFill>
                  <a:solidFill>
                    <a:srgbClr val="FFFFFF"/>
                  </a:solidFill>
                </a:uFill>
                <a:latin typeface="Calibri"/>
                <a:ea typeface="DejaVu Sans"/>
              </a:rPr>
              <a:t>Có</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xung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đột</a:t>
            </a:r>
            <a:r>
              <a:rPr lang="en-US" sz="3000" b="0" strike="noStrike" spc="-1" dirty="0">
                <a:solidFill>
                  <a:srgbClr val="000000"/>
                </a:solidFill>
                <a:uFill>
                  <a:solidFill>
                    <a:srgbClr val="FFFFFF"/>
                  </a:solidFill>
                </a:uFill>
                <a:latin typeface="Calibri"/>
                <a:ea typeface="DejaVu Sans"/>
              </a:rPr>
              <a:t>/</a:t>
            </a:r>
            <a:r>
              <a:rPr lang="en-US" sz="3000" b="0" strike="noStrike" spc="-1" dirty="0" err="1">
                <a:solidFill>
                  <a:srgbClr val="000000"/>
                </a:solidFill>
                <a:uFill>
                  <a:solidFill>
                    <a:srgbClr val="FFFFFF"/>
                  </a:solidFill>
                </a:uFill>
                <a:latin typeface="Calibri"/>
                <a:ea typeface="DejaVu Sans"/>
              </a:rPr>
              <a:t>mâu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thuận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không</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Đầy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đủ</a:t>
            </a:r>
            <a:r>
              <a:rPr lang="en-US" sz="3000" b="0" strike="noStrike" spc="-1" dirty="0">
                <a:solidFill>
                  <a:srgbClr val="000000"/>
                </a:solidFill>
                <a:uFill>
                  <a:solidFill>
                    <a:srgbClr val="FFFFFF"/>
                  </a:solidFill>
                </a:uFill>
                <a:latin typeface="Calibri"/>
                <a:ea typeface="DejaVu Sans"/>
              </a:rPr>
              <a:t> (completeness): </a:t>
            </a:r>
            <a:r>
              <a:rPr lang="en-US" sz="3000" b="0" strike="noStrike" spc="-1" dirty="0" err="1">
                <a:solidFill>
                  <a:srgbClr val="000000"/>
                </a:solidFill>
                <a:uFill>
                  <a:solidFill>
                    <a:srgbClr val="FFFFFF"/>
                  </a:solidFill>
                </a:uFill>
                <a:latin typeface="Calibri"/>
                <a:ea typeface="DejaVu Sans"/>
              </a:rPr>
              <a:t>Tất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năng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hàng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cập</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hiện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(realism):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có</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cài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đặt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trong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sự</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ràng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buộc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thuật</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chứng</a:t>
            </a:r>
            <a:r>
              <a:rPr lang="en-US" sz="3000" b="0" strike="noStrike" spc="-1" dirty="0">
                <a:solidFill>
                  <a:srgbClr val="000000"/>
                </a:solidFill>
                <a:uFill>
                  <a:solidFill>
                    <a:srgbClr val="FFFFFF"/>
                  </a:solidFill>
                </a:uFill>
                <a:latin typeface="Calibri"/>
                <a:ea typeface="DejaVu Sans"/>
              </a:rPr>
              <a:t> (verifiability):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có</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tra</a:t>
            </a:r>
            <a:r>
              <a:rPr lang="en-US" sz="3000" b="0" strike="noStrike" spc="-1" dirty="0">
                <a:solidFill>
                  <a:srgbClr val="000000"/>
                </a:solidFill>
                <a:uFill>
                  <a:solidFill>
                    <a:srgbClr val="FFFFFF"/>
                  </a:solidFill>
                </a:uFill>
                <a:latin typeface="Calibri"/>
                <a:ea typeface="DejaVu Sans"/>
              </a:rPr>
              <a:t> (checked)?</a:t>
            </a:r>
            <a:endParaRPr lang="en-US" sz="3000" b="0" strike="noStrike" spc="-1" dirty="0">
              <a:solidFill>
                <a:srgbClr val="000000"/>
              </a:solidFill>
              <a:uFill>
                <a:solidFill>
                  <a:srgbClr val="FFFFFF"/>
                </a:solidFill>
              </a:uFill>
              <a:latin typeface="Arial"/>
            </a:endParaRPr>
          </a:p>
        </p:txBody>
      </p:sp>
      <p:sp>
        <p:nvSpPr>
          <p:cNvPr id="127"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AC1E05D0-BAA0-4469-A741-15943BD0F178}" type="slidenum">
              <a:rPr lang="en-US" sz="1100" b="0" strike="noStrike" spc="-1">
                <a:solidFill>
                  <a:srgbClr val="8B8B8B"/>
                </a:solidFill>
                <a:uFill>
                  <a:solidFill>
                    <a:srgbClr val="FFFFFF"/>
                  </a:solidFill>
                </a:uFill>
                <a:latin typeface="Calibri"/>
                <a:ea typeface="DejaVu Sans"/>
              </a:rPr>
              <a:t>22</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22</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Một</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số</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kỹ</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thuật</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thẩm</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định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129"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định</a:t>
            </a:r>
            <a:r>
              <a:rPr lang="en-US" sz="3000"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Kiểm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đánh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giá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phân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tích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một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thủ</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Làm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mẫu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dụng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mô</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của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xem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bài</a:t>
            </a:r>
            <a:r>
              <a:rPr lang="en-US" sz="3000" spc="-1" dirty="0">
                <a:solidFill>
                  <a:srgbClr val="000000"/>
                </a:solidFill>
                <a:uFill>
                  <a:solidFill>
                    <a:srgbClr val="FFFFFF"/>
                  </a:solidFill>
                </a:uFill>
                <a:latin typeface="Calibri"/>
                <a:ea typeface="DejaVu Sans"/>
              </a:rPr>
              <a:t> 3)</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Sinh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tạo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ra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kiểm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cho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kiểm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tính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kiểm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p:txBody>
      </p:sp>
      <p:sp>
        <p:nvSpPr>
          <p:cNvPr id="130"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37DBC661-3220-40AB-8BF5-5B3D77A9E2E5}" type="slidenum">
              <a:rPr lang="en-US" sz="1100" b="0" strike="noStrike" spc="-1">
                <a:solidFill>
                  <a:srgbClr val="8B8B8B"/>
                </a:solidFill>
                <a:uFill>
                  <a:solidFill>
                    <a:srgbClr val="FFFFFF"/>
                  </a:solidFill>
                </a:uFill>
                <a:latin typeface="Calibri"/>
                <a:ea typeface="DejaVu Sans"/>
              </a:rPr>
              <a:t>23</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23</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Kiểm</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định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132"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Diễn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ra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nào</a:t>
            </a:r>
            <a:r>
              <a:rPr lang="en-US" sz="3000" b="0" strike="noStrike" spc="-1" dirty="0">
                <a:solidFill>
                  <a:srgbClr val="000000"/>
                </a:solidFill>
                <a:uFill>
                  <a:solidFill>
                    <a:srgbClr val="FFFFFF"/>
                  </a:solidFill>
                </a:uFill>
                <a:latin typeface="Calibri"/>
                <a:ea typeface="DejaVu Sans"/>
              </a:rPr>
              <a:t>? </a:t>
            </a: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trong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quá</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trình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đặc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tả</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endParaRPr lang="en-US" sz="3000" spc="-1" dirty="0">
              <a:solidFill>
                <a:srgbClr val="000000"/>
              </a:solidFill>
              <a:uFill>
                <a:solidFill>
                  <a:srgbClr val="FFFFFF"/>
                </a:solidFill>
              </a:uFill>
              <a:latin typeface="Calibri"/>
              <a:ea typeface="DejaVu Sans"/>
            </a:endParaRPr>
          </a:p>
          <a:p>
            <a:pPr marL="326160" indent="-324720">
              <a:lnSpc>
                <a:spcPct val="100000"/>
              </a:lnSpc>
              <a:spcBef>
                <a:spcPts val="601"/>
              </a:spcBef>
              <a:buClr>
                <a:srgbClr val="000000"/>
              </a:buClr>
              <a:buFont typeface="Arial"/>
              <a:buChar char="•"/>
            </a:pPr>
            <a:r>
              <a:rPr lang="en-US" sz="3000" b="0" strike="noStrike" spc="-1" dirty="0">
                <a:solidFill>
                  <a:srgbClr val="000000"/>
                </a:solidFill>
                <a:uFill>
                  <a:solidFill>
                    <a:srgbClr val="FFFFFF"/>
                  </a:solidFill>
                </a:uFill>
                <a:latin typeface="Calibri"/>
                <a:ea typeface="DejaVu Sans"/>
              </a:rPr>
              <a:t>Ai </a:t>
            </a: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đánh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giá</a:t>
            </a:r>
            <a:r>
              <a:rPr lang="en-US" sz="3000" b="0" strike="noStrike" spc="-1" dirty="0">
                <a:solidFill>
                  <a:srgbClr val="000000"/>
                </a:solidFill>
                <a:uFill>
                  <a:solidFill>
                    <a:srgbClr val="FFFFFF"/>
                  </a:solidFill>
                </a:uFill>
                <a:latin typeface="Calibri"/>
                <a:ea typeface="DejaVu Sans"/>
              </a:rPr>
              <a:t>? </a:t>
            </a: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bên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liên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quan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hợp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đồng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cùng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tham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gia</a:t>
            </a:r>
            <a:endParaRPr lang="en-US" sz="3000" spc="-1" dirty="0">
              <a:solidFill>
                <a:srgbClr val="000000"/>
              </a:solidFill>
              <a:uFill>
                <a:solidFill>
                  <a:srgbClr val="FFFFFF"/>
                </a:solidFill>
              </a:uFill>
              <a:latin typeface="Calibri"/>
              <a:ea typeface="DejaVu Sans"/>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đánh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giá</a:t>
            </a:r>
            <a:r>
              <a:rPr lang="en-US" sz="3000" b="0" strike="noStrike" spc="-1" dirty="0">
                <a:solidFill>
                  <a:srgbClr val="000000"/>
                </a:solidFill>
                <a:uFill>
                  <a:solidFill>
                    <a:srgbClr val="FFFFFF"/>
                  </a:solidFill>
                </a:uFill>
                <a:latin typeface="Calibri"/>
                <a:ea typeface="DejaVu Sans"/>
              </a:rPr>
              <a:t>? </a:t>
            </a: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Hình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thức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hoặc</a:t>
            </a:r>
            <a:r>
              <a:rPr lang="en-US" sz="3000" spc="-1" dirty="0">
                <a:solidFill>
                  <a:srgbClr val="000000"/>
                </a:solidFill>
                <a:uFill>
                  <a:solidFill>
                    <a:srgbClr val="FFFFFF"/>
                  </a:solidFill>
                </a:uFill>
                <a:latin typeface="Calibri"/>
                <a:ea typeface="DejaVu Sans"/>
              </a:rPr>
              <a:t> phi </a:t>
            </a:r>
            <a:r>
              <a:rPr lang="en-US" sz="3000" spc="-1" dirty="0" err="1">
                <a:solidFill>
                  <a:srgbClr val="000000"/>
                </a:solidFill>
                <a:uFill>
                  <a:solidFill>
                    <a:srgbClr val="FFFFFF"/>
                  </a:solidFill>
                </a:uFill>
                <a:latin typeface="Calibri"/>
                <a:ea typeface="DejaVu Sans"/>
              </a:rPr>
              <a:t>hình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thức</a:t>
            </a:r>
            <a:r>
              <a:rPr lang="en-US" sz="3000" spc="-1" dirty="0">
                <a:solidFill>
                  <a:srgbClr val="000000"/>
                </a:solidFill>
                <a:uFill>
                  <a:solidFill>
                    <a:srgbClr val="FFFFFF"/>
                  </a:solidFill>
                </a:uFill>
                <a:latin typeface="Calibri"/>
                <a:ea typeface="DejaVu Sans"/>
              </a:rPr>
              <a:t>. </a:t>
            </a: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Đòi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hỏi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giao</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tiếp</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tốt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với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người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phát</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triển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khách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hàng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người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dùng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cuối</a:t>
            </a:r>
            <a:endParaRPr lang="en-US" sz="3000" spc="-1" dirty="0">
              <a:solidFill>
                <a:srgbClr val="000000"/>
              </a:solidFill>
              <a:uFill>
                <a:solidFill>
                  <a:srgbClr val="FFFFFF"/>
                </a:solidFill>
              </a:uFill>
              <a:latin typeface="Calibri"/>
              <a:ea typeface="DejaVu Sans"/>
            </a:endParaRPr>
          </a:p>
        </p:txBody>
      </p:sp>
      <p:sp>
        <p:nvSpPr>
          <p:cNvPr id="133"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B53F79E4-0658-4F79-A72A-F7F94507B058}" type="slidenum">
              <a:rPr lang="en-US" sz="1100" b="0" strike="noStrike" spc="-1">
                <a:solidFill>
                  <a:srgbClr val="8B8B8B"/>
                </a:solidFill>
                <a:uFill>
                  <a:solidFill>
                    <a:srgbClr val="FFFFFF"/>
                  </a:solidFill>
                </a:uFill>
                <a:latin typeface="Calibri"/>
                <a:ea typeface="DejaVu Sans"/>
              </a:rPr>
              <a:t>24</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24</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Nội</a:t>
            </a:r>
            <a:r>
              <a:rPr lang="en-US" sz="4200" b="0" strike="noStrike" spc="-1" dirty="0">
                <a:solidFill>
                  <a:srgbClr val="0070C0"/>
                </a:solidFill>
                <a:uFill>
                  <a:solidFill>
                    <a:srgbClr val="FFFFFF"/>
                  </a:solidFill>
                </a:uFill>
                <a:latin typeface="Calibri"/>
                <a:ea typeface="DejaVu Sans"/>
              </a:rPr>
              <a:t> dung </a:t>
            </a:r>
            <a:r>
              <a:rPr lang="en-US" sz="4200" b="0" strike="noStrike" spc="-1" dirty="0" err="1">
                <a:solidFill>
                  <a:srgbClr val="0070C0"/>
                </a:solidFill>
                <a:uFill>
                  <a:solidFill>
                    <a:srgbClr val="FFFFFF"/>
                  </a:solidFill>
                </a:uFill>
                <a:latin typeface="Calibri"/>
                <a:ea typeface="DejaVu Sans"/>
              </a:rPr>
              <a:t>kiểm</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định</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135" name="CustomShape 2"/>
          <p:cNvSpPr/>
          <p:nvPr/>
        </p:nvSpPr>
        <p:spPr>
          <a:xfrm>
            <a:off x="285750" y="1594440"/>
            <a:ext cx="851715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lnSpcReduction="10000"/>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kiểm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chứng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endParaRPr lang="en-US" sz="3000" b="0" strike="noStrike" spc="-1" dirty="0">
              <a:solidFill>
                <a:srgbClr val="000000"/>
              </a:solidFill>
              <a:uFill>
                <a:solidFill>
                  <a:srgbClr val="FFFFFF"/>
                </a:solidFill>
              </a:uFill>
              <a:latin typeface="Calibri"/>
              <a:ea typeface="DejaVu Sans"/>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thực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sự</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kiểm</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thử</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a:t>
            </a: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hiểu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endParaRPr lang="en-US" sz="3000" b="0" strike="noStrike" spc="-1" dirty="0">
              <a:solidFill>
                <a:srgbClr val="000000"/>
              </a:solidFill>
              <a:uFill>
                <a:solidFill>
                  <a:srgbClr val="FFFFFF"/>
                </a:solidFill>
              </a:uFill>
              <a:latin typeface="Calibri"/>
              <a:ea typeface="DejaVu Sans"/>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hiểu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trọn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vẹn</a:t>
            </a:r>
            <a:r>
              <a:rPr lang="en-US" sz="3000" spc="-1" dirty="0">
                <a:solidFill>
                  <a:srgbClr val="000000"/>
                </a:solidFill>
                <a:uFill>
                  <a:solidFill>
                    <a:srgbClr val="FFFFFF"/>
                  </a:solidFill>
                </a:uFill>
                <a:latin typeface="Calibri"/>
                <a:ea typeface="DejaVu Sans"/>
              </a:rPr>
              <a:t>?</a:t>
            </a: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lần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vết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endParaRPr lang="en-US" sz="3000" b="0" strike="noStrike" spc="-1" dirty="0">
              <a:solidFill>
                <a:srgbClr val="000000"/>
              </a:solidFill>
              <a:uFill>
                <a:solidFill>
                  <a:srgbClr val="FFFFFF"/>
                </a:solidFill>
              </a:uFill>
              <a:latin typeface="Calibri"/>
              <a:ea typeface="DejaVu Sans"/>
            </a:endParaRP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nguồn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gốc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của</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rõ</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ràng</a:t>
            </a:r>
            <a:r>
              <a:rPr lang="en-US" sz="3000" spc="-1" dirty="0">
                <a:solidFill>
                  <a:srgbClr val="000000"/>
                </a:solidFill>
                <a:uFill>
                  <a:solidFill>
                    <a:srgbClr val="FFFFFF"/>
                  </a:solidFill>
                </a:uFill>
                <a:latin typeface="Calibri"/>
                <a:ea typeface="DejaVu Sans"/>
              </a:rPr>
              <a:t>?</a:t>
            </a: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ứng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cục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bộ</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hóa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sự</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r>
              <a:rPr lang="en-US" sz="3000" b="0" strike="noStrike" spc="-1" dirty="0">
                <a:solidFill>
                  <a:srgbClr val="000000"/>
                </a:solidFill>
                <a:uFill>
                  <a:solidFill>
                    <a:srgbClr val="FFFFFF"/>
                  </a:solidFill>
                </a:uFill>
                <a:latin typeface="Calibri"/>
                <a:ea typeface="DejaVu Sans"/>
              </a:rPr>
              <a:t>)</a:t>
            </a:r>
          </a:p>
          <a:p>
            <a:pPr marL="432000" lvl="1" indent="-215280">
              <a:spcBef>
                <a:spcPts val="601"/>
              </a:spcBef>
              <a:buClr>
                <a:srgbClr val="000000"/>
              </a:buClr>
              <a:buSzPct val="45000"/>
              <a:buFont typeface="OpenSymbol"/>
              <a:buChar char="-"/>
            </a:pP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thể</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được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thay</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đổi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mà</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không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có</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ảnh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hưởng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lớn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đến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yêu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cầu</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khác</a:t>
            </a:r>
            <a:r>
              <a:rPr lang="en-US" sz="3000" spc="-1" dirty="0">
                <a:solidFill>
                  <a:srgbClr val="000000"/>
                </a:solidFill>
                <a:uFill>
                  <a:solidFill>
                    <a:srgbClr val="FFFFFF"/>
                  </a:solidFill>
                </a:uFill>
                <a:latin typeface="Calibri"/>
                <a:ea typeface="DejaVu Sans"/>
              </a:rPr>
              <a:t>?</a:t>
            </a:r>
          </a:p>
        </p:txBody>
      </p:sp>
      <p:sp>
        <p:nvSpPr>
          <p:cNvPr id="136"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25C96615-F386-4859-9EC3-2D3137D58268}" type="slidenum">
              <a:rPr lang="en-US" sz="1100" b="0" strike="noStrike" spc="-1">
                <a:solidFill>
                  <a:srgbClr val="8B8B8B"/>
                </a:solidFill>
                <a:uFill>
                  <a:solidFill>
                    <a:srgbClr val="FFFFFF"/>
                  </a:solidFill>
                </a:uFill>
                <a:latin typeface="Calibri"/>
                <a:ea typeface="DejaVu Sans"/>
              </a:rPr>
              <a:t>25</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25</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Quản lý yêu cầu</a:t>
            </a:r>
            <a:endParaRPr lang="en-US" sz="4200" b="0" strike="noStrike" spc="-1">
              <a:solidFill>
                <a:srgbClr val="000000"/>
              </a:solidFill>
              <a:uFill>
                <a:solidFill>
                  <a:srgbClr val="FFFFFF"/>
                </a:solidFill>
              </a:uFill>
              <a:latin typeface="Arial"/>
            </a:endParaRPr>
          </a:p>
        </p:txBody>
      </p:sp>
      <p:sp>
        <p:nvSpPr>
          <p:cNvPr id="138" name="CustomShape 2"/>
          <p:cNvSpPr/>
          <p:nvPr/>
        </p:nvSpPr>
        <p:spPr>
          <a:xfrm>
            <a:off x="455400" y="1594440"/>
            <a:ext cx="851715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mới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xuất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hiện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trong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quá</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triển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cũng</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như</a:t>
            </a:r>
            <a:r>
              <a:rPr lang="en-US" sz="3000" spc="-1" dirty="0">
                <a:solidFill>
                  <a:srgbClr val="000000"/>
                </a:solidFill>
                <a:uFill>
                  <a:solidFill>
                    <a:srgbClr val="FFFFFF"/>
                  </a:solidFill>
                </a:uFill>
                <a:latin typeface="Calibri"/>
                <a:ea typeface="DejaVu Sans"/>
              </a:rPr>
              <a:t> ở </a:t>
            </a:r>
            <a:r>
              <a:rPr lang="en-US" sz="3000" spc="-1" dirty="0" err="1">
                <a:solidFill>
                  <a:srgbClr val="000000"/>
                </a:solidFill>
                <a:uFill>
                  <a:solidFill>
                    <a:srgbClr val="FFFFFF"/>
                  </a:solidFill>
                </a:uFill>
                <a:latin typeface="Calibri"/>
                <a:ea typeface="DejaVu Sans"/>
              </a:rPr>
              <a:t>giai</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đoạn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vận</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hành</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Duy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sự</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thuộc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giữa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để</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được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tầm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ảnh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hưởng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của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Calibri"/>
              <a:ea typeface="DejaVu Sans"/>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Calibri"/>
              </a:rPr>
              <a:t>Thiết</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lập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quy</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trình</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để</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tiếp</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nhận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đề</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xuất</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thay</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đổi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và</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tạo</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sự</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liên</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kết</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với</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các</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yêu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cầu</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hệ</a:t>
            </a:r>
            <a:r>
              <a:rPr lang="en-US" sz="3000" spc="-1" dirty="0">
                <a:solidFill>
                  <a:srgbClr val="000000"/>
                </a:solidFill>
                <a:uFill>
                  <a:solidFill>
                    <a:srgbClr val="FFFFFF"/>
                  </a:solidFill>
                </a:uFill>
                <a:latin typeface="Calibri"/>
              </a:rPr>
              <a:t> </a:t>
            </a:r>
            <a:r>
              <a:rPr lang="en-US" sz="3000" spc="-1" dirty="0" err="1">
                <a:solidFill>
                  <a:srgbClr val="000000"/>
                </a:solidFill>
                <a:uFill>
                  <a:solidFill>
                    <a:srgbClr val="FFFFFF"/>
                  </a:solidFill>
                </a:uFill>
                <a:latin typeface="Calibri"/>
              </a:rPr>
              <a:t>thống</a:t>
            </a:r>
            <a:endParaRPr lang="en-US" sz="3000" b="0" strike="noStrike" spc="-1" dirty="0">
              <a:solidFill>
                <a:srgbClr val="000000"/>
              </a:solidFill>
              <a:uFill>
                <a:solidFill>
                  <a:srgbClr val="FFFFFF"/>
                </a:solidFill>
              </a:uFill>
              <a:latin typeface="Arial"/>
            </a:endParaRPr>
          </a:p>
        </p:txBody>
      </p:sp>
      <p:sp>
        <p:nvSpPr>
          <p:cNvPr id="139"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8D8A1491-762E-4CFB-B13D-D81069BEECF1}" type="slidenum">
              <a:rPr lang="en-US" sz="1100" b="0" strike="noStrike" spc="-1">
                <a:solidFill>
                  <a:srgbClr val="8B8B8B"/>
                </a:solidFill>
                <a:uFill>
                  <a:solidFill>
                    <a:srgbClr val="FFFFFF"/>
                  </a:solidFill>
                </a:uFill>
                <a:latin typeface="Calibri"/>
                <a:ea typeface="DejaVu Sans"/>
              </a:rPr>
              <a:t>26</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26</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Thay đổi yêu cầu</a:t>
            </a:r>
            <a:endParaRPr lang="en-US" sz="4200" b="0" strike="noStrike" spc="-1">
              <a:solidFill>
                <a:srgbClr val="000000"/>
              </a:solidFill>
              <a:uFill>
                <a:solidFill>
                  <a:srgbClr val="FFFFFF"/>
                </a:solidFill>
              </a:uFill>
              <a:latin typeface="Arial"/>
            </a:endParaRPr>
          </a:p>
        </p:txBody>
      </p:sp>
      <p:sp>
        <p:nvSpPr>
          <p:cNvPr id="141"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lnSpcReduction="10000"/>
          </a:bodyPr>
          <a:lstStyle/>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môi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nghiệp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môi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thuật</a:t>
            </a:r>
            <a:endParaRPr lang="en-US" sz="3000" b="0" strike="noStrike" spc="-1" dirty="0">
              <a:solidFill>
                <a:srgbClr val="000000"/>
              </a:solidFill>
              <a:uFill>
                <a:solidFill>
                  <a:srgbClr val="FFFFFF"/>
                </a:solidFill>
              </a:uFill>
              <a:latin typeface="Arial"/>
            </a:endParaRPr>
          </a:p>
          <a:p>
            <a:pPr>
              <a:lnSpc>
                <a:spcPct val="100000"/>
              </a:lnSpc>
              <a:spcBef>
                <a:spcPts val="601"/>
              </a:spcBef>
            </a:pP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dùng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cuối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không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phải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chi </a:t>
            </a:r>
            <a:r>
              <a:rPr lang="en-US" sz="3000" b="0" strike="noStrike" spc="-1" dirty="0" err="1">
                <a:solidFill>
                  <a:srgbClr val="000000"/>
                </a:solidFill>
                <a:uFill>
                  <a:solidFill>
                    <a:srgbClr val="FFFFFF"/>
                  </a:solidFill>
                </a:uFill>
                <a:latin typeface="Calibri"/>
                <a:ea typeface="DejaVu Sans"/>
              </a:rPr>
              <a:t>trả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cho</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phát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triển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thống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từ</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hai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phía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xung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đột</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a:p>
            <a:pPr>
              <a:lnSpc>
                <a:spcPct val="100000"/>
              </a:lnSpc>
              <a:spcBef>
                <a:spcPts val="601"/>
              </a:spcBef>
            </a:pP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Phức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tạp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với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trường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hợp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cộng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đồng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người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dùng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cuối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dạng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lớn</a:t>
            </a:r>
            <a:r>
              <a:rPr lang="en-US" sz="3000" b="0" strike="noStrike" spc="-1" dirty="0">
                <a:solidFill>
                  <a:srgbClr val="000000"/>
                </a:solidFill>
                <a:uFill>
                  <a:solidFill>
                    <a:srgbClr val="FFFFFF"/>
                  </a:solidFill>
                </a:uFill>
                <a:latin typeface="Calibri"/>
                <a:ea typeface="DejaVu Sans"/>
              </a:rPr>
              <a:t>.</a:t>
            </a:r>
            <a:endParaRPr lang="en-US" sz="3000" b="0" strike="noStrike" spc="-1" dirty="0">
              <a:solidFill>
                <a:srgbClr val="000000"/>
              </a:solidFill>
              <a:uFill>
                <a:solidFill>
                  <a:srgbClr val="FFFFFF"/>
                </a:solidFill>
              </a:uFill>
              <a:latin typeface="Arial"/>
            </a:endParaRPr>
          </a:p>
        </p:txBody>
      </p:sp>
      <p:sp>
        <p:nvSpPr>
          <p:cNvPr id="142"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70E18B57-64E6-4C10-A2D6-12B53A013476}" type="slidenum">
              <a:rPr lang="en-US" sz="1100" b="0" strike="noStrike" spc="-1">
                <a:solidFill>
                  <a:srgbClr val="8B8B8B"/>
                </a:solidFill>
                <a:uFill>
                  <a:solidFill>
                    <a:srgbClr val="FFFFFF"/>
                  </a:solidFill>
                </a:uFill>
                <a:latin typeface="Calibri"/>
                <a:ea typeface="DejaVu Sans"/>
              </a:rPr>
              <a:t>27</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27</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dirty="0" err="1">
                <a:solidFill>
                  <a:srgbClr val="0070C0"/>
                </a:solidFill>
                <a:uFill>
                  <a:solidFill>
                    <a:srgbClr val="FFFFFF"/>
                  </a:solidFill>
                </a:uFill>
                <a:latin typeface="Calibri"/>
                <a:ea typeface="DejaVu Sans"/>
              </a:rPr>
              <a:t>Tiến</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hóa</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yêu</a:t>
            </a:r>
            <a:r>
              <a:rPr lang="en-US" sz="4200" b="0" strike="noStrike" spc="-1" dirty="0">
                <a:solidFill>
                  <a:srgbClr val="0070C0"/>
                </a:solidFill>
                <a:uFill>
                  <a:solidFill>
                    <a:srgbClr val="FFFFFF"/>
                  </a:solidFill>
                </a:uFill>
                <a:latin typeface="Calibri"/>
                <a:ea typeface="DejaVu Sans"/>
              </a:rPr>
              <a:t> </a:t>
            </a:r>
            <a:r>
              <a:rPr lang="en-US" sz="4200" b="0" strike="noStrike" spc="-1" dirty="0" err="1">
                <a:solidFill>
                  <a:srgbClr val="0070C0"/>
                </a:solidFill>
                <a:uFill>
                  <a:solidFill>
                    <a:srgbClr val="FFFFFF"/>
                  </a:solidFill>
                </a:uFill>
                <a:latin typeface="Calibri"/>
                <a:ea typeface="DejaVu Sans"/>
              </a:rPr>
              <a:t>cầu</a:t>
            </a:r>
            <a:endParaRPr lang="en-US" sz="4200" b="0" strike="noStrike" spc="-1" dirty="0">
              <a:solidFill>
                <a:srgbClr val="000000"/>
              </a:solidFill>
              <a:uFill>
                <a:solidFill>
                  <a:srgbClr val="FFFFFF"/>
                </a:solidFill>
              </a:uFill>
              <a:latin typeface="Arial"/>
            </a:endParaRPr>
          </a:p>
        </p:txBody>
      </p:sp>
      <p:sp>
        <p:nvSpPr>
          <p:cNvPr id="142"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70E18B57-64E6-4C10-A2D6-12B53A013476}" type="slidenum">
              <a:rPr lang="en-US" sz="1100" b="0" strike="noStrike" spc="-1">
                <a:solidFill>
                  <a:srgbClr val="8B8B8B"/>
                </a:solidFill>
                <a:uFill>
                  <a:solidFill>
                    <a:srgbClr val="FFFFFF"/>
                  </a:solidFill>
                </a:uFill>
                <a:latin typeface="Calibri"/>
                <a:ea typeface="DejaVu Sans"/>
              </a:rPr>
              <a:t>28</a:t>
            </a:fld>
            <a:endParaRPr lang="en-US" sz="1100" b="0" strike="noStrike" spc="-1">
              <a:solidFill>
                <a:srgbClr val="000000"/>
              </a:solidFill>
              <a:uFill>
                <a:solidFill>
                  <a:srgbClr val="FFFFFF"/>
                </a:solidFill>
              </a:uFill>
              <a:latin typeface="Arial"/>
            </a:endParaRPr>
          </a:p>
        </p:txBody>
      </p:sp>
      <p:grpSp>
        <p:nvGrpSpPr>
          <p:cNvPr id="6" name="Group 5"/>
          <p:cNvGrpSpPr/>
          <p:nvPr/>
        </p:nvGrpSpPr>
        <p:grpSpPr>
          <a:xfrm>
            <a:off x="1276350" y="1739900"/>
            <a:ext cx="6629400" cy="4345420"/>
            <a:chOff x="1276350" y="1739900"/>
            <a:chExt cx="6629400" cy="4345420"/>
          </a:xfrm>
        </p:grpSpPr>
        <p:pic>
          <p:nvPicPr>
            <p:cNvPr id="5" name="Picture 4" descr="4.17 ReqEvolu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276350" y="1739900"/>
              <a:ext cx="6261100" cy="4126465"/>
            </a:xfrm>
            <a:prstGeom prst="rect">
              <a:avLst/>
            </a:prstGeom>
          </p:spPr>
        </p:pic>
        <p:sp>
          <p:nvSpPr>
            <p:cNvPr id="2" name="TextBox 1"/>
            <p:cNvSpPr txBox="1"/>
            <p:nvPr/>
          </p:nvSpPr>
          <p:spPr>
            <a:xfrm>
              <a:off x="1349374" y="1900195"/>
              <a:ext cx="1749425" cy="1212675"/>
            </a:xfrm>
            <a:prstGeom prst="rect">
              <a:avLst/>
            </a:prstGeom>
            <a:solidFill>
              <a:schemeClr val="bg1"/>
            </a:solidFill>
          </p:spPr>
          <p:txBody>
            <a:bodyPr wrap="none" rtlCol="0" anchor="ctr">
              <a:noAutofit/>
            </a:bodyPr>
            <a:lstStyle/>
            <a:p>
              <a:pPr algn="ctr"/>
              <a:r>
                <a:rPr lang="en-US" sz="2000" dirty="0" err="1"/>
                <a:t>Hiểu</a:t>
              </a:r>
              <a:r>
                <a:rPr lang="en-US" sz="2000" dirty="0"/>
                <a:t> ban </a:t>
              </a:r>
              <a:r>
                <a:rPr lang="en-US" sz="2000" dirty="0" err="1"/>
                <a:t>đầu</a:t>
              </a:r>
              <a:br>
                <a:rPr lang="en-US" sz="2000" dirty="0"/>
              </a:br>
              <a:r>
                <a:rPr lang="en-US" sz="2000" dirty="0" err="1"/>
                <a:t>về</a:t>
              </a:r>
              <a:r>
                <a:rPr lang="en-US" sz="2000" dirty="0"/>
                <a:t> </a:t>
              </a:r>
              <a:r>
                <a:rPr lang="en-US" sz="2000" dirty="0" err="1"/>
                <a:t>vấn</a:t>
              </a:r>
              <a:r>
                <a:rPr lang="en-US" sz="2000" dirty="0"/>
                <a:t> </a:t>
              </a:r>
              <a:r>
                <a:rPr lang="en-US" sz="2000" dirty="0" err="1"/>
                <a:t>đề</a:t>
              </a:r>
              <a:endParaRPr lang="en-US" sz="2000" dirty="0"/>
            </a:p>
          </p:txBody>
        </p:sp>
        <p:sp>
          <p:nvSpPr>
            <p:cNvPr id="7" name="TextBox 6"/>
            <p:cNvSpPr txBox="1"/>
            <p:nvPr/>
          </p:nvSpPr>
          <p:spPr>
            <a:xfrm>
              <a:off x="1422399" y="4073680"/>
              <a:ext cx="1582091" cy="900022"/>
            </a:xfrm>
            <a:prstGeom prst="rect">
              <a:avLst/>
            </a:prstGeom>
            <a:solidFill>
              <a:schemeClr val="bg1"/>
            </a:solidFill>
          </p:spPr>
          <p:txBody>
            <a:bodyPr wrap="square" rtlCol="0" anchor="ctr">
              <a:noAutofit/>
            </a:bodyPr>
            <a:lstStyle/>
            <a:p>
              <a:pPr algn="ctr"/>
              <a:r>
                <a:rPr lang="en-US" sz="2000" dirty="0" err="1"/>
                <a:t>Yêu</a:t>
              </a:r>
              <a:r>
                <a:rPr lang="en-US" sz="2000" dirty="0"/>
                <a:t> </a:t>
              </a:r>
              <a:r>
                <a:rPr lang="en-US" sz="2000" dirty="0" err="1"/>
                <a:t>cầu</a:t>
              </a:r>
              <a:br>
                <a:rPr lang="en-US" sz="2000" dirty="0"/>
              </a:br>
              <a:r>
                <a:rPr lang="en-US" sz="2000" dirty="0"/>
                <a:t>ban </a:t>
              </a:r>
              <a:r>
                <a:rPr lang="en-US" sz="2000" dirty="0" err="1"/>
                <a:t>đầu</a:t>
              </a:r>
              <a:endParaRPr lang="en-US" sz="2000" dirty="0"/>
            </a:p>
          </p:txBody>
        </p:sp>
        <p:sp>
          <p:nvSpPr>
            <p:cNvPr id="8" name="TextBox 7"/>
            <p:cNvSpPr txBox="1"/>
            <p:nvPr/>
          </p:nvSpPr>
          <p:spPr>
            <a:xfrm>
              <a:off x="5051425" y="1921104"/>
              <a:ext cx="1749425" cy="1212675"/>
            </a:xfrm>
            <a:prstGeom prst="rect">
              <a:avLst/>
            </a:prstGeom>
            <a:solidFill>
              <a:schemeClr val="bg1"/>
            </a:solidFill>
          </p:spPr>
          <p:txBody>
            <a:bodyPr wrap="none" rtlCol="0" anchor="ctr">
              <a:noAutofit/>
            </a:bodyPr>
            <a:lstStyle/>
            <a:p>
              <a:pPr algn="ctr"/>
              <a:r>
                <a:rPr lang="en-US" sz="2000" dirty="0" err="1"/>
                <a:t>Thay</a:t>
              </a:r>
              <a:r>
                <a:rPr lang="en-US" sz="2000" dirty="0"/>
                <a:t> </a:t>
              </a:r>
              <a:r>
                <a:rPr lang="en-US" sz="2000" dirty="0" err="1"/>
                <a:t>đổi</a:t>
              </a:r>
              <a:r>
                <a:rPr lang="en-US" sz="2000" dirty="0"/>
                <a:t> </a:t>
              </a:r>
              <a:r>
                <a:rPr lang="en-US" sz="2000" dirty="0" err="1"/>
                <a:t>trong</a:t>
              </a:r>
              <a:br>
                <a:rPr lang="en-US" sz="2000" dirty="0"/>
              </a:br>
              <a:r>
                <a:rPr lang="en-US" sz="2000" dirty="0" err="1"/>
                <a:t>hiểu</a:t>
              </a:r>
              <a:r>
                <a:rPr lang="en-US" sz="2000" dirty="0"/>
                <a:t> </a:t>
              </a:r>
              <a:r>
                <a:rPr lang="en-US" sz="2000" dirty="0" err="1"/>
                <a:t>vấn</a:t>
              </a:r>
              <a:r>
                <a:rPr lang="en-US" sz="2000" dirty="0"/>
                <a:t> </a:t>
              </a:r>
              <a:r>
                <a:rPr lang="en-US" sz="2000" dirty="0" err="1"/>
                <a:t>đề</a:t>
              </a:r>
              <a:endParaRPr lang="en-US" sz="2000" dirty="0"/>
            </a:p>
          </p:txBody>
        </p:sp>
        <p:sp>
          <p:nvSpPr>
            <p:cNvPr id="9" name="TextBox 8"/>
            <p:cNvSpPr txBox="1"/>
            <p:nvPr/>
          </p:nvSpPr>
          <p:spPr>
            <a:xfrm>
              <a:off x="5695950" y="4064194"/>
              <a:ext cx="1582885" cy="909507"/>
            </a:xfrm>
            <a:prstGeom prst="rect">
              <a:avLst/>
            </a:prstGeom>
            <a:solidFill>
              <a:schemeClr val="bg1"/>
            </a:solidFill>
          </p:spPr>
          <p:txBody>
            <a:bodyPr wrap="none" rtlCol="0" anchor="ctr">
              <a:noAutofit/>
            </a:bodyPr>
            <a:lstStyle/>
            <a:p>
              <a:pPr algn="ctr"/>
              <a:r>
                <a:rPr lang="en-US" sz="2000" dirty="0" err="1"/>
                <a:t>Yêu</a:t>
              </a:r>
              <a:r>
                <a:rPr lang="en-US" sz="2000" dirty="0"/>
                <a:t> </a:t>
              </a:r>
              <a:r>
                <a:rPr lang="en-US" sz="2000" dirty="0" err="1"/>
                <a:t>cầu</a:t>
              </a:r>
              <a:r>
                <a:rPr lang="en-US" sz="2000" dirty="0"/>
                <a:t> </a:t>
              </a:r>
              <a:r>
                <a:rPr lang="en-US" sz="2000" dirty="0" err="1"/>
                <a:t>được</a:t>
              </a:r>
              <a:br>
                <a:rPr lang="en-US" sz="2000" dirty="0"/>
              </a:br>
              <a:r>
                <a:rPr lang="en-US" sz="2000" dirty="0" err="1"/>
                <a:t>thay</a:t>
              </a:r>
              <a:r>
                <a:rPr lang="en-US" sz="2000" dirty="0"/>
                <a:t> </a:t>
              </a:r>
              <a:r>
                <a:rPr lang="en-US" sz="2000" dirty="0" err="1"/>
                <a:t>đổi</a:t>
              </a:r>
              <a:endParaRPr lang="en-US" sz="2000" dirty="0"/>
            </a:p>
          </p:txBody>
        </p:sp>
        <p:sp>
          <p:nvSpPr>
            <p:cNvPr id="10" name="TextBox 9"/>
            <p:cNvSpPr txBox="1"/>
            <p:nvPr/>
          </p:nvSpPr>
          <p:spPr>
            <a:xfrm>
              <a:off x="6322865" y="5478982"/>
              <a:ext cx="1582885" cy="606338"/>
            </a:xfrm>
            <a:prstGeom prst="rect">
              <a:avLst/>
            </a:prstGeom>
            <a:solidFill>
              <a:schemeClr val="bg1"/>
            </a:solidFill>
          </p:spPr>
          <p:txBody>
            <a:bodyPr wrap="none" rtlCol="0" anchor="ctr">
              <a:noAutofit/>
            </a:bodyPr>
            <a:lstStyle/>
            <a:p>
              <a:pPr algn="ctr"/>
              <a:r>
                <a:rPr lang="en-US" sz="2000" dirty="0" err="1"/>
                <a:t>Thời</a:t>
              </a:r>
              <a:r>
                <a:rPr lang="en-US" sz="2000" dirty="0"/>
                <a:t> </a:t>
              </a:r>
              <a:r>
                <a:rPr lang="en-US" sz="2000" dirty="0" err="1"/>
                <a:t>gian</a:t>
              </a:r>
              <a:endParaRPr lang="en-US" sz="2000" dirty="0"/>
            </a:p>
          </p:txBody>
        </p:sp>
      </p:gr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DD031BC6-5C94-4CD4-B195-0CCA50D36433}" type="slidenum">
              <a:rPr lang="en-US" smtClean="0"/>
              <a:pPr>
                <a:defRPr/>
              </a:pPr>
              <a:t>28</a:t>
            </a:fld>
            <a:endParaRPr lang="en-US"/>
          </a:p>
        </p:txBody>
      </p:sp>
    </p:spTree>
    <p:extLst>
      <p:ext uri="{BB962C8B-B14F-4D97-AF65-F5344CB8AC3E}">
        <p14:creationId xmlns:p14="http://schemas.microsoft.com/office/powerpoint/2010/main" val="367777052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Lập kế hoạch quản lý yêu cầu</a:t>
            </a:r>
            <a:endParaRPr lang="en-US" sz="4200" b="0" strike="noStrike" spc="-1">
              <a:solidFill>
                <a:srgbClr val="000000"/>
              </a:solidFill>
              <a:uFill>
                <a:solidFill>
                  <a:srgbClr val="FFFFFF"/>
                </a:solidFill>
              </a:uFill>
              <a:latin typeface="Arial"/>
            </a:endParaRPr>
          </a:p>
        </p:txBody>
      </p:sp>
      <p:sp>
        <p:nvSpPr>
          <p:cNvPr id="144"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a:lnSpc>
                <a:spcPct val="100000"/>
              </a:lnSpc>
              <a:spcBef>
                <a:spcPts val="601"/>
              </a:spcBef>
            </a:pPr>
            <a:r>
              <a:rPr lang="en-US" sz="3000" b="0" strike="noStrike" spc="-1" dirty="0" err="1">
                <a:solidFill>
                  <a:srgbClr val="000000"/>
                </a:solidFill>
                <a:uFill>
                  <a:solidFill>
                    <a:srgbClr val="FFFFFF"/>
                  </a:solidFill>
                </a:uFill>
                <a:latin typeface="Calibri"/>
                <a:ea typeface="DejaVu Sans"/>
              </a:rPr>
              <a:t>Các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quyết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định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spc="-1" dirty="0" err="1">
                <a:solidFill>
                  <a:srgbClr val="000000"/>
                </a:solidFill>
                <a:uFill>
                  <a:solidFill>
                    <a:srgbClr val="FFFFFF"/>
                  </a:solidFill>
                </a:uFill>
                <a:latin typeface="Calibri"/>
                <a:ea typeface="DejaVu Sans"/>
              </a:rPr>
              <a:t>Định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danh</a:t>
            </a:r>
            <a:r>
              <a:rPr lang="en-US" sz="3000" spc="-1" dirty="0">
                <a:solidFill>
                  <a:srgbClr val="000000"/>
                </a:solidFill>
                <a:uFill>
                  <a:solidFill>
                    <a:srgbClr val="FFFFFF"/>
                  </a:solidFill>
                </a:uFill>
                <a:latin typeface="Calibri"/>
                <a:ea typeface="DejaVu Sans"/>
              </a:rPr>
              <a:t> </a:t>
            </a:r>
            <a:r>
              <a:rPr lang="en-US" sz="3000" spc="-1" dirty="0" err="1">
                <a:solidFill>
                  <a:srgbClr val="000000"/>
                </a:solidFill>
                <a:uFill>
                  <a:solidFill>
                    <a:srgbClr val="FFFFFF"/>
                  </a:solidFill>
                </a:uFill>
                <a:latin typeface="Calibri"/>
                <a:ea typeface="DejaVu Sans"/>
              </a:rPr>
              <a:t>các</a:t>
            </a:r>
            <a:r>
              <a:rPr lang="en-US" sz="3000"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Quy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Chính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sách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lần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vết</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Công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cụ</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hỗ</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trợ</a:t>
            </a:r>
            <a:endParaRPr lang="en-US" sz="3000" b="0" strike="noStrike" spc="-1" dirty="0">
              <a:solidFill>
                <a:srgbClr val="000000"/>
              </a:solidFill>
              <a:uFill>
                <a:solidFill>
                  <a:srgbClr val="FFFFFF"/>
                </a:solidFill>
              </a:uFill>
              <a:latin typeface="Arial"/>
            </a:endParaRPr>
          </a:p>
        </p:txBody>
      </p:sp>
      <p:sp>
        <p:nvSpPr>
          <p:cNvPr id="145"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988E75CF-E648-412B-A004-39486632EAC6}" type="slidenum">
              <a:rPr lang="en-US" sz="1100" b="0" strike="noStrike" spc="-1">
                <a:solidFill>
                  <a:srgbClr val="8B8B8B"/>
                </a:solidFill>
                <a:uFill>
                  <a:solidFill>
                    <a:srgbClr val="FFFFFF"/>
                  </a:solidFill>
                </a:uFill>
                <a:latin typeface="Calibri"/>
                <a:ea typeface="DejaVu Sans"/>
              </a:rPr>
              <a:t>29</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29</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chor="ctr"/>
          <a:lstStyle/>
          <a:p>
            <a:pPr algn="ctr">
              <a:lnSpc>
                <a:spcPct val="100000"/>
              </a:lnSpc>
            </a:pPr>
            <a:r>
              <a:rPr lang="en-US" sz="4200" b="0" strike="noStrike" spc="-1">
                <a:solidFill>
                  <a:srgbClr val="0070C0"/>
                </a:solidFill>
                <a:uFill>
                  <a:solidFill>
                    <a:srgbClr val="FFFFFF"/>
                  </a:solidFill>
                </a:uFill>
                <a:latin typeface="Calibri"/>
                <a:ea typeface="DejaVu Sans"/>
              </a:rPr>
              <a:t>Quản lý thay đổi yêu cầu</a:t>
            </a:r>
            <a:endParaRPr lang="en-US" sz="4200" b="0" strike="noStrike" spc="-1">
              <a:solidFill>
                <a:srgbClr val="000000"/>
              </a:solidFill>
              <a:uFill>
                <a:solidFill>
                  <a:srgbClr val="FFFFFF"/>
                </a:solidFill>
              </a:uFill>
              <a:latin typeface="Arial"/>
            </a:endParaRPr>
          </a:p>
        </p:txBody>
      </p:sp>
      <p:sp>
        <p:nvSpPr>
          <p:cNvPr id="147"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a:lnSpc>
                <a:spcPct val="100000"/>
              </a:lnSpc>
              <a:spcBef>
                <a:spcPts val="601"/>
              </a:spcBef>
            </a:pPr>
            <a:r>
              <a:rPr lang="en-US" sz="3000" b="0" strike="noStrike" spc="-1" dirty="0" err="1">
                <a:solidFill>
                  <a:srgbClr val="000000"/>
                </a:solidFill>
                <a:uFill>
                  <a:solidFill>
                    <a:srgbClr val="FFFFFF"/>
                  </a:solidFill>
                </a:uFill>
                <a:latin typeface="Calibri"/>
                <a:ea typeface="DejaVu Sans"/>
              </a:rPr>
              <a:t>Cần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quyết</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định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việc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chấp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nhận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Phân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vấn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đề</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đặc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tả</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sự</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Phân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tầm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ảnh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hưởng</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chi </a:t>
            </a:r>
            <a:r>
              <a:rPr lang="en-US" sz="3000" b="0" strike="noStrike" spc="-1" dirty="0" err="1">
                <a:solidFill>
                  <a:srgbClr val="000000"/>
                </a:solidFill>
                <a:uFill>
                  <a:solidFill>
                    <a:srgbClr val="FFFFFF"/>
                  </a:solidFill>
                </a:uFill>
                <a:latin typeface="Calibri"/>
                <a:ea typeface="DejaVu Sans"/>
              </a:rPr>
              <a:t>phí</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của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0000"/>
              </a:buClr>
              <a:buFont typeface="Arial"/>
              <a:buChar char="•"/>
            </a:pPr>
            <a:r>
              <a:rPr lang="en-US" sz="3000" b="0" strike="noStrike" spc="-1" dirty="0" err="1">
                <a:solidFill>
                  <a:srgbClr val="000000"/>
                </a:solidFill>
                <a:uFill>
                  <a:solidFill>
                    <a:srgbClr val="FFFFFF"/>
                  </a:solidFill>
                </a:uFill>
                <a:latin typeface="Calibri"/>
                <a:ea typeface="DejaVu Sans"/>
              </a:rPr>
              <a:t>Cài</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đặt</a:t>
            </a:r>
            <a:r>
              <a:rPr lang="en-US" sz="3000" b="0" strike="noStrike" spc="-1" dirty="0">
                <a:solidFill>
                  <a:srgbClr val="000000"/>
                </a:solidFill>
                <a:uFill>
                  <a:solidFill>
                    <a:srgbClr val="FFFFFF"/>
                  </a:solidFill>
                </a:uFill>
                <a:latin typeface="Calibri"/>
                <a:ea typeface="DejaVu Sans"/>
              </a:rPr>
              <a:t>/</a:t>
            </a:r>
            <a:r>
              <a:rPr lang="en-US" sz="3000" b="0" strike="noStrike" spc="-1" dirty="0" err="1">
                <a:solidFill>
                  <a:srgbClr val="000000"/>
                </a:solidFill>
                <a:uFill>
                  <a:solidFill>
                    <a:srgbClr val="FFFFFF"/>
                  </a:solidFill>
                </a:uFill>
                <a:latin typeface="Calibri"/>
                <a:ea typeface="DejaVu Sans"/>
              </a:rPr>
              <a:t>hiện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thực</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hóa</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sự</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thay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đổi</a:t>
            </a:r>
            <a:endParaRPr lang="en-US" sz="3000" b="0" strike="noStrike" spc="-1" dirty="0">
              <a:solidFill>
                <a:srgbClr val="000000"/>
              </a:solidFill>
              <a:uFill>
                <a:solidFill>
                  <a:srgbClr val="FFFFFF"/>
                </a:solidFill>
              </a:uFill>
              <a:latin typeface="Arial"/>
            </a:endParaRPr>
          </a:p>
        </p:txBody>
      </p:sp>
      <p:sp>
        <p:nvSpPr>
          <p:cNvPr id="148"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E9B816B7-079F-45FA-9475-1B63DC60E137}" type="slidenum">
              <a:rPr lang="en-US" sz="1100" b="0" strike="noStrike" spc="-1">
                <a:solidFill>
                  <a:srgbClr val="8B8B8B"/>
                </a:solidFill>
                <a:uFill>
                  <a:solidFill>
                    <a:srgbClr val="FFFFFF"/>
                  </a:solidFill>
                </a:uFill>
                <a:latin typeface="Calibri"/>
                <a:ea typeface="DejaVu Sans"/>
              </a:rPr>
              <a:t>30</a:t>
            </a:fld>
            <a:endParaRPr lang="en-US" sz="1100" b="0" strike="noStrike" spc="-1">
              <a:solidFill>
                <a:srgbClr val="000000"/>
              </a:solidFill>
              <a:uFill>
                <a:solidFill>
                  <a:srgbClr val="FFFFFF"/>
                </a:solidFill>
              </a:uFill>
              <a:latin typeface="Arial"/>
            </a:endParaRPr>
          </a:p>
        </p:txBody>
      </p:sp>
      <p:grpSp>
        <p:nvGrpSpPr>
          <p:cNvPr id="3" name="Group 2"/>
          <p:cNvGrpSpPr/>
          <p:nvPr/>
        </p:nvGrpSpPr>
        <p:grpSpPr>
          <a:xfrm>
            <a:off x="69850" y="4521200"/>
            <a:ext cx="8978900" cy="1104900"/>
            <a:chOff x="69850" y="4521200"/>
            <a:chExt cx="8978900" cy="1104900"/>
          </a:xfrm>
        </p:grpSpPr>
        <p:pic>
          <p:nvPicPr>
            <p:cNvPr id="5" name="Picture 4" descr="4.18 ReqChangeMa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6798" y="4572000"/>
              <a:ext cx="8661952" cy="1054100"/>
            </a:xfrm>
            <a:prstGeom prst="rect">
              <a:avLst/>
            </a:prstGeom>
          </p:spPr>
        </p:pic>
        <p:sp>
          <p:nvSpPr>
            <p:cNvPr id="2" name="TextBox 1"/>
            <p:cNvSpPr txBox="1"/>
            <p:nvPr/>
          </p:nvSpPr>
          <p:spPr>
            <a:xfrm>
              <a:off x="69850" y="4559300"/>
              <a:ext cx="1219200" cy="533400"/>
            </a:xfrm>
            <a:prstGeom prst="rect">
              <a:avLst/>
            </a:prstGeom>
            <a:solidFill>
              <a:schemeClr val="bg1"/>
            </a:solidFill>
            <a:ln>
              <a:noFill/>
            </a:ln>
          </p:spPr>
          <p:txBody>
            <a:bodyPr wrap="none" rtlCol="0">
              <a:noAutofit/>
            </a:bodyPr>
            <a:lstStyle/>
            <a:p>
              <a:pPr algn="ctr"/>
              <a:r>
                <a:rPr lang="en-US" sz="1400" dirty="0" err="1"/>
                <a:t>Vấn</a:t>
              </a:r>
              <a:r>
                <a:rPr lang="en-US" sz="1400" dirty="0"/>
                <a:t> </a:t>
              </a:r>
              <a:r>
                <a:rPr lang="en-US" sz="1400" dirty="0" err="1"/>
                <a:t>đề</a:t>
              </a:r>
              <a:br>
                <a:rPr lang="en-US" sz="1400" dirty="0"/>
              </a:br>
              <a:r>
                <a:rPr lang="en-US" sz="1400" dirty="0" err="1"/>
                <a:t>được</a:t>
              </a:r>
              <a:r>
                <a:rPr lang="en-US" sz="1400" dirty="0"/>
                <a:t> </a:t>
              </a:r>
              <a:r>
                <a:rPr lang="en-US" sz="1400" dirty="0" err="1"/>
                <a:t>xác</a:t>
              </a:r>
              <a:r>
                <a:rPr lang="en-US" sz="1400" dirty="0"/>
                <a:t> </a:t>
              </a:r>
              <a:r>
                <a:rPr lang="en-US" sz="1400" dirty="0" err="1"/>
                <a:t>định</a:t>
              </a:r>
              <a:endParaRPr lang="en-US" sz="1400" dirty="0"/>
            </a:p>
          </p:txBody>
        </p:sp>
        <p:sp>
          <p:nvSpPr>
            <p:cNvPr id="7" name="TextBox 6"/>
            <p:cNvSpPr txBox="1"/>
            <p:nvPr/>
          </p:nvSpPr>
          <p:spPr>
            <a:xfrm>
              <a:off x="7753350" y="4521200"/>
              <a:ext cx="1295400" cy="533400"/>
            </a:xfrm>
            <a:prstGeom prst="rect">
              <a:avLst/>
            </a:prstGeom>
            <a:solidFill>
              <a:schemeClr val="bg1"/>
            </a:solidFill>
            <a:ln>
              <a:noFill/>
            </a:ln>
          </p:spPr>
          <p:txBody>
            <a:bodyPr wrap="none" rtlCol="0">
              <a:noAutofit/>
            </a:bodyPr>
            <a:lstStyle/>
            <a:p>
              <a:pPr algn="ctr"/>
              <a:r>
                <a:rPr lang="en-US" sz="1400" dirty="0" err="1"/>
                <a:t>Yêu</a:t>
              </a:r>
              <a:r>
                <a:rPr lang="en-US" sz="1400" dirty="0"/>
                <a:t> </a:t>
              </a:r>
              <a:r>
                <a:rPr lang="en-US" sz="1400" dirty="0" err="1"/>
                <a:t>cầu</a:t>
              </a:r>
              <a:br>
                <a:rPr lang="en-US" sz="1400" dirty="0"/>
              </a:br>
              <a:r>
                <a:rPr lang="en-US" sz="1400" dirty="0" err="1"/>
                <a:t>được</a:t>
              </a:r>
              <a:r>
                <a:rPr lang="en-US" sz="1400" dirty="0"/>
                <a:t> </a:t>
              </a:r>
              <a:r>
                <a:rPr lang="en-US" sz="1400" dirty="0" err="1"/>
                <a:t>cập</a:t>
              </a:r>
              <a:r>
                <a:rPr lang="en-US" sz="1400" dirty="0"/>
                <a:t> </a:t>
              </a:r>
              <a:r>
                <a:rPr lang="en-US" sz="1400" dirty="0" err="1"/>
                <a:t>nhật</a:t>
              </a:r>
              <a:endParaRPr lang="en-US" sz="1400" dirty="0"/>
            </a:p>
          </p:txBody>
        </p:sp>
        <p:sp>
          <p:nvSpPr>
            <p:cNvPr id="8" name="TextBox 7"/>
            <p:cNvSpPr txBox="1"/>
            <p:nvPr/>
          </p:nvSpPr>
          <p:spPr>
            <a:xfrm>
              <a:off x="1454150" y="4864100"/>
              <a:ext cx="1981200" cy="533400"/>
            </a:xfrm>
            <a:prstGeom prst="rect">
              <a:avLst/>
            </a:prstGeom>
            <a:solidFill>
              <a:schemeClr val="bg1"/>
            </a:solidFill>
            <a:ln>
              <a:noFill/>
            </a:ln>
          </p:spPr>
          <p:txBody>
            <a:bodyPr wrap="none" rtlCol="0">
              <a:noAutofit/>
            </a:bodyPr>
            <a:lstStyle/>
            <a:p>
              <a:pPr algn="ctr"/>
              <a:r>
                <a:rPr lang="en-US" sz="1400" dirty="0" err="1"/>
                <a:t>Phân</a:t>
              </a:r>
              <a:r>
                <a:rPr lang="en-US" sz="1400" dirty="0"/>
                <a:t> </a:t>
              </a:r>
              <a:r>
                <a:rPr lang="en-US" sz="1400" dirty="0" err="1"/>
                <a:t>tích</a:t>
              </a:r>
              <a:r>
                <a:rPr lang="en-US" sz="1400" dirty="0"/>
                <a:t> </a:t>
              </a:r>
              <a:r>
                <a:rPr lang="en-US" sz="1400" dirty="0" err="1"/>
                <a:t>vấn</a:t>
              </a:r>
              <a:r>
                <a:rPr lang="en-US" sz="1400" dirty="0"/>
                <a:t> </a:t>
              </a:r>
              <a:r>
                <a:rPr lang="en-US" sz="1400" dirty="0" err="1"/>
                <a:t>đề</a:t>
              </a:r>
              <a:br>
                <a:rPr lang="en-US" sz="1400" dirty="0"/>
              </a:br>
              <a:r>
                <a:rPr lang="en-US" sz="1400" dirty="0" err="1"/>
                <a:t>và</a:t>
              </a:r>
              <a:r>
                <a:rPr lang="en-US" sz="1400" dirty="0"/>
                <a:t> </a:t>
              </a:r>
              <a:r>
                <a:rPr lang="en-US" sz="1400" dirty="0" err="1"/>
                <a:t>đặc</a:t>
              </a:r>
              <a:r>
                <a:rPr lang="en-US" sz="1400" dirty="0"/>
                <a:t> </a:t>
              </a:r>
              <a:r>
                <a:rPr lang="en-US" sz="1400" dirty="0" err="1"/>
                <a:t>tả</a:t>
              </a:r>
              <a:r>
                <a:rPr lang="en-US" sz="1400" dirty="0"/>
                <a:t> </a:t>
              </a:r>
              <a:r>
                <a:rPr lang="en-US" sz="1400" dirty="0" err="1"/>
                <a:t>thay</a:t>
              </a:r>
              <a:r>
                <a:rPr lang="en-US" sz="1400" dirty="0"/>
                <a:t> </a:t>
              </a:r>
              <a:r>
                <a:rPr lang="en-US" sz="1400" dirty="0" err="1"/>
                <a:t>đổi</a:t>
              </a:r>
              <a:endParaRPr lang="en-US" sz="1400" dirty="0"/>
            </a:p>
          </p:txBody>
        </p:sp>
        <p:sp>
          <p:nvSpPr>
            <p:cNvPr id="9" name="TextBox 8"/>
            <p:cNvSpPr txBox="1"/>
            <p:nvPr/>
          </p:nvSpPr>
          <p:spPr>
            <a:xfrm>
              <a:off x="4044950" y="4838700"/>
              <a:ext cx="1524000" cy="533400"/>
            </a:xfrm>
            <a:prstGeom prst="rect">
              <a:avLst/>
            </a:prstGeom>
            <a:solidFill>
              <a:schemeClr val="bg1"/>
            </a:solidFill>
            <a:ln>
              <a:noFill/>
            </a:ln>
          </p:spPr>
          <p:txBody>
            <a:bodyPr wrap="none" rtlCol="0">
              <a:noAutofit/>
            </a:bodyPr>
            <a:lstStyle/>
            <a:p>
              <a:pPr algn="ctr"/>
              <a:r>
                <a:rPr lang="en-US" sz="1400" dirty="0" err="1"/>
                <a:t>Phân</a:t>
              </a:r>
              <a:r>
                <a:rPr lang="en-US" sz="1400" dirty="0"/>
                <a:t> </a:t>
              </a:r>
              <a:r>
                <a:rPr lang="en-US" sz="1400" dirty="0" err="1"/>
                <a:t>tích</a:t>
              </a:r>
              <a:r>
                <a:rPr lang="en-US" sz="1400" dirty="0"/>
                <a:t> </a:t>
              </a:r>
              <a:r>
                <a:rPr lang="en-US" sz="1400" dirty="0" err="1"/>
                <a:t>thay</a:t>
              </a:r>
              <a:r>
                <a:rPr lang="en-US" sz="1400" dirty="0"/>
                <a:t> </a:t>
              </a:r>
              <a:r>
                <a:rPr lang="en-US" sz="1400" dirty="0" err="1"/>
                <a:t>đổi</a:t>
              </a:r>
              <a:br>
                <a:rPr lang="en-US" sz="1400" dirty="0"/>
              </a:br>
              <a:r>
                <a:rPr lang="en-US" sz="1400" dirty="0" err="1"/>
                <a:t>và</a:t>
              </a:r>
              <a:r>
                <a:rPr lang="en-US" sz="1400" dirty="0"/>
                <a:t> chi phi</a:t>
              </a:r>
            </a:p>
          </p:txBody>
        </p:sp>
        <p:sp>
          <p:nvSpPr>
            <p:cNvPr id="10" name="TextBox 9"/>
            <p:cNvSpPr txBox="1"/>
            <p:nvPr/>
          </p:nvSpPr>
          <p:spPr>
            <a:xfrm>
              <a:off x="6229350" y="4864100"/>
              <a:ext cx="1358010" cy="533400"/>
            </a:xfrm>
            <a:prstGeom prst="rect">
              <a:avLst/>
            </a:prstGeom>
            <a:solidFill>
              <a:schemeClr val="bg1"/>
            </a:solidFill>
            <a:ln>
              <a:noFill/>
            </a:ln>
          </p:spPr>
          <p:txBody>
            <a:bodyPr wrap="none" rtlCol="0">
              <a:noAutofit/>
            </a:bodyPr>
            <a:lstStyle/>
            <a:p>
              <a:pPr algn="ctr"/>
              <a:r>
                <a:rPr lang="en-US" sz="1400" dirty="0" err="1"/>
                <a:t>Cài</a:t>
              </a:r>
              <a:r>
                <a:rPr lang="en-US" sz="1400" dirty="0"/>
                <a:t> </a:t>
              </a:r>
              <a:r>
                <a:rPr lang="en-US" sz="1400" dirty="0" err="1"/>
                <a:t>đặt</a:t>
              </a:r>
              <a:br>
                <a:rPr lang="en-US" sz="1400" dirty="0"/>
              </a:br>
              <a:r>
                <a:rPr lang="en-US" sz="1400" dirty="0" err="1"/>
                <a:t>sự</a:t>
              </a:r>
              <a:r>
                <a:rPr lang="en-US" sz="1400" dirty="0"/>
                <a:t> </a:t>
              </a:r>
              <a:r>
                <a:rPr lang="en-US" sz="1400" dirty="0" err="1"/>
                <a:t>thay</a:t>
              </a:r>
              <a:r>
                <a:rPr lang="en-US" sz="1400" dirty="0"/>
                <a:t> </a:t>
              </a:r>
              <a:r>
                <a:rPr lang="en-US" sz="1400" dirty="0" err="1"/>
                <a:t>đổi</a:t>
              </a:r>
              <a:endParaRPr lang="en-US" sz="1400" dirty="0"/>
            </a:p>
          </p:txBody>
        </p:sp>
      </p:grpSp>
      <p:sp>
        <p:nvSpPr>
          <p:cNvPr id="4" name="Footer Placeholder 3"/>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p>
            <a:pPr>
              <a:defRPr/>
            </a:pPr>
            <a:fld id="{DD031BC6-5C94-4CD4-B195-0CCA50D36433}" type="slidenum">
              <a:rPr lang="en-US" smtClean="0"/>
              <a:pPr>
                <a:defRPr/>
              </a:pPr>
              <a:t>30</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E349C4-F937-D2CA-7EA8-AAFCA63A8764}"/>
              </a:ext>
            </a:extLst>
          </p:cNvPr>
          <p:cNvSpPr>
            <a:spLocks noGrp="1"/>
          </p:cNvSpPr>
          <p:nvPr>
            <p:ph type="title"/>
          </p:nvPr>
        </p:nvSpPr>
        <p:spPr/>
        <p:txBody>
          <a:bodyPr/>
          <a:lstStyle/>
          <a:p>
            <a:r>
              <a:rPr lang="en-US"/>
              <a:t>Bài tập thực hành</a:t>
            </a:r>
          </a:p>
        </p:txBody>
      </p:sp>
      <p:sp>
        <p:nvSpPr>
          <p:cNvPr id="5" name="Content Placeholder 4">
            <a:extLst>
              <a:ext uri="{FF2B5EF4-FFF2-40B4-BE49-F238E27FC236}">
                <a16:creationId xmlns:a16="http://schemas.microsoft.com/office/drawing/2014/main" id="{B7F443A3-D80D-6083-A358-5C523C720399}"/>
              </a:ext>
            </a:extLst>
          </p:cNvPr>
          <p:cNvSpPr>
            <a:spLocks noGrp="1"/>
          </p:cNvSpPr>
          <p:nvPr>
            <p:ph idx="1"/>
          </p:nvPr>
        </p:nvSpPr>
        <p:spPr/>
        <p:txBody>
          <a:bodyPr/>
          <a:lstStyle/>
          <a:p>
            <a:r>
              <a:rPr lang="en-US"/>
              <a:t>Viết đặc tả yêu cầu và biểu đồ UML về ca sử dụng của đề tài tự chọn</a:t>
            </a:r>
          </a:p>
        </p:txBody>
      </p:sp>
      <p:sp>
        <p:nvSpPr>
          <p:cNvPr id="2" name="Footer Placeholder 1">
            <a:extLst>
              <a:ext uri="{FF2B5EF4-FFF2-40B4-BE49-F238E27FC236}">
                <a16:creationId xmlns:a16="http://schemas.microsoft.com/office/drawing/2014/main" id="{361EDC44-B140-93F2-A618-128703A98E02}"/>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a:extLst>
              <a:ext uri="{FF2B5EF4-FFF2-40B4-BE49-F238E27FC236}">
                <a16:creationId xmlns:a16="http://schemas.microsoft.com/office/drawing/2014/main" id="{C8E91DDC-2218-DFD5-E491-CFB563CCFE37}"/>
              </a:ext>
            </a:extLst>
          </p:cNvPr>
          <p:cNvSpPr>
            <a:spLocks noGrp="1"/>
          </p:cNvSpPr>
          <p:nvPr>
            <p:ph type="sldNum" sz="quarter" idx="12"/>
          </p:nvPr>
        </p:nvSpPr>
        <p:spPr/>
        <p:txBody>
          <a:bodyPr/>
          <a:lstStyle/>
          <a:p>
            <a:pPr>
              <a:defRPr/>
            </a:pPr>
            <a:fld id="{DD031BC6-5C94-4CD4-B195-0CCA50D36433}" type="slidenum">
              <a:rPr lang="en-US" smtClean="0"/>
              <a:pPr>
                <a:defRPr/>
              </a:pPr>
              <a:t>31</a:t>
            </a:fld>
            <a:endParaRPr lang="en-US"/>
          </a:p>
        </p:txBody>
      </p:sp>
    </p:spTree>
    <p:extLst>
      <p:ext uri="{BB962C8B-B14F-4D97-AF65-F5344CB8AC3E}">
        <p14:creationId xmlns:p14="http://schemas.microsoft.com/office/powerpoint/2010/main" val="216347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53A8-E1CB-B448-99FA-D9829F13F5FE}"/>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289AFC4C-E064-BB4D-5025-D0916B143B69}"/>
              </a:ext>
            </a:extLst>
          </p:cNvPr>
          <p:cNvSpPr>
            <a:spLocks noGrp="1"/>
          </p:cNvSpPr>
          <p:nvPr>
            <p:ph idx="1"/>
          </p:nvPr>
        </p:nvSpPr>
        <p:spPr/>
        <p:txBody>
          <a:bodyPr/>
          <a:lstStyle/>
          <a:p>
            <a:r>
              <a:rPr lang="en-US"/>
              <a:t>Tìm hiểu, cài đặt một công cụ hỗ trợ vẽ các mô hình UML</a:t>
            </a:r>
          </a:p>
        </p:txBody>
      </p:sp>
      <p:sp>
        <p:nvSpPr>
          <p:cNvPr id="4" name="Footer Placeholder 3">
            <a:extLst>
              <a:ext uri="{FF2B5EF4-FFF2-40B4-BE49-F238E27FC236}">
                <a16:creationId xmlns:a16="http://schemas.microsoft.com/office/drawing/2014/main" id="{7811B63D-92FA-1568-95C7-29FF42526947}"/>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C10F0C43-52AC-E0CF-4CFA-0FE5E8CA484C}"/>
              </a:ext>
            </a:extLst>
          </p:cNvPr>
          <p:cNvSpPr>
            <a:spLocks noGrp="1"/>
          </p:cNvSpPr>
          <p:nvPr>
            <p:ph type="sldNum" sz="quarter" idx="12"/>
          </p:nvPr>
        </p:nvSpPr>
        <p:spPr/>
        <p:txBody>
          <a:bodyPr/>
          <a:lstStyle/>
          <a:p>
            <a:pPr>
              <a:defRPr/>
            </a:pPr>
            <a:fld id="{A7A27918-AF68-41BB-82C7-522D23BA7CE7}" type="slidenum">
              <a:rPr lang="en-US" smtClean="0"/>
              <a:pPr>
                <a:defRPr/>
              </a:pPr>
              <a:t>32</a:t>
            </a:fld>
            <a:endParaRPr lang="en-US" dirty="0"/>
          </a:p>
        </p:txBody>
      </p:sp>
    </p:spTree>
    <p:extLst>
      <p:ext uri="{BB962C8B-B14F-4D97-AF65-F5344CB8AC3E}">
        <p14:creationId xmlns:p14="http://schemas.microsoft.com/office/powerpoint/2010/main" val="3877004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1"/>
          <p:cNvSpPr/>
          <p:nvPr/>
        </p:nvSpPr>
        <p:spPr>
          <a:xfrm>
            <a:off x="426960" y="213480"/>
            <a:ext cx="8193960" cy="1137240"/>
          </a:xfrm>
          <a:prstGeom prst="rect">
            <a:avLst/>
          </a:prstGeom>
          <a:noFill/>
          <a:ln w="9360">
            <a:noFill/>
          </a:ln>
        </p:spPr>
        <p:style>
          <a:lnRef idx="0">
            <a:scrgbClr r="0" g="0" b="0"/>
          </a:lnRef>
          <a:fillRef idx="0">
            <a:scrgbClr r="0" g="0" b="0"/>
          </a:fillRef>
          <a:effectRef idx="0">
            <a:scrgbClr r="0" g="0" b="0"/>
          </a:effectRef>
          <a:fontRef idx="minor"/>
        </p:style>
        <p:txBody>
          <a:bodyPr lIns="86760" tIns="43560" rIns="86760" bIns="43560" anchor="ctr"/>
          <a:lstStyle/>
          <a:p>
            <a:pPr algn="ctr">
              <a:lnSpc>
                <a:spcPct val="100000"/>
              </a:lnSpc>
            </a:pPr>
            <a:r>
              <a:rPr lang="en-US" sz="4200" b="0" strike="noStrike" spc="-1">
                <a:solidFill>
                  <a:srgbClr val="0070C0"/>
                </a:solidFill>
                <a:uFill>
                  <a:solidFill>
                    <a:srgbClr val="FFFFFF"/>
                  </a:solidFill>
                </a:uFill>
                <a:latin typeface="Calibri"/>
                <a:ea typeface="DejaVu Sans"/>
              </a:rPr>
              <a:t>Tổng kết</a:t>
            </a:r>
            <a:endParaRPr lang="en-US" sz="4200" b="0" strike="noStrike" spc="-1">
              <a:solidFill>
                <a:srgbClr val="000000"/>
              </a:solidFill>
              <a:uFill>
                <a:solidFill>
                  <a:srgbClr val="FFFFFF"/>
                </a:solidFill>
              </a:uFill>
              <a:latin typeface="Arial"/>
            </a:endParaRPr>
          </a:p>
        </p:txBody>
      </p:sp>
      <p:sp>
        <p:nvSpPr>
          <p:cNvPr id="150" name="CustomShape 2"/>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86760" tIns="43560" rIns="86760" bIns="43560">
            <a:normAutofit/>
          </a:bodyPr>
          <a:lstStyle/>
          <a:p>
            <a:pPr marL="326160" indent="-324720">
              <a:lnSpc>
                <a:spcPct val="100000"/>
              </a:lnSpc>
              <a:spcBef>
                <a:spcPts val="601"/>
              </a:spcBef>
              <a:buClr>
                <a:srgbClr val="00ADDC"/>
              </a:buClr>
              <a:buFont typeface="Wingdings" charset="2"/>
              <a:buChar char=""/>
            </a:pPr>
            <a:r>
              <a:rPr lang="en-US" sz="3000" b="0" strike="noStrike" spc="-1" dirty="0" err="1">
                <a:solidFill>
                  <a:srgbClr val="000000"/>
                </a:solidFill>
                <a:uFill>
                  <a:solidFill>
                    <a:srgbClr val="FFFFFF"/>
                  </a:solidFill>
                </a:uFill>
                <a:latin typeface="Calibri"/>
                <a:ea typeface="DejaVu Sans"/>
              </a:rPr>
              <a:t>Quy</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trình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kỹ</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nghệ</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ADDC"/>
              </a:buClr>
              <a:buFont typeface="Wingdings" charset="2"/>
              <a:buChar char=""/>
            </a:pPr>
            <a:r>
              <a:rPr lang="en-US" sz="3000" b="0" strike="noStrike" spc="-1" dirty="0">
                <a:solidFill>
                  <a:srgbClr val="000000"/>
                </a:solidFill>
                <a:uFill>
                  <a:solidFill>
                    <a:srgbClr val="FFFFFF"/>
                  </a:solidFill>
                </a:uFill>
                <a:latin typeface="Calibri"/>
                <a:ea typeface="DejaVu Sans"/>
              </a:rPr>
              <a:t>Thu </a:t>
            </a:r>
            <a:r>
              <a:rPr lang="en-US" sz="3000" b="0" strike="noStrike" spc="-1" dirty="0" err="1">
                <a:solidFill>
                  <a:srgbClr val="000000"/>
                </a:solidFill>
                <a:uFill>
                  <a:solidFill>
                    <a:srgbClr val="FFFFFF"/>
                  </a:solidFill>
                </a:uFill>
                <a:latin typeface="Calibri"/>
                <a:ea typeface="DejaVu Sans"/>
              </a:rPr>
              <a:t>thập</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và</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phân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tích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ADDC"/>
              </a:buClr>
              <a:buFont typeface="Wingdings" charset="2"/>
              <a:buChar char=""/>
            </a:pPr>
            <a:r>
              <a:rPr lang="en-US" sz="3000" b="0" strike="noStrike" spc="-1" dirty="0" err="1">
                <a:solidFill>
                  <a:srgbClr val="000000"/>
                </a:solidFill>
                <a:uFill>
                  <a:solidFill>
                    <a:srgbClr val="FFFFFF"/>
                  </a:solidFill>
                </a:uFill>
                <a:latin typeface="Calibri"/>
                <a:ea typeface="DejaVu Sans"/>
              </a:rPr>
              <a:t>Thẩm</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định</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câu</a:t>
            </a:r>
            <a:endParaRPr lang="en-US" sz="3000" b="0" strike="noStrike" spc="-1" dirty="0">
              <a:solidFill>
                <a:srgbClr val="000000"/>
              </a:solidFill>
              <a:uFill>
                <a:solidFill>
                  <a:srgbClr val="FFFFFF"/>
                </a:solidFill>
              </a:uFill>
              <a:latin typeface="Arial"/>
            </a:endParaRPr>
          </a:p>
          <a:p>
            <a:pPr marL="326160" indent="-324720">
              <a:lnSpc>
                <a:spcPct val="100000"/>
              </a:lnSpc>
              <a:spcBef>
                <a:spcPts val="601"/>
              </a:spcBef>
              <a:buClr>
                <a:srgbClr val="00ADDC"/>
              </a:buClr>
              <a:buFont typeface="Wingdings" charset="2"/>
              <a:buChar char=""/>
            </a:pPr>
            <a:r>
              <a:rPr lang="en-US" sz="3000" b="0" strike="noStrike" spc="-1" dirty="0" err="1">
                <a:solidFill>
                  <a:srgbClr val="000000"/>
                </a:solidFill>
                <a:uFill>
                  <a:solidFill>
                    <a:srgbClr val="FFFFFF"/>
                  </a:solidFill>
                </a:uFill>
                <a:latin typeface="Calibri"/>
                <a:ea typeface="DejaVu Sans"/>
              </a:rPr>
              <a:t>Quản</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lý</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yêu</a:t>
            </a:r>
            <a:r>
              <a:rPr lang="en-US" sz="3000" b="0" strike="noStrike" spc="-1" dirty="0">
                <a:solidFill>
                  <a:srgbClr val="000000"/>
                </a:solidFill>
                <a:uFill>
                  <a:solidFill>
                    <a:srgbClr val="FFFFFF"/>
                  </a:solidFill>
                </a:uFill>
                <a:latin typeface="Calibri"/>
                <a:ea typeface="DejaVu Sans"/>
              </a:rPr>
              <a:t> </a:t>
            </a:r>
            <a:r>
              <a:rPr lang="en-US" sz="3000" b="0" strike="noStrike" spc="-1" dirty="0" err="1">
                <a:solidFill>
                  <a:srgbClr val="000000"/>
                </a:solidFill>
                <a:uFill>
                  <a:solidFill>
                    <a:srgbClr val="FFFFFF"/>
                  </a:solidFill>
                </a:uFill>
                <a:latin typeface="Calibri"/>
                <a:ea typeface="DejaVu Sans"/>
              </a:rPr>
              <a:t>cầu</a:t>
            </a:r>
            <a:endParaRPr lang="en-US" sz="3000" b="0" strike="noStrike" spc="-1" dirty="0">
              <a:solidFill>
                <a:srgbClr val="000000"/>
              </a:solidFill>
              <a:uFill>
                <a:solidFill>
                  <a:srgbClr val="FFFFFF"/>
                </a:solidFill>
              </a:uFill>
              <a:latin typeface="Arial"/>
            </a:endParaRPr>
          </a:p>
        </p:txBody>
      </p:sp>
      <p:sp>
        <p:nvSpPr>
          <p:cNvPr id="151" name="CustomShape 3"/>
          <p:cNvSpPr/>
          <p:nvPr/>
        </p:nvSpPr>
        <p:spPr>
          <a:xfrm>
            <a:off x="6525720" y="6332760"/>
            <a:ext cx="2123280" cy="362160"/>
          </a:xfrm>
          <a:prstGeom prst="rect">
            <a:avLst/>
          </a:prstGeom>
          <a:noFill/>
          <a:ln>
            <a:noFill/>
          </a:ln>
        </p:spPr>
        <p:style>
          <a:lnRef idx="0">
            <a:scrgbClr r="0" g="0" b="0"/>
          </a:lnRef>
          <a:fillRef idx="0">
            <a:scrgbClr r="0" g="0" b="0"/>
          </a:fillRef>
          <a:effectRef idx="0">
            <a:scrgbClr r="0" g="0" b="0"/>
          </a:effectRef>
          <a:fontRef idx="minor"/>
        </p:style>
        <p:txBody>
          <a:bodyPr lIns="86760" tIns="43560" rIns="86760" bIns="43560" anchor="ctr"/>
          <a:lstStyle/>
          <a:p>
            <a:pPr algn="r">
              <a:lnSpc>
                <a:spcPct val="100000"/>
              </a:lnSpc>
            </a:pPr>
            <a:fld id="{F15D133D-20FD-472E-9907-FC7096F6EBC6}" type="slidenum">
              <a:rPr lang="en-US" sz="1100" b="0" strike="noStrike" spc="-1">
                <a:solidFill>
                  <a:srgbClr val="8B8B8B"/>
                </a:solidFill>
                <a:uFill>
                  <a:solidFill>
                    <a:srgbClr val="FFFFFF"/>
                  </a:solidFill>
                </a:uFill>
                <a:latin typeface="Calibri"/>
                <a:ea typeface="DejaVu Sans"/>
              </a:rPr>
              <a:t>33</a:t>
            </a:fld>
            <a:endParaRPr lang="en-US" sz="1100" b="0" strike="noStrike" spc="-1">
              <a:solidFill>
                <a:srgbClr val="000000"/>
              </a:solidFill>
              <a:uFill>
                <a:solidFill>
                  <a:srgbClr val="FFFFFF"/>
                </a:solidFill>
              </a:uFill>
              <a:latin typeface="Aria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DD031BC6-5C94-4CD4-B195-0CCA50D36433}" type="slidenum">
              <a:rPr lang="en-US" smtClean="0"/>
              <a:pPr>
                <a:defRPr/>
              </a:pPr>
              <a:t>33</a:t>
            </a:fld>
            <a:endParaRPr lang="en-US"/>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3207</TotalTime>
  <Pages>42</Pages>
  <Words>10089</Words>
  <Application>Microsoft Office PowerPoint</Application>
  <PresentationFormat>Custom</PresentationFormat>
  <Paragraphs>500</Paragraphs>
  <Slides>33</Slides>
  <Notes>32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33</vt:i4>
      </vt:variant>
    </vt:vector>
  </HeadingPairs>
  <TitlesOfParts>
    <vt:vector size="39" baseType="lpstr">
      <vt:lpstr>Arial</vt:lpstr>
      <vt:lpstr>Calibri</vt:lpstr>
      <vt:lpstr>OpenSymbol</vt:lpstr>
      <vt:lpstr>Wingdings</vt:lpstr>
      <vt:lpstr>2_SE</vt:lpstr>
      <vt:lpstr>1_SE</vt:lpstr>
      <vt:lpstr>Công nghệ phần mềm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tập thực hành</vt:lpstr>
      <vt:lpstr>Bài tập về nhà</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subject/>
  <dc:creator>Ian Sommerville</dc:creator>
  <dc:description/>
  <cp:lastModifiedBy>Trần Hoàng Việt</cp:lastModifiedBy>
  <cp:revision>498</cp:revision>
  <cp:lastPrinted>2004-04-23T15:45:57Z</cp:lastPrinted>
  <dcterms:created xsi:type="dcterms:W3CDTF">2000-04-28T08:06:41Z</dcterms:created>
  <dcterms:modified xsi:type="dcterms:W3CDTF">2026-02-13T07:13:12Z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7</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31</vt:i4>
  </property>
</Properties>
</file>