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24.wmf" ContentType="image/x-wmf"/>
  <Override PartName="/ppt/media/image23.wmf" ContentType="image/x-wmf"/>
  <Override PartName="/ppt/media/image21.wmf" ContentType="image/x-wmf"/>
  <Override PartName="/ppt/media/image18.wmf" ContentType="image/x-wmf"/>
  <Override PartName="/ppt/media/image22.wmf" ContentType="image/x-wmf"/>
  <Override PartName="/ppt/media/image1.wmf" ContentType="image/x-wmf"/>
  <Override PartName="/ppt/media/image2.wmf" ContentType="image/x-wmf"/>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5.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2.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8.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05900" cy="68326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7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4" name="PlaceHolder 4"/>
          <p:cNvSpPr>
            <a:spLocks noGrp="1"/>
          </p:cNvSpPr>
          <p:nvPr>
            <p:ph type="dt" idx="36"/>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5" name="PlaceHolder 5"/>
          <p:cNvSpPr>
            <a:spLocks noGrp="1"/>
          </p:cNvSpPr>
          <p:nvPr>
            <p:ph type="ftr" idx="37"/>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6" name="PlaceHolder 6"/>
          <p:cNvSpPr>
            <a:spLocks noGrp="1"/>
          </p:cNvSpPr>
          <p:nvPr>
            <p:ph type="sldNum" idx="38"/>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59B9A3E-93DC-4205-A025-5F3BC73BD34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1373040" y="754200"/>
            <a:ext cx="5025600" cy="3771720"/>
          </a:xfrm>
          <a:prstGeom prst="rect">
            <a:avLst/>
          </a:prstGeom>
          <a:ln w="0">
            <a:noFill/>
          </a:ln>
        </p:spPr>
      </p:sp>
      <p:sp>
        <p:nvSpPr>
          <p:cNvPr id="233"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Chào  các bạn! Trong bài học này chúng ta tập trung tìm hiểu các khái niệm, nguyên lý và một số kỹ thuật về mô hình hóa hệ thống phần mềm.</a:t>
            </a:r>
            <a:endParaRPr lang="en-US" sz="2000" b="0" u="none" strike="noStrike">
              <a:solidFill>
                <a:srgbClr val="000000"/>
              </a:solidFill>
              <a:effectLst/>
              <a:uFillTx/>
              <a:latin typeface="Arial"/>
            </a:endParaRPr>
          </a:p>
        </p:txBody>
      </p:sp>
      <p:sp>
        <p:nvSpPr>
          <p:cNvPr id="234" name="PlaceHolder 3"/>
          <p:cNvSpPr>
            <a:spLocks noGrp="1"/>
          </p:cNvSpPr>
          <p:nvPr>
            <p:ph type="sldNum" idx="56"/>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EE752E-C65B-4456-929E-69F5121575F6}"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373040" y="754200"/>
            <a:ext cx="5025600" cy="3771720"/>
          </a:xfrm>
          <a:prstGeom prst="rect">
            <a:avLst/>
          </a:prstGeom>
          <a:ln w="0">
            <a:noFill/>
          </a:ln>
        </p:spPr>
      </p:sp>
      <p:sp>
        <p:nvSpPr>
          <p:cNvPr id="236"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Cụ thể, nội dung bài giảng hôm nay gồm có. Đầu tiên là các khái niệm cơ bản về mô hình hóa hệ thống phần mềm. Tiếp đó là phần giới thiệu tổng quan về ngôn ngữ mô hình hóa UML. Nội dung tiếp theo là phần trình bày về các góc nhìn hệ thống, đây là cơ sở để xác định các mô hình hệ thống phần mềm. Sau đó là nội dung trình bày về một số loại mô hình hệ thống. Cuối cùng là phần giới thiệu về lược đồ phát triển phần mềm hướng mô hình.</a:t>
            </a:r>
            <a:endParaRPr lang="en-US" sz="2000" b="0" u="none" strike="noStrike">
              <a:solidFill>
                <a:srgbClr val="000000"/>
              </a:solidFill>
              <a:effectLst/>
              <a:uFillTx/>
              <a:latin typeface="Arial"/>
            </a:endParaRPr>
          </a:p>
        </p:txBody>
      </p:sp>
      <p:sp>
        <p:nvSpPr>
          <p:cNvPr id="237" name="PlaceHolder 3"/>
          <p:cNvSpPr>
            <a:spLocks noGrp="1"/>
          </p:cNvSpPr>
          <p:nvPr>
            <p:ph type="sldNum" idx="57"/>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D5F10E-1425-49B2-807A-1A1583B2AA91}"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373040" y="754200"/>
            <a:ext cx="5025600" cy="3771720"/>
          </a:xfrm>
          <a:prstGeom prst="rect">
            <a:avLst/>
          </a:prstGeom>
          <a:ln w="0">
            <a:noFill/>
          </a:ln>
        </p:spPr>
      </p:sp>
      <p:sp>
        <p:nvSpPr>
          <p:cNvPr id="239"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Trước hết, chúng ta nhắc lại khái niệm cơ bản về hệ thống phần mềm.</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Một cách khái niệm, hệ thống phần mềm là một thực thể bao gồm các thành phần, có thể là các thiết bị, các phần mềm hay các thành phần con người, hoạt động trong môi trường và hướng đến một số mục đích nào đó. Chúng ta thường phân biệt hai phiên bản của hệ thống phần mềm: hệ thống hiện thời (system-as-is) và hệ thống được phát triển (system-to-be).</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Hệ thống hiện thời là những hệ thống đang vận hành và có nhu cầu cần phải cải tiến để khắc phục một số vấn đề hoặc tiếp nhận các cơ hội mới về công nghệ hay thị trường.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Hệ thống được phát triển là để chỉ hệ thống mới được phát triển và tiến hóa từ hệ thống hiên thời. Hệ thống mới này được xem là một giải pháp dựa vào phần mềm, trong đó phần mềm đóng vai trò là trung tâm.</a:t>
            </a:r>
            <a:endParaRPr lang="en-US" sz="2000" b="0" u="none" strike="noStrike">
              <a:solidFill>
                <a:srgbClr val="000000"/>
              </a:solidFill>
              <a:effectLst/>
              <a:uFillTx/>
              <a:latin typeface="Arial"/>
            </a:endParaRPr>
          </a:p>
        </p:txBody>
      </p:sp>
      <p:sp>
        <p:nvSpPr>
          <p:cNvPr id="240" name="PlaceHolder 3"/>
          <p:cNvSpPr>
            <a:spLocks noGrp="1"/>
          </p:cNvSpPr>
          <p:nvPr>
            <p:ph type="sldNum" idx="58"/>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1193BD-7CBD-4B09-BE5A-894FA4D4C5FA}"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373040" y="754200"/>
            <a:ext cx="5025600" cy="3771720"/>
          </a:xfrm>
          <a:prstGeom prst="rect">
            <a:avLst/>
          </a:prstGeom>
          <a:ln w="0">
            <a:noFill/>
          </a:ln>
        </p:spPr>
      </p:sp>
      <p:sp>
        <p:nvSpPr>
          <p:cNvPr id="242"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rgbClr val="000000"/>
                </a:solidFill>
                <a:effectLst/>
                <a:uFillTx/>
                <a:latin typeface="ZapfHumnst BT"/>
              </a:rPr>
              <a:t>Mô hình là một sự đơn giản hóa của chủ thể từ một góc nhìn nào đó, với mục đích cung cấp </a:t>
            </a:r>
            <a:r>
              <a:rPr lang="en-US" sz="1200" b="0" u="none" strike="noStrike">
                <a:solidFill>
                  <a:srgbClr val="000000"/>
                </a:solidFill>
                <a:effectLst/>
                <a:uFillTx/>
                <a:latin typeface="ZapfHumnst BT"/>
              </a:rPr>
              <a:t>sự mô tả về </a:t>
            </a:r>
            <a:r>
              <a:rPr lang="vi-VN" sz="1200" b="0" u="none" strike="noStrike">
                <a:solidFill>
                  <a:srgbClr val="000000"/>
                </a:solidFill>
                <a:effectLst/>
                <a:uFillTx/>
                <a:latin typeface="ZapfHumnst BT"/>
              </a:rPr>
              <a:t>hệ thống, có thể </a:t>
            </a:r>
            <a:r>
              <a:rPr lang="en-US" sz="1200" b="0" u="none" strike="noStrike">
                <a:solidFill>
                  <a:srgbClr val="000000"/>
                </a:solidFill>
                <a:effectLst/>
                <a:uFillTx/>
                <a:latin typeface="ZapfHumnst BT"/>
              </a:rPr>
              <a:t>ở mức </a:t>
            </a:r>
            <a:r>
              <a:rPr lang="vi-VN" sz="1200" b="0" u="none" strike="noStrike">
                <a:solidFill>
                  <a:srgbClr val="000000"/>
                </a:solidFill>
                <a:effectLst/>
                <a:uFillTx/>
                <a:latin typeface="ZapfHumnst BT"/>
              </a:rPr>
              <a:t>kế hoạch chi tiết, </a:t>
            </a:r>
            <a:r>
              <a:rPr lang="en-US" sz="1200" b="0" u="none" strike="noStrike">
                <a:solidFill>
                  <a:srgbClr val="000000"/>
                </a:solidFill>
                <a:effectLst/>
                <a:uFillTx/>
                <a:latin typeface="ZapfHumnst BT"/>
              </a:rPr>
              <a:t>hoặc ở mức </a:t>
            </a:r>
            <a:r>
              <a:rPr lang="vi-VN" sz="1200" b="0" u="none" strike="noStrike">
                <a:solidFill>
                  <a:srgbClr val="000000"/>
                </a:solidFill>
                <a:effectLst/>
                <a:uFillTx/>
                <a:latin typeface="ZapfHumnst BT"/>
              </a:rPr>
              <a:t>kế hoạch tổng quát </a:t>
            </a:r>
            <a:r>
              <a:rPr lang="en-US" sz="1200" b="0" u="none" strike="noStrike">
                <a:solidFill>
                  <a:srgbClr val="000000"/>
                </a:solidFill>
                <a:effectLst/>
                <a:uFillTx/>
                <a:latin typeface="ZapfHumnst BT"/>
              </a:rPr>
              <a:t>trong việc xây dựng </a:t>
            </a:r>
            <a:r>
              <a:rPr lang="vi-VN" sz="1200" b="0" u="none" strike="noStrike">
                <a:solidFill>
                  <a:srgbClr val="000000"/>
                </a:solidFill>
                <a:effectLst/>
                <a:uFillTx/>
                <a:latin typeface="ZapfHumnst BT"/>
              </a:rPr>
              <a:t>hệ thống. </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en-US" sz="1200" b="0" u="none" strike="noStrike">
                <a:solidFill>
                  <a:srgbClr val="000000"/>
                </a:solidFill>
                <a:effectLst/>
                <a:uFillTx/>
                <a:latin typeface="ZapfHumnst BT"/>
              </a:rPr>
              <a:t>Một h</a:t>
            </a:r>
            <a:r>
              <a:rPr lang="vi-VN" sz="1200" b="0" u="none" strike="noStrike">
                <a:solidFill>
                  <a:srgbClr val="000000"/>
                </a:solidFill>
                <a:effectLst/>
                <a:uFillTx/>
                <a:latin typeface="ZapfHumnst BT"/>
              </a:rPr>
              <a:t>ệ thống có thể được mô tả từ các khía cạnh khác nhau bằng cách sử dụng các mô hình khác nhau, và mỗi mô hình do đó là một </a:t>
            </a:r>
            <a:r>
              <a:rPr lang="en-US" sz="1200" b="0" u="none" strike="noStrike">
                <a:solidFill>
                  <a:srgbClr val="000000"/>
                </a:solidFill>
                <a:effectLst/>
                <a:uFillTx/>
                <a:latin typeface="ZapfHumnst BT"/>
              </a:rPr>
              <a:t>dạng </a:t>
            </a:r>
            <a:r>
              <a:rPr lang="vi-VN" sz="1200" b="0" u="none" strike="noStrike">
                <a:solidFill>
                  <a:srgbClr val="000000"/>
                </a:solidFill>
                <a:effectLst/>
                <a:uFillTx/>
                <a:latin typeface="ZapfHumnst BT"/>
              </a:rPr>
              <a:t>trừu tượng, </a:t>
            </a:r>
            <a:r>
              <a:rPr lang="en-US" sz="1200" b="0" u="none" strike="noStrike">
                <a:solidFill>
                  <a:srgbClr val="000000"/>
                </a:solidFill>
                <a:effectLst/>
                <a:uFillTx/>
                <a:latin typeface="ZapfHumnst BT"/>
              </a:rPr>
              <a:t>có quan hệ chặt chẽ về mặt </a:t>
            </a:r>
            <a:r>
              <a:rPr lang="vi-VN" sz="1200" b="0" u="none" strike="noStrike">
                <a:solidFill>
                  <a:srgbClr val="000000"/>
                </a:solidFill>
                <a:effectLst/>
                <a:uFillTx/>
                <a:latin typeface="ZapfHumnst BT"/>
              </a:rPr>
              <a:t>ngữ nghĩa. Một mô hình có thể là </a:t>
            </a:r>
            <a:r>
              <a:rPr lang="en-US" sz="1200" b="0" u="none" strike="noStrike">
                <a:solidFill>
                  <a:srgbClr val="000000"/>
                </a:solidFill>
                <a:effectLst/>
                <a:uFillTx/>
                <a:latin typeface="ZapfHumnst BT"/>
              </a:rPr>
              <a:t>sự mô tả về </a:t>
            </a:r>
            <a:r>
              <a:rPr lang="vi-VN" sz="1200" b="0" u="none" strike="noStrike">
                <a:solidFill>
                  <a:srgbClr val="000000"/>
                </a:solidFill>
                <a:effectLst/>
                <a:uFillTx/>
                <a:latin typeface="ZapfHumnst BT"/>
              </a:rPr>
              <a:t>cấu trúc, nhấn mạnh việc tổ chức hệ thống, hoặc có thể </a:t>
            </a:r>
            <a:r>
              <a:rPr lang="en-US" sz="1200" b="0" u="none" strike="noStrike">
                <a:solidFill>
                  <a:srgbClr val="000000"/>
                </a:solidFill>
                <a:effectLst/>
                <a:uFillTx/>
                <a:latin typeface="ZapfHumnst BT"/>
              </a:rPr>
              <a:t>về </a:t>
            </a:r>
            <a:r>
              <a:rPr lang="vi-VN" sz="1200" b="0" u="none" strike="noStrike">
                <a:solidFill>
                  <a:srgbClr val="000000"/>
                </a:solidFill>
                <a:effectLst/>
                <a:uFillTx/>
                <a:latin typeface="ZapfHumnst BT"/>
              </a:rPr>
              <a:t>hành vi, nhấn mạnh </a:t>
            </a:r>
            <a:r>
              <a:rPr lang="en-US" sz="1200" b="0" u="none" strike="noStrike">
                <a:solidFill>
                  <a:srgbClr val="000000"/>
                </a:solidFill>
                <a:effectLst/>
                <a:uFillTx/>
                <a:latin typeface="ZapfHumnst BT"/>
              </a:rPr>
              <a:t>khía cạnh </a:t>
            </a:r>
            <a:r>
              <a:rPr lang="vi-VN" sz="1200" b="0" u="none" strike="noStrike">
                <a:solidFill>
                  <a:srgbClr val="000000"/>
                </a:solidFill>
                <a:effectLst/>
                <a:uFillTx/>
                <a:latin typeface="ZapfHumnst BT"/>
              </a:rPr>
              <a:t>động </a:t>
            </a:r>
            <a:r>
              <a:rPr lang="en-US" sz="1200" b="0" u="none" strike="noStrike">
                <a:solidFill>
                  <a:srgbClr val="000000"/>
                </a:solidFill>
                <a:effectLst/>
                <a:uFillTx/>
                <a:latin typeface="ZapfHumnst BT"/>
              </a:rPr>
              <a:t>khi thực thi </a:t>
            </a:r>
            <a:r>
              <a:rPr lang="vi-VN" sz="1200" b="0" u="none" strike="noStrike">
                <a:solidFill>
                  <a:srgbClr val="000000"/>
                </a:solidFill>
                <a:effectLst/>
                <a:uFillTx/>
                <a:latin typeface="ZapfHumnst BT"/>
              </a:rPr>
              <a:t>của hệ thống.</a:t>
            </a:r>
            <a:endParaRPr lang="en-US" sz="1200" b="0" u="none" strike="noStrike">
              <a:solidFill>
                <a:srgbClr val="000000"/>
              </a:solidFill>
              <a:effectLst/>
              <a:uFillTx/>
              <a:latin typeface="Arial"/>
            </a:endParaRPr>
          </a:p>
        </p:txBody>
      </p:sp>
      <p:sp>
        <p:nvSpPr>
          <p:cNvPr id="243" name="PlaceHolder 3"/>
          <p:cNvSpPr>
            <a:spLocks noGrp="1"/>
          </p:cNvSpPr>
          <p:nvPr>
            <p:ph type="sldNum" idx="59"/>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7D1172-6AEF-4199-9109-E4FF8BA9AD18}"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373040" y="754200"/>
            <a:ext cx="5025600" cy="3771720"/>
          </a:xfrm>
          <a:prstGeom prst="rect">
            <a:avLst/>
          </a:prstGeom>
          <a:ln w="0">
            <a:noFill/>
          </a:ln>
        </p:spPr>
      </p:sp>
      <p:sp>
        <p:nvSpPr>
          <p:cNvPr id="245"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rgbClr val="000000"/>
                </a:solidFill>
                <a:effectLst/>
                <a:uFillTx/>
                <a:latin typeface="ZapfHumnst BT"/>
              </a:rPr>
              <a:t>Mô hình </a:t>
            </a:r>
            <a:r>
              <a:rPr lang="en-US" sz="1200" b="0" u="none" strike="noStrike">
                <a:solidFill>
                  <a:srgbClr val="000000"/>
                </a:solidFill>
                <a:effectLst/>
                <a:uFillTx/>
                <a:latin typeface="ZapfHumnst BT"/>
              </a:rPr>
              <a:t>được tạo ra cho các mục đích sau</a:t>
            </a:r>
            <a:r>
              <a:rPr lang="vi-VN" sz="1200" b="0" u="none" strike="noStrike">
                <a:solidFill>
                  <a:srgbClr val="000000"/>
                </a:solidFill>
                <a:effectLst/>
                <a:uFillTx/>
                <a:latin typeface="ZapfHumnst BT"/>
              </a:rPr>
              <a:t>:</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vi-VN" sz="1200" b="0" u="none" strike="noStrike">
                <a:solidFill>
                  <a:srgbClr val="000000"/>
                </a:solidFill>
                <a:effectLst/>
                <a:uFillTx/>
                <a:latin typeface="ZapfHumnst BT"/>
              </a:rPr>
              <a:t>Các mô hình giúp chúng ta hình dung hệ thống như chúng ta </a:t>
            </a:r>
            <a:r>
              <a:rPr lang="en-US" sz="1200" b="0" u="none" strike="noStrike">
                <a:solidFill>
                  <a:srgbClr val="000000"/>
                </a:solidFill>
                <a:effectLst/>
                <a:uFillTx/>
                <a:latin typeface="ZapfHumnst BT"/>
              </a:rPr>
              <a:t>mong </a:t>
            </a:r>
            <a:r>
              <a:rPr lang="vi-VN" sz="1200" b="0" u="none" strike="noStrike">
                <a:solidFill>
                  <a:srgbClr val="000000"/>
                </a:solidFill>
                <a:effectLst/>
                <a:uFillTx/>
                <a:latin typeface="ZapfHumnst BT"/>
              </a:rPr>
              <a:t>muốn. Mô hình giúp nhóm phần mềm </a:t>
            </a:r>
            <a:r>
              <a:rPr lang="en-US" sz="1200" b="0" u="none" strike="noStrike">
                <a:solidFill>
                  <a:srgbClr val="000000"/>
                </a:solidFill>
                <a:effectLst/>
                <a:uFillTx/>
                <a:latin typeface="ZapfHumnst BT"/>
              </a:rPr>
              <a:t>giao tiếp và thống nhất về </a:t>
            </a:r>
            <a:r>
              <a:rPr lang="vi-VN" sz="1200" b="0" u="none" strike="noStrike">
                <a:solidFill>
                  <a:srgbClr val="000000"/>
                </a:solidFill>
                <a:effectLst/>
                <a:uFillTx/>
                <a:latin typeface="ZapfHumnst BT"/>
              </a:rPr>
              <a:t>hệ thống đang được phát triển. Rất khó cho một nhóm phần mềm có một tầm nhìn thống nhất </a:t>
            </a:r>
            <a:r>
              <a:rPr lang="en-US" sz="1200" b="0" u="none" strike="noStrike">
                <a:solidFill>
                  <a:srgbClr val="000000"/>
                </a:solidFill>
                <a:effectLst/>
                <a:uFillTx/>
                <a:latin typeface="ZapfHumnst BT"/>
              </a:rPr>
              <a:t>(unified vision) </a:t>
            </a:r>
            <a:r>
              <a:rPr lang="vi-VN" sz="1200" b="0" u="none" strike="noStrike">
                <a:solidFill>
                  <a:srgbClr val="000000"/>
                </a:solidFill>
                <a:effectLst/>
                <a:uFillTx/>
                <a:latin typeface="ZapfHumnst BT"/>
              </a:rPr>
              <a:t>về hệ thống </a:t>
            </a:r>
            <a:r>
              <a:rPr lang="en-US" sz="1200" b="0" u="none" strike="noStrike">
                <a:solidFill>
                  <a:srgbClr val="000000"/>
                </a:solidFill>
                <a:effectLst/>
                <a:uFillTx/>
                <a:latin typeface="ZapfHumnst BT"/>
              </a:rPr>
              <a:t>nếu </a:t>
            </a:r>
            <a:r>
              <a:rPr lang="vi-VN" sz="1200" b="0" u="none" strike="noStrike">
                <a:solidFill>
                  <a:srgbClr val="000000"/>
                </a:solidFill>
                <a:effectLst/>
                <a:uFillTx/>
                <a:latin typeface="ZapfHumnst BT"/>
              </a:rPr>
              <a:t>chỉ </a:t>
            </a:r>
            <a:r>
              <a:rPr lang="en-US" sz="1200" b="0" u="none" strike="noStrike">
                <a:solidFill>
                  <a:srgbClr val="000000"/>
                </a:solidFill>
                <a:effectLst/>
                <a:uFillTx/>
                <a:latin typeface="ZapfHumnst BT"/>
              </a:rPr>
              <a:t>sử dụng </a:t>
            </a:r>
            <a:r>
              <a:rPr lang="vi-VN" sz="1200" b="0" u="none" strike="noStrike">
                <a:solidFill>
                  <a:srgbClr val="000000"/>
                </a:solidFill>
                <a:effectLst/>
                <a:uFillTx/>
                <a:latin typeface="ZapfHumnst BT"/>
              </a:rPr>
              <a:t>các tài liệu đặc tả</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yêu cầu. Mô hình mang lại sự hiểu biết về hệ thống.</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vi-VN" sz="1200" b="0" u="none" strike="noStrike">
                <a:solidFill>
                  <a:srgbClr val="000000"/>
                </a:solidFill>
                <a:effectLst/>
                <a:uFillTx/>
                <a:latin typeface="ZapfHumnst BT"/>
              </a:rPr>
              <a:t>Các mô hình cho phép chúng t</a:t>
            </a:r>
            <a:r>
              <a:rPr lang="en-US" sz="1200" b="0" u="none" strike="noStrike">
                <a:solidFill>
                  <a:srgbClr val="000000"/>
                </a:solidFill>
                <a:effectLst/>
                <a:uFillTx/>
                <a:latin typeface="ZapfHumnst BT"/>
              </a:rPr>
              <a:t>a </a:t>
            </a:r>
            <a:r>
              <a:rPr lang="vi-VN" sz="1200" b="0" u="none" strike="noStrike">
                <a:solidFill>
                  <a:srgbClr val="000000"/>
                </a:solidFill>
                <a:effectLst/>
                <a:uFillTx/>
                <a:latin typeface="ZapfHumnst BT"/>
              </a:rPr>
              <a:t>xác định cấu trúc hoặc hành vi của một hệ thống. Một mô hình cho phép chúng ta ghi lại hành vi và cấu trúc hệ thống trước khi mã hóa hệ thống.</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vi-VN" sz="1200" b="0" u="none" strike="noStrike">
                <a:solidFill>
                  <a:srgbClr val="000000"/>
                </a:solidFill>
                <a:effectLst/>
                <a:uFillTx/>
                <a:latin typeface="ZapfHumnst BT"/>
              </a:rPr>
              <a:t>Mô hình cung cấp cho một mẫu hướng dẫn việc xây dựng hệ thống. </a:t>
            </a:r>
            <a:r>
              <a:rPr lang="en-US" sz="1200" b="0" u="none" strike="noStrike">
                <a:solidFill>
                  <a:srgbClr val="000000"/>
                </a:solidFill>
                <a:effectLst/>
                <a:uFillTx/>
                <a:latin typeface="ZapfHumnst BT"/>
              </a:rPr>
              <a:t>M</a:t>
            </a:r>
            <a:r>
              <a:rPr lang="vi-VN" sz="1200" b="0" u="none" strike="noStrike">
                <a:solidFill>
                  <a:srgbClr val="000000"/>
                </a:solidFill>
                <a:effectLst/>
                <a:uFillTx/>
                <a:latin typeface="ZapfHumnst BT"/>
              </a:rPr>
              <a:t>ô hình là một công cụ </a:t>
            </a:r>
            <a:r>
              <a:rPr lang="en-US" sz="1200" b="0" u="none" strike="noStrike">
                <a:solidFill>
                  <a:srgbClr val="000000"/>
                </a:solidFill>
                <a:effectLst/>
                <a:uFillTx/>
                <a:latin typeface="ZapfHumnst BT"/>
              </a:rPr>
              <a:t>hữu ích </a:t>
            </a:r>
            <a:r>
              <a:rPr lang="vi-VN" sz="1200" b="0" u="none" strike="noStrike">
                <a:solidFill>
                  <a:srgbClr val="000000"/>
                </a:solidFill>
                <a:effectLst/>
                <a:uFillTx/>
                <a:latin typeface="ZapfHumnst BT"/>
              </a:rPr>
              <a:t>trong </a:t>
            </a:r>
            <a:r>
              <a:rPr lang="en-US" sz="1200" b="0" u="none" strike="noStrike">
                <a:solidFill>
                  <a:srgbClr val="000000"/>
                </a:solidFill>
                <a:effectLst/>
                <a:uFillTx/>
                <a:latin typeface="ZapfHumnst BT"/>
              </a:rPr>
              <a:t>phát triển phần mềm</a:t>
            </a:r>
            <a:r>
              <a:rPr lang="vi-VN" sz="1200" b="0" u="none" strike="noStrike">
                <a:solidFill>
                  <a:srgbClr val="000000"/>
                </a:solidFill>
                <a:effectLst/>
                <a:uFillTx/>
                <a:latin typeface="ZapfHumnst BT"/>
              </a:rPr>
              <a:t>. Nó phục vụ như một bản đồ đường cho nhà phát triển. </a:t>
            </a:r>
            <a:r>
              <a:rPr lang="en-US" sz="1200" b="0" u="none" strike="noStrike">
                <a:solidFill>
                  <a:srgbClr val="000000"/>
                </a:solidFill>
                <a:effectLst/>
                <a:uFillTx/>
                <a:latin typeface="ZapfHumnst BT"/>
              </a:rPr>
              <a:t>Chẳng hạn, sử dụng mô hình cho phép chúng ta tránh được </a:t>
            </a:r>
            <a:r>
              <a:rPr lang="vi-VN" sz="1200" b="0" u="none" strike="noStrike">
                <a:solidFill>
                  <a:srgbClr val="000000"/>
                </a:solidFill>
                <a:effectLst/>
                <a:uFillTx/>
                <a:latin typeface="ZapfHumnst BT"/>
              </a:rPr>
              <a:t>tình huống </a:t>
            </a:r>
            <a:r>
              <a:rPr lang="en-US" sz="1200" b="0" u="none" strike="noStrike">
                <a:solidFill>
                  <a:srgbClr val="000000"/>
                </a:solidFill>
                <a:effectLst/>
                <a:uFillTx/>
                <a:latin typeface="ZapfHumnst BT"/>
              </a:rPr>
              <a:t>cài đặt </a:t>
            </a:r>
            <a:r>
              <a:rPr lang="vi-VN" sz="1200" b="0" u="none" strike="noStrike">
                <a:solidFill>
                  <a:srgbClr val="000000"/>
                </a:solidFill>
                <a:effectLst/>
                <a:uFillTx/>
                <a:latin typeface="ZapfHumnst BT"/>
              </a:rPr>
              <a:t>hành vi </a:t>
            </a:r>
            <a:r>
              <a:rPr lang="en-US" sz="1200" b="0" u="none" strike="noStrike">
                <a:solidFill>
                  <a:srgbClr val="000000"/>
                </a:solidFill>
                <a:effectLst/>
                <a:uFillTx/>
                <a:latin typeface="ZapfHumnst BT"/>
              </a:rPr>
              <a:t>hệ thống một cách </a:t>
            </a:r>
            <a:r>
              <a:rPr lang="vi-VN" sz="1200" b="0" u="none" strike="noStrike">
                <a:solidFill>
                  <a:srgbClr val="000000"/>
                </a:solidFill>
                <a:effectLst/>
                <a:uFillTx/>
                <a:latin typeface="ZapfHumnst BT"/>
              </a:rPr>
              <a:t>không chính xác vì có </a:t>
            </a:r>
            <a:r>
              <a:rPr lang="en-US" sz="1200" b="0" u="none" strike="noStrike">
                <a:solidFill>
                  <a:srgbClr val="000000"/>
                </a:solidFill>
                <a:effectLst/>
                <a:uFillTx/>
                <a:latin typeface="ZapfHumnst BT"/>
              </a:rPr>
              <a:t>sự </a:t>
            </a:r>
            <a:r>
              <a:rPr lang="vi-VN" sz="1200" b="0" u="none" strike="noStrike">
                <a:solidFill>
                  <a:srgbClr val="000000"/>
                </a:solidFill>
                <a:effectLst/>
                <a:uFillTx/>
                <a:latin typeface="ZapfHumnst BT"/>
              </a:rPr>
              <a:t>nhầm lẫn về từ ngữ trong tài liệu yêu cầu.</a:t>
            </a:r>
            <a:endParaRPr lang="en-US" sz="1200" b="0" u="none" strike="noStrike">
              <a:solidFill>
                <a:srgbClr val="000000"/>
              </a:solidFill>
              <a:effectLst/>
              <a:uFillTx/>
              <a:latin typeface="Arial"/>
            </a:endParaRPr>
          </a:p>
          <a:p>
            <a:pPr marL="171360" indent="-171360">
              <a:lnSpc>
                <a:spcPct val="100000"/>
              </a:lnSpc>
              <a:buClr>
                <a:srgbClr val="000000"/>
              </a:buClr>
              <a:buFont typeface="Arial"/>
              <a:buChar char="•"/>
            </a:pPr>
            <a:r>
              <a:rPr lang="vi-VN" sz="1200" b="0" u="none" strike="noStrike">
                <a:solidFill>
                  <a:srgbClr val="000000"/>
                </a:solidFill>
                <a:effectLst/>
                <a:uFillTx/>
                <a:latin typeface="ZapfHumnst BT"/>
              </a:rPr>
              <a:t>Mô hình </a:t>
            </a:r>
            <a:r>
              <a:rPr lang="en-US" sz="1200" b="0" u="none" strike="noStrike">
                <a:solidFill>
                  <a:srgbClr val="000000"/>
                </a:solidFill>
                <a:effectLst/>
                <a:uFillTx/>
                <a:latin typeface="ZapfHumnst BT"/>
              </a:rPr>
              <a:t>để làm tài liệu, </a:t>
            </a:r>
            <a:r>
              <a:rPr lang="vi-VN" sz="1200" b="0" u="none" strike="noStrike">
                <a:solidFill>
                  <a:srgbClr val="000000"/>
                </a:solidFill>
                <a:effectLst/>
                <a:uFillTx/>
                <a:latin typeface="ZapfHumnst BT"/>
              </a:rPr>
              <a:t>ghi lại các quyết định đã được đưa ra. Mô hình là công cụ có giá trị dài hạn bởi vì chúng cung cấp thông tin “cứng” về các quyết định thiết kế.</a:t>
            </a:r>
            <a:endParaRPr lang="en-US" sz="1200" b="0" u="none" strike="noStrike">
              <a:solidFill>
                <a:srgbClr val="000000"/>
              </a:solidFill>
              <a:effectLst/>
              <a:uFillTx/>
              <a:latin typeface="Arial"/>
            </a:endParaRPr>
          </a:p>
          <a:p>
            <a:pPr indent="0">
              <a:lnSpc>
                <a:spcPct val="100000"/>
              </a:lnSpc>
              <a:buNone/>
              <a:tabLst>
                <a:tab algn="l" pos="0"/>
              </a:tabLst>
            </a:pPr>
            <a:endParaRPr lang="en-US" sz="1200" b="0" u="none" strike="noStrike">
              <a:solidFill>
                <a:srgbClr val="000000"/>
              </a:solidFill>
              <a:effectLst/>
              <a:uFillTx/>
              <a:latin typeface="Arial"/>
            </a:endParaRPr>
          </a:p>
          <a:p>
            <a:pPr indent="0">
              <a:lnSpc>
                <a:spcPct val="100000"/>
              </a:lnSpc>
              <a:buNone/>
              <a:tabLst>
                <a:tab algn="l" pos="0"/>
              </a:tabLst>
            </a:pPr>
            <a:r>
              <a:rPr lang="vi-VN" sz="1200" b="0" u="none" strike="noStrike">
                <a:solidFill>
                  <a:srgbClr val="000000"/>
                </a:solidFill>
                <a:effectLst/>
                <a:uFillTx/>
                <a:latin typeface="ZapfHumnst BT"/>
              </a:rPr>
              <a:t>Các mô hình được sử dụng trong </a:t>
            </a:r>
            <a:r>
              <a:rPr lang="en-US" sz="1200" b="0" u="none" strike="noStrike">
                <a:solidFill>
                  <a:srgbClr val="000000"/>
                </a:solidFill>
                <a:effectLst/>
                <a:uFillTx/>
                <a:latin typeface="ZapfHumnst BT"/>
              </a:rPr>
              <a:t>quá trình kỹ nghệ </a:t>
            </a:r>
            <a:r>
              <a:rPr lang="vi-VN" sz="1200" b="0" u="none" strike="noStrike">
                <a:solidFill>
                  <a:srgbClr val="000000"/>
                </a:solidFill>
                <a:effectLst/>
                <a:uFillTx/>
                <a:latin typeface="ZapfHumnst BT"/>
              </a:rPr>
              <a:t>yêu cầu để giúp lấy được</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các yêu cầu hệ thống</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trong quá trình thiết kế để mô tả hệ thống </a:t>
            </a:r>
            <a:r>
              <a:rPr lang="en-US" sz="1200" b="0" u="none" strike="noStrike">
                <a:solidFill>
                  <a:srgbClr val="000000"/>
                </a:solidFill>
                <a:effectLst/>
                <a:uFillTx/>
                <a:latin typeface="ZapfHumnst BT"/>
              </a:rPr>
              <a:t>để từ đó có thể cài đặt </a:t>
            </a:r>
            <a:r>
              <a:rPr lang="vi-VN" sz="1200" b="0" u="none" strike="noStrike">
                <a:solidFill>
                  <a:srgbClr val="000000"/>
                </a:solidFill>
                <a:effectLst/>
                <a:uFillTx/>
                <a:latin typeface="ZapfHumnst BT"/>
              </a:rPr>
              <a:t>hệ thống</a:t>
            </a:r>
            <a:r>
              <a:rPr lang="en-US" sz="1200" b="0" u="none" strike="noStrike">
                <a:solidFill>
                  <a:srgbClr val="000000"/>
                </a:solidFill>
                <a:effectLst/>
                <a:uFillTx/>
                <a:latin typeface="ZapfHumnst BT"/>
              </a:rPr>
              <a:t>. Mô hình cũng giúp cho việc làm tài liệu về </a:t>
            </a:r>
            <a:r>
              <a:rPr lang="vi-VN" sz="1200" b="0" u="none" strike="noStrike">
                <a:solidFill>
                  <a:srgbClr val="000000"/>
                </a:solidFill>
                <a:effectLst/>
                <a:uFillTx/>
                <a:latin typeface="ZapfHumnst BT"/>
              </a:rPr>
              <a:t>cấu trúc và hoạt động</a:t>
            </a:r>
            <a:r>
              <a:rPr lang="en-US" sz="1200" b="0" u="none" strike="noStrike">
                <a:solidFill>
                  <a:srgbClr val="000000"/>
                </a:solidFill>
                <a:effectLst/>
                <a:uFillTx/>
                <a:latin typeface="ZapfHumnst BT"/>
              </a:rPr>
              <a:t> của hệ thống sau khi cài đặt</a:t>
            </a:r>
            <a:r>
              <a:rPr lang="vi-VN" sz="1200" b="0" u="none" strike="noStrike">
                <a:solidFill>
                  <a:srgbClr val="000000"/>
                </a:solidFill>
                <a:effectLst/>
                <a:uFillTx/>
                <a:latin typeface="ZapfHumnst BT"/>
              </a:rPr>
              <a:t>. </a:t>
            </a:r>
            <a:r>
              <a:rPr lang="en-US" sz="1200" b="0" u="none" strike="noStrike">
                <a:solidFill>
                  <a:srgbClr val="000000"/>
                </a:solidFill>
                <a:effectLst/>
                <a:uFillTx/>
                <a:latin typeface="ZapfHumnst BT"/>
              </a:rPr>
              <a:t>M</a:t>
            </a:r>
            <a:r>
              <a:rPr lang="vi-VN" sz="1200" b="0" u="none" strike="noStrike">
                <a:solidFill>
                  <a:srgbClr val="000000"/>
                </a:solidFill>
                <a:effectLst/>
                <a:uFillTx/>
                <a:latin typeface="ZapfHumnst BT"/>
              </a:rPr>
              <a:t>ô hình </a:t>
            </a:r>
            <a:r>
              <a:rPr lang="en-US" sz="1200" b="0" u="none" strike="noStrike">
                <a:solidFill>
                  <a:srgbClr val="000000"/>
                </a:solidFill>
                <a:effectLst/>
                <a:uFillTx/>
                <a:latin typeface="ZapfHumnst BT"/>
              </a:rPr>
              <a:t>có thể được dùng cho </a:t>
            </a:r>
            <a:r>
              <a:rPr lang="vi-VN" sz="1200" b="0" u="none" strike="noStrike">
                <a:solidFill>
                  <a:srgbClr val="000000"/>
                </a:solidFill>
                <a:effectLst/>
                <a:uFillTx/>
                <a:latin typeface="ZapfHumnst BT"/>
              </a:rPr>
              <a:t>cả hệ thống hiện </a:t>
            </a:r>
            <a:r>
              <a:rPr lang="en-US" sz="1200" b="0" u="none" strike="noStrike">
                <a:solidFill>
                  <a:srgbClr val="000000"/>
                </a:solidFill>
                <a:effectLst/>
                <a:uFillTx/>
                <a:latin typeface="ZapfHumnst BT"/>
              </a:rPr>
              <a:t>thời </a:t>
            </a:r>
            <a:r>
              <a:rPr lang="vi-VN" sz="1200" b="0" u="none" strike="noStrike">
                <a:solidFill>
                  <a:srgbClr val="000000"/>
                </a:solidFill>
                <a:effectLst/>
                <a:uFillTx/>
                <a:latin typeface="ZapfHumnst BT"/>
              </a:rPr>
              <a:t>và</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hệ thống được phát triển:</a:t>
            </a:r>
            <a:endParaRPr lang="en-US" sz="1200" b="0" u="none" strike="noStrike">
              <a:solidFill>
                <a:srgbClr val="000000"/>
              </a:solidFill>
              <a:effectLst/>
              <a:uFillTx/>
              <a:latin typeface="Arial"/>
            </a:endParaRPr>
          </a:p>
          <a:p>
            <a:pPr indent="0">
              <a:lnSpc>
                <a:spcPct val="100000"/>
              </a:lnSpc>
              <a:buNone/>
              <a:tabLst>
                <a:tab algn="l" pos="0"/>
              </a:tabLst>
            </a:pPr>
            <a:endParaRPr lang="en-US" sz="1200" b="0" u="none" strike="noStrike">
              <a:solidFill>
                <a:srgbClr val="000000"/>
              </a:solidFill>
              <a:effectLst/>
              <a:uFillTx/>
              <a:latin typeface="Arial"/>
            </a:endParaRPr>
          </a:p>
          <a:p>
            <a:pPr marL="228600" indent="-228600">
              <a:lnSpc>
                <a:spcPct val="100000"/>
              </a:lnSpc>
              <a:buClr>
                <a:srgbClr val="000000"/>
              </a:buClr>
              <a:buFont typeface="Arial"/>
              <a:buAutoNum type="arabicPeriod"/>
              <a:tabLst>
                <a:tab algn="l" pos="0"/>
              </a:tabLst>
            </a:pPr>
            <a:r>
              <a:rPr lang="vi-VN" sz="1200" b="0" u="none" strike="noStrike">
                <a:solidFill>
                  <a:srgbClr val="000000"/>
                </a:solidFill>
                <a:effectLst/>
                <a:uFillTx/>
                <a:latin typeface="ZapfHumnst BT"/>
              </a:rPr>
              <a:t>Các mô hình của hệ thống hiện</a:t>
            </a:r>
            <a:r>
              <a:rPr lang="en-US" sz="1200" b="0" u="none" strike="noStrike">
                <a:solidFill>
                  <a:srgbClr val="000000"/>
                </a:solidFill>
                <a:effectLst/>
                <a:uFillTx/>
                <a:latin typeface="ZapfHumnst BT"/>
              </a:rPr>
              <a:t> thời</a:t>
            </a:r>
            <a:r>
              <a:rPr lang="vi-VN" sz="1200" b="0" u="none" strike="noStrike">
                <a:solidFill>
                  <a:srgbClr val="000000"/>
                </a:solidFill>
                <a:effectLst/>
                <a:uFillTx/>
                <a:latin typeface="ZapfHumnst BT"/>
              </a:rPr>
              <a:t> được sử dụng trong quá trình </a:t>
            </a:r>
            <a:r>
              <a:rPr lang="en-US" sz="1200" b="0" u="none" strike="noStrike">
                <a:solidFill>
                  <a:srgbClr val="000000"/>
                </a:solidFill>
                <a:effectLst/>
                <a:uFillTx/>
                <a:latin typeface="ZapfHumnst BT"/>
              </a:rPr>
              <a:t>kỹ nghệ </a:t>
            </a:r>
            <a:r>
              <a:rPr lang="vi-VN" sz="1200" b="0" u="none" strike="noStrike">
                <a:solidFill>
                  <a:srgbClr val="000000"/>
                </a:solidFill>
                <a:effectLst/>
                <a:uFillTx/>
                <a:latin typeface="ZapfHumnst BT"/>
              </a:rPr>
              <a:t>yêu cầu. </a:t>
            </a:r>
            <a:r>
              <a:rPr lang="en-US" sz="1200" b="0" u="none" strike="noStrike">
                <a:solidFill>
                  <a:srgbClr val="000000"/>
                </a:solidFill>
                <a:effectLst/>
                <a:uFillTx/>
                <a:latin typeface="ZapfHumnst BT"/>
              </a:rPr>
              <a:t>Mô hình </a:t>
            </a:r>
            <a:r>
              <a:rPr lang="vi-VN" sz="1200" b="0" u="none" strike="noStrike">
                <a:solidFill>
                  <a:srgbClr val="000000"/>
                </a:solidFill>
                <a:effectLst/>
                <a:uFillTx/>
                <a:latin typeface="ZapfHumnst BT"/>
              </a:rPr>
              <a:t>giúp làm rõ những gì hệ thống hiện </a:t>
            </a:r>
            <a:r>
              <a:rPr lang="en-US" sz="1200" b="0" u="none" strike="noStrike">
                <a:solidFill>
                  <a:srgbClr val="000000"/>
                </a:solidFill>
                <a:effectLst/>
                <a:uFillTx/>
                <a:latin typeface="ZapfHumnst BT"/>
              </a:rPr>
              <a:t>thời </a:t>
            </a:r>
            <a:r>
              <a:rPr lang="vi-VN" sz="1200" b="0" u="none" strike="noStrike">
                <a:solidFill>
                  <a:srgbClr val="000000"/>
                </a:solidFill>
                <a:effectLst/>
                <a:uFillTx/>
                <a:latin typeface="ZapfHumnst BT"/>
              </a:rPr>
              <a:t>làm và có thể được sử dụng làm cơ sở để thảo luận</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điểm mạnh và điểm yếu của </a:t>
            </a:r>
            <a:r>
              <a:rPr lang="en-US" sz="1200" b="0" u="none" strike="noStrike">
                <a:solidFill>
                  <a:srgbClr val="000000"/>
                </a:solidFill>
                <a:effectLst/>
                <a:uFillTx/>
                <a:latin typeface="ZapfHumnst BT"/>
              </a:rPr>
              <a:t>hệ thống, để từ đó xác định được </a:t>
            </a:r>
            <a:r>
              <a:rPr lang="vi-VN" sz="1200" b="0" u="none" strike="noStrike">
                <a:solidFill>
                  <a:srgbClr val="000000"/>
                </a:solidFill>
                <a:effectLst/>
                <a:uFillTx/>
                <a:latin typeface="ZapfHumnst BT"/>
              </a:rPr>
              <a:t>các yêu cầu cho</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hệ thống mới.</a:t>
            </a:r>
            <a:endParaRPr lang="en-US" sz="1200" b="0" u="none" strike="noStrike">
              <a:solidFill>
                <a:srgbClr val="000000"/>
              </a:solidFill>
              <a:effectLst/>
              <a:uFillTx/>
              <a:latin typeface="Arial"/>
            </a:endParaRPr>
          </a:p>
          <a:p>
            <a:pPr indent="0">
              <a:lnSpc>
                <a:spcPct val="100000"/>
              </a:lnSpc>
              <a:buNone/>
              <a:tabLst>
                <a:tab algn="l" pos="0"/>
              </a:tabLst>
            </a:pPr>
            <a:endParaRPr lang="en-US" sz="1200" b="0" u="none" strike="noStrike">
              <a:solidFill>
                <a:srgbClr val="000000"/>
              </a:solidFill>
              <a:effectLst/>
              <a:uFillTx/>
              <a:latin typeface="Arial"/>
            </a:endParaRPr>
          </a:p>
          <a:p>
            <a:pPr marL="228600" indent="-228600">
              <a:lnSpc>
                <a:spcPct val="100000"/>
              </a:lnSpc>
              <a:buClr>
                <a:srgbClr val="000000"/>
              </a:buClr>
              <a:buFont typeface="Arial"/>
              <a:buAutoNum type="arabicPeriod"/>
              <a:tabLst>
                <a:tab algn="l" pos="0"/>
              </a:tabLst>
            </a:pPr>
            <a:r>
              <a:rPr lang="en-US" sz="1200" b="0" u="none" strike="noStrike">
                <a:solidFill>
                  <a:srgbClr val="000000"/>
                </a:solidFill>
                <a:effectLst/>
                <a:uFillTx/>
                <a:latin typeface="ZapfHumnst BT"/>
              </a:rPr>
              <a:t>Các mô</a:t>
            </a:r>
            <a:r>
              <a:rPr lang="vi-VN" sz="1200" b="0" u="none" strike="noStrike">
                <a:solidFill>
                  <a:srgbClr val="000000"/>
                </a:solidFill>
                <a:effectLst/>
                <a:uFillTx/>
                <a:latin typeface="ZapfHumnst BT"/>
              </a:rPr>
              <a:t> hình của hệ thống mới được sử dụng trong kỹ </a:t>
            </a:r>
            <a:r>
              <a:rPr lang="en-US" sz="1200" b="0" u="none" strike="noStrike">
                <a:solidFill>
                  <a:srgbClr val="000000"/>
                </a:solidFill>
                <a:effectLst/>
                <a:uFillTx/>
                <a:latin typeface="ZapfHumnst BT"/>
              </a:rPr>
              <a:t>nghệ</a:t>
            </a:r>
            <a:r>
              <a:rPr lang="vi-VN" sz="1200" b="0" u="none" strike="noStrike">
                <a:solidFill>
                  <a:srgbClr val="000000"/>
                </a:solidFill>
                <a:effectLst/>
                <a:uFillTx/>
                <a:latin typeface="ZapfHumnst BT"/>
              </a:rPr>
              <a:t> yêu cầu để </a:t>
            </a:r>
            <a:r>
              <a:rPr lang="en-US" sz="1200" b="0" u="none" strike="noStrike">
                <a:solidFill>
                  <a:srgbClr val="000000"/>
                </a:solidFill>
                <a:effectLst/>
                <a:uFillTx/>
                <a:latin typeface="ZapfHumnst BT"/>
              </a:rPr>
              <a:t>giúp diễn </a:t>
            </a:r>
            <a:r>
              <a:rPr lang="vi-VN" sz="1200" b="0" u="none" strike="noStrike">
                <a:solidFill>
                  <a:srgbClr val="000000"/>
                </a:solidFill>
                <a:effectLst/>
                <a:uFillTx/>
                <a:latin typeface="ZapfHumnst BT"/>
              </a:rPr>
              <a:t>giải các yêu cầu được đề xuất cho các bên liên quan của hệ thống. Kỹ sư sử dụng</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các mô hình này để thảo luận các đề xuất thiết kế và lập tài liệu cho hệ thống </a:t>
            </a:r>
            <a:r>
              <a:rPr lang="en-US" sz="1200" b="0" u="none" strike="noStrike">
                <a:solidFill>
                  <a:srgbClr val="000000"/>
                </a:solidFill>
                <a:effectLst/>
                <a:uFillTx/>
                <a:latin typeface="ZapfHumnst BT"/>
              </a:rPr>
              <a:t>cần xây dựng</a:t>
            </a:r>
            <a:r>
              <a:rPr lang="vi-VN" sz="1200" b="0" u="none" strike="noStrike">
                <a:solidFill>
                  <a:srgbClr val="000000"/>
                </a:solidFill>
                <a:effectLst/>
                <a:uFillTx/>
                <a:latin typeface="ZapfHumnst BT"/>
              </a:rPr>
              <a:t>.</a:t>
            </a:r>
            <a:r>
              <a:rPr lang="en-US" sz="1200" b="0" u="none" strike="noStrike">
                <a:solidFill>
                  <a:srgbClr val="000000"/>
                </a:solidFill>
                <a:effectLst/>
                <a:uFillTx/>
                <a:latin typeface="ZapfHumnst BT"/>
              </a:rPr>
              <a:t> </a:t>
            </a:r>
            <a:r>
              <a:rPr lang="vi-VN" sz="1200" b="0" u="none" strike="noStrike">
                <a:solidFill>
                  <a:srgbClr val="000000"/>
                </a:solidFill>
                <a:effectLst/>
                <a:uFillTx/>
                <a:latin typeface="ZapfHumnst BT"/>
              </a:rPr>
              <a:t>Trong quy trình kỹ </a:t>
            </a:r>
            <a:r>
              <a:rPr lang="en-US" sz="1200" b="0" u="none" strike="noStrike">
                <a:solidFill>
                  <a:srgbClr val="000000"/>
                </a:solidFill>
                <a:effectLst/>
                <a:uFillTx/>
                <a:latin typeface="ZapfHumnst BT"/>
              </a:rPr>
              <a:t>nghệ hướng </a:t>
            </a:r>
            <a:r>
              <a:rPr lang="vi-VN" sz="1200" b="0" u="none" strike="noStrike">
                <a:solidFill>
                  <a:srgbClr val="000000"/>
                </a:solidFill>
                <a:effectLst/>
                <a:uFillTx/>
                <a:latin typeface="ZapfHumnst BT"/>
              </a:rPr>
              <a:t>mô hình, </a:t>
            </a:r>
            <a:r>
              <a:rPr lang="en-US" sz="1200" b="0" u="none" strike="noStrike">
                <a:solidFill>
                  <a:srgbClr val="000000"/>
                </a:solidFill>
                <a:effectLst/>
                <a:uFillTx/>
                <a:latin typeface="ZapfHumnst BT"/>
              </a:rPr>
              <a:t>bản cài đặt của hệ thống </a:t>
            </a:r>
            <a:r>
              <a:rPr lang="vi-VN" sz="1200" b="0" u="none" strike="noStrike">
                <a:solidFill>
                  <a:srgbClr val="000000"/>
                </a:solidFill>
                <a:effectLst/>
                <a:uFillTx/>
                <a:latin typeface="ZapfHumnst BT"/>
              </a:rPr>
              <a:t>có thể </a:t>
            </a:r>
            <a:r>
              <a:rPr lang="en-US" sz="1200" b="0" u="none" strike="noStrike">
                <a:solidFill>
                  <a:srgbClr val="000000"/>
                </a:solidFill>
                <a:effectLst/>
                <a:uFillTx/>
                <a:latin typeface="ZapfHumnst BT"/>
              </a:rPr>
              <a:t>được sinh một phần hoặc toàn bộ </a:t>
            </a:r>
            <a:r>
              <a:rPr lang="vi-VN" sz="1200" b="0" u="none" strike="noStrike">
                <a:solidFill>
                  <a:srgbClr val="000000"/>
                </a:solidFill>
                <a:effectLst/>
                <a:uFillTx/>
                <a:latin typeface="ZapfHumnst BT"/>
              </a:rPr>
              <a:t>từ </a:t>
            </a:r>
            <a:r>
              <a:rPr lang="en-US" sz="1200" b="0" u="none" strike="noStrike">
                <a:solidFill>
                  <a:srgbClr val="000000"/>
                </a:solidFill>
                <a:effectLst/>
                <a:uFillTx/>
                <a:latin typeface="ZapfHumnst BT"/>
              </a:rPr>
              <a:t>các </a:t>
            </a:r>
            <a:r>
              <a:rPr lang="vi-VN" sz="1200" b="0" u="none" strike="noStrike">
                <a:solidFill>
                  <a:srgbClr val="000000"/>
                </a:solidFill>
                <a:effectLst/>
                <a:uFillTx/>
                <a:latin typeface="ZapfHumnst BT"/>
              </a:rPr>
              <a:t>mô hình hệ thống.</a:t>
            </a:r>
            <a:endParaRPr lang="en-US" sz="1200" b="0" u="none" strike="noStrike">
              <a:solidFill>
                <a:srgbClr val="000000"/>
              </a:solidFill>
              <a:effectLst/>
              <a:uFillTx/>
              <a:latin typeface="Arial"/>
            </a:endParaRPr>
          </a:p>
        </p:txBody>
      </p:sp>
      <p:sp>
        <p:nvSpPr>
          <p:cNvPr id="246" name="PlaceHolder 3"/>
          <p:cNvSpPr>
            <a:spLocks noGrp="1"/>
          </p:cNvSpPr>
          <p:nvPr>
            <p:ph type="sldNum" idx="60"/>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57F716-0468-4678-A7ED-D1268CE77688}"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373040" y="754200"/>
            <a:ext cx="5025600" cy="3771720"/>
          </a:xfrm>
          <a:prstGeom prst="rect">
            <a:avLst/>
          </a:prstGeom>
          <a:ln w="0">
            <a:noFill/>
          </a:ln>
        </p:spPr>
      </p:sp>
      <p:sp>
        <p:nvSpPr>
          <p:cNvPr id="248"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Mô hình hóa có bề dày lịch sử trong tất cả các ngành kỹ nghệ. Theo đó, mô hình hóa sẽ tuân thủ bốn nguyên lý cơ bản sau:</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en-US" sz="2000" b="0" u="none" strike="noStrike">
                <a:solidFill>
                  <a:srgbClr val="000000"/>
                </a:solidFill>
                <a:effectLst/>
                <a:uFillTx/>
                <a:latin typeface="Arial"/>
              </a:rPr>
              <a:t>Mô hình chúng ta tạo ra sẽ ảnh hưởng đến cách vấn đề được giải quyết. Ví dụ, chúng ta mô hình hóa hệ thống phần mềm ở dạng mô hình đối tượng, hay quan niệm chỉ là một hàm xử lý thì cách thức xây dựng, triển khai và vận hành hệ thống theo hai dạng mô hình sẽ khác nhau. Theo đó, vấn đề được giải quyết theo cách thức khác nhau.</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en-US" sz="2000" b="0" u="none" strike="noStrike">
                <a:solidFill>
                  <a:srgbClr val="000000"/>
                </a:solidFill>
                <a:effectLst/>
                <a:uFillTx/>
                <a:latin typeface="Arial"/>
              </a:rPr>
              <a:t>Mọi mô hình có thể được biểu diễn ở các mức độ chính xác khác nhau. Chẳng hạn, ứng dụng google map đưa ra mô hình về trái đất ở dạng bản đồ. Theo đó, mô hình trái đất này có thể được biểu diễn ở các cấp độ chính xác khác nhau thông qua việc phóng to hay thu nhỏ bản đồ.</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en-US" sz="2000" b="0" u="none" strike="noStrike">
                <a:solidFill>
                  <a:srgbClr val="000000"/>
                </a:solidFill>
                <a:effectLst/>
                <a:uFillTx/>
                <a:latin typeface="Arial"/>
              </a:rPr>
              <a:t>Mô hình tốt nếu có sự kết nối với thế giới thực. Điều này xuất phát từ mục đích của mô hình hóa, đó là để hiểu, phân tích hay xây dựng chủ thể trong thế giới thực.</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en-US" sz="2000" b="0" u="none" strike="noStrike">
                <a:solidFill>
                  <a:srgbClr val="000000"/>
                </a:solidFill>
                <a:effectLst/>
                <a:uFillTx/>
                <a:latin typeface="Arial"/>
              </a:rPr>
              <a:t>Mô hình thu được từ sự đơn giản chủ thể ở khía cạnh nào đó. Do đó, để hiểu tổng thể hệ thống, thông thường cần phải sử dụng nhiều mô hình, phản ánh chủ thể từ nhiều khía cạnh khác nhau. Do đó, chỉ sử dụng duy nhất một mô hình thường là không đủ cho mục đích mô hình hóa.</a:t>
            </a:r>
            <a:endParaRPr lang="en-US" sz="2000" b="0" u="none" strike="noStrike">
              <a:solidFill>
                <a:srgbClr val="000000"/>
              </a:solidFill>
              <a:effectLst/>
              <a:uFillTx/>
              <a:latin typeface="Arial"/>
            </a:endParaRPr>
          </a:p>
        </p:txBody>
      </p:sp>
      <p:sp>
        <p:nvSpPr>
          <p:cNvPr id="249" name="PlaceHolder 3"/>
          <p:cNvSpPr>
            <a:spLocks noGrp="1"/>
          </p:cNvSpPr>
          <p:nvPr>
            <p:ph type="sldNum" idx="61"/>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34FAB87-8AA9-4397-AED9-CCEACA1E7D85}"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sldImg"/>
          </p:nvPr>
        </p:nvSpPr>
        <p:spPr>
          <a:xfrm>
            <a:off x="1373040" y="754200"/>
            <a:ext cx="5025600" cy="3771720"/>
          </a:xfrm>
          <a:prstGeom prst="rect">
            <a:avLst/>
          </a:prstGeom>
          <a:ln w="0">
            <a:noFill/>
          </a:ln>
        </p:spPr>
      </p:sp>
      <p:sp>
        <p:nvSpPr>
          <p:cNvPr id="251"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chemeClr val="dk1"/>
                </a:solidFill>
                <a:effectLst/>
                <a:uFillTx/>
                <a:latin typeface="+mn-lt"/>
                <a:ea typeface="+mn-ea"/>
              </a:rPr>
              <a:t>Khía cạnh quan trọng nhất của mô hình hệ thống là </a:t>
            </a:r>
            <a:r>
              <a:rPr lang="en-US" sz="1200" b="0" u="none" strike="noStrike">
                <a:solidFill>
                  <a:schemeClr val="dk1"/>
                </a:solidFill>
                <a:effectLst/>
                <a:uFillTx/>
                <a:latin typeface="+mn-lt"/>
                <a:ea typeface="+mn-ea"/>
              </a:rPr>
              <a:t>việc đơn giản hóa và </a:t>
            </a:r>
            <a:r>
              <a:rPr lang="vi-VN" sz="1200" b="0" u="none" strike="noStrike">
                <a:solidFill>
                  <a:schemeClr val="dk1"/>
                </a:solidFill>
                <a:effectLst/>
                <a:uFillTx/>
                <a:latin typeface="+mn-lt"/>
                <a:ea typeface="+mn-ea"/>
              </a:rPr>
              <a:t>bỏ qua chi tiết. </a:t>
            </a:r>
            <a:r>
              <a:rPr lang="en-US" sz="1200" b="0" u="none" strike="noStrike">
                <a:solidFill>
                  <a:schemeClr val="dk1"/>
                </a:solidFill>
                <a:effectLst/>
                <a:uFillTx/>
                <a:latin typeface="+mn-lt"/>
                <a:ea typeface="+mn-ea"/>
              </a:rPr>
              <a:t>M</a:t>
            </a:r>
            <a:r>
              <a:rPr lang="vi-VN" sz="1200" b="0" u="none" strike="noStrike">
                <a:solidFill>
                  <a:schemeClr val="dk1"/>
                </a:solidFill>
                <a:effectLst/>
                <a:uFillTx/>
                <a:latin typeface="+mn-lt"/>
                <a:ea typeface="+mn-ea"/>
              </a:rPr>
              <a:t>ô hình là </a:t>
            </a:r>
            <a:r>
              <a:rPr lang="en-US" sz="1200" b="0" u="none" strike="noStrike">
                <a:solidFill>
                  <a:schemeClr val="dk1"/>
                </a:solidFill>
                <a:effectLst/>
                <a:uFillTx/>
                <a:latin typeface="+mn-lt"/>
                <a:ea typeface="+mn-ea"/>
              </a:rPr>
              <a:t>sự </a:t>
            </a:r>
            <a:r>
              <a:rPr lang="vi-VN" sz="1200" b="0" u="none" strike="noStrike">
                <a:solidFill>
                  <a:schemeClr val="dk1"/>
                </a:solidFill>
                <a:effectLst/>
                <a:uFillTx/>
                <a:latin typeface="+mn-lt"/>
                <a:ea typeface="+mn-ea"/>
              </a:rPr>
              <a:t>trừu tượng của hệ thống đang được </a:t>
            </a:r>
            <a:r>
              <a:rPr lang="en-US" sz="1200" b="0" u="none" strike="noStrike">
                <a:solidFill>
                  <a:schemeClr val="dk1"/>
                </a:solidFill>
                <a:effectLst/>
                <a:uFillTx/>
                <a:latin typeface="+mn-lt"/>
                <a:ea typeface="+mn-ea"/>
              </a:rPr>
              <a:t>xem xét </a:t>
            </a:r>
            <a:r>
              <a:rPr lang="vi-VN" sz="1200" b="0" u="none" strike="noStrike">
                <a:solidFill>
                  <a:schemeClr val="dk1"/>
                </a:solidFill>
                <a:effectLst/>
                <a:uFillTx/>
                <a:latin typeface="+mn-lt"/>
                <a:ea typeface="+mn-ea"/>
              </a:rPr>
              <a:t>chứ không phải là một </a:t>
            </a:r>
            <a:r>
              <a:rPr lang="en-US" sz="1200" b="0" u="none" strike="noStrike">
                <a:solidFill>
                  <a:schemeClr val="dk1"/>
                </a:solidFill>
                <a:effectLst/>
                <a:uFillTx/>
                <a:latin typeface="+mn-lt"/>
                <a:ea typeface="+mn-ea"/>
              </a:rPr>
              <a:t>sự tái hiện </a:t>
            </a:r>
            <a:r>
              <a:rPr lang="vi-VN" sz="1200" b="0" u="none" strike="noStrike">
                <a:solidFill>
                  <a:schemeClr val="dk1"/>
                </a:solidFill>
                <a:effectLst/>
                <a:uFillTx/>
                <a:latin typeface="+mn-lt"/>
                <a:ea typeface="+mn-ea"/>
              </a:rPr>
              <a:t>thay thế </a:t>
            </a:r>
            <a:r>
              <a:rPr lang="en-US" sz="1200" b="0" u="none" strike="noStrike">
                <a:solidFill>
                  <a:schemeClr val="dk1"/>
                </a:solidFill>
                <a:effectLst/>
                <a:uFillTx/>
                <a:latin typeface="+mn-lt"/>
                <a:ea typeface="+mn-ea"/>
              </a:rPr>
              <a:t>cho </a:t>
            </a:r>
            <a:r>
              <a:rPr lang="vi-VN" sz="1200" b="0" u="none" strike="noStrike">
                <a:solidFill>
                  <a:schemeClr val="dk1"/>
                </a:solidFill>
                <a:effectLst/>
                <a:uFillTx/>
                <a:latin typeface="+mn-lt"/>
                <a:ea typeface="+mn-ea"/>
              </a:rPr>
              <a:t>hệ thống đó. </a:t>
            </a:r>
            <a:r>
              <a:rPr lang="en-US" sz="1200" b="0" u="none" strike="noStrike">
                <a:solidFill>
                  <a:schemeClr val="dk1"/>
                </a:solidFill>
                <a:effectLst/>
                <a:uFillTx/>
                <a:latin typeface="+mn-lt"/>
                <a:ea typeface="+mn-ea"/>
              </a:rPr>
              <a:t>M</a:t>
            </a:r>
            <a:r>
              <a:rPr lang="vi-VN" sz="1200" b="0" u="none" strike="noStrike">
                <a:solidFill>
                  <a:schemeClr val="dk1"/>
                </a:solidFill>
                <a:effectLst/>
                <a:uFillTx/>
                <a:latin typeface="+mn-lt"/>
                <a:ea typeface="+mn-ea"/>
              </a:rPr>
              <a:t>ột </a:t>
            </a:r>
            <a:r>
              <a:rPr lang="en-US" sz="1200" b="0" u="none" strike="noStrike">
                <a:solidFill>
                  <a:schemeClr val="dk1"/>
                </a:solidFill>
                <a:effectLst/>
                <a:uFillTx/>
                <a:latin typeface="+mn-lt"/>
                <a:ea typeface="+mn-ea"/>
              </a:rPr>
              <a:t>biểu diễn </a:t>
            </a:r>
            <a:r>
              <a:rPr lang="vi-VN" sz="1200" b="0" u="none" strike="noStrike">
                <a:solidFill>
                  <a:schemeClr val="dk1"/>
                </a:solidFill>
                <a:effectLst/>
                <a:uFillTx/>
                <a:latin typeface="+mn-lt"/>
                <a:ea typeface="+mn-ea"/>
              </a:rPr>
              <a:t>của một hệ thống </a:t>
            </a:r>
            <a:r>
              <a:rPr lang="en-US" sz="1200" b="0" u="none" strike="noStrike">
                <a:solidFill>
                  <a:schemeClr val="dk1"/>
                </a:solidFill>
                <a:effectLst/>
                <a:uFillTx/>
                <a:latin typeface="+mn-lt"/>
                <a:ea typeface="+mn-ea"/>
              </a:rPr>
              <a:t>ở dạng lý tưởng nhất cần </a:t>
            </a:r>
            <a:r>
              <a:rPr lang="vi-VN" sz="1200" b="0" u="none" strike="noStrike">
                <a:solidFill>
                  <a:schemeClr val="dk1"/>
                </a:solidFill>
                <a:effectLst/>
                <a:uFillTx/>
                <a:latin typeface="+mn-lt"/>
                <a:ea typeface="+mn-ea"/>
              </a:rPr>
              <a:t>duy trì tất cả các thông tin về thực thể được </a:t>
            </a:r>
            <a:r>
              <a:rPr lang="en-US" sz="1200" b="0" u="none" strike="noStrike">
                <a:solidFill>
                  <a:schemeClr val="dk1"/>
                </a:solidFill>
                <a:effectLst/>
                <a:uFillTx/>
                <a:latin typeface="+mn-lt"/>
                <a:ea typeface="+mn-ea"/>
              </a:rPr>
              <a:t>tái hiện</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Ở đây, m</a:t>
            </a:r>
            <a:r>
              <a:rPr lang="vi-VN" sz="1200" b="0" u="none" strike="noStrike">
                <a:solidFill>
                  <a:schemeClr val="dk1"/>
                </a:solidFill>
                <a:effectLst/>
                <a:uFillTx/>
                <a:latin typeface="+mn-lt"/>
                <a:ea typeface="+mn-ea"/>
              </a:rPr>
              <a:t>ột trừu tượng </a:t>
            </a:r>
            <a:r>
              <a:rPr lang="en-US" sz="1200" b="0" u="none" strike="noStrike">
                <a:solidFill>
                  <a:schemeClr val="dk1"/>
                </a:solidFill>
                <a:effectLst/>
                <a:uFillTx/>
                <a:latin typeface="+mn-lt"/>
                <a:ea typeface="+mn-ea"/>
              </a:rPr>
              <a:t>tập trung </a:t>
            </a:r>
            <a:r>
              <a:rPr lang="vi-VN" sz="1200" b="0" u="none" strike="noStrike">
                <a:solidFill>
                  <a:schemeClr val="dk1"/>
                </a:solidFill>
                <a:effectLst/>
                <a:uFillTx/>
                <a:latin typeface="+mn-lt"/>
                <a:ea typeface="+mn-ea"/>
              </a:rPr>
              <a:t>đơn giản hóa và chọn ra các đặc tính nổi bật nhất. </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chemeClr val="dk1"/>
                </a:solidFill>
                <a:effectLst/>
                <a:uFillTx/>
                <a:latin typeface="+mn-lt"/>
                <a:ea typeface="+mn-ea"/>
              </a:rPr>
              <a:t>Ví dụ, </a:t>
            </a:r>
            <a:r>
              <a:rPr lang="en-US" sz="1200" b="0" u="none" strike="noStrike">
                <a:solidFill>
                  <a:schemeClr val="dk1"/>
                </a:solidFill>
                <a:effectLst/>
                <a:uFillTx/>
                <a:latin typeface="+mn-lt"/>
                <a:ea typeface="+mn-ea"/>
              </a:rPr>
              <a:t>khi cần đăng tải một </a:t>
            </a:r>
            <a:r>
              <a:rPr lang="vi-VN" sz="1200" b="0" u="none" strike="noStrike">
                <a:solidFill>
                  <a:schemeClr val="dk1"/>
                </a:solidFill>
                <a:effectLst/>
                <a:uFillTx/>
                <a:latin typeface="+mn-lt"/>
                <a:ea typeface="+mn-ea"/>
              </a:rPr>
              <a:t>cuốn sách này </a:t>
            </a:r>
            <a:r>
              <a:rPr lang="en-US" sz="1200" b="0" u="none" strike="noStrike">
                <a:solidFill>
                  <a:schemeClr val="dk1"/>
                </a:solidFill>
                <a:effectLst/>
                <a:uFillTx/>
                <a:latin typeface="+mn-lt"/>
                <a:ea typeface="+mn-ea"/>
              </a:rPr>
              <a:t>theo các số của </a:t>
            </a:r>
            <a:r>
              <a:rPr lang="vi-VN" sz="1200" b="0" u="none" strike="noStrike">
                <a:solidFill>
                  <a:schemeClr val="dk1"/>
                </a:solidFill>
                <a:effectLst/>
                <a:uFillTx/>
                <a:latin typeface="+mn-lt"/>
                <a:ea typeface="+mn-ea"/>
              </a:rPr>
              <a:t>một tờ báo, bài </a:t>
            </a:r>
            <a:r>
              <a:rPr lang="en-US" sz="1200" b="0" u="none" strike="noStrike">
                <a:solidFill>
                  <a:schemeClr val="dk1"/>
                </a:solidFill>
                <a:effectLst/>
                <a:uFillTx/>
                <a:latin typeface="+mn-lt"/>
                <a:ea typeface="+mn-ea"/>
              </a:rPr>
              <a:t>báo</a:t>
            </a:r>
            <a:r>
              <a:rPr lang="vi-VN" sz="1200" b="0" u="none" strike="noStrike">
                <a:solidFill>
                  <a:schemeClr val="dk1"/>
                </a:solidFill>
                <a:effectLst/>
                <a:uFillTx/>
                <a:latin typeface="+mn-lt"/>
                <a:ea typeface="+mn-ea"/>
              </a:rPr>
              <a:t> sẽ </a:t>
            </a:r>
            <a:r>
              <a:rPr lang="en-US" sz="1200" b="0" u="none" strike="noStrike">
                <a:solidFill>
                  <a:schemeClr val="dk1"/>
                </a:solidFill>
                <a:effectLst/>
                <a:uFillTx/>
                <a:latin typeface="+mn-lt"/>
                <a:ea typeface="+mn-ea"/>
              </a:rPr>
              <a:t>là </a:t>
            </a:r>
            <a:r>
              <a:rPr lang="vi-VN" sz="1200" b="0" u="none" strike="noStrike">
                <a:solidFill>
                  <a:schemeClr val="dk1"/>
                </a:solidFill>
                <a:effectLst/>
                <a:uFillTx/>
                <a:latin typeface="+mn-lt"/>
                <a:ea typeface="+mn-ea"/>
              </a:rPr>
              <a:t>sự trừu tượng về các điểm chính của cuốn sách. Nếu nó được dịch từ tiếng Anh sang tiếng </a:t>
            </a:r>
            <a:r>
              <a:rPr lang="en-US" sz="1200" b="0" u="none" strike="noStrike">
                <a:solidFill>
                  <a:schemeClr val="dk1"/>
                </a:solidFill>
                <a:effectLst/>
                <a:uFillTx/>
                <a:latin typeface="+mn-lt"/>
                <a:ea typeface="+mn-ea"/>
              </a:rPr>
              <a:t>Việt</a:t>
            </a:r>
            <a:r>
              <a:rPr lang="vi-VN" sz="1200" b="0" u="none" strike="noStrike">
                <a:solidFill>
                  <a:schemeClr val="dk1"/>
                </a:solidFill>
                <a:effectLst/>
                <a:uFillTx/>
                <a:latin typeface="+mn-lt"/>
                <a:ea typeface="+mn-ea"/>
              </a:rPr>
              <a:t>, đây sẽ là một </a:t>
            </a:r>
            <a:r>
              <a:rPr lang="en-US" sz="1200" b="0" u="none" strike="noStrike">
                <a:solidFill>
                  <a:schemeClr val="dk1"/>
                </a:solidFill>
                <a:effectLst/>
                <a:uFillTx/>
                <a:latin typeface="+mn-lt"/>
                <a:ea typeface="+mn-ea"/>
              </a:rPr>
              <a:t>sự biểu diễn </a:t>
            </a:r>
            <a:r>
              <a:rPr lang="vi-VN" sz="1200" b="0" u="none" strike="noStrike">
                <a:solidFill>
                  <a:schemeClr val="dk1"/>
                </a:solidFill>
                <a:effectLst/>
                <a:uFillTx/>
                <a:latin typeface="+mn-lt"/>
                <a:ea typeface="+mn-ea"/>
              </a:rPr>
              <a:t>thay thế. Ý định của người dịch sẽ là duy trì tất cả thông tin khi nó được trình bày bằng tiếng Anh. </a:t>
            </a:r>
            <a:r>
              <a:rPr lang="en-US" sz="1200" b="0" u="none" strike="noStrike">
                <a:solidFill>
                  <a:schemeClr val="dk1"/>
                </a:solidFill>
                <a:effectLst/>
                <a:uFillTx/>
                <a:latin typeface="+mn-lt"/>
                <a:ea typeface="+mn-ea"/>
              </a:rPr>
              <a:t>C</a:t>
            </a:r>
            <a:r>
              <a:rPr lang="vi-VN" sz="1200" b="0" u="none" strike="noStrike">
                <a:solidFill>
                  <a:schemeClr val="dk1"/>
                </a:solidFill>
                <a:effectLst/>
                <a:uFillTx/>
                <a:latin typeface="+mn-lt"/>
                <a:ea typeface="+mn-ea"/>
              </a:rPr>
              <a:t>ác mô hình khác nhau </a:t>
            </a:r>
            <a:r>
              <a:rPr lang="en-US" sz="1200" b="0" u="none" strike="noStrike">
                <a:solidFill>
                  <a:schemeClr val="dk1"/>
                </a:solidFill>
                <a:effectLst/>
                <a:uFillTx/>
                <a:latin typeface="+mn-lt"/>
                <a:ea typeface="+mn-ea"/>
              </a:rPr>
              <a:t>có thể được tạo </a:t>
            </a:r>
            <a:r>
              <a:rPr lang="vi-VN" sz="1200" b="0" u="none" strike="noStrike">
                <a:solidFill>
                  <a:schemeClr val="dk1"/>
                </a:solidFill>
                <a:effectLst/>
                <a:uFillTx/>
                <a:latin typeface="+mn-lt"/>
                <a:ea typeface="+mn-ea"/>
              </a:rPr>
              <a:t>để </a:t>
            </a:r>
            <a:r>
              <a:rPr lang="en-US" sz="1200" b="0" u="none" strike="noStrike">
                <a:solidFill>
                  <a:schemeClr val="dk1"/>
                </a:solidFill>
                <a:effectLst/>
                <a:uFillTx/>
                <a:latin typeface="+mn-lt"/>
                <a:ea typeface="+mn-ea"/>
              </a:rPr>
              <a:t>tái hiện </a:t>
            </a:r>
            <a:r>
              <a:rPr lang="vi-VN" sz="1200" b="0" u="none" strike="noStrike">
                <a:solidFill>
                  <a:schemeClr val="dk1"/>
                </a:solidFill>
                <a:effectLst/>
                <a:uFillTx/>
                <a:latin typeface="+mn-lt"/>
                <a:ea typeface="+mn-ea"/>
              </a:rPr>
              <a:t>hệ thống từ những </a:t>
            </a: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khác nhau. </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en-US" sz="1200" b="0" u="none" strike="noStrike">
                <a:solidFill>
                  <a:schemeClr val="dk1"/>
                </a:solidFill>
                <a:effectLst/>
                <a:uFillTx/>
                <a:latin typeface="+mn-lt"/>
                <a:ea typeface="+mn-ea"/>
              </a:rPr>
              <a:t>Góc nhìn từ </a:t>
            </a:r>
            <a:r>
              <a:rPr lang="vi-VN" sz="1200" b="0" u="none" strike="noStrike">
                <a:solidFill>
                  <a:schemeClr val="dk1"/>
                </a:solidFill>
                <a:effectLst/>
                <a:uFillTx/>
                <a:latin typeface="+mn-lt"/>
                <a:ea typeface="+mn-ea"/>
              </a:rPr>
              <a:t>bên ngoài, nơi mô hình bối cảnh hoặc môi trường của hệ thống.</a:t>
            </a: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tương tác </a:t>
            </a:r>
            <a:r>
              <a:rPr lang="en-US" sz="1200" b="0" u="none" strike="noStrike">
                <a:solidFill>
                  <a:schemeClr val="dk1"/>
                </a:solidFill>
                <a:effectLst/>
                <a:uFillTx/>
                <a:latin typeface="+mn-lt"/>
                <a:ea typeface="+mn-ea"/>
              </a:rPr>
              <a:t>tập trung </a:t>
            </a:r>
            <a:r>
              <a:rPr lang="vi-VN" sz="1200" b="0" u="none" strike="noStrike">
                <a:solidFill>
                  <a:schemeClr val="dk1"/>
                </a:solidFill>
                <a:effectLst/>
                <a:uFillTx/>
                <a:latin typeface="+mn-lt"/>
                <a:ea typeface="+mn-ea"/>
              </a:rPr>
              <a:t>mô hình hóa các tương tác giữa hệ thống và môi trường của nó hoặc giữa các thành phần của hệ thống.</a:t>
            </a: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cấu trúc</a:t>
            </a:r>
            <a:r>
              <a:rPr lang="en-US" sz="1200" b="0" u="none" strike="noStrike">
                <a:solidFill>
                  <a:schemeClr val="dk1"/>
                </a:solidFill>
                <a:effectLst/>
                <a:uFillTx/>
                <a:latin typeface="+mn-lt"/>
                <a:ea typeface="+mn-ea"/>
              </a:rPr>
              <a:t> tập trung </a:t>
            </a:r>
            <a:r>
              <a:rPr lang="vi-VN" sz="1200" b="0" u="none" strike="noStrike">
                <a:solidFill>
                  <a:schemeClr val="dk1"/>
                </a:solidFill>
                <a:effectLst/>
                <a:uFillTx/>
                <a:latin typeface="+mn-lt"/>
                <a:ea typeface="+mn-ea"/>
              </a:rPr>
              <a:t>mô hình hóa tổ chức của một hệ thống hoặc cấu trúc của dữ liệu được xử lý bởi hệ thống.</a:t>
            </a: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hành vi</a:t>
            </a:r>
            <a:r>
              <a:rPr lang="en-US" sz="1200" b="0" u="none" strike="noStrike">
                <a:solidFill>
                  <a:schemeClr val="dk1"/>
                </a:solidFill>
                <a:effectLst/>
                <a:uFillTx/>
                <a:latin typeface="+mn-lt"/>
                <a:ea typeface="+mn-ea"/>
              </a:rPr>
              <a:t> tập trung </a:t>
            </a:r>
            <a:r>
              <a:rPr lang="vi-VN" sz="1200" b="0" u="none" strike="noStrike">
                <a:solidFill>
                  <a:schemeClr val="dk1"/>
                </a:solidFill>
                <a:effectLst/>
                <a:uFillTx/>
                <a:latin typeface="+mn-lt"/>
                <a:ea typeface="+mn-ea"/>
              </a:rPr>
              <a:t>mô hình hóa hành vi động của hệ thống và cách nó phản ứng với các sự kiện.</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chemeClr val="dk1"/>
                </a:solidFill>
                <a:effectLst/>
                <a:uFillTx/>
                <a:latin typeface="+mn-lt"/>
                <a:ea typeface="+mn-ea"/>
              </a:rPr>
              <a:t>Những </a:t>
            </a: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này có nhiều điểm chung với kiến ​​trúc hệ thống 4 + 1</a:t>
            </a:r>
            <a:r>
              <a:rPr lang="en-US" sz="1200" b="0" u="none" strike="noStrike">
                <a:solidFill>
                  <a:schemeClr val="dk1"/>
                </a:solidFill>
                <a:effectLst/>
                <a:uFillTx/>
                <a:latin typeface="+mn-lt"/>
                <a:ea typeface="+mn-ea"/>
              </a:rPr>
              <a:t> do </a:t>
            </a:r>
            <a:r>
              <a:rPr lang="vi-VN" sz="1200" b="0" u="none" strike="noStrike">
                <a:solidFill>
                  <a:schemeClr val="dk1"/>
                </a:solidFill>
                <a:effectLst/>
                <a:uFillTx/>
                <a:latin typeface="+mn-lt"/>
                <a:ea typeface="+mn-ea"/>
              </a:rPr>
              <a:t>Krutchen </a:t>
            </a:r>
            <a:r>
              <a:rPr lang="en-US" sz="1200" b="0" u="none" strike="noStrike">
                <a:solidFill>
                  <a:schemeClr val="dk1"/>
                </a:solidFill>
                <a:effectLst/>
                <a:uFillTx/>
                <a:latin typeface="+mn-lt"/>
                <a:ea typeface="+mn-ea"/>
              </a:rPr>
              <a:t>đề xuất năm </a:t>
            </a:r>
            <a:r>
              <a:rPr lang="vi-VN" sz="1200" b="0" u="none" strike="noStrike">
                <a:solidFill>
                  <a:schemeClr val="dk1"/>
                </a:solidFill>
                <a:effectLst/>
                <a:uFillTx/>
                <a:latin typeface="+mn-lt"/>
                <a:ea typeface="+mn-ea"/>
              </a:rPr>
              <a:t>1995</a:t>
            </a:r>
            <a:r>
              <a:rPr lang="en-US" sz="1200" b="0" u="none" strike="noStrike">
                <a:solidFill>
                  <a:schemeClr val="dk1"/>
                </a:solidFill>
                <a:effectLst/>
                <a:uFillTx/>
                <a:latin typeface="+mn-lt"/>
                <a:ea typeface="+mn-ea"/>
              </a:rPr>
              <a:t> với mục đích hướng dẫn cách mô tả </a:t>
            </a:r>
            <a:r>
              <a:rPr lang="vi-VN" sz="1200" b="0" u="none" strike="noStrike">
                <a:solidFill>
                  <a:schemeClr val="dk1"/>
                </a:solidFill>
                <a:effectLst/>
                <a:uFillTx/>
                <a:latin typeface="+mn-lt"/>
                <a:ea typeface="+mn-ea"/>
              </a:rPr>
              <a:t>kiến ​​trúc và tổ chức của hệ thống từ những </a:t>
            </a:r>
            <a:r>
              <a:rPr lang="en-US" sz="1200" b="0" u="none" strike="noStrike">
                <a:solidFill>
                  <a:schemeClr val="dk1"/>
                </a:solidFill>
                <a:effectLst/>
                <a:uFillTx/>
                <a:latin typeface="+mn-lt"/>
                <a:ea typeface="+mn-ea"/>
              </a:rPr>
              <a:t>góc nhìn </a:t>
            </a:r>
            <a:r>
              <a:rPr lang="vi-VN" sz="1200" b="0" u="none" strike="noStrike">
                <a:solidFill>
                  <a:schemeClr val="dk1"/>
                </a:solidFill>
                <a:effectLst/>
                <a:uFillTx/>
                <a:latin typeface="+mn-lt"/>
                <a:ea typeface="+mn-ea"/>
              </a:rPr>
              <a:t>khác nhau.</a:t>
            </a:r>
            <a:endParaRPr lang="en-US" sz="1200" b="0" u="none" strike="noStrike">
              <a:solidFill>
                <a:srgbClr val="000000"/>
              </a:solidFill>
              <a:effectLst/>
              <a:uFillTx/>
              <a:latin typeface="Arial"/>
            </a:endParaRPr>
          </a:p>
        </p:txBody>
      </p:sp>
      <p:sp>
        <p:nvSpPr>
          <p:cNvPr id="252" name="PlaceHolder 3"/>
          <p:cNvSpPr>
            <a:spLocks noGrp="1"/>
          </p:cNvSpPr>
          <p:nvPr>
            <p:ph type="sldNum" idx="62"/>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FC19FE-F73B-471F-B7F7-319B7E4A4D60}"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1373040" y="754200"/>
            <a:ext cx="5025600" cy="3771720"/>
          </a:xfrm>
          <a:prstGeom prst="rect">
            <a:avLst/>
          </a:prstGeom>
          <a:ln w="0">
            <a:noFill/>
          </a:ln>
        </p:spPr>
      </p:sp>
      <p:sp>
        <p:nvSpPr>
          <p:cNvPr id="254"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tabLst>
                <a:tab algn="l" pos="0"/>
              </a:tabLst>
            </a:pPr>
            <a:r>
              <a:rPr lang="en-US" sz="1200" b="0" u="none" strike="noStrike">
                <a:solidFill>
                  <a:schemeClr val="dk1"/>
                </a:solidFill>
                <a:effectLst/>
                <a:uFillTx/>
                <a:latin typeface="+mn-lt"/>
                <a:ea typeface="+mn-ea"/>
              </a:rPr>
              <a:t>Ngôn ngữ mô hình hóa UML được đề xuất vào những năm 2004, đến nay đã trở thành ngôn ngữ mô hình hóa chuẩn trong công nghiệp cho mô hình hóa hướng đối tượng. Ngôn ngữ này cung cấp nhiều loại biểu đồ khác nhau, tập trung vào hai khía cạnh cấu trúc và hành vi của hệ thống.</a:t>
            </a:r>
            <a:endParaRPr lang="en-US" sz="1200" b="0" u="none" strike="noStrike">
              <a:solidFill>
                <a:srgbClr val="000000"/>
              </a:solidFill>
              <a:effectLst/>
              <a:uFillTx/>
              <a:latin typeface="Arial"/>
            </a:endParaRPr>
          </a:p>
          <a:p>
            <a:pPr indent="0">
              <a:lnSpc>
                <a:spcPct val="100000"/>
              </a:lnSpc>
              <a:buNone/>
              <a:tabLst>
                <a:tab algn="l" pos="0"/>
              </a:tabLst>
            </a:pPr>
            <a:endParaRPr lang="en-US" sz="1200" b="0" u="none" strike="noStrike">
              <a:solidFill>
                <a:srgbClr val="000000"/>
              </a:solidFill>
              <a:effectLst/>
              <a:uFillTx/>
              <a:latin typeface="Arial"/>
            </a:endParaRPr>
          </a:p>
          <a:p>
            <a:pPr indent="0">
              <a:lnSpc>
                <a:spcPct val="100000"/>
              </a:lnSpc>
              <a:buNone/>
              <a:tabLst>
                <a:tab algn="l" pos="0"/>
              </a:tabLst>
            </a:pPr>
            <a:r>
              <a:rPr lang="en-US" sz="1200" b="0" u="none" strike="noStrike">
                <a:solidFill>
                  <a:schemeClr val="dk1"/>
                </a:solidFill>
                <a:effectLst/>
                <a:uFillTx/>
                <a:latin typeface="+mn-lt"/>
                <a:ea typeface="+mn-ea"/>
              </a:rPr>
              <a:t>Ở đây, trong bài giảng này, chúng ta tập trung vào năm kiểu biểu đồ cơ bản nhất, cho phép biểu diễn các khía cạnh quan trọng của hệ thống.</a:t>
            </a:r>
            <a:endParaRPr lang="en-US" sz="1200" b="0" u="none" strike="noStrike">
              <a:solidFill>
                <a:srgbClr val="000000"/>
              </a:solidFill>
              <a:effectLst/>
              <a:uFillTx/>
              <a:latin typeface="Arial"/>
            </a:endParaRPr>
          </a:p>
          <a:p>
            <a:pPr indent="0">
              <a:lnSpc>
                <a:spcPct val="100000"/>
              </a:lnSpc>
              <a:buNone/>
              <a:tabLst>
                <a:tab algn="l" pos="0"/>
              </a:tabLst>
            </a:pPr>
            <a:endParaRPr lang="en-US" sz="1200" b="0" u="none" strike="noStrike">
              <a:solidFill>
                <a:srgbClr val="000000"/>
              </a:solidFill>
              <a:effectLst/>
              <a:uFillTx/>
              <a:latin typeface="Arial"/>
            </a:endParaRPr>
          </a:p>
          <a:p>
            <a:pPr marL="326160" indent="-324360">
              <a:lnSpc>
                <a:spcPct val="90000"/>
              </a:lnSpc>
              <a:spcBef>
                <a:spcPts val="601"/>
              </a:spcBef>
              <a:buClr>
                <a:srgbClr val="000000"/>
              </a:buClr>
              <a:buFont typeface="+mj-lt"/>
              <a:buAutoNum type="arabicPeriod"/>
              <a:tabLst>
                <a:tab algn="l" pos="0"/>
              </a:tabLst>
            </a:pPr>
            <a:r>
              <a:rPr lang="en-US" sz="1200" b="0" u="none" strike="noStrike">
                <a:solidFill>
                  <a:srgbClr val="000000"/>
                </a:solidFill>
                <a:effectLst/>
                <a:uFillTx/>
                <a:latin typeface="+mn-lt"/>
                <a:ea typeface="DejaVu Sans"/>
              </a:rPr>
              <a:t>Biểu đồ hoạt động: biểu diễn các hoạt động diễn ra trong một tiến trình hay một xử lý dữ liệu</a:t>
            </a:r>
            <a:endParaRPr lang="en-US" sz="1200" b="0" u="none" strike="noStrike">
              <a:solidFill>
                <a:srgbClr val="000000"/>
              </a:solidFill>
              <a:effectLst/>
              <a:uFillTx/>
              <a:latin typeface="Arial"/>
            </a:endParaRPr>
          </a:p>
          <a:p>
            <a:pPr marL="326160" indent="-324360">
              <a:lnSpc>
                <a:spcPct val="90000"/>
              </a:lnSpc>
              <a:spcBef>
                <a:spcPts val="601"/>
              </a:spcBef>
              <a:buClr>
                <a:srgbClr val="000000"/>
              </a:buClr>
              <a:buFont typeface="+mj-lt"/>
              <a:buAutoNum type="arabicPeriod"/>
              <a:tabLst>
                <a:tab algn="l" pos="0"/>
              </a:tabLst>
            </a:pPr>
            <a:r>
              <a:rPr lang="en-US" sz="1200" b="0" u="none" strike="noStrike">
                <a:solidFill>
                  <a:srgbClr val="000000"/>
                </a:solidFill>
                <a:effectLst/>
                <a:uFillTx/>
                <a:latin typeface="+mn-lt"/>
                <a:ea typeface="DejaVu Sans"/>
              </a:rPr>
              <a:t>Biểu đồ ca sử dụng: biểu diễn chuỗi tương tác giữa hệ thống và môi trường</a:t>
            </a:r>
            <a:endParaRPr lang="en-US" sz="1200" b="0" u="none" strike="noStrike">
              <a:solidFill>
                <a:srgbClr val="000000"/>
              </a:solidFill>
              <a:effectLst/>
              <a:uFillTx/>
              <a:latin typeface="Arial"/>
            </a:endParaRPr>
          </a:p>
          <a:p>
            <a:pPr marL="326160" indent="-324360">
              <a:lnSpc>
                <a:spcPct val="90000"/>
              </a:lnSpc>
              <a:spcBef>
                <a:spcPts val="601"/>
              </a:spcBef>
              <a:buClr>
                <a:srgbClr val="000000"/>
              </a:buClr>
              <a:buFont typeface="+mj-lt"/>
              <a:buAutoNum type="arabicPeriod"/>
              <a:tabLst>
                <a:tab algn="l" pos="0"/>
              </a:tabLst>
            </a:pPr>
            <a:r>
              <a:rPr lang="en-US" sz="1200" b="0" u="none" strike="noStrike">
                <a:solidFill>
                  <a:srgbClr val="000000"/>
                </a:solidFill>
                <a:effectLst/>
                <a:uFillTx/>
                <a:latin typeface="+mn-lt"/>
                <a:ea typeface="DejaVu Sans"/>
              </a:rPr>
              <a:t>Biểu đồ tuần tự: biểu diễn tương tác giữa tác nhân và hệ thống, hay giữa các thành phần hệ thống</a:t>
            </a:r>
            <a:endParaRPr lang="en-US" sz="1200" b="0" u="none" strike="noStrike">
              <a:solidFill>
                <a:srgbClr val="000000"/>
              </a:solidFill>
              <a:effectLst/>
              <a:uFillTx/>
              <a:latin typeface="Arial"/>
            </a:endParaRPr>
          </a:p>
          <a:p>
            <a:pPr marL="326160" indent="-324360">
              <a:lnSpc>
                <a:spcPct val="90000"/>
              </a:lnSpc>
              <a:spcBef>
                <a:spcPts val="601"/>
              </a:spcBef>
              <a:buClr>
                <a:srgbClr val="000000"/>
              </a:buClr>
              <a:buFont typeface="+mj-lt"/>
              <a:buAutoNum type="arabicPeriod"/>
              <a:tabLst>
                <a:tab algn="l" pos="0"/>
              </a:tabLst>
            </a:pPr>
            <a:r>
              <a:rPr lang="en-US" sz="1200" b="0" u="none" strike="noStrike">
                <a:solidFill>
                  <a:srgbClr val="000000"/>
                </a:solidFill>
                <a:effectLst/>
                <a:uFillTx/>
                <a:latin typeface="+mn-lt"/>
                <a:ea typeface="DejaVu Sans"/>
              </a:rPr>
              <a:t>Biểu đồ lớp:  biểu diễn các lớp đối tượng và quan hệ giữa chúng</a:t>
            </a:r>
            <a:endParaRPr lang="en-US" sz="1200" b="0" u="none" strike="noStrike">
              <a:solidFill>
                <a:srgbClr val="000000"/>
              </a:solidFill>
              <a:effectLst/>
              <a:uFillTx/>
              <a:latin typeface="Arial"/>
            </a:endParaRPr>
          </a:p>
          <a:p>
            <a:pPr marL="326160" indent="-324360">
              <a:lnSpc>
                <a:spcPct val="90000"/>
              </a:lnSpc>
              <a:spcBef>
                <a:spcPts val="601"/>
              </a:spcBef>
              <a:buClr>
                <a:srgbClr val="000000"/>
              </a:buClr>
              <a:buFont typeface="+mj-lt"/>
              <a:buAutoNum type="arabicPeriod"/>
              <a:tabLst>
                <a:tab algn="l" pos="0"/>
              </a:tabLst>
            </a:pPr>
            <a:r>
              <a:rPr lang="en-US" sz="1200" b="0" u="none" strike="noStrike">
                <a:solidFill>
                  <a:srgbClr val="000000"/>
                </a:solidFill>
                <a:effectLst/>
                <a:uFillTx/>
                <a:latin typeface="+mn-lt"/>
                <a:ea typeface="DejaVu Sans"/>
              </a:rPr>
              <a:t>Biểu đồ trạng thái: biểu diễn cách hệ thống phản ứng với các sự kiện từ bên trong và bên ngoài</a:t>
            </a:r>
            <a:endParaRPr lang="en-US" sz="1200" b="0" u="none" strike="noStrike">
              <a:solidFill>
                <a:srgbClr val="000000"/>
              </a:solidFill>
              <a:effectLst/>
              <a:uFillTx/>
              <a:latin typeface="Arial"/>
            </a:endParaRPr>
          </a:p>
        </p:txBody>
      </p:sp>
      <p:sp>
        <p:nvSpPr>
          <p:cNvPr id="255" name="PlaceHolder 3"/>
          <p:cNvSpPr>
            <a:spLocks noGrp="1"/>
          </p:cNvSpPr>
          <p:nvPr>
            <p:ph type="sldNum" idx="63"/>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40FD1C-D550-4AD6-89AB-1FE359D879D8}"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373040" y="754200"/>
            <a:ext cx="5025600" cy="3771720"/>
          </a:xfrm>
          <a:prstGeom prst="rect">
            <a:avLst/>
          </a:prstGeom>
          <a:ln w="0">
            <a:noFill/>
          </a:ln>
        </p:spPr>
      </p:sp>
      <p:sp>
        <p:nvSpPr>
          <p:cNvPr id="257"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chemeClr val="dk1"/>
                </a:solidFill>
                <a:effectLst/>
                <a:uFillTx/>
                <a:latin typeface="+mn-lt"/>
                <a:ea typeface="+mn-ea"/>
              </a:rPr>
              <a:t>Ở giai đoạn đầu trong </a:t>
            </a:r>
            <a:r>
              <a:rPr lang="en-US" sz="1200" b="0" u="none" strike="noStrike">
                <a:solidFill>
                  <a:schemeClr val="dk1"/>
                </a:solidFill>
                <a:effectLst/>
                <a:uFillTx/>
                <a:latin typeface="+mn-lt"/>
                <a:ea typeface="+mn-ea"/>
              </a:rPr>
              <a:t>pha </a:t>
            </a:r>
            <a:r>
              <a:rPr lang="vi-VN" sz="1200" b="0" u="none" strike="noStrike">
                <a:solidFill>
                  <a:schemeClr val="dk1"/>
                </a:solidFill>
                <a:effectLst/>
                <a:uFillTx/>
                <a:latin typeface="+mn-lt"/>
                <a:ea typeface="+mn-ea"/>
              </a:rPr>
              <a:t>đặc </a:t>
            </a:r>
            <a:r>
              <a:rPr lang="en-US" sz="1200" b="0" u="none" strike="noStrike">
                <a:solidFill>
                  <a:schemeClr val="dk1"/>
                </a:solidFill>
                <a:effectLst/>
                <a:uFillTx/>
                <a:latin typeface="+mn-lt"/>
                <a:ea typeface="+mn-ea"/>
              </a:rPr>
              <a:t>tả </a:t>
            </a:r>
            <a:r>
              <a:rPr lang="vi-VN" sz="1200" b="0" u="none" strike="noStrike">
                <a:solidFill>
                  <a:schemeClr val="dk1"/>
                </a:solidFill>
                <a:effectLst/>
                <a:uFillTx/>
                <a:latin typeface="+mn-lt"/>
                <a:ea typeface="+mn-ea"/>
              </a:rPr>
              <a:t>hệ thống, </a:t>
            </a:r>
            <a:r>
              <a:rPr lang="en-US" sz="1200" b="0" u="none" strike="noStrike">
                <a:solidFill>
                  <a:schemeClr val="dk1"/>
                </a:solidFill>
                <a:effectLst/>
                <a:uFillTx/>
                <a:latin typeface="+mn-lt"/>
                <a:ea typeface="+mn-ea"/>
              </a:rPr>
              <a:t>biên của </a:t>
            </a:r>
            <a:r>
              <a:rPr lang="vi-VN" sz="1200" b="0" u="none" strike="noStrike">
                <a:solidFill>
                  <a:schemeClr val="dk1"/>
                </a:solidFill>
                <a:effectLst/>
                <a:uFillTx/>
                <a:latin typeface="+mn-lt"/>
                <a:ea typeface="+mn-ea"/>
              </a:rPr>
              <a:t>hệ thống</a:t>
            </a:r>
            <a:r>
              <a:rPr lang="en-US" sz="1200" b="0" u="none" strike="noStrike">
                <a:solidFill>
                  <a:schemeClr val="dk1"/>
                </a:solidFill>
                <a:effectLst/>
                <a:uFillTx/>
                <a:latin typeface="+mn-lt"/>
                <a:ea typeface="+mn-ea"/>
              </a:rPr>
              <a:t> cần được xác định</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Biên hệ thống được xác định dựa trên sự thảo luận </a:t>
            </a:r>
            <a:r>
              <a:rPr lang="vi-VN" sz="1200" b="0" u="none" strike="noStrike">
                <a:solidFill>
                  <a:schemeClr val="dk1"/>
                </a:solidFill>
                <a:effectLst/>
                <a:uFillTx/>
                <a:latin typeface="+mn-lt"/>
                <a:ea typeface="+mn-ea"/>
              </a:rPr>
              <a:t>với các bên liên quan để quyết định chức năng nào nên được đưa vào hệ thống và những gì được cung cấp bởi môi trường của hệ thống. </a:t>
            </a:r>
            <a:r>
              <a:rPr lang="en-US" sz="1200" b="0" u="none" strike="noStrike">
                <a:solidFill>
                  <a:schemeClr val="dk1"/>
                </a:solidFill>
                <a:effectLst/>
                <a:uFillTx/>
                <a:latin typeface="+mn-lt"/>
                <a:ea typeface="+mn-ea"/>
              </a:rPr>
              <a:t>Trong đó có những quyết định như cần triển khai hỗ trợ tự động cho m</a:t>
            </a:r>
            <a:r>
              <a:rPr lang="vi-VN" sz="1200" b="0" u="none" strike="noStrike">
                <a:solidFill>
                  <a:schemeClr val="dk1"/>
                </a:solidFill>
                <a:effectLst/>
                <a:uFillTx/>
                <a:latin typeface="+mn-lt"/>
                <a:ea typeface="+mn-ea"/>
              </a:rPr>
              <a:t>ột số quy trình </a:t>
            </a:r>
            <a:r>
              <a:rPr lang="en-US" sz="1200" b="0" u="none" strike="noStrike">
                <a:solidFill>
                  <a:schemeClr val="dk1"/>
                </a:solidFill>
                <a:effectLst/>
                <a:uFillTx/>
                <a:latin typeface="+mn-lt"/>
                <a:ea typeface="+mn-ea"/>
              </a:rPr>
              <a:t>nghiệp vụ, và một số khâu khác sẽ </a:t>
            </a:r>
            <a:r>
              <a:rPr lang="vi-VN" sz="1200" b="0" u="none" strike="noStrike">
                <a:solidFill>
                  <a:schemeClr val="dk1"/>
                </a:solidFill>
                <a:effectLst/>
                <a:uFillTx/>
                <a:latin typeface="+mn-lt"/>
                <a:ea typeface="+mn-ea"/>
              </a:rPr>
              <a:t>được thực hiện thủ công hoặc được hỗ trợ bởi các hệ thống khác. </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defTabSz="914400">
              <a:lnSpc>
                <a:spcPct val="100000"/>
              </a:lnSpc>
              <a:buNone/>
              <a:tabLst>
                <a:tab algn="l" pos="0"/>
              </a:tabLst>
            </a:pPr>
            <a:r>
              <a:rPr lang="en-US" sz="1200" b="0" u="none" strike="noStrike">
                <a:solidFill>
                  <a:schemeClr val="dk1"/>
                </a:solidFill>
                <a:effectLst/>
                <a:uFillTx/>
                <a:latin typeface="+mn-lt"/>
                <a:ea typeface="+mn-ea"/>
              </a:rPr>
              <a:t>Mô hình ngữ cảnh giúp biểu diễn và làm rõ biên của hệ thống. Khi xác định biên hệ thống, cần phải xác định </a:t>
            </a:r>
            <a:r>
              <a:rPr lang="vi-VN" sz="1200" b="0" u="none" strike="noStrike">
                <a:solidFill>
                  <a:schemeClr val="dk1"/>
                </a:solidFill>
                <a:effectLst/>
                <a:uFillTx/>
                <a:latin typeface="+mn-lt"/>
                <a:ea typeface="+mn-ea"/>
              </a:rPr>
              <a:t>các chồng chéo có thể có trong chức năng với các hệ thống hiện </a:t>
            </a:r>
            <a:r>
              <a:rPr lang="en-US" sz="1200" b="0" u="none" strike="noStrike">
                <a:solidFill>
                  <a:schemeClr val="dk1"/>
                </a:solidFill>
                <a:effectLst/>
                <a:uFillTx/>
                <a:latin typeface="+mn-lt"/>
                <a:ea typeface="+mn-ea"/>
              </a:rPr>
              <a:t>thời </a:t>
            </a:r>
            <a:r>
              <a:rPr lang="vi-VN" sz="1200" b="0" u="none" strike="noStrike">
                <a:solidFill>
                  <a:schemeClr val="dk1"/>
                </a:solidFill>
                <a:effectLst/>
                <a:uFillTx/>
                <a:latin typeface="+mn-lt"/>
                <a:ea typeface="+mn-ea"/>
              </a:rPr>
              <a:t>và quyết định chức năng mới</a:t>
            </a:r>
            <a:r>
              <a:rPr lang="en-US" sz="1200" b="0" u="none" strike="noStrike">
                <a:solidFill>
                  <a:schemeClr val="dk1"/>
                </a:solidFill>
                <a:effectLst/>
                <a:uFillTx/>
                <a:latin typeface="+mn-lt"/>
                <a:ea typeface="+mn-ea"/>
              </a:rPr>
              <a:t> cần triển khai</a:t>
            </a:r>
            <a:r>
              <a:rPr lang="vi-VN" sz="1200" b="0" u="none" strike="noStrike">
                <a:solidFill>
                  <a:schemeClr val="dk1"/>
                </a:solidFill>
                <a:effectLst/>
                <a:uFillTx/>
                <a:latin typeface="+mn-lt"/>
                <a:ea typeface="+mn-ea"/>
              </a:rPr>
              <a:t>. Những quyết định này nên được thực hiện sớm trong </a:t>
            </a:r>
            <a:r>
              <a:rPr lang="en-US" sz="1200" b="0" u="none" strike="noStrike">
                <a:solidFill>
                  <a:schemeClr val="dk1"/>
                </a:solidFill>
                <a:effectLst/>
                <a:uFillTx/>
                <a:latin typeface="+mn-lt"/>
                <a:ea typeface="+mn-ea"/>
              </a:rPr>
              <a:t>quy trình phát triển </a:t>
            </a:r>
            <a:r>
              <a:rPr lang="vi-VN" sz="1200" b="0" u="none" strike="noStrike">
                <a:solidFill>
                  <a:schemeClr val="dk1"/>
                </a:solidFill>
                <a:effectLst/>
                <a:uFillTx/>
                <a:latin typeface="+mn-lt"/>
                <a:ea typeface="+mn-ea"/>
              </a:rPr>
              <a:t>để hạn chế chi phí hệ thống và thời gian cần thiết để hiểu các yêu cầu và thiết kế hệ thống.</a:t>
            </a:r>
            <a:endParaRPr lang="en-US" sz="1200" b="0" u="none" strike="noStrike">
              <a:solidFill>
                <a:srgbClr val="000000"/>
              </a:solidFill>
              <a:effectLst/>
              <a:uFillTx/>
              <a:latin typeface="Arial"/>
            </a:endParaRPr>
          </a:p>
        </p:txBody>
      </p:sp>
      <p:sp>
        <p:nvSpPr>
          <p:cNvPr id="258" name="PlaceHolder 3"/>
          <p:cNvSpPr>
            <a:spLocks noGrp="1"/>
          </p:cNvSpPr>
          <p:nvPr>
            <p:ph type="sldNum" idx="64"/>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C82CAA-1AAE-4C3A-A566-F3A0A0909C7C}"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sldImg"/>
          </p:nvPr>
        </p:nvSpPr>
        <p:spPr>
          <a:xfrm>
            <a:off x="1373040" y="754200"/>
            <a:ext cx="5025600" cy="3771720"/>
          </a:xfrm>
          <a:prstGeom prst="rect">
            <a:avLst/>
          </a:prstGeom>
          <a:ln w="0">
            <a:noFill/>
          </a:ln>
        </p:spPr>
      </p:sp>
      <p:sp>
        <p:nvSpPr>
          <p:cNvPr id="260"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Trong một số trường hợp, ranh giới giữa một hệ thống và môi trường của nó là tương đối rõ ràng. Ví dụ: khi hệ thống tự động thay thế hệ thống máy tính hoặc thủ công hiện có, môi trường của hệ thống mới thường giống với môi trường của hệ thống hiện có. Trong các trường hợp khác, có sự linh hoạt hơn, và </a:t>
            </a:r>
            <a:r>
              <a:rPr lang="en-US" sz="2000" b="0" u="none" strike="noStrike">
                <a:solidFill>
                  <a:srgbClr val="000000"/>
                </a:solidFill>
                <a:effectLst/>
                <a:uFillTx/>
                <a:latin typeface="Arial"/>
              </a:rPr>
              <a:t>cần phải </a:t>
            </a:r>
            <a:r>
              <a:rPr lang="vi-VN" sz="2000" b="0" u="none" strike="noStrike">
                <a:solidFill>
                  <a:srgbClr val="000000"/>
                </a:solidFill>
                <a:effectLst/>
                <a:uFillTx/>
                <a:latin typeface="Arial"/>
              </a:rPr>
              <a:t>quyết định điều gì cấu thành ranh giới giữa hệ thống và môi trường của nó trong </a:t>
            </a:r>
            <a:r>
              <a:rPr lang="en-US" sz="2000" b="0" u="none" strike="noStrike">
                <a:solidFill>
                  <a:srgbClr val="000000"/>
                </a:solidFill>
                <a:effectLst/>
                <a:uFillTx/>
                <a:latin typeface="Arial"/>
              </a:rPr>
              <a:t>quy trình </a:t>
            </a:r>
            <a:r>
              <a:rPr lang="vi-VN" sz="2000" b="0" u="none" strike="noStrike">
                <a:solidFill>
                  <a:srgbClr val="000000"/>
                </a:solidFill>
                <a:effectLst/>
                <a:uFillTx/>
                <a:latin typeface="Arial"/>
              </a:rPr>
              <a:t>kỹ thuật yêu cầu.</a:t>
            </a:r>
            <a:endParaRPr lang="en-US" sz="2000" b="0" u="none" strike="noStrike">
              <a:solidFill>
                <a:srgbClr val="000000"/>
              </a:solidFill>
              <a:effectLst/>
              <a:uFillTx/>
              <a:latin typeface="Arial"/>
            </a:endParaRPr>
          </a:p>
        </p:txBody>
      </p:sp>
      <p:sp>
        <p:nvSpPr>
          <p:cNvPr id="261" name="PlaceHolder 3"/>
          <p:cNvSpPr>
            <a:spLocks noGrp="1"/>
          </p:cNvSpPr>
          <p:nvPr>
            <p:ph type="sldNum" idx="65"/>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546A97-E55D-4784-BCE9-1B7286EF8CDD}"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1373040" y="754200"/>
            <a:ext cx="5025600" cy="3771720"/>
          </a:xfrm>
          <a:prstGeom prst="rect">
            <a:avLst/>
          </a:prstGeom>
          <a:ln w="0">
            <a:noFill/>
          </a:ln>
        </p:spPr>
      </p:sp>
      <p:sp>
        <p:nvSpPr>
          <p:cNvPr id="263"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1200" b="0" u="none" strike="noStrike">
                <a:solidFill>
                  <a:schemeClr val="dk1"/>
                </a:solidFill>
                <a:effectLst/>
                <a:uFillTx/>
                <a:latin typeface="+mn-lt"/>
                <a:ea typeface="+mn-ea"/>
              </a:rPr>
              <a:t>Chẳng hạn, chúng ta đang viết đặc tả cho </a:t>
            </a:r>
            <a:r>
              <a:rPr lang="vi-VN" sz="1200" b="0" u="none" strike="noStrike">
                <a:solidFill>
                  <a:schemeClr val="dk1"/>
                </a:solidFill>
                <a:effectLst/>
                <a:uFillTx/>
                <a:latin typeface="+mn-lt"/>
                <a:ea typeface="+mn-ea"/>
              </a:rPr>
              <a:t>hệ thống thông tin </a:t>
            </a:r>
            <a:r>
              <a:rPr lang="en-US" sz="1200" b="0" u="none" strike="noStrike">
                <a:solidFill>
                  <a:schemeClr val="dk1"/>
                </a:solidFill>
                <a:effectLst/>
                <a:uFillTx/>
                <a:latin typeface="+mn-lt"/>
                <a:ea typeface="+mn-ea"/>
              </a:rPr>
              <a:t>chăm sóc sức khỏe tâm thần </a:t>
            </a:r>
            <a:r>
              <a:rPr lang="vi-VN" sz="1200" b="0" u="none" strike="noStrike">
                <a:solidFill>
                  <a:schemeClr val="dk1"/>
                </a:solidFill>
                <a:effectLst/>
                <a:uFillTx/>
                <a:latin typeface="+mn-lt"/>
                <a:ea typeface="+mn-ea"/>
              </a:rPr>
              <a:t>bệnh nhân</a:t>
            </a:r>
            <a:r>
              <a:rPr lang="en-US" sz="1200" b="0" u="none" strike="noStrike">
                <a:solidFill>
                  <a:schemeClr val="dk1"/>
                </a:solidFill>
                <a:effectLst/>
                <a:uFillTx/>
                <a:latin typeface="+mn-lt"/>
                <a:ea typeface="+mn-ea"/>
              </a:rPr>
              <a:t>, </a:t>
            </a:r>
            <a:r>
              <a:rPr lang="vi-VN" sz="1200" b="0" u="none" strike="noStrike">
                <a:solidFill>
                  <a:schemeClr val="dk1"/>
                </a:solidFill>
                <a:effectLst/>
                <a:uFillTx/>
                <a:latin typeface="+mn-lt"/>
                <a:ea typeface="+mn-ea"/>
              </a:rPr>
              <a:t>MHC-PMS. Hệ thống này được thiết kế để quản lý thông tin về bệnh nhân tham dự các phòng khám sức khỏe tâm thần và các phương pháp điều trị đã được quy định. Khi </a:t>
            </a:r>
            <a:r>
              <a:rPr lang="en-US" sz="1200" b="0" u="none" strike="noStrike">
                <a:solidFill>
                  <a:schemeClr val="dk1"/>
                </a:solidFill>
                <a:effectLst/>
                <a:uFillTx/>
                <a:latin typeface="+mn-lt"/>
                <a:ea typeface="+mn-ea"/>
              </a:rPr>
              <a:t>xây dựng đặc tả </a:t>
            </a:r>
            <a:r>
              <a:rPr lang="vi-VN" sz="1200" b="0" u="none" strike="noStrike">
                <a:solidFill>
                  <a:schemeClr val="dk1"/>
                </a:solidFill>
                <a:effectLst/>
                <a:uFillTx/>
                <a:latin typeface="+mn-lt"/>
                <a:ea typeface="+mn-ea"/>
              </a:rPr>
              <a:t>cho hệ thống này, </a:t>
            </a:r>
            <a:r>
              <a:rPr lang="en-US" sz="1200" b="0" u="none" strike="noStrike">
                <a:solidFill>
                  <a:schemeClr val="dk1"/>
                </a:solidFill>
                <a:effectLst/>
                <a:uFillTx/>
                <a:latin typeface="+mn-lt"/>
                <a:ea typeface="+mn-ea"/>
              </a:rPr>
              <a:t>chúng ta </a:t>
            </a:r>
            <a:r>
              <a:rPr lang="vi-VN" sz="1200" b="0" u="none" strike="noStrike">
                <a:solidFill>
                  <a:schemeClr val="dk1"/>
                </a:solidFill>
                <a:effectLst/>
                <a:uFillTx/>
                <a:latin typeface="+mn-lt"/>
                <a:ea typeface="+mn-ea"/>
              </a:rPr>
              <a:t>phải quyết định xem liệu hệ thống có nên </a:t>
            </a:r>
            <a:r>
              <a:rPr lang="en-US" sz="1200" b="0" u="none" strike="noStrike">
                <a:solidFill>
                  <a:schemeClr val="dk1"/>
                </a:solidFill>
                <a:effectLst/>
                <a:uFillTx/>
                <a:latin typeface="+mn-lt"/>
                <a:ea typeface="+mn-ea"/>
              </a:rPr>
              <a:t>chỉ </a:t>
            </a:r>
            <a:r>
              <a:rPr lang="vi-VN" sz="1200" b="0" u="none" strike="noStrike">
                <a:solidFill>
                  <a:schemeClr val="dk1"/>
                </a:solidFill>
                <a:effectLst/>
                <a:uFillTx/>
                <a:latin typeface="+mn-lt"/>
                <a:ea typeface="+mn-ea"/>
              </a:rPr>
              <a:t>tập trung hoàn toàn vào việc thu thập thông tin về </a:t>
            </a:r>
            <a:r>
              <a:rPr lang="en-US" sz="1200" b="0" u="none" strike="noStrike">
                <a:solidFill>
                  <a:schemeClr val="dk1"/>
                </a:solidFill>
                <a:effectLst/>
                <a:uFillTx/>
                <a:latin typeface="+mn-lt"/>
                <a:ea typeface="+mn-ea"/>
              </a:rPr>
              <a:t>thăm khám, nghĩa là việc </a:t>
            </a:r>
            <a:r>
              <a:rPr lang="vi-VN" sz="1200" b="0" u="none" strike="noStrike">
                <a:solidFill>
                  <a:schemeClr val="dk1"/>
                </a:solidFill>
                <a:effectLst/>
                <a:uFillTx/>
                <a:latin typeface="+mn-lt"/>
                <a:ea typeface="+mn-ea"/>
              </a:rPr>
              <a:t>thu thập thông tin cá nhân về bệnh nhân</a:t>
            </a:r>
            <a:r>
              <a:rPr lang="en-US" sz="1200" b="0" u="none" strike="noStrike">
                <a:solidFill>
                  <a:schemeClr val="dk1"/>
                </a:solidFill>
                <a:effectLst/>
                <a:uFillTx/>
                <a:latin typeface="+mn-lt"/>
                <a:ea typeface="+mn-ea"/>
              </a:rPr>
              <a:t> sẽ do </a:t>
            </a:r>
            <a:r>
              <a:rPr lang="vi-VN" sz="1200" b="0" u="none" strike="noStrike">
                <a:solidFill>
                  <a:schemeClr val="dk1"/>
                </a:solidFill>
                <a:effectLst/>
                <a:uFillTx/>
                <a:latin typeface="+mn-lt"/>
                <a:ea typeface="+mn-ea"/>
              </a:rPr>
              <a:t>các hệ thống khác</a:t>
            </a:r>
            <a:r>
              <a:rPr lang="en-US" sz="1200" b="0" u="none" strike="noStrike">
                <a:solidFill>
                  <a:schemeClr val="dk1"/>
                </a:solidFill>
                <a:effectLst/>
                <a:uFillTx/>
                <a:latin typeface="+mn-lt"/>
                <a:ea typeface="+mn-ea"/>
              </a:rPr>
              <a:t> đảm nhiệm.</a:t>
            </a:r>
            <a:r>
              <a:rPr lang="vi-VN" sz="1200" b="0" u="none" strike="noStrike">
                <a:solidFill>
                  <a:schemeClr val="dk1"/>
                </a:solidFill>
                <a:effectLst/>
                <a:uFillTx/>
                <a:latin typeface="+mn-lt"/>
                <a:ea typeface="+mn-ea"/>
              </a:rPr>
              <a:t> Ưu điểm của việc dựa vào các hệ thống khác cho thông tin bệnh nhân là </a:t>
            </a:r>
            <a:r>
              <a:rPr lang="en-US" sz="1200" b="0" u="none" strike="noStrike">
                <a:solidFill>
                  <a:schemeClr val="dk1"/>
                </a:solidFill>
                <a:effectLst/>
                <a:uFillTx/>
                <a:latin typeface="+mn-lt"/>
                <a:ea typeface="+mn-ea"/>
              </a:rPr>
              <a:t>giúp </a:t>
            </a:r>
            <a:r>
              <a:rPr lang="vi-VN" sz="1200" b="0" u="none" strike="noStrike">
                <a:solidFill>
                  <a:schemeClr val="dk1"/>
                </a:solidFill>
                <a:effectLst/>
                <a:uFillTx/>
                <a:latin typeface="+mn-lt"/>
                <a:ea typeface="+mn-ea"/>
              </a:rPr>
              <a:t>tránh </a:t>
            </a:r>
            <a:r>
              <a:rPr lang="en-US" sz="1200" b="0" u="none" strike="noStrike">
                <a:solidFill>
                  <a:schemeClr val="dk1"/>
                </a:solidFill>
                <a:effectLst/>
                <a:uFillTx/>
                <a:latin typeface="+mn-lt"/>
                <a:ea typeface="+mn-ea"/>
              </a:rPr>
              <a:t>trùng lặp </a:t>
            </a:r>
            <a:r>
              <a:rPr lang="vi-VN" sz="1200" b="0" u="none" strike="noStrike">
                <a:solidFill>
                  <a:schemeClr val="dk1"/>
                </a:solidFill>
                <a:effectLst/>
                <a:uFillTx/>
                <a:latin typeface="+mn-lt"/>
                <a:ea typeface="+mn-ea"/>
              </a:rPr>
              <a:t>dữ liệu. Tuy nhiên, nhược điểm chính là việc sử dụng các hệ thống khác có thể làm cho việc truy cập thông tin trở nên chậm hơn. </a:t>
            </a:r>
            <a:r>
              <a:rPr lang="en-US" sz="1200" b="0" u="none" strike="noStrike">
                <a:solidFill>
                  <a:schemeClr val="dk1"/>
                </a:solidFill>
                <a:effectLst/>
                <a:uFillTx/>
                <a:latin typeface="+mn-lt"/>
                <a:ea typeface="+mn-ea"/>
              </a:rPr>
              <a:t>Hơn nữa, n</a:t>
            </a:r>
            <a:r>
              <a:rPr lang="vi-VN" sz="1200" b="0" u="none" strike="noStrike">
                <a:solidFill>
                  <a:schemeClr val="dk1"/>
                </a:solidFill>
                <a:effectLst/>
                <a:uFillTx/>
                <a:latin typeface="+mn-lt"/>
                <a:ea typeface="+mn-ea"/>
              </a:rPr>
              <a:t>ếu các hệ thống này không sẵn</a:t>
            </a:r>
            <a:r>
              <a:rPr lang="en-US" sz="1200" b="0" u="none" strike="noStrike">
                <a:solidFill>
                  <a:schemeClr val="dk1"/>
                </a:solidFill>
                <a:effectLst/>
                <a:uFillTx/>
                <a:latin typeface="+mn-lt"/>
                <a:ea typeface="+mn-ea"/>
              </a:rPr>
              <a:t> sàng</a:t>
            </a:r>
            <a:r>
              <a:rPr lang="vi-VN" sz="1200" b="0" u="none" strike="noStrike">
                <a:solidFill>
                  <a:schemeClr val="dk1"/>
                </a:solidFill>
                <a:effectLst/>
                <a:uFillTx/>
                <a:latin typeface="+mn-lt"/>
                <a:ea typeface="+mn-ea"/>
              </a:rPr>
              <a:t>, thì MHC-PMS không thể sử dụng được.</a:t>
            </a:r>
            <a:endParaRPr lang="en-US" sz="1200" b="0" u="none" strike="noStrike">
              <a:solidFill>
                <a:srgbClr val="000000"/>
              </a:solidFill>
              <a:effectLst/>
              <a:uFillTx/>
              <a:latin typeface="Arial"/>
            </a:endParaRPr>
          </a:p>
        </p:txBody>
      </p:sp>
      <p:sp>
        <p:nvSpPr>
          <p:cNvPr id="264" name="PlaceHolder 3"/>
          <p:cNvSpPr>
            <a:spLocks noGrp="1"/>
          </p:cNvSpPr>
          <p:nvPr>
            <p:ph type="sldNum" idx="66"/>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559A11-93FE-4065-9045-5F9137867463}"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1373040" y="754200"/>
            <a:ext cx="5025600" cy="3771720"/>
          </a:xfrm>
          <a:prstGeom prst="rect">
            <a:avLst/>
          </a:prstGeom>
          <a:ln w="0">
            <a:noFill/>
          </a:ln>
        </p:spPr>
      </p:sp>
      <p:sp>
        <p:nvSpPr>
          <p:cNvPr id="266"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Các mô hình ngữ cảnh thường cho </a:t>
            </a:r>
            <a:r>
              <a:rPr lang="en-US" sz="2000" b="0" u="none" strike="noStrike">
                <a:solidFill>
                  <a:srgbClr val="000000"/>
                </a:solidFill>
                <a:effectLst/>
                <a:uFillTx/>
                <a:latin typeface="Arial"/>
              </a:rPr>
              <a:t>biết các </a:t>
            </a:r>
            <a:r>
              <a:rPr lang="vi-VN" sz="2000" b="0" u="none" strike="noStrike">
                <a:solidFill>
                  <a:srgbClr val="000000"/>
                </a:solidFill>
                <a:effectLst/>
                <a:uFillTx/>
                <a:latin typeface="Arial"/>
              </a:rPr>
              <a:t>hệ thống khác</a:t>
            </a:r>
            <a:r>
              <a:rPr lang="en-US" sz="2000" b="0" u="none" strike="noStrike">
                <a:solidFill>
                  <a:srgbClr val="000000"/>
                </a:solidFill>
                <a:effectLst/>
                <a:uFillTx/>
                <a:latin typeface="Arial"/>
              </a:rPr>
              <a:t> thuộc về </a:t>
            </a:r>
            <a:r>
              <a:rPr lang="vi-VN" sz="2000" b="0" u="none" strike="noStrike">
                <a:solidFill>
                  <a:srgbClr val="000000"/>
                </a:solidFill>
                <a:effectLst/>
                <a:uFillTx/>
                <a:latin typeface="Arial"/>
              </a:rPr>
              <a:t>môi trường</a:t>
            </a:r>
            <a:r>
              <a:rPr lang="en-US" sz="2000" b="0" u="none" strike="noStrike">
                <a:solidFill>
                  <a:srgbClr val="000000"/>
                </a:solidFill>
                <a:effectLst/>
                <a:uFillTx/>
                <a:latin typeface="Arial"/>
              </a:rPr>
              <a:t> tương tác với hệ thống đang xem xét</a:t>
            </a:r>
            <a:r>
              <a:rPr lang="vi-VN" sz="2000" b="0" u="none" strike="noStrike">
                <a:solidFill>
                  <a:srgbClr val="000000"/>
                </a:solidFill>
                <a:effectLst/>
                <a:uFillTx/>
                <a:latin typeface="Arial"/>
              </a:rPr>
              <a:t>. Tuy nhiên, chúng không </a:t>
            </a:r>
            <a:r>
              <a:rPr lang="en-US" sz="2000" b="0" u="none" strike="noStrike">
                <a:solidFill>
                  <a:srgbClr val="000000"/>
                </a:solidFill>
                <a:effectLst/>
                <a:uFillTx/>
                <a:latin typeface="Arial"/>
              </a:rPr>
              <a:t>biểu diễn được </a:t>
            </a:r>
            <a:r>
              <a:rPr lang="vi-VN" sz="2000" b="0" u="none" strike="noStrike">
                <a:solidFill>
                  <a:srgbClr val="000000"/>
                </a:solidFill>
                <a:effectLst/>
                <a:uFillTx/>
                <a:latin typeface="Arial"/>
              </a:rPr>
              <a:t>các loại mối quan hệ giữa các hệ thống </a:t>
            </a:r>
            <a:r>
              <a:rPr lang="en-US" sz="2000" b="0" u="none" strike="noStrike">
                <a:solidFill>
                  <a:srgbClr val="000000"/>
                </a:solidFill>
                <a:effectLst/>
                <a:uFillTx/>
                <a:latin typeface="Arial"/>
              </a:rPr>
              <a:t>đó với </a:t>
            </a:r>
            <a:r>
              <a:rPr lang="vi-VN" sz="2000" b="0" u="none" strike="noStrike">
                <a:solidFill>
                  <a:srgbClr val="000000"/>
                </a:solidFill>
                <a:effectLst/>
                <a:uFillTx/>
                <a:latin typeface="Arial"/>
              </a:rPr>
              <a:t>hệ thống đang được </a:t>
            </a:r>
            <a:r>
              <a:rPr lang="en-US" sz="2000" b="0" u="none" strike="noStrike">
                <a:solidFill>
                  <a:srgbClr val="000000"/>
                </a:solidFill>
                <a:effectLst/>
                <a:uFillTx/>
                <a:latin typeface="Arial"/>
              </a:rPr>
              <a:t>phát triển</a:t>
            </a:r>
            <a:r>
              <a:rPr lang="vi-VN" sz="2000" b="0" u="none" strike="noStrike">
                <a:solidFill>
                  <a:srgbClr val="000000"/>
                </a:solidFill>
                <a:effectLst/>
                <a:uFillTx/>
                <a:latin typeface="Arial"/>
              </a:rPr>
              <a:t>. Các hệ thống bên ngoài có thể tạo ra dữ liệu cho hoặc </a:t>
            </a:r>
            <a:r>
              <a:rPr lang="en-US" sz="2000" b="0" u="none" strike="noStrike">
                <a:solidFill>
                  <a:srgbClr val="000000"/>
                </a:solidFill>
                <a:effectLst/>
                <a:uFillTx/>
                <a:latin typeface="Arial"/>
              </a:rPr>
              <a:t>tiếp nhận </a:t>
            </a:r>
            <a:r>
              <a:rPr lang="vi-VN" sz="2000" b="0" u="none" strike="noStrike">
                <a:solidFill>
                  <a:srgbClr val="000000"/>
                </a:solidFill>
                <a:effectLst/>
                <a:uFillTx/>
                <a:latin typeface="Arial"/>
              </a:rPr>
              <a:t>dữ liệu từ hệ thống. </a:t>
            </a:r>
            <a:r>
              <a:rPr lang="en-US" sz="2000" b="0" u="none" strike="noStrike">
                <a:solidFill>
                  <a:srgbClr val="000000"/>
                </a:solidFill>
                <a:effectLst/>
                <a:uFillTx/>
                <a:latin typeface="Arial"/>
              </a:rPr>
              <a:t>Chúng </a:t>
            </a:r>
            <a:r>
              <a:rPr lang="vi-VN" sz="2000" b="0" u="none" strike="noStrike">
                <a:solidFill>
                  <a:srgbClr val="000000"/>
                </a:solidFill>
                <a:effectLst/>
                <a:uFillTx/>
                <a:latin typeface="Arial"/>
              </a:rPr>
              <a:t>có thể chia sẻ dữ liệu với hệ thống hoặc kết nối trực tiếp</a:t>
            </a:r>
            <a:r>
              <a:rPr lang="en-US" sz="2000" b="0" u="none" strike="noStrike">
                <a:solidFill>
                  <a:srgbClr val="000000"/>
                </a:solidFill>
                <a:effectLst/>
                <a:uFillTx/>
                <a:latin typeface="Arial"/>
              </a:rPr>
              <a:t> với nó</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hoặc </a:t>
            </a:r>
            <a:r>
              <a:rPr lang="vi-VN" sz="2000" b="0" u="none" strike="noStrike">
                <a:solidFill>
                  <a:srgbClr val="000000"/>
                </a:solidFill>
                <a:effectLst/>
                <a:uFillTx/>
                <a:latin typeface="Arial"/>
              </a:rPr>
              <a:t>thông qua mạng hoặc không được kết nối</a:t>
            </a:r>
            <a:r>
              <a:rPr lang="en-US" sz="2000" b="0" u="none" strike="noStrike">
                <a:solidFill>
                  <a:srgbClr val="000000"/>
                </a:solidFill>
                <a:effectLst/>
                <a:uFillTx/>
                <a:latin typeface="Arial"/>
              </a:rPr>
              <a:t> với nhau</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Các hệ thống ngoài </a:t>
            </a:r>
            <a:r>
              <a:rPr lang="vi-VN" sz="2000" b="0" u="none" strike="noStrike">
                <a:solidFill>
                  <a:srgbClr val="000000"/>
                </a:solidFill>
                <a:effectLst/>
                <a:uFillTx/>
                <a:latin typeface="Arial"/>
              </a:rPr>
              <a:t>có thể nằm ở </a:t>
            </a:r>
            <a:r>
              <a:rPr lang="en-US" sz="2000" b="0" u="none" strike="noStrike">
                <a:solidFill>
                  <a:srgbClr val="000000"/>
                </a:solidFill>
                <a:effectLst/>
                <a:uFillTx/>
                <a:latin typeface="Arial"/>
              </a:rPr>
              <a:t>cùng </a:t>
            </a:r>
            <a:r>
              <a:rPr lang="vi-VN" sz="2000" b="0" u="none" strike="noStrike">
                <a:solidFill>
                  <a:srgbClr val="000000"/>
                </a:solidFill>
                <a:effectLst/>
                <a:uFillTx/>
                <a:latin typeface="Arial"/>
              </a:rPr>
              <a:t>vị trí vật lý hoặc </a:t>
            </a:r>
            <a:r>
              <a:rPr lang="en-US" sz="2000" b="0" u="none" strike="noStrike">
                <a:solidFill>
                  <a:srgbClr val="000000"/>
                </a:solidFill>
                <a:effectLst/>
                <a:uFillTx/>
                <a:latin typeface="Arial"/>
              </a:rPr>
              <a:t>tách </a:t>
            </a:r>
            <a:r>
              <a:rPr lang="vi-VN" sz="2000" b="0" u="none" strike="noStrike">
                <a:solidFill>
                  <a:srgbClr val="000000"/>
                </a:solidFill>
                <a:effectLst/>
                <a:uFillTx/>
                <a:latin typeface="Arial"/>
              </a:rPr>
              <a:t>biệt</a:t>
            </a:r>
            <a:r>
              <a:rPr lang="en-US" sz="2000" b="0" u="none" strike="noStrike">
                <a:solidFill>
                  <a:srgbClr val="000000"/>
                </a:solidFill>
                <a:effectLst/>
                <a:uFillTx/>
                <a:latin typeface="Arial"/>
              </a:rPr>
              <a:t> nhau</a:t>
            </a:r>
            <a:r>
              <a:rPr lang="vi-VN" sz="2000" b="0" u="none" strike="noStrike">
                <a:solidFill>
                  <a:srgbClr val="000000"/>
                </a:solidFill>
                <a:effectLst/>
                <a:uFillTx/>
                <a:latin typeface="Arial"/>
              </a:rPr>
              <a:t>. Tất cả các mối quan hệ này có thể ảnh hưởng đến các yêu cầu và thiết kế của hệ thống đang được </a:t>
            </a:r>
            <a:r>
              <a:rPr lang="en-US" sz="2000" b="0" u="none" strike="noStrike">
                <a:solidFill>
                  <a:srgbClr val="000000"/>
                </a:solidFill>
                <a:effectLst/>
                <a:uFillTx/>
                <a:latin typeface="Arial"/>
              </a:rPr>
              <a:t>xây dựng </a:t>
            </a:r>
            <a:r>
              <a:rPr lang="vi-VN" sz="2000" b="0" u="none" strike="noStrike">
                <a:solidFill>
                  <a:srgbClr val="000000"/>
                </a:solidFill>
                <a:effectLst/>
                <a:uFillTx/>
                <a:latin typeface="Arial"/>
              </a:rPr>
              <a:t>và phải được tính đến. Do đó, các mô hình ngữ cảnh đơn giản </a:t>
            </a:r>
            <a:r>
              <a:rPr lang="en-US" sz="2000" b="0" u="none" strike="noStrike">
                <a:solidFill>
                  <a:srgbClr val="000000"/>
                </a:solidFill>
                <a:effectLst/>
                <a:uFillTx/>
                <a:latin typeface="Arial"/>
              </a:rPr>
              <a:t>thường </a:t>
            </a:r>
            <a:r>
              <a:rPr lang="vi-VN" sz="2000" b="0" u="none" strike="noStrike">
                <a:solidFill>
                  <a:srgbClr val="000000"/>
                </a:solidFill>
                <a:effectLst/>
                <a:uFillTx/>
                <a:latin typeface="Arial"/>
              </a:rPr>
              <a:t>được sử dụng cùng với các mô hình khác, chẳng hạn như các mô hình quy trình nghiệp vụ. Chúng mô tả các quy trình tự động và </a:t>
            </a:r>
            <a:r>
              <a:rPr lang="en-US" sz="2000" b="0" u="none" strike="noStrike">
                <a:solidFill>
                  <a:srgbClr val="000000"/>
                </a:solidFill>
                <a:effectLst/>
                <a:uFillTx/>
                <a:latin typeface="Arial"/>
              </a:rPr>
              <a:t>các tác vụ được thực hiện thủ công,</a:t>
            </a:r>
            <a:r>
              <a:rPr lang="vi-VN" sz="2000" b="0" u="none" strike="noStrike">
                <a:solidFill>
                  <a:srgbClr val="000000"/>
                </a:solidFill>
                <a:effectLst/>
                <a:uFillTx/>
                <a:latin typeface="Arial"/>
              </a:rPr>
              <a:t> trong đó các hệ thống phần mềm cụ thể được sử dụng.</a:t>
            </a:r>
            <a:endParaRPr lang="en-US" sz="2000" b="0" u="none" strike="noStrike">
              <a:solidFill>
                <a:srgbClr val="000000"/>
              </a:solidFill>
              <a:effectLst/>
              <a:uFillTx/>
              <a:latin typeface="Arial"/>
            </a:endParaRPr>
          </a:p>
        </p:txBody>
      </p:sp>
      <p:sp>
        <p:nvSpPr>
          <p:cNvPr id="267" name="PlaceHolder 3"/>
          <p:cNvSpPr>
            <a:spLocks noGrp="1"/>
          </p:cNvSpPr>
          <p:nvPr>
            <p:ph type="sldNum" idx="67"/>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34FA0F3-08CC-462B-9D3E-BFA1409C80B3}"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373040" y="754200"/>
            <a:ext cx="5025600" cy="3771720"/>
          </a:xfrm>
          <a:prstGeom prst="rect">
            <a:avLst/>
          </a:prstGeom>
          <a:ln w="0">
            <a:noFill/>
          </a:ln>
        </p:spPr>
      </p:sp>
      <p:sp>
        <p:nvSpPr>
          <p:cNvPr id="269"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Mô hình quy trình có thể được biểu diễn sử dụng các biểu đồ hoạt động UML. Các meta-concepts để tạo các biểu đồ hoạt động được diễn giải như sau:</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Tạo hành động </a:t>
            </a:r>
            <a:r>
              <a:rPr lang="en-US" sz="2400" b="1" u="none" strike="noStrike">
                <a:solidFill>
                  <a:srgbClr val="000000"/>
                </a:solidFill>
                <a:effectLst/>
                <a:uFillTx/>
                <a:latin typeface="Calibri"/>
              </a:rPr>
              <a:t>Action</a:t>
            </a:r>
            <a:r>
              <a:rPr lang="en-US" sz="2400" b="0" u="none" strike="noStrike">
                <a:solidFill>
                  <a:srgbClr val="000000"/>
                </a:solidFill>
                <a:effectLst/>
                <a:uFillTx/>
                <a:latin typeface="Calibri"/>
              </a:rPr>
              <a:t> (1) cho mỗi tác vụ được thực hiện bởi người dùng, hệ thống, hoặc cộng tác cả hai</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Kết nối chuỗi hoạt động bởi các </a:t>
            </a:r>
            <a:r>
              <a:rPr lang="en-US" sz="2400" b="1" u="none" strike="noStrike">
                <a:solidFill>
                  <a:srgbClr val="000000"/>
                </a:solidFill>
                <a:effectLst/>
                <a:uFillTx/>
                <a:latin typeface="Calibri"/>
              </a:rPr>
              <a:t>Connectors</a:t>
            </a:r>
            <a:r>
              <a:rPr lang="en-US" sz="2400" b="0" u="none" strike="noStrike">
                <a:solidFill>
                  <a:srgbClr val="000000"/>
                </a:solidFill>
                <a:effectLst/>
                <a:uFillTx/>
                <a:latin typeface="Calibri"/>
              </a:rPr>
              <a:t> (2)</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Sử dụng </a:t>
            </a:r>
            <a:r>
              <a:rPr lang="en-US" sz="2400" b="1" u="none" strike="noStrike">
                <a:solidFill>
                  <a:srgbClr val="000000"/>
                </a:solidFill>
                <a:effectLst/>
                <a:uFillTx/>
                <a:latin typeface="Calibri"/>
              </a:rPr>
              <a:t>Decision Node</a:t>
            </a:r>
            <a:r>
              <a:rPr lang="en-US" sz="2400" b="0" u="none" strike="noStrike">
                <a:solidFill>
                  <a:srgbClr val="000000"/>
                </a:solidFill>
                <a:effectLst/>
                <a:uFillTx/>
                <a:latin typeface="Calibri"/>
              </a:rPr>
              <a:t> (3) để quyết định bước tiếp theo.</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Đưa vào các điều kiện </a:t>
            </a:r>
            <a:r>
              <a:rPr lang="en-US" sz="2400" b="1" u="none" strike="noStrike">
                <a:solidFill>
                  <a:srgbClr val="000000"/>
                </a:solidFill>
                <a:effectLst/>
                <a:uFillTx/>
                <a:latin typeface="Calibri"/>
              </a:rPr>
              <a:t>guards</a:t>
            </a:r>
            <a:r>
              <a:rPr lang="en-US" sz="2400" b="0" u="none" strike="noStrike">
                <a:solidFill>
                  <a:srgbClr val="000000"/>
                </a:solidFill>
                <a:effectLst/>
                <a:uFillTx/>
                <a:latin typeface="Calibri"/>
              </a:rPr>
              <a:t> (4) để lựa chọn nhánh đi tiếp theo.</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Sử dụng </a:t>
            </a:r>
            <a:r>
              <a:rPr lang="en-US" sz="2400" b="1" u="none" strike="noStrike">
                <a:solidFill>
                  <a:srgbClr val="000000"/>
                </a:solidFill>
                <a:effectLst/>
                <a:uFillTx/>
                <a:latin typeface="Calibri"/>
              </a:rPr>
              <a:t>Merge Node</a:t>
            </a:r>
            <a:r>
              <a:rPr lang="en-US" sz="2400" b="0" u="none" strike="noStrike">
                <a:solidFill>
                  <a:srgbClr val="000000"/>
                </a:solidFill>
                <a:effectLst/>
                <a:uFillTx/>
                <a:latin typeface="Calibri"/>
              </a:rPr>
              <a:t> (5) để hợp nhất nhánh phụ với nhánh chính</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Nút khởi đầu </a:t>
            </a:r>
            <a:r>
              <a:rPr lang="en-US" sz="2400" b="1" u="none" strike="noStrike">
                <a:solidFill>
                  <a:srgbClr val="000000"/>
                </a:solidFill>
                <a:effectLst/>
                <a:uFillTx/>
                <a:latin typeface="Calibri"/>
              </a:rPr>
              <a:t>Initial Node </a:t>
            </a:r>
            <a:r>
              <a:rPr lang="en-US" sz="2400" b="0" u="none" strike="noStrike">
                <a:solidFill>
                  <a:srgbClr val="000000"/>
                </a:solidFill>
                <a:effectLst/>
                <a:uFillTx/>
                <a:latin typeface="Calibri"/>
              </a:rPr>
              <a:t> (6)</a:t>
            </a:r>
            <a:endParaRPr lang="en-US" sz="24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2400" b="0" u="none" strike="noStrike">
                <a:solidFill>
                  <a:srgbClr val="000000"/>
                </a:solidFill>
                <a:effectLst/>
                <a:uFillTx/>
                <a:latin typeface="Calibri"/>
              </a:rPr>
              <a:t>Sử dụng </a:t>
            </a:r>
            <a:r>
              <a:rPr lang="en-US" sz="2400" b="1" u="none" strike="noStrike">
                <a:solidFill>
                  <a:srgbClr val="000000"/>
                </a:solidFill>
                <a:effectLst/>
                <a:uFillTx/>
                <a:latin typeface="Calibri"/>
              </a:rPr>
              <a:t>Activity Final Node</a:t>
            </a:r>
            <a:r>
              <a:rPr lang="en-US" sz="2400" b="0" u="none" strike="noStrike">
                <a:solidFill>
                  <a:srgbClr val="000000"/>
                </a:solidFill>
                <a:effectLst/>
                <a:uFillTx/>
                <a:latin typeface="Calibri"/>
              </a:rPr>
              <a:t> (7) để kết thúc hoạt động</a:t>
            </a:r>
            <a:endParaRPr lang="en-US" sz="2400" b="0" u="none" strike="noStrike">
              <a:solidFill>
                <a:srgbClr val="000000"/>
              </a:solidFill>
              <a:effectLst/>
              <a:uFillTx/>
              <a:latin typeface="Arial"/>
            </a:endParaRPr>
          </a:p>
        </p:txBody>
      </p:sp>
      <p:sp>
        <p:nvSpPr>
          <p:cNvPr id="270" name="PlaceHolder 3"/>
          <p:cNvSpPr>
            <a:spLocks noGrp="1"/>
          </p:cNvSpPr>
          <p:nvPr>
            <p:ph type="sldNum" idx="68"/>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0EC698-9C5B-4C1C-B031-5303FB7471F1}"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1373040" y="754200"/>
            <a:ext cx="5025600" cy="3771720"/>
          </a:xfrm>
          <a:prstGeom prst="rect">
            <a:avLst/>
          </a:prstGeom>
          <a:ln w="0">
            <a:noFill/>
          </a:ln>
        </p:spPr>
      </p:sp>
      <p:sp>
        <p:nvSpPr>
          <p:cNvPr id="272"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marL="343080" indent="-343080">
              <a:lnSpc>
                <a:spcPct val="100000"/>
              </a:lnSpc>
              <a:buClr>
                <a:srgbClr val="000000"/>
              </a:buClr>
              <a:buFont typeface="Arial"/>
              <a:buChar char="•"/>
            </a:pPr>
            <a:r>
              <a:rPr lang="en-US" sz="1200" b="1" u="none" strike="noStrike">
                <a:solidFill>
                  <a:srgbClr val="000000"/>
                </a:solidFill>
                <a:effectLst/>
                <a:uFillTx/>
                <a:latin typeface="Calibri"/>
              </a:rPr>
              <a:t>Fork Node</a:t>
            </a:r>
            <a:r>
              <a:rPr lang="en-US" sz="1200" b="0" u="none" strike="noStrike">
                <a:solidFill>
                  <a:srgbClr val="000000"/>
                </a:solidFill>
                <a:effectLst/>
                <a:uFillTx/>
                <a:latin typeface="Calibri"/>
              </a:rPr>
              <a:t> (1) sẽ chia luồng điều khiển thành hai hay nhiều luồng. Khi hành động trước đó kết thúc, tất cả các hành động tương ứng đầu ra của fork node sẽ được kích hoạt.</a:t>
            </a:r>
            <a:endParaRPr lang="en-US" sz="12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1200" b="1" u="none" strike="noStrike">
                <a:solidFill>
                  <a:srgbClr val="000000"/>
                </a:solidFill>
                <a:effectLst/>
                <a:uFillTx/>
                <a:latin typeface="Calibri"/>
              </a:rPr>
              <a:t>Join Node</a:t>
            </a:r>
            <a:r>
              <a:rPr lang="en-US" sz="1200" b="0" u="none" strike="noStrike">
                <a:solidFill>
                  <a:srgbClr val="000000"/>
                </a:solidFill>
                <a:effectLst/>
                <a:uFillTx/>
                <a:latin typeface="Calibri"/>
              </a:rPr>
              <a:t> (2) sẽ hợp nhất các luồng đồng thời (concurrent threads) với nhau. Hành động sau </a:t>
            </a:r>
            <a:r>
              <a:rPr lang="en-US" sz="1200" b="1" u="none" strike="noStrike">
                <a:solidFill>
                  <a:srgbClr val="000000"/>
                </a:solidFill>
                <a:effectLst/>
                <a:uFillTx/>
                <a:latin typeface="Calibri"/>
              </a:rPr>
              <a:t>Join Node</a:t>
            </a:r>
            <a:r>
              <a:rPr lang="en-US" sz="1200" b="0" u="none" strike="noStrike">
                <a:solidFill>
                  <a:srgbClr val="000000"/>
                </a:solidFill>
                <a:effectLst/>
                <a:uFillTx/>
                <a:latin typeface="Calibri"/>
              </a:rPr>
              <a:t> chỉ được bắt khi tất cả các hành động dẫn đến </a:t>
            </a:r>
            <a:r>
              <a:rPr lang="en-US" sz="1200" b="1" u="none" strike="noStrike">
                <a:solidFill>
                  <a:srgbClr val="000000"/>
                </a:solidFill>
                <a:effectLst/>
                <a:uFillTx/>
                <a:latin typeface="Calibri"/>
              </a:rPr>
              <a:t>Join Node</a:t>
            </a:r>
            <a:r>
              <a:rPr lang="en-US" sz="1200" b="0" u="none" strike="noStrike">
                <a:solidFill>
                  <a:srgbClr val="000000"/>
                </a:solidFill>
                <a:effectLst/>
                <a:uFillTx/>
                <a:latin typeface="Calibri"/>
              </a:rPr>
              <a:t> đều kết thúc.</a:t>
            </a:r>
            <a:endParaRPr lang="en-US" sz="1200" b="0" u="none" strike="noStrike">
              <a:solidFill>
                <a:srgbClr val="000000"/>
              </a:solidFill>
              <a:effectLst/>
              <a:uFillTx/>
              <a:latin typeface="Arial"/>
            </a:endParaRPr>
          </a:p>
          <a:p>
            <a:pPr marL="343080" indent="-343080">
              <a:lnSpc>
                <a:spcPct val="100000"/>
              </a:lnSpc>
              <a:buClr>
                <a:srgbClr val="000000"/>
              </a:buClr>
              <a:buFont typeface="Arial"/>
              <a:buChar char="•"/>
            </a:pPr>
            <a:r>
              <a:rPr lang="en-US" sz="1200" b="0" u="none" strike="noStrike">
                <a:solidFill>
                  <a:srgbClr val="000000"/>
                </a:solidFill>
                <a:effectLst/>
                <a:uFillTx/>
                <a:latin typeface="Calibri"/>
              </a:rPr>
              <a:t>Sử dụng </a:t>
            </a:r>
            <a:r>
              <a:rPr lang="en-US" sz="1200" b="1" u="none" strike="noStrike">
                <a:solidFill>
                  <a:srgbClr val="000000"/>
                </a:solidFill>
                <a:effectLst/>
                <a:uFillTx/>
                <a:latin typeface="Calibri"/>
              </a:rPr>
              <a:t>Send Signal Action </a:t>
            </a:r>
            <a:r>
              <a:rPr lang="en-US" sz="1200" b="0" u="none" strike="noStrike">
                <a:solidFill>
                  <a:srgbClr val="000000"/>
                </a:solidFill>
                <a:effectLst/>
                <a:uFillTx/>
                <a:latin typeface="Calibri"/>
              </a:rPr>
              <a:t>(3),  và nhận (4), để chỉ rằng một tín hiệu hoặc thông điệp được gửi tới hoặc nhận từ các hoạt động hay tiến trình khác.</a:t>
            </a:r>
            <a:endParaRPr lang="en-US" sz="1200" b="0" u="none" strike="noStrike">
              <a:solidFill>
                <a:srgbClr val="000000"/>
              </a:solidFill>
              <a:effectLst/>
              <a:uFillTx/>
              <a:latin typeface="Arial"/>
            </a:endParaRPr>
          </a:p>
        </p:txBody>
      </p:sp>
      <p:sp>
        <p:nvSpPr>
          <p:cNvPr id="273" name="PlaceHolder 3"/>
          <p:cNvSpPr>
            <a:spLocks noGrp="1"/>
          </p:cNvSpPr>
          <p:nvPr>
            <p:ph type="sldNum" idx="69"/>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C48B9F-03F9-4803-B4B4-801BEBDD1F73}"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373040" y="754200"/>
            <a:ext cx="5025600" cy="3771720"/>
          </a:xfrm>
          <a:prstGeom prst="rect">
            <a:avLst/>
          </a:prstGeom>
          <a:ln w="0">
            <a:noFill/>
          </a:ln>
        </p:spPr>
      </p:sp>
      <p:sp>
        <p:nvSpPr>
          <p:cNvPr id="275"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Hình vẽ trong slide biểu diễn </a:t>
            </a:r>
            <a:r>
              <a:rPr lang="vi-VN" sz="2000" b="0" u="none" strike="noStrike">
                <a:solidFill>
                  <a:srgbClr val="000000"/>
                </a:solidFill>
                <a:effectLst/>
                <a:uFillTx/>
                <a:latin typeface="Arial"/>
              </a:rPr>
              <a:t>mô hình của một </a:t>
            </a:r>
            <a:r>
              <a:rPr lang="en-US" sz="2000" b="0" u="none" strike="noStrike">
                <a:solidFill>
                  <a:srgbClr val="000000"/>
                </a:solidFill>
                <a:effectLst/>
                <a:uFillTx/>
                <a:latin typeface="Arial"/>
              </a:rPr>
              <a:t>nghiệp vụ quan trọng của </a:t>
            </a:r>
            <a:r>
              <a:rPr lang="vi-VN" sz="2000" b="0" u="none" strike="noStrike">
                <a:solidFill>
                  <a:srgbClr val="000000"/>
                </a:solidFill>
                <a:effectLst/>
                <a:uFillTx/>
                <a:latin typeface="Arial"/>
              </a:rPr>
              <a:t>hệ thống</a:t>
            </a:r>
            <a:r>
              <a:rPr lang="en-US" sz="2000" b="0" u="none" strike="noStrike">
                <a:solidFill>
                  <a:srgbClr val="000000"/>
                </a:solidFill>
                <a:effectLst/>
                <a:uFillTx/>
                <a:latin typeface="Arial"/>
              </a:rPr>
              <a:t>. Mô hình này </a:t>
            </a:r>
            <a:r>
              <a:rPr lang="vi-VN" sz="2000" b="0" u="none" strike="noStrike">
                <a:solidFill>
                  <a:srgbClr val="000000"/>
                </a:solidFill>
                <a:effectLst/>
                <a:uFillTx/>
                <a:latin typeface="Arial"/>
              </a:rPr>
              <a:t>cho thấy các </a:t>
            </a:r>
            <a:r>
              <a:rPr lang="en-US" sz="2000" b="0" u="none" strike="noStrike">
                <a:solidFill>
                  <a:srgbClr val="000000"/>
                </a:solidFill>
                <a:effectLst/>
                <a:uFillTx/>
                <a:latin typeface="Arial"/>
              </a:rPr>
              <a:t>quy trình </a:t>
            </a:r>
            <a:r>
              <a:rPr lang="vi-VN" sz="2000" b="0" u="none" strike="noStrike">
                <a:solidFill>
                  <a:srgbClr val="000000"/>
                </a:solidFill>
                <a:effectLst/>
                <a:uFillTx/>
                <a:latin typeface="Arial"/>
              </a:rPr>
              <a:t>trong đó MHC-PMS được sử dụng. Đôi khi, bệnh nhân bị các vấn đề sức khỏe tâm thần có thể là mối nguy hiểm cho người khác hoặc cho chính họ. Do đó, họ có thể phải bị giam giữ </a:t>
            </a:r>
            <a:r>
              <a:rPr lang="en-US" sz="2000" b="0" u="none" strike="noStrike">
                <a:solidFill>
                  <a:srgbClr val="000000"/>
                </a:solidFill>
                <a:effectLst/>
                <a:uFillTx/>
                <a:latin typeface="Arial"/>
              </a:rPr>
              <a:t>một cách không mong muốn</a:t>
            </a:r>
            <a:r>
              <a:rPr lang="vi-VN" sz="2000" b="0" u="none" strike="noStrike">
                <a:solidFill>
                  <a:srgbClr val="000000"/>
                </a:solidFill>
                <a:effectLst/>
                <a:uFillTx/>
                <a:latin typeface="Arial"/>
              </a:rPr>
              <a:t> trong một bệnh viện để </a:t>
            </a:r>
            <a:r>
              <a:rPr lang="en-US" sz="2000" b="0" u="none" strike="noStrike">
                <a:solidFill>
                  <a:srgbClr val="000000"/>
                </a:solidFill>
                <a:effectLst/>
                <a:uFillTx/>
                <a:latin typeface="Arial"/>
              </a:rPr>
              <a:t>việc </a:t>
            </a:r>
            <a:r>
              <a:rPr lang="vi-VN" sz="2000" b="0" u="none" strike="noStrike">
                <a:solidFill>
                  <a:srgbClr val="000000"/>
                </a:solidFill>
                <a:effectLst/>
                <a:uFillTx/>
                <a:latin typeface="Arial"/>
              </a:rPr>
              <a:t>điều trị có thể được </a:t>
            </a:r>
            <a:r>
              <a:rPr lang="en-US" sz="2000" b="0" u="none" strike="noStrike">
                <a:solidFill>
                  <a:srgbClr val="000000"/>
                </a:solidFill>
                <a:effectLst/>
                <a:uFillTx/>
                <a:latin typeface="Arial"/>
              </a:rPr>
              <a:t>giám sát</a:t>
            </a:r>
            <a:r>
              <a:rPr lang="vi-VN" sz="2000" b="0" u="none" strike="noStrike">
                <a:solidFill>
                  <a:srgbClr val="000000"/>
                </a:solidFill>
                <a:effectLst/>
                <a:uFillTx/>
                <a:latin typeface="Arial"/>
              </a:rPr>
              <a:t>. Việc giam giữ như vậy phải tuân thủ các biện pháp bảo vệ pháp lý nghiêm ngặt — ví dụ, quyết định giam giữ một bệnh nhân phải được xem xét thường xuyên để mọi người không bị giữ vô thời hạn mà không có lý do chính đáng. Một trong những chức năng của MHC-PMS là đảm bảo rằng các biện pháp bảo vệ như vậy được thực hiện</a:t>
            </a: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276" name="PlaceHolder 3"/>
          <p:cNvSpPr>
            <a:spLocks noGrp="1"/>
          </p:cNvSpPr>
          <p:nvPr>
            <p:ph type="sldNum" idx="70"/>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5641F6-9B59-4A0F-B10B-340C09B03E9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1373040" y="754200"/>
            <a:ext cx="5025600" cy="3771720"/>
          </a:xfrm>
          <a:prstGeom prst="rect">
            <a:avLst/>
          </a:prstGeom>
          <a:ln w="0">
            <a:noFill/>
          </a:ln>
        </p:spPr>
      </p:sp>
      <p:sp>
        <p:nvSpPr>
          <p:cNvPr id="278"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Mọi hệ thống đều có mối liên quan và sự tương tác với nhau. Đây có thể là tương tác của người dùng, liên quan đến đầu vào và đầu ra của người dùng, tương tác giữa hệ thống đang được phát triển và các hệ thống khác, hoặc tương tác giữa các thành phần của hệ thống. Mô hình hóa  tương tác của người dùng rất quan trọng vì nó giúp xác định các yêu cầu của người dùng. Mô hình tương tác giữa các hệ thống làm nổi bật các vấn đề giao tiếp có thể phát sinh. Việc tạo mô hình tương tác thành phần hệ thống giúp chúng ta lý giải việc cấu trúc hệ thống được đề xuất có khả năng cung cấp hiệu suất và độ tin cậy của hệ thống được yêu cầu.</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Trong bài giảng này, chúng ta tập trung vào hai  phương pháp liên quan đến mô hình tương tác:</a:t>
            </a:r>
            <a:endParaRPr lang="en-US" sz="20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vi-VN" sz="2000" b="0" u="none" strike="noStrike">
                <a:solidFill>
                  <a:srgbClr val="000000"/>
                </a:solidFill>
                <a:effectLst/>
                <a:uFillTx/>
                <a:latin typeface="Arial"/>
              </a:rPr>
              <a:t>Mô hình hóa ca sử dụng, chủ yếu được sử dụng để mô hình tương tác giữa hệ thống và diễn viên bên ngoài (người dùng hoặc các hệ thống khác).</a:t>
            </a:r>
            <a:endParaRPr lang="en-US" sz="20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vi-VN" sz="2000" b="0" u="none" strike="noStrike">
                <a:solidFill>
                  <a:srgbClr val="000000"/>
                </a:solidFill>
                <a:effectLst/>
                <a:uFillTx/>
                <a:latin typeface="Arial"/>
              </a:rPr>
              <a:t>Biểu đồ tuần tự, được sử dụng để mô hình tương tác giữa hệ thống các thành phần, mặc dù các tác nhân bên ngoài cũng có thể được đưa vào.</a:t>
            </a:r>
            <a:endParaRPr lang="en-US" sz="2000" b="0" u="none" strike="noStrike">
              <a:solidFill>
                <a:srgbClr val="000000"/>
              </a:solidFill>
              <a:effectLst/>
              <a:uFillTx/>
              <a:latin typeface="Arial"/>
            </a:endParaRPr>
          </a:p>
        </p:txBody>
      </p:sp>
      <p:sp>
        <p:nvSpPr>
          <p:cNvPr id="279" name="PlaceHolder 3"/>
          <p:cNvSpPr>
            <a:spLocks noGrp="1"/>
          </p:cNvSpPr>
          <p:nvPr>
            <p:ph type="sldNum" idx="71"/>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9BD314-02BB-43A3-A331-F163F336404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373040" y="754200"/>
            <a:ext cx="5025600" cy="3771720"/>
          </a:xfrm>
          <a:prstGeom prst="rect">
            <a:avLst/>
          </a:prstGeom>
          <a:ln w="0">
            <a:noFill/>
          </a:ln>
        </p:spPr>
      </p:sp>
      <p:sp>
        <p:nvSpPr>
          <p:cNvPr id="281"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1200" b="0" u="none" strike="noStrike">
                <a:solidFill>
                  <a:schemeClr val="dk1"/>
                </a:solidFill>
                <a:effectLst/>
                <a:uFillTx/>
                <a:latin typeface="+mn-lt"/>
                <a:ea typeface="+mn-ea"/>
              </a:rPr>
              <a:t>M</a:t>
            </a:r>
            <a:r>
              <a:rPr lang="vi-VN" sz="1200" b="0" u="none" strike="noStrike">
                <a:solidFill>
                  <a:schemeClr val="dk1"/>
                </a:solidFill>
                <a:effectLst/>
                <a:uFillTx/>
                <a:latin typeface="+mn-lt"/>
                <a:ea typeface="+mn-ea"/>
              </a:rPr>
              <a:t>ô hình </a:t>
            </a:r>
            <a:r>
              <a:rPr lang="en-US" sz="1200" b="0" u="none" strike="noStrike">
                <a:solidFill>
                  <a:schemeClr val="dk1"/>
                </a:solidFill>
                <a:effectLst/>
                <a:uFillTx/>
                <a:latin typeface="+mn-lt"/>
                <a:ea typeface="+mn-ea"/>
              </a:rPr>
              <a:t>ca sử dụng </a:t>
            </a:r>
            <a:r>
              <a:rPr lang="vi-VN" sz="1200" b="0" u="none" strike="noStrike">
                <a:solidFill>
                  <a:schemeClr val="dk1"/>
                </a:solidFill>
                <a:effectLst/>
                <a:uFillTx/>
                <a:latin typeface="+mn-lt"/>
                <a:ea typeface="+mn-ea"/>
              </a:rPr>
              <a:t>ban đầu được phát triển bởi Jacobson </a:t>
            </a:r>
            <a:r>
              <a:rPr lang="en-US" sz="1200" b="0" u="none" strike="noStrike">
                <a:solidFill>
                  <a:schemeClr val="dk1"/>
                </a:solidFill>
                <a:effectLst/>
                <a:uFillTx/>
                <a:latin typeface="+mn-lt"/>
                <a:ea typeface="+mn-ea"/>
              </a:rPr>
              <a:t>và các cộng sự </a:t>
            </a:r>
            <a:r>
              <a:rPr lang="vi-VN" sz="1200" b="0" u="none" strike="noStrike">
                <a:solidFill>
                  <a:schemeClr val="dk1"/>
                </a:solidFill>
                <a:effectLst/>
                <a:uFillTx/>
                <a:latin typeface="+mn-lt"/>
                <a:ea typeface="+mn-ea"/>
              </a:rPr>
              <a:t>vào những năm 1990</a:t>
            </a:r>
            <a:r>
              <a:rPr lang="en-US" sz="1200" b="0" u="none" strike="noStrike">
                <a:solidFill>
                  <a:schemeClr val="dk1"/>
                </a:solidFill>
                <a:effectLst/>
                <a:uFillTx/>
                <a:latin typeface="+mn-lt"/>
                <a:ea typeface="+mn-ea"/>
              </a:rPr>
              <a:t> </a:t>
            </a:r>
            <a:r>
              <a:rPr lang="vi-VN" sz="1200" b="0" u="none" strike="noStrike">
                <a:solidFill>
                  <a:schemeClr val="dk1"/>
                </a:solidFill>
                <a:effectLst/>
                <a:uFillTx/>
                <a:latin typeface="+mn-lt"/>
                <a:ea typeface="+mn-ea"/>
              </a:rPr>
              <a:t>và được đưa vào bản phát hành đầu tiên của UML</a:t>
            </a:r>
            <a:r>
              <a:rPr lang="en-US" sz="1200" b="0" u="none" strike="noStrike">
                <a:solidFill>
                  <a:schemeClr val="dk1"/>
                </a:solidFill>
                <a:effectLst/>
                <a:uFillTx/>
                <a:latin typeface="+mn-lt"/>
                <a:ea typeface="+mn-ea"/>
              </a:rPr>
              <a:t>. (Ngôn ngữ này được </a:t>
            </a:r>
            <a:r>
              <a:rPr lang="vi-VN" sz="1200" b="0" u="none" strike="noStrike">
                <a:solidFill>
                  <a:schemeClr val="dk1"/>
                </a:solidFill>
                <a:effectLst/>
                <a:uFillTx/>
                <a:latin typeface="+mn-lt"/>
                <a:ea typeface="+mn-ea"/>
              </a:rPr>
              <a:t>Rumbaugh </a:t>
            </a:r>
            <a:r>
              <a:rPr lang="en-US" sz="1200" b="0" u="none" strike="noStrike">
                <a:solidFill>
                  <a:schemeClr val="dk1"/>
                </a:solidFill>
                <a:effectLst/>
                <a:uFillTx/>
                <a:latin typeface="+mn-lt"/>
                <a:ea typeface="+mn-ea"/>
              </a:rPr>
              <a:t>và các cộng sự đề xuất vào năm </a:t>
            </a:r>
            <a:r>
              <a:rPr lang="vi-VN" sz="1200" b="0" u="none" strike="noStrike">
                <a:solidFill>
                  <a:schemeClr val="dk1"/>
                </a:solidFill>
                <a:effectLst/>
                <a:uFillTx/>
                <a:latin typeface="+mn-lt"/>
                <a:ea typeface="+mn-ea"/>
              </a:rPr>
              <a:t>1999). Như</a:t>
            </a:r>
            <a:r>
              <a:rPr lang="en-US" sz="1200" b="0" u="none" strike="noStrike">
                <a:solidFill>
                  <a:schemeClr val="dk1"/>
                </a:solidFill>
                <a:effectLst/>
                <a:uFillTx/>
                <a:latin typeface="+mn-lt"/>
                <a:ea typeface="+mn-ea"/>
              </a:rPr>
              <a:t> đã đề cập trong bài học trước</a:t>
            </a:r>
            <a:r>
              <a:rPr lang="vi-VN" sz="1200" b="0" u="none" strike="noStrike">
                <a:solidFill>
                  <a:schemeClr val="dk1"/>
                </a:solidFill>
                <a:effectLst/>
                <a:uFillTx/>
                <a:latin typeface="+mn-lt"/>
                <a:ea typeface="+mn-ea"/>
              </a:rPr>
              <a:t>, mô hình ca sử dụng được sử dụng rộng rãi để hỗ trợ </a:t>
            </a:r>
            <a:r>
              <a:rPr lang="en-US" sz="1200" b="0" u="none" strike="noStrike">
                <a:solidFill>
                  <a:schemeClr val="dk1"/>
                </a:solidFill>
                <a:effectLst/>
                <a:uFillTx/>
                <a:latin typeface="+mn-lt"/>
                <a:ea typeface="+mn-ea"/>
              </a:rPr>
              <a:t>hoạt động thu thập </a:t>
            </a:r>
            <a:r>
              <a:rPr lang="vi-VN" sz="1200" b="0" u="none" strike="noStrike">
                <a:solidFill>
                  <a:schemeClr val="dk1"/>
                </a:solidFill>
                <a:effectLst/>
                <a:uFillTx/>
                <a:latin typeface="+mn-lt"/>
                <a:ea typeface="+mn-ea"/>
              </a:rPr>
              <a:t>yêu cầu. Một </a:t>
            </a:r>
            <a:r>
              <a:rPr lang="en-US" sz="1200" b="0" u="none" strike="noStrike">
                <a:solidFill>
                  <a:schemeClr val="dk1"/>
                </a:solidFill>
                <a:effectLst/>
                <a:uFillTx/>
                <a:latin typeface="+mn-lt"/>
                <a:ea typeface="+mn-ea"/>
              </a:rPr>
              <a:t>ca </a:t>
            </a:r>
            <a:r>
              <a:rPr lang="vi-VN" sz="1200" b="0" u="none" strike="noStrike">
                <a:solidFill>
                  <a:schemeClr val="dk1"/>
                </a:solidFill>
                <a:effectLst/>
                <a:uFillTx/>
                <a:latin typeface="+mn-lt"/>
                <a:ea typeface="+mn-ea"/>
              </a:rPr>
              <a:t>sử dụng có thể được </a:t>
            </a:r>
            <a:r>
              <a:rPr lang="en-US" sz="1200" b="0" u="none" strike="noStrike">
                <a:solidFill>
                  <a:schemeClr val="dk1"/>
                </a:solidFill>
                <a:effectLst/>
                <a:uFillTx/>
                <a:latin typeface="+mn-lt"/>
                <a:ea typeface="+mn-ea"/>
              </a:rPr>
              <a:t>xem </a:t>
            </a:r>
            <a:r>
              <a:rPr lang="vi-VN" sz="1200" b="0" u="none" strike="noStrike">
                <a:solidFill>
                  <a:schemeClr val="dk1"/>
                </a:solidFill>
                <a:effectLst/>
                <a:uFillTx/>
                <a:latin typeface="+mn-lt"/>
                <a:ea typeface="+mn-ea"/>
              </a:rPr>
              <a:t>như một kịch bản đơn giản mô tả những gì người dùng mong đợi từ hệ thống.</a:t>
            </a:r>
            <a:r>
              <a:rPr lang="en-US" sz="1200" b="0" u="none" strike="noStrike">
                <a:solidFill>
                  <a:schemeClr val="dk1"/>
                </a:solidFill>
                <a:effectLst/>
                <a:uFillTx/>
                <a:latin typeface="+mn-lt"/>
                <a:ea typeface="+mn-ea"/>
              </a:rPr>
              <a:t> Mỗi</a:t>
            </a:r>
            <a:r>
              <a:rPr lang="vi-VN" sz="2000" b="0" u="none" strike="noStrike">
                <a:solidFill>
                  <a:srgbClr val="000000"/>
                </a:solidFill>
                <a:effectLst/>
                <a:uFillTx/>
                <a:latin typeface="+mn-lt"/>
                <a:ea typeface="+mn-ea"/>
              </a:rPr>
              <a:t> ca sử dụng đại diện cho một tác vụ rời rạc có liên quan đến sự tương tác bên ngoài với một hệ thống.</a:t>
            </a:r>
            <a:r>
              <a:rPr lang="en-US" sz="2000" b="0" u="none" strike="noStrike">
                <a:solidFill>
                  <a:srgbClr val="000000"/>
                </a:solidFill>
                <a:effectLst/>
                <a:uFillTx/>
                <a:latin typeface="+mn-lt"/>
                <a:ea typeface="+mn-ea"/>
              </a:rPr>
              <a:t> Ở đây, tác nhận </a:t>
            </a:r>
            <a:r>
              <a:rPr lang="vi-VN" sz="1200" b="0" u="none" strike="noStrike">
                <a:solidFill>
                  <a:srgbClr val="000000"/>
                </a:solidFill>
                <a:effectLst/>
                <a:uFillTx/>
                <a:latin typeface="Calibri"/>
                <a:ea typeface="DejaVu Sans"/>
              </a:rPr>
              <a:t>tham gia ca sử dụng có thể là người hoặc các hệ thống khác.</a:t>
            </a:r>
            <a:r>
              <a:rPr lang="en-US" sz="1200" b="0" u="none" strike="noStrike">
                <a:solidFill>
                  <a:srgbClr val="000000"/>
                </a:solidFill>
                <a:effectLst/>
                <a:uFillTx/>
                <a:latin typeface="Calibri"/>
                <a:ea typeface="DejaVu Sans"/>
              </a:rPr>
              <a:t> </a:t>
            </a:r>
            <a:r>
              <a:rPr lang="vi-VN" sz="1200" b="0" u="none" strike="noStrike">
                <a:solidFill>
                  <a:srgbClr val="000000"/>
                </a:solidFill>
                <a:effectLst/>
                <a:uFillTx/>
                <a:latin typeface="Calibri"/>
                <a:ea typeface="DejaVu Sans"/>
              </a:rPr>
              <a:t>Mô hình ca sử dụng thường ở dạng kết hợp biểu đồ trực quan và các mô tả văn bản chi tiết.</a:t>
            </a:r>
            <a:endParaRPr lang="en-US" sz="1200" b="0" u="none" strike="noStrike">
              <a:solidFill>
                <a:srgbClr val="000000"/>
              </a:solidFill>
              <a:effectLst/>
              <a:uFillTx/>
              <a:latin typeface="Arial"/>
            </a:endParaRPr>
          </a:p>
        </p:txBody>
      </p:sp>
      <p:sp>
        <p:nvSpPr>
          <p:cNvPr id="282" name="PlaceHolder 3"/>
          <p:cNvSpPr>
            <a:spLocks noGrp="1"/>
          </p:cNvSpPr>
          <p:nvPr>
            <p:ph type="sldNum" idx="72"/>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9C913F-7EFD-4D0A-9058-51C1A8C8EED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1373040" y="754200"/>
            <a:ext cx="5025600" cy="3771720"/>
          </a:xfrm>
          <a:prstGeom prst="rect">
            <a:avLst/>
          </a:prstGeom>
          <a:ln w="0">
            <a:noFill/>
          </a:ln>
        </p:spPr>
      </p:sp>
      <p:sp>
        <p:nvSpPr>
          <p:cNvPr id="284"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tabLst>
                <a:tab algn="l" pos="0"/>
              </a:tabLst>
            </a:pPr>
            <a:r>
              <a:rPr lang="en-US" sz="2000" b="0" u="none" strike="noStrike">
                <a:solidFill>
                  <a:srgbClr val="000000"/>
                </a:solidFill>
                <a:effectLst/>
                <a:uFillTx/>
                <a:latin typeface="Calibri"/>
              </a:rPr>
              <a:t>Các meta-concepts để tạo nên biểu đồ ca sử dụng bao gồm:</a:t>
            </a:r>
            <a:endParaRPr lang="en-US" sz="2000" b="0" u="none" strike="noStrike">
              <a:solidFill>
                <a:srgbClr val="000000"/>
              </a:solidFill>
              <a:effectLst/>
              <a:uFillTx/>
              <a:latin typeface="Arial"/>
            </a:endParaRPr>
          </a:p>
          <a:p>
            <a:pPr marL="285840" indent="-285840">
              <a:lnSpc>
                <a:spcPct val="100000"/>
              </a:lnSpc>
              <a:buClr>
                <a:srgbClr val="000000"/>
              </a:buClr>
              <a:buFont typeface="Arial"/>
              <a:buChar char="•"/>
              <a:tabLst>
                <a:tab algn="l" pos="0"/>
              </a:tabLst>
            </a:pPr>
            <a:r>
              <a:rPr lang="en-US" sz="2000" b="0" u="none" strike="noStrike">
                <a:solidFill>
                  <a:srgbClr val="000000"/>
                </a:solidFill>
                <a:effectLst/>
                <a:uFillTx/>
                <a:latin typeface="Calibri"/>
              </a:rPr>
              <a:t>Tác nhân </a:t>
            </a:r>
            <a:r>
              <a:rPr lang="vi-VN" sz="2000" b="0" u="none" strike="noStrike">
                <a:solidFill>
                  <a:srgbClr val="000000"/>
                </a:solidFill>
                <a:effectLst/>
                <a:uFillTx/>
                <a:latin typeface="Calibri"/>
              </a:rPr>
              <a:t>(1) là một lớp người, tổ chức, thiết bị hoặc thành phần phần mềm bên ngoài tương tác với hệ thống. </a:t>
            </a:r>
            <a:r>
              <a:rPr lang="en-US" sz="2000" b="0" u="none" strike="noStrike">
                <a:solidFill>
                  <a:srgbClr val="000000"/>
                </a:solidFill>
                <a:effectLst/>
                <a:uFillTx/>
                <a:latin typeface="Calibri"/>
              </a:rPr>
              <a:t> Trong mô hình ca sử dụng này, các tác nhân bao gồm </a:t>
            </a:r>
            <a:r>
              <a:rPr lang="vi-VN" sz="2000" b="1" u="none" strike="noStrike">
                <a:solidFill>
                  <a:srgbClr val="000000"/>
                </a:solidFill>
                <a:effectLst/>
                <a:uFillTx/>
                <a:latin typeface="Calibri"/>
              </a:rPr>
              <a:t>Khách hàng</a:t>
            </a:r>
            <a:r>
              <a:rPr lang="en-US" sz="2000" b="1" u="none" strike="noStrike">
                <a:solidFill>
                  <a:srgbClr val="000000"/>
                </a:solidFill>
                <a:effectLst/>
                <a:uFillTx/>
                <a:latin typeface="Calibri"/>
              </a:rPr>
              <a:t> (Customer) </a:t>
            </a:r>
            <a:r>
              <a:rPr lang="en-US" sz="2000" b="0" u="none" strike="noStrike">
                <a:solidFill>
                  <a:srgbClr val="000000"/>
                </a:solidFill>
                <a:effectLst/>
                <a:uFillTx/>
                <a:latin typeface="Calibri"/>
              </a:rPr>
              <a:t>và </a:t>
            </a:r>
            <a:r>
              <a:rPr lang="vi-VN" sz="2000" b="1" u="none" strike="noStrike">
                <a:solidFill>
                  <a:srgbClr val="000000"/>
                </a:solidFill>
                <a:effectLst/>
                <a:uFillTx/>
                <a:latin typeface="Calibri"/>
              </a:rPr>
              <a:t>Nhà hàng</a:t>
            </a:r>
            <a:r>
              <a:rPr lang="en-US" sz="2000" b="1" u="none" strike="noStrike">
                <a:solidFill>
                  <a:srgbClr val="000000"/>
                </a:solidFill>
                <a:effectLst/>
                <a:uFillTx/>
                <a:latin typeface="Calibri"/>
              </a:rPr>
              <a:t> (Restaurant)</a:t>
            </a:r>
            <a:r>
              <a:rPr lang="vi-VN" sz="2000" b="0" u="none" strike="noStrike">
                <a:solidFill>
                  <a:srgbClr val="000000"/>
                </a:solidFill>
                <a:effectLst/>
                <a:uFillTx/>
                <a:latin typeface="Calibri"/>
              </a:rPr>
              <a:t>.</a:t>
            </a:r>
            <a:endParaRPr lang="en-US" sz="2000" b="0" u="none" strike="noStrike">
              <a:solidFill>
                <a:srgbClr val="000000"/>
              </a:solidFill>
              <a:effectLst/>
              <a:uFillTx/>
              <a:latin typeface="Arial"/>
            </a:endParaRPr>
          </a:p>
          <a:p>
            <a:pPr marL="285840" indent="-285840">
              <a:lnSpc>
                <a:spcPct val="100000"/>
              </a:lnSpc>
              <a:buClr>
                <a:srgbClr val="000000"/>
              </a:buClr>
              <a:buFont typeface="Arial"/>
              <a:buChar char="•"/>
              <a:tabLst>
                <a:tab algn="l" pos="0"/>
              </a:tabLst>
            </a:pPr>
            <a:r>
              <a:rPr lang="en-US" sz="2000" b="0" u="none" strike="noStrike">
                <a:solidFill>
                  <a:srgbClr val="000000"/>
                </a:solidFill>
                <a:effectLst/>
                <a:uFillTx/>
                <a:latin typeface="Calibri"/>
              </a:rPr>
              <a:t>Ca sử </a:t>
            </a:r>
            <a:r>
              <a:rPr lang="vi-VN" sz="2000" b="0" u="none" strike="noStrike">
                <a:solidFill>
                  <a:srgbClr val="000000"/>
                </a:solidFill>
                <a:effectLst/>
                <a:uFillTx/>
                <a:latin typeface="Calibri"/>
              </a:rPr>
              <a:t>dụng (2) đại diện cho các hành động được thực hiện bởi một hoặc nhiều </a:t>
            </a:r>
            <a:r>
              <a:rPr lang="en-US" sz="2000" b="0" u="none" strike="noStrike">
                <a:solidFill>
                  <a:srgbClr val="000000"/>
                </a:solidFill>
                <a:effectLst/>
                <a:uFillTx/>
                <a:latin typeface="Calibri"/>
              </a:rPr>
              <a:t>tác nhân</a:t>
            </a:r>
            <a:r>
              <a:rPr lang="vi-VN" sz="2000" b="0" u="none" strike="noStrike">
                <a:solidFill>
                  <a:srgbClr val="000000"/>
                </a:solidFill>
                <a:effectLst/>
                <a:uFillTx/>
                <a:latin typeface="Calibri"/>
              </a:rPr>
              <a:t> trong việc theo đuổi một mục tiêu cụ thể. Các </a:t>
            </a:r>
            <a:r>
              <a:rPr lang="en-US" sz="2000" b="0" u="none" strike="noStrike">
                <a:solidFill>
                  <a:srgbClr val="000000"/>
                </a:solidFill>
                <a:effectLst/>
                <a:uFillTx/>
                <a:latin typeface="Calibri"/>
              </a:rPr>
              <a:t> ca </a:t>
            </a:r>
            <a:r>
              <a:rPr lang="vi-VN" sz="2000" b="0" u="none" strike="noStrike">
                <a:solidFill>
                  <a:srgbClr val="000000"/>
                </a:solidFill>
                <a:effectLst/>
                <a:uFillTx/>
                <a:latin typeface="Calibri"/>
              </a:rPr>
              <a:t>sử dụng </a:t>
            </a:r>
            <a:r>
              <a:rPr lang="en-US" sz="2000" b="0" u="none" strike="noStrike">
                <a:solidFill>
                  <a:srgbClr val="000000"/>
                </a:solidFill>
                <a:effectLst/>
                <a:uFillTx/>
                <a:latin typeface="Calibri"/>
              </a:rPr>
              <a:t>ở đây bao gồm</a:t>
            </a:r>
            <a:r>
              <a:rPr lang="vi-VN" sz="2000" b="0" u="none" strike="noStrike">
                <a:solidFill>
                  <a:srgbClr val="000000"/>
                </a:solidFill>
                <a:effectLst/>
                <a:uFillTx/>
                <a:latin typeface="Calibri"/>
              </a:rPr>
              <a:t> là </a:t>
            </a:r>
            <a:r>
              <a:rPr lang="en-US" sz="2000" b="1" u="none" strike="noStrike">
                <a:solidFill>
                  <a:srgbClr val="000000"/>
                </a:solidFill>
                <a:effectLst/>
                <a:uFillTx/>
                <a:latin typeface="Calibri"/>
              </a:rPr>
              <a:t>Đặt bữa ăn (</a:t>
            </a:r>
            <a:r>
              <a:rPr lang="vi-VN" sz="2000" b="1" u="none" strike="noStrike">
                <a:solidFill>
                  <a:srgbClr val="000000"/>
                </a:solidFill>
                <a:effectLst/>
                <a:uFillTx/>
                <a:latin typeface="Calibri"/>
              </a:rPr>
              <a:t>Order Meal</a:t>
            </a:r>
            <a:r>
              <a:rPr lang="en-US" sz="2000" b="1" u="none" strike="noStrike">
                <a:solidFill>
                  <a:srgbClr val="000000"/>
                </a:solidFill>
                <a:effectLst/>
                <a:uFillTx/>
                <a:latin typeface="Calibri"/>
              </a:rPr>
              <a:t>)</a:t>
            </a:r>
            <a:r>
              <a:rPr lang="vi-VN" sz="2000" b="1" u="none" strike="noStrike">
                <a:solidFill>
                  <a:srgbClr val="000000"/>
                </a:solidFill>
                <a:effectLst/>
                <a:uFillTx/>
                <a:latin typeface="Calibri"/>
              </a:rPr>
              <a:t>, </a:t>
            </a:r>
            <a:r>
              <a:rPr lang="en-US" sz="2000" b="1" u="none" strike="noStrike">
                <a:solidFill>
                  <a:srgbClr val="000000"/>
                </a:solidFill>
                <a:effectLst/>
                <a:uFillTx/>
                <a:latin typeface="Calibri"/>
              </a:rPr>
              <a:t>Cập nhật thực đơn (</a:t>
            </a:r>
            <a:r>
              <a:rPr lang="vi-VN" sz="2000" b="1" u="none" strike="noStrike">
                <a:solidFill>
                  <a:srgbClr val="000000"/>
                </a:solidFill>
                <a:effectLst/>
                <a:uFillTx/>
                <a:latin typeface="Calibri"/>
              </a:rPr>
              <a:t>Update Menu</a:t>
            </a:r>
            <a:r>
              <a:rPr lang="en-US" sz="2000" b="1" u="none" strike="noStrike">
                <a:solidFill>
                  <a:srgbClr val="000000"/>
                </a:solidFill>
                <a:effectLst/>
                <a:uFillTx/>
                <a:latin typeface="Calibri"/>
              </a:rPr>
              <a:t>)</a:t>
            </a:r>
            <a:r>
              <a:rPr lang="vi-VN" sz="2000" b="1" u="none" strike="noStrike">
                <a:solidFill>
                  <a:srgbClr val="000000"/>
                </a:solidFill>
                <a:effectLst/>
                <a:uFillTx/>
                <a:latin typeface="Calibri"/>
              </a:rPr>
              <a:t>, </a:t>
            </a:r>
            <a:r>
              <a:rPr lang="en-US" sz="2000" b="1" u="none" strike="noStrike">
                <a:solidFill>
                  <a:srgbClr val="000000"/>
                </a:solidFill>
                <a:effectLst/>
                <a:uFillTx/>
                <a:latin typeface="Calibri"/>
              </a:rPr>
              <a:t>Thanh toán (</a:t>
            </a:r>
            <a:r>
              <a:rPr lang="vi-VN" sz="2000" b="1" u="none" strike="noStrike">
                <a:solidFill>
                  <a:srgbClr val="000000"/>
                </a:solidFill>
                <a:effectLst/>
                <a:uFillTx/>
                <a:latin typeface="Calibri"/>
              </a:rPr>
              <a:t>Process Payment</a:t>
            </a:r>
            <a:r>
              <a:rPr lang="en-US" sz="2000" b="1" u="none" strike="noStrike">
                <a:solidFill>
                  <a:srgbClr val="000000"/>
                </a:solidFill>
                <a:effectLst/>
                <a:uFillTx/>
                <a:latin typeface="Calibri"/>
              </a:rPr>
              <a:t>)</a:t>
            </a:r>
            <a:r>
              <a:rPr lang="vi-VN" sz="2000" b="0" u="none" strike="noStrike">
                <a:solidFill>
                  <a:srgbClr val="000000"/>
                </a:solidFill>
                <a:effectLst/>
                <a:uFillTx/>
                <a:latin typeface="Calibri"/>
              </a:rPr>
              <a:t>.</a:t>
            </a:r>
            <a:endParaRPr lang="en-US" sz="2000" b="0" u="none" strike="noStrike">
              <a:solidFill>
                <a:srgbClr val="000000"/>
              </a:solidFill>
              <a:effectLst/>
              <a:uFillTx/>
              <a:latin typeface="Arial"/>
            </a:endParaRPr>
          </a:p>
          <a:p>
            <a:pPr marL="285840" indent="-285840">
              <a:lnSpc>
                <a:spcPct val="100000"/>
              </a:lnSpc>
              <a:buClr>
                <a:srgbClr val="000000"/>
              </a:buClr>
              <a:buFont typeface="Arial"/>
              <a:buChar char="•"/>
              <a:tabLst>
                <a:tab algn="l" pos="0"/>
              </a:tabLst>
            </a:pPr>
            <a:r>
              <a:rPr lang="en-US" sz="2000" b="0" u="none" strike="noStrike">
                <a:solidFill>
                  <a:srgbClr val="000000"/>
                </a:solidFill>
                <a:effectLst/>
                <a:uFillTx/>
                <a:latin typeface="Calibri"/>
              </a:rPr>
              <a:t>Trong biểu đồ ca sử dụng, các ca sử dụng được kết gắn (3) với các tác  nhân tham gia ca sử dụng.</a:t>
            </a:r>
            <a:endParaRPr lang="en-US" sz="2000" b="0" u="none" strike="noStrike">
              <a:solidFill>
                <a:srgbClr val="000000"/>
              </a:solidFill>
              <a:effectLst/>
              <a:uFillTx/>
              <a:latin typeface="Arial"/>
            </a:endParaRPr>
          </a:p>
          <a:p>
            <a:pPr marL="285840" lvl="1" indent="-285840">
              <a:lnSpc>
                <a:spcPct val="100000"/>
              </a:lnSpc>
              <a:buClr>
                <a:srgbClr val="000000"/>
              </a:buClr>
              <a:buFont typeface="Arial"/>
              <a:buChar char="•"/>
              <a:tabLst>
                <a:tab algn="l" pos="0"/>
              </a:tabLst>
            </a:pPr>
            <a:r>
              <a:rPr lang="vi-VN" sz="2000" b="0" u="none" strike="noStrike">
                <a:solidFill>
                  <a:srgbClr val="000000"/>
                </a:solidFill>
                <a:effectLst/>
                <a:uFillTx/>
                <a:latin typeface="Calibri"/>
              </a:rPr>
              <a:t>Hệ thống (4) là bất cứ </a:t>
            </a:r>
            <a:r>
              <a:rPr lang="en-US" sz="2000" b="0" u="none" strike="noStrike">
                <a:solidFill>
                  <a:srgbClr val="000000"/>
                </a:solidFill>
                <a:effectLst/>
                <a:uFillTx/>
                <a:latin typeface="Calibri"/>
              </a:rPr>
              <a:t>chủ thể </a:t>
            </a:r>
            <a:r>
              <a:rPr lang="vi-VN" sz="2000" b="0" u="none" strike="noStrike">
                <a:solidFill>
                  <a:srgbClr val="000000"/>
                </a:solidFill>
                <a:effectLst/>
                <a:uFillTx/>
                <a:latin typeface="Calibri"/>
              </a:rPr>
              <a:t>đang phát triển. Nó có thể là một thành phần phần mềm nhỏ, mà các </a:t>
            </a:r>
            <a:r>
              <a:rPr lang="en-US" sz="2000" b="0" u="none" strike="noStrike">
                <a:solidFill>
                  <a:srgbClr val="000000"/>
                </a:solidFill>
                <a:effectLst/>
                <a:uFillTx/>
                <a:latin typeface="Calibri"/>
              </a:rPr>
              <a:t>tác nhân </a:t>
            </a:r>
            <a:r>
              <a:rPr lang="vi-VN" sz="2000" b="0" u="none" strike="noStrike">
                <a:solidFill>
                  <a:srgbClr val="000000"/>
                </a:solidFill>
                <a:effectLst/>
                <a:uFillTx/>
                <a:latin typeface="Calibri"/>
              </a:rPr>
              <a:t>của nó chỉ là các thành phần phần mềm khác; hoặc nó có thể là một ứng dụng hoàn chỉnh; hoặc nó có thể là một bộ ứng dụng phân tán lớn được triển khai trên nhiều máy tính và thiết bị. </a:t>
            </a:r>
            <a:r>
              <a:rPr lang="en-US" sz="2000" b="0" u="none" strike="noStrike">
                <a:solidFill>
                  <a:srgbClr val="000000"/>
                </a:solidFill>
                <a:effectLst/>
                <a:uFillTx/>
                <a:latin typeface="Calibri"/>
              </a:rPr>
              <a:t>Trong ví dụ này, hệ thống </a:t>
            </a:r>
            <a:r>
              <a:rPr lang="vi-VN" sz="2000" b="0" u="none" strike="noStrike">
                <a:solidFill>
                  <a:srgbClr val="000000"/>
                </a:solidFill>
                <a:effectLst/>
                <a:uFillTx/>
                <a:latin typeface="Calibri"/>
              </a:rPr>
              <a:t>là Trang web đặt hàng bữa ăn</a:t>
            </a:r>
            <a:r>
              <a:rPr lang="en-US" sz="2000" b="0" u="none" strike="noStrike">
                <a:solidFill>
                  <a:srgbClr val="000000"/>
                </a:solidFill>
                <a:effectLst/>
                <a:uFillTx/>
                <a:latin typeface="Calibri"/>
              </a:rPr>
              <a:t> và </a:t>
            </a:r>
            <a:r>
              <a:rPr lang="vi-VN" sz="2000" b="0" u="none" strike="noStrike">
                <a:solidFill>
                  <a:srgbClr val="000000"/>
                </a:solidFill>
                <a:effectLst/>
                <a:uFillTx/>
                <a:latin typeface="Calibri"/>
              </a:rPr>
              <a:t>Kinh doanh phân phối bữa ăn</a:t>
            </a:r>
            <a:r>
              <a:rPr lang="en-US" sz="2000" b="0" u="none" strike="noStrike">
                <a:solidFill>
                  <a:srgbClr val="000000"/>
                </a:solidFill>
                <a:effectLst/>
                <a:uFillTx/>
                <a:latin typeface="Calibri"/>
              </a:rPr>
              <a:t>.</a:t>
            </a:r>
            <a:endParaRPr lang="en-US" sz="2000" b="0" u="none" strike="noStrike">
              <a:solidFill>
                <a:srgbClr val="000000"/>
              </a:solidFill>
              <a:effectLst/>
              <a:uFillTx/>
              <a:latin typeface="Arial"/>
            </a:endParaRPr>
          </a:p>
        </p:txBody>
      </p:sp>
      <p:sp>
        <p:nvSpPr>
          <p:cNvPr id="285" name="PlaceHolder 3"/>
          <p:cNvSpPr>
            <a:spLocks noGrp="1"/>
          </p:cNvSpPr>
          <p:nvPr>
            <p:ph type="sldNum" idx="73"/>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2917FCF-D315-4C19-9F24-A6A665C7299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1373040" y="754200"/>
            <a:ext cx="5025600" cy="3771720"/>
          </a:xfrm>
          <a:prstGeom prst="rect">
            <a:avLst/>
          </a:prstGeom>
          <a:ln w="0">
            <a:noFill/>
          </a:ln>
        </p:spPr>
      </p:sp>
      <p:sp>
        <p:nvSpPr>
          <p:cNvPr id="287"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marL="171360" indent="-171360">
              <a:lnSpc>
                <a:spcPct val="100000"/>
              </a:lnSpc>
              <a:buClr>
                <a:srgbClr val="000000"/>
              </a:buClr>
              <a:buFont typeface="Arial"/>
              <a:buChar char="•"/>
            </a:pPr>
            <a:r>
              <a:rPr lang="en-US" sz="2000" b="0" u="none" strike="noStrike">
                <a:solidFill>
                  <a:srgbClr val="000000"/>
                </a:solidFill>
                <a:effectLst/>
                <a:uFillTx/>
                <a:latin typeface="Arial"/>
              </a:rPr>
              <a:t>Trong mô hình ca sử dụng, các tác nhân có thể mối quan hệ tổng quát hóa, tương ứng với diễn đạt “Một tác nhân A cũng là tác nhân B”. Chẳng hạn, Tác nhân Club Customer kế thừa tác nhân Customer.</a:t>
            </a:r>
            <a:endParaRPr lang="en-US" sz="2000" b="0" u="none" strike="noStrike">
              <a:solidFill>
                <a:srgbClr val="000000"/>
              </a:solidFill>
              <a:effectLst/>
              <a:uFillTx/>
              <a:latin typeface="Arial"/>
            </a:endParaRPr>
          </a:p>
          <a:p>
            <a:pPr marL="171360" indent="-171360">
              <a:lnSpc>
                <a:spcPct val="100000"/>
              </a:lnSpc>
              <a:buClr>
                <a:srgbClr val="000000"/>
              </a:buClr>
              <a:buFont typeface="Arial"/>
              <a:buChar char="•"/>
            </a:pPr>
            <a:r>
              <a:rPr lang="en-US" sz="2000" b="0" u="none" strike="noStrike">
                <a:solidFill>
                  <a:srgbClr val="000000"/>
                </a:solidFill>
                <a:effectLst/>
                <a:uFillTx/>
                <a:latin typeface="Arial"/>
              </a:rPr>
              <a:t>Hơn nữa, trong biểu đồ ca sử dụng chúng ta có thể đưa vào ràng buộc lực lượng giữa tác nhân và ca sử dụng. Đó có thể là các mối quan hệ một – một, một – nhiều, không - một, hoặc nhiều-nhiều.</a:t>
            </a:r>
            <a:endParaRPr lang="en-US" sz="2000" b="0" u="none" strike="noStrike">
              <a:solidFill>
                <a:srgbClr val="000000"/>
              </a:solidFill>
              <a:effectLst/>
              <a:uFillTx/>
              <a:latin typeface="Arial"/>
            </a:endParaRPr>
          </a:p>
        </p:txBody>
      </p:sp>
      <p:sp>
        <p:nvSpPr>
          <p:cNvPr id="288" name="PlaceHolder 3"/>
          <p:cNvSpPr>
            <a:spLocks noGrp="1"/>
          </p:cNvSpPr>
          <p:nvPr>
            <p:ph type="sldNum" idx="74"/>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7BAF6D-FF9C-4AB0-B50B-6FA11D15ACE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1373040" y="754200"/>
            <a:ext cx="5025600" cy="3771720"/>
          </a:xfrm>
          <a:prstGeom prst="rect">
            <a:avLst/>
          </a:prstGeom>
          <a:ln w="0">
            <a:noFill/>
          </a:ln>
        </p:spPr>
      </p:sp>
      <p:sp>
        <p:nvSpPr>
          <p:cNvPr id="290"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marL="171360" indent="-171360">
              <a:lnSpc>
                <a:spcPct val="100000"/>
              </a:lnSpc>
              <a:buClr>
                <a:srgbClr val="000000"/>
              </a:buClr>
              <a:buFont typeface="Arial"/>
              <a:buChar char="•"/>
            </a:pPr>
            <a:r>
              <a:rPr lang="en-US" sz="2000" b="0" u="none" strike="noStrike">
                <a:solidFill>
                  <a:srgbClr val="000000"/>
                </a:solidFill>
                <a:effectLst/>
                <a:uFillTx/>
                <a:latin typeface="Arial"/>
              </a:rPr>
              <a:t>Quan hệ  bao gộp (</a:t>
            </a:r>
            <a:r>
              <a:rPr lang="en-US" sz="2000" b="1" u="none" strike="noStrike">
                <a:solidFill>
                  <a:srgbClr val="000000"/>
                </a:solidFill>
                <a:effectLst/>
                <a:uFillTx/>
                <a:latin typeface="Arial"/>
              </a:rPr>
              <a:t>Include)</a:t>
            </a:r>
            <a:r>
              <a:rPr lang="en-US" sz="2000" b="0" u="none" strike="noStrike">
                <a:solidFill>
                  <a:srgbClr val="000000"/>
                </a:solidFill>
                <a:effectLst/>
                <a:uFillTx/>
                <a:latin typeface="Arial"/>
              </a:rPr>
              <a:t> giữa các ca sử dụng:  một ca sử dụng diễn đạt một vài chi tiết của ca sử dụng khác. Ví dụ, ca sử dụng </a:t>
            </a:r>
            <a:r>
              <a:rPr lang="en-US" sz="2000" b="1" u="none" strike="noStrike">
                <a:solidFill>
                  <a:srgbClr val="000000"/>
                </a:solidFill>
                <a:effectLst/>
                <a:uFillTx/>
                <a:latin typeface="Arial"/>
              </a:rPr>
              <a:t>Đặt bữa ăn </a:t>
            </a:r>
            <a:r>
              <a:rPr lang="en-US" sz="2000" b="0" u="none" strike="noStrike">
                <a:solidFill>
                  <a:srgbClr val="000000"/>
                </a:solidFill>
                <a:effectLst/>
                <a:uFillTx/>
                <a:latin typeface="Arial"/>
              </a:rPr>
              <a:t>(</a:t>
            </a:r>
            <a:r>
              <a:rPr lang="en-US" sz="2000" b="1" u="none" strike="noStrike">
                <a:solidFill>
                  <a:srgbClr val="000000"/>
                </a:solidFill>
                <a:effectLst/>
                <a:uFillTx/>
                <a:latin typeface="Arial"/>
              </a:rPr>
              <a:t>Order a Meal)</a:t>
            </a:r>
            <a:r>
              <a:rPr lang="en-US" sz="2000" b="0" u="none" strike="noStrike">
                <a:solidFill>
                  <a:srgbClr val="000000"/>
                </a:solidFill>
                <a:effectLst/>
                <a:uFillTx/>
                <a:latin typeface="Arial"/>
              </a:rPr>
              <a:t> bao gộp ca sử dụng T</a:t>
            </a:r>
            <a:r>
              <a:rPr lang="en-US" sz="2000" b="1" u="none" strike="noStrike">
                <a:solidFill>
                  <a:srgbClr val="000000"/>
                </a:solidFill>
                <a:effectLst/>
                <a:uFillTx/>
                <a:latin typeface="Arial"/>
              </a:rPr>
              <a:t>hanh toán (Pay), Chọn thực đơn (Choose Menu) </a:t>
            </a:r>
            <a:r>
              <a:rPr lang="en-US" sz="2000" b="0" u="none" strike="noStrike">
                <a:solidFill>
                  <a:srgbClr val="000000"/>
                </a:solidFill>
                <a:effectLst/>
                <a:uFillTx/>
                <a:latin typeface="Arial"/>
              </a:rPr>
              <a:t>và </a:t>
            </a:r>
            <a:r>
              <a:rPr lang="en-US" sz="2000" b="1" u="none" strike="noStrike">
                <a:solidFill>
                  <a:srgbClr val="000000"/>
                </a:solidFill>
                <a:effectLst/>
                <a:uFillTx/>
                <a:latin typeface="Arial"/>
              </a:rPr>
              <a:t>Chọn mọn (Choose Menu Item)</a:t>
            </a:r>
            <a:r>
              <a:rPr lang="en-US" sz="2000" b="0" u="none" strike="noStrike">
                <a:solidFill>
                  <a:srgbClr val="000000"/>
                </a:solidFill>
                <a:effectLst/>
                <a:uFillTx/>
                <a:latin typeface="Arial"/>
              </a:rPr>
              <a:t>. Mỗi ca sử dụng được bao gộp và chi tiết hơn là một bước mà tác nhân phải thực hiện để có thể đạt được mục tiêu tổng thể của ca sử dụng gốc. Chiều mũi tên chỉ vào ca sử dụng được bao gộp.</a:t>
            </a:r>
            <a:endParaRPr lang="en-US" sz="2000" b="0" u="none" strike="noStrike">
              <a:solidFill>
                <a:srgbClr val="000000"/>
              </a:solidFill>
              <a:effectLst/>
              <a:uFillTx/>
              <a:latin typeface="Arial"/>
            </a:endParaRPr>
          </a:p>
          <a:p>
            <a:pPr marL="171360" indent="-171360" defTabSz="914400">
              <a:lnSpc>
                <a:spcPct val="100000"/>
              </a:lnSpc>
              <a:buClr>
                <a:srgbClr val="000000"/>
              </a:buClr>
              <a:buFont typeface="Arial"/>
              <a:buChar char="•"/>
            </a:pPr>
            <a:r>
              <a:rPr lang="en-US" sz="2000" b="0" u="none" strike="noStrike">
                <a:solidFill>
                  <a:srgbClr val="000000"/>
                </a:solidFill>
                <a:effectLst/>
                <a:uFillTx/>
                <a:latin typeface="Arial"/>
              </a:rPr>
              <a:t>Quan hệ mở rộng (</a:t>
            </a:r>
            <a:r>
              <a:rPr lang="en-US" sz="2000" b="1" u="none" strike="noStrike">
                <a:solidFill>
                  <a:srgbClr val="000000"/>
                </a:solidFill>
                <a:effectLst/>
                <a:uFillTx/>
                <a:latin typeface="Arial"/>
              </a:rPr>
              <a:t>extend</a:t>
            </a:r>
            <a:r>
              <a:rPr lang="en-US" sz="2000" b="0" u="none" strike="noStrike">
                <a:solidFill>
                  <a:srgbClr val="000000"/>
                </a:solidFill>
                <a:effectLst/>
                <a:uFillTx/>
                <a:latin typeface="Arial"/>
              </a:rPr>
              <a:t>): một ca sử dụng có thể thêm chức năng cho ca sử dụng khác trong điều kiện nào đó. Ví dụ, ca sử dụng </a:t>
            </a:r>
            <a:r>
              <a:rPr lang="en-US" sz="2000" b="1" u="none" strike="noStrike">
                <a:solidFill>
                  <a:srgbClr val="000000"/>
                </a:solidFill>
                <a:effectLst/>
                <a:uFillTx/>
                <a:latin typeface="Arial"/>
              </a:rPr>
              <a:t>Login </a:t>
            </a:r>
            <a:r>
              <a:rPr lang="en-US" sz="2000" b="0" u="none" strike="noStrike">
                <a:solidFill>
                  <a:srgbClr val="000000"/>
                </a:solidFill>
                <a:effectLst/>
                <a:uFillTx/>
                <a:latin typeface="Arial"/>
              </a:rPr>
              <a:t>sẽ mở rộng sang ca sử dụng </a:t>
            </a:r>
            <a:r>
              <a:rPr lang="en-US" sz="2000" b="1" u="none" strike="noStrike">
                <a:solidFill>
                  <a:srgbClr val="000000"/>
                </a:solidFill>
                <a:effectLst/>
                <a:uFillTx/>
                <a:latin typeface="Arial"/>
              </a:rPr>
              <a:t>Đăng ký (Register New User) </a:t>
            </a:r>
            <a:r>
              <a:rPr lang="en-US" sz="2000" b="0" u="none" strike="noStrike">
                <a:solidFill>
                  <a:srgbClr val="000000"/>
                </a:solidFill>
                <a:effectLst/>
                <a:uFillTx/>
                <a:latin typeface="Arial"/>
              </a:rPr>
              <a:t>khi người dung chưa có tài khoản. Chiều mũi tên chỉ vào ca sử dụng gốc, được mở rộng.</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p:txBody>
      </p:sp>
      <p:sp>
        <p:nvSpPr>
          <p:cNvPr id="291" name="PlaceHolder 3"/>
          <p:cNvSpPr>
            <a:spLocks noGrp="1"/>
          </p:cNvSpPr>
          <p:nvPr>
            <p:ph type="sldNum" idx="75"/>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0E5CE6-BD8E-4234-8C89-6F75FDA0EA8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373040" y="754200"/>
            <a:ext cx="5025600" cy="3771720"/>
          </a:xfrm>
          <a:prstGeom prst="rect">
            <a:avLst/>
          </a:prstGeom>
          <a:ln w="0">
            <a:noFill/>
          </a:ln>
        </p:spPr>
      </p:sp>
      <p:sp>
        <p:nvSpPr>
          <p:cNvPr id="293"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chemeClr val="dk1"/>
                </a:solidFill>
                <a:effectLst/>
                <a:uFillTx/>
                <a:latin typeface="+mn-lt"/>
                <a:ea typeface="+mn-ea"/>
              </a:rPr>
              <a:t>Hình </a:t>
            </a:r>
            <a:r>
              <a:rPr lang="en-US" sz="1200" b="0" u="none" strike="noStrike">
                <a:solidFill>
                  <a:schemeClr val="dk1"/>
                </a:solidFill>
                <a:effectLst/>
                <a:uFillTx/>
                <a:latin typeface="+mn-lt"/>
                <a:ea typeface="+mn-ea"/>
              </a:rPr>
              <a:t>vẽ trong slide </a:t>
            </a:r>
            <a:r>
              <a:rPr lang="vi-VN" sz="1200" b="0" u="none" strike="noStrike">
                <a:solidFill>
                  <a:schemeClr val="dk1"/>
                </a:solidFill>
                <a:effectLst/>
                <a:uFillTx/>
                <a:latin typeface="+mn-lt"/>
                <a:ea typeface="+mn-ea"/>
              </a:rPr>
              <a:t>cho thấy một ca sử dụng từ </a:t>
            </a:r>
            <a:r>
              <a:rPr lang="en-US" sz="1200" b="0" u="none" strike="noStrike">
                <a:solidFill>
                  <a:schemeClr val="dk1"/>
                </a:solidFill>
                <a:effectLst/>
                <a:uFillTx/>
                <a:latin typeface="+mn-lt"/>
                <a:ea typeface="+mn-ea"/>
              </a:rPr>
              <a:t>hệ thống </a:t>
            </a:r>
            <a:r>
              <a:rPr lang="vi-VN" sz="1200" b="0" u="none" strike="noStrike">
                <a:solidFill>
                  <a:schemeClr val="dk1"/>
                </a:solidFill>
                <a:effectLst/>
                <a:uFillTx/>
                <a:latin typeface="+mn-lt"/>
                <a:ea typeface="+mn-ea"/>
              </a:rPr>
              <a:t>MHC-PMS</a:t>
            </a:r>
            <a:r>
              <a:rPr lang="en-US" sz="1200" b="0" u="none" strike="noStrike">
                <a:solidFill>
                  <a:schemeClr val="dk1"/>
                </a:solidFill>
                <a:effectLst/>
                <a:uFillTx/>
                <a:latin typeface="+mn-lt"/>
                <a:ea typeface="+mn-ea"/>
              </a:rPr>
              <a:t>, biểu diễn </a:t>
            </a:r>
            <a:r>
              <a:rPr lang="vi-VN" sz="1200" b="0" u="none" strike="noStrike">
                <a:solidFill>
                  <a:schemeClr val="dk1"/>
                </a:solidFill>
                <a:effectLst/>
                <a:uFillTx/>
                <a:latin typeface="+mn-lt"/>
                <a:ea typeface="+mn-ea"/>
              </a:rPr>
              <a:t>cho nhiệm vụ tải dữ liệu từ MHC-PMS lên một hệ thống hồ sơ bệnh nhân tổng quát hơn. Hệ thống tổng quát hơn này duy trì dữ liệu tóm tắt về bệnh nhân hơn là dữ liệu về từng tư vấn, được ghi lại trong MHC-PMS.</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chemeClr val="dk1"/>
                </a:solidFill>
                <a:effectLst/>
                <a:uFillTx/>
                <a:latin typeface="+mn-lt"/>
                <a:ea typeface="+mn-ea"/>
              </a:rPr>
              <a:t>Lưu ý rằng có hai tác nhân trong </a:t>
            </a:r>
            <a:r>
              <a:rPr lang="en-US" sz="1200" b="0" u="none" strike="noStrike">
                <a:solidFill>
                  <a:schemeClr val="dk1"/>
                </a:solidFill>
                <a:effectLst/>
                <a:uFillTx/>
                <a:latin typeface="+mn-lt"/>
                <a:ea typeface="+mn-ea"/>
              </a:rPr>
              <a:t>ca </a:t>
            </a:r>
            <a:r>
              <a:rPr lang="vi-VN" sz="1200" b="0" u="none" strike="noStrike">
                <a:solidFill>
                  <a:schemeClr val="dk1"/>
                </a:solidFill>
                <a:effectLst/>
                <a:uFillTx/>
                <a:latin typeface="+mn-lt"/>
                <a:ea typeface="+mn-ea"/>
              </a:rPr>
              <a:t>sử dụng này: </a:t>
            </a:r>
            <a:r>
              <a:rPr lang="en-US" sz="1200" b="0" u="none" strike="noStrike">
                <a:solidFill>
                  <a:schemeClr val="dk1"/>
                </a:solidFill>
                <a:effectLst/>
                <a:uFillTx/>
                <a:latin typeface="+mn-lt"/>
                <a:ea typeface="+mn-ea"/>
              </a:rPr>
              <a:t>Nhân viên tiếp tân y tế yêu cầu t</a:t>
            </a:r>
            <a:r>
              <a:rPr lang="vi-VN" sz="1200" b="0" u="none" strike="noStrike">
                <a:solidFill>
                  <a:schemeClr val="dk1"/>
                </a:solidFill>
                <a:effectLst/>
                <a:uFillTx/>
                <a:latin typeface="+mn-lt"/>
                <a:ea typeface="+mn-ea"/>
              </a:rPr>
              <a:t>ruyền dữ liệu v</a:t>
            </a:r>
            <a:r>
              <a:rPr lang="en-US" sz="1200" b="0" u="none" strike="noStrike">
                <a:solidFill>
                  <a:schemeClr val="dk1"/>
                </a:solidFill>
                <a:effectLst/>
                <a:uFillTx/>
                <a:latin typeface="+mn-lt"/>
                <a:ea typeface="+mn-ea"/>
              </a:rPr>
              <a:t>ề</a:t>
            </a:r>
            <a:r>
              <a:rPr lang="vi-VN" sz="1200" b="0" u="none" strike="noStrike">
                <a:solidFill>
                  <a:schemeClr val="dk1"/>
                </a:solidFill>
                <a:effectLst/>
                <a:uFillTx/>
                <a:latin typeface="+mn-lt"/>
                <a:ea typeface="+mn-ea"/>
              </a:rPr>
              <a:t> hệ thống hồ sơ bệnh nhân. Rõ ràng, trong một ca sử dụng, các thông điệp truyền theo cả hai hướng. </a:t>
            </a:r>
            <a:r>
              <a:rPr lang="en-US" sz="1200" b="0" u="none" strike="noStrike">
                <a:solidFill>
                  <a:schemeClr val="dk1"/>
                </a:solidFill>
                <a:effectLst/>
                <a:uFillTx/>
                <a:latin typeface="+mn-lt"/>
                <a:ea typeface="+mn-ea"/>
              </a:rPr>
              <a:t>C</a:t>
            </a:r>
            <a:r>
              <a:rPr lang="vi-VN" sz="1200" b="0" u="none" strike="noStrike">
                <a:solidFill>
                  <a:schemeClr val="dk1"/>
                </a:solidFill>
                <a:effectLst/>
                <a:uFillTx/>
                <a:latin typeface="+mn-lt"/>
                <a:ea typeface="+mn-ea"/>
              </a:rPr>
              <a:t>ác mũi tên trong </a:t>
            </a:r>
            <a:r>
              <a:rPr lang="en-US" sz="1200" b="0" u="none" strike="noStrike">
                <a:solidFill>
                  <a:schemeClr val="dk1"/>
                </a:solidFill>
                <a:effectLst/>
                <a:uFillTx/>
                <a:latin typeface="+mn-lt"/>
                <a:ea typeface="+mn-ea"/>
              </a:rPr>
              <a:t>hình vẽ </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trên </a:t>
            </a:r>
            <a:r>
              <a:rPr lang="vi-VN" sz="1200" b="0" u="none" strike="noStrike">
                <a:solidFill>
                  <a:schemeClr val="dk1"/>
                </a:solidFill>
                <a:effectLst/>
                <a:uFillTx/>
                <a:latin typeface="+mn-lt"/>
                <a:ea typeface="+mn-ea"/>
              </a:rPr>
              <a:t>chỉ ra rằng nhân viên tiếp tân y tế bắt đầu giao dịch và dữ liệu được chuyển đến hệ thống hồ sơ bệnh nhân.</a:t>
            </a:r>
            <a:endParaRPr lang="en-US" sz="1200" b="0" u="none" strike="noStrike">
              <a:solidFill>
                <a:srgbClr val="000000"/>
              </a:solidFill>
              <a:effectLst/>
              <a:uFillTx/>
              <a:latin typeface="Arial"/>
            </a:endParaRPr>
          </a:p>
        </p:txBody>
      </p:sp>
      <p:sp>
        <p:nvSpPr>
          <p:cNvPr id="294" name="PlaceHolder 3"/>
          <p:cNvSpPr>
            <a:spLocks noGrp="1"/>
          </p:cNvSpPr>
          <p:nvPr>
            <p:ph type="sldNum" idx="76"/>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934830-9C93-4151-BCD9-79F259B290C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1373040" y="754200"/>
            <a:ext cx="5025600" cy="3771720"/>
          </a:xfrm>
          <a:prstGeom prst="rect">
            <a:avLst/>
          </a:prstGeom>
          <a:ln w="0">
            <a:noFill/>
          </a:ln>
        </p:spPr>
      </p:sp>
      <p:sp>
        <p:nvSpPr>
          <p:cNvPr id="296"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1200" b="0" u="none" strike="noStrike">
                <a:solidFill>
                  <a:schemeClr val="dk1"/>
                </a:solidFill>
                <a:effectLst/>
                <a:uFillTx/>
                <a:latin typeface="+mn-lt"/>
                <a:ea typeface="+mn-ea"/>
              </a:rPr>
              <a:t>Sử dụng biểu đồ </a:t>
            </a:r>
            <a:r>
              <a:rPr lang="en-US" sz="1200" b="0" u="none" strike="noStrike">
                <a:solidFill>
                  <a:schemeClr val="dk1"/>
                </a:solidFill>
                <a:effectLst/>
                <a:uFillTx/>
                <a:latin typeface="+mn-lt"/>
                <a:ea typeface="+mn-ea"/>
              </a:rPr>
              <a:t>ca sử dụng </a:t>
            </a:r>
            <a:r>
              <a:rPr lang="vi-VN" sz="1200" b="0" u="none" strike="noStrike">
                <a:solidFill>
                  <a:schemeClr val="dk1"/>
                </a:solidFill>
                <a:effectLst/>
                <a:uFillTx/>
                <a:latin typeface="+mn-lt"/>
                <a:ea typeface="+mn-ea"/>
              </a:rPr>
              <a:t>cung cấp một cái nhìn tổng quan khá đơn giản về một tương tác, do đó </a:t>
            </a:r>
            <a:r>
              <a:rPr lang="en-US" sz="1200" b="0" u="none" strike="noStrike">
                <a:solidFill>
                  <a:schemeClr val="dk1"/>
                </a:solidFill>
                <a:effectLst/>
                <a:uFillTx/>
                <a:latin typeface="+mn-lt"/>
                <a:ea typeface="+mn-ea"/>
              </a:rPr>
              <a:t>chúng ta cần </a:t>
            </a:r>
            <a:r>
              <a:rPr lang="vi-VN" sz="1200" b="0" u="none" strike="noStrike">
                <a:solidFill>
                  <a:schemeClr val="dk1"/>
                </a:solidFill>
                <a:effectLst/>
                <a:uFillTx/>
                <a:latin typeface="+mn-lt"/>
                <a:ea typeface="+mn-ea"/>
              </a:rPr>
              <a:t>phải cung cấp thêm chi tiết để hiểu những gì liên quan. Chi tiết này có thể là một mô tả văn bản đơn giản, một mô tả có cấu trúc trong một bảng hoặc một </a:t>
            </a:r>
            <a:r>
              <a:rPr lang="en-US" sz="1200" b="0" u="none" strike="noStrike">
                <a:solidFill>
                  <a:schemeClr val="dk1"/>
                </a:solidFill>
                <a:effectLst/>
                <a:uFillTx/>
                <a:latin typeface="+mn-lt"/>
                <a:ea typeface="+mn-ea"/>
              </a:rPr>
              <a:t>biểu đồ tuần tự</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Chúng ta cần phải </a:t>
            </a:r>
            <a:r>
              <a:rPr lang="vi-VN" sz="1200" b="0" u="none" strike="noStrike">
                <a:solidFill>
                  <a:schemeClr val="dk1"/>
                </a:solidFill>
                <a:effectLst/>
                <a:uFillTx/>
                <a:latin typeface="+mn-lt"/>
                <a:ea typeface="+mn-ea"/>
              </a:rPr>
              <a:t>chọn định dạng phù hợp nhất tùy thuộc vào </a:t>
            </a:r>
            <a:r>
              <a:rPr lang="en-US" sz="1200" b="0" u="none" strike="noStrike">
                <a:solidFill>
                  <a:schemeClr val="dk1"/>
                </a:solidFill>
                <a:effectLst/>
                <a:uFillTx/>
                <a:latin typeface="+mn-lt"/>
                <a:ea typeface="+mn-ea"/>
              </a:rPr>
              <a:t>ca </a:t>
            </a:r>
            <a:r>
              <a:rPr lang="vi-VN" sz="1200" b="0" u="none" strike="noStrike">
                <a:solidFill>
                  <a:schemeClr val="dk1"/>
                </a:solidFill>
                <a:effectLst/>
                <a:uFillTx/>
                <a:latin typeface="+mn-lt"/>
                <a:ea typeface="+mn-ea"/>
              </a:rPr>
              <a:t>sử dụng và mức độ chi tiết </a:t>
            </a:r>
            <a:r>
              <a:rPr lang="en-US" sz="1200" b="0" u="none" strike="noStrike">
                <a:solidFill>
                  <a:schemeClr val="dk1"/>
                </a:solidFill>
                <a:effectLst/>
                <a:uFillTx/>
                <a:latin typeface="+mn-lt"/>
                <a:ea typeface="+mn-ea"/>
              </a:rPr>
              <a:t>cần được diễn đạt </a:t>
            </a:r>
            <a:r>
              <a:rPr lang="vi-VN" sz="1200" b="0" u="none" strike="noStrike">
                <a:solidFill>
                  <a:schemeClr val="dk1"/>
                </a:solidFill>
                <a:effectLst/>
                <a:uFillTx/>
                <a:latin typeface="+mn-lt"/>
                <a:ea typeface="+mn-ea"/>
              </a:rPr>
              <a:t>trong mô hình. </a:t>
            </a:r>
            <a:r>
              <a:rPr lang="en-US" sz="1200" b="0" u="none" strike="noStrike">
                <a:solidFill>
                  <a:schemeClr val="dk1"/>
                </a:solidFill>
                <a:effectLst/>
                <a:uFillTx/>
                <a:latin typeface="+mn-lt"/>
                <a:ea typeface="+mn-ea"/>
              </a:rPr>
              <a:t>Hình vẽ trong slide </a:t>
            </a:r>
            <a:r>
              <a:rPr lang="vi-VN" sz="1200" b="0" u="none" strike="noStrike">
                <a:solidFill>
                  <a:schemeClr val="dk1"/>
                </a:solidFill>
                <a:effectLst/>
                <a:uFillTx/>
                <a:latin typeface="+mn-lt"/>
                <a:ea typeface="+mn-ea"/>
              </a:rPr>
              <a:t>mô tả </a:t>
            </a:r>
            <a:r>
              <a:rPr lang="en-US" sz="1200" b="0" u="none" strike="noStrike">
                <a:solidFill>
                  <a:schemeClr val="dk1"/>
                </a:solidFill>
                <a:effectLst/>
                <a:uFillTx/>
                <a:latin typeface="+mn-lt"/>
                <a:ea typeface="+mn-ea"/>
              </a:rPr>
              <a:t>dạng </a:t>
            </a:r>
            <a:r>
              <a:rPr lang="vi-VN" sz="1200" b="0" u="none" strike="noStrike">
                <a:solidFill>
                  <a:schemeClr val="dk1"/>
                </a:solidFill>
                <a:effectLst/>
                <a:uFillTx/>
                <a:latin typeface="+mn-lt"/>
                <a:ea typeface="+mn-ea"/>
              </a:rPr>
              <a:t>bảng </a:t>
            </a:r>
            <a:r>
              <a:rPr lang="en-US" sz="1200" b="0" u="none" strike="noStrike">
                <a:solidFill>
                  <a:schemeClr val="dk1"/>
                </a:solidFill>
                <a:effectLst/>
                <a:uFillTx/>
                <a:latin typeface="+mn-lt"/>
                <a:ea typeface="+mn-ea"/>
              </a:rPr>
              <a:t>cho ca sử </a:t>
            </a:r>
            <a:r>
              <a:rPr lang="vi-VN" sz="1200" b="0" u="none" strike="noStrike">
                <a:solidFill>
                  <a:schemeClr val="dk1"/>
                </a:solidFill>
                <a:effectLst/>
                <a:uFillTx/>
                <a:latin typeface="+mn-lt"/>
                <a:ea typeface="+mn-ea"/>
              </a:rPr>
              <a:t>‘Chuyển dữ liệu’</a:t>
            </a:r>
            <a:r>
              <a:rPr lang="en-US" sz="1200" b="0" u="none" strike="noStrike">
                <a:solidFill>
                  <a:schemeClr val="dk1"/>
                </a:solidFill>
                <a:effectLst/>
                <a:uFillTx/>
                <a:latin typeface="+mn-lt"/>
                <a:ea typeface="+mn-ea"/>
              </a:rPr>
              <a:t> (transfer data)</a:t>
            </a:r>
            <a:r>
              <a:rPr lang="vi-VN" sz="1200" b="0" u="none" strike="noStrike">
                <a:solidFill>
                  <a:schemeClr val="dk1"/>
                </a:solidFill>
                <a:effectLst/>
                <a:uFillTx/>
                <a:latin typeface="+mn-lt"/>
                <a:ea typeface="+mn-ea"/>
              </a:rPr>
              <a:t>.</a:t>
            </a:r>
            <a:endParaRPr lang="en-US" sz="1200" b="0" u="none" strike="noStrike">
              <a:solidFill>
                <a:srgbClr val="000000"/>
              </a:solidFill>
              <a:effectLst/>
              <a:uFillTx/>
              <a:latin typeface="Arial"/>
            </a:endParaRPr>
          </a:p>
        </p:txBody>
      </p:sp>
      <p:sp>
        <p:nvSpPr>
          <p:cNvPr id="297" name="PlaceHolder 3"/>
          <p:cNvSpPr>
            <a:spLocks noGrp="1"/>
          </p:cNvSpPr>
          <p:nvPr>
            <p:ph type="sldNum" idx="77"/>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C3DF7A-10EB-4D7F-B7AD-2716FE2BA39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1373040" y="754200"/>
            <a:ext cx="5025600" cy="3771720"/>
          </a:xfrm>
          <a:prstGeom prst="rect">
            <a:avLst/>
          </a:prstGeom>
          <a:ln w="0">
            <a:noFill/>
          </a:ln>
        </p:spPr>
      </p:sp>
      <p:sp>
        <p:nvSpPr>
          <p:cNvPr id="299"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1200" b="0" u="none" strike="noStrike">
                <a:solidFill>
                  <a:schemeClr val="dk1"/>
                </a:solidFill>
                <a:effectLst/>
                <a:uFillTx/>
                <a:latin typeface="+mn-lt"/>
                <a:ea typeface="+mn-ea"/>
              </a:rPr>
              <a:t>Biểu đồ </a:t>
            </a:r>
            <a:r>
              <a:rPr lang="vi-VN" sz="1200" b="0" u="none" strike="noStrike">
                <a:solidFill>
                  <a:schemeClr val="dk1"/>
                </a:solidFill>
                <a:effectLst/>
                <a:uFillTx/>
                <a:latin typeface="+mn-lt"/>
                <a:ea typeface="+mn-ea"/>
              </a:rPr>
              <a:t>ca sử dụng </a:t>
            </a:r>
            <a:r>
              <a:rPr lang="en-US" sz="1200" b="0" u="none" strike="noStrike">
                <a:solidFill>
                  <a:schemeClr val="dk1"/>
                </a:solidFill>
                <a:effectLst/>
                <a:uFillTx/>
                <a:latin typeface="+mn-lt"/>
                <a:ea typeface="+mn-ea"/>
              </a:rPr>
              <a:t>cho phép biểu diễn tổng hợp các ca </a:t>
            </a:r>
            <a:r>
              <a:rPr lang="vi-VN" sz="1200" b="0" u="none" strike="noStrike">
                <a:solidFill>
                  <a:schemeClr val="dk1"/>
                </a:solidFill>
                <a:effectLst/>
                <a:uFillTx/>
                <a:latin typeface="+mn-lt"/>
                <a:ea typeface="+mn-ea"/>
              </a:rPr>
              <a:t>sử dụng </a:t>
            </a:r>
            <a:r>
              <a:rPr lang="en-US" sz="1200" b="0" u="none" strike="noStrike">
                <a:solidFill>
                  <a:schemeClr val="dk1"/>
                </a:solidFill>
                <a:effectLst/>
                <a:uFillTx/>
                <a:latin typeface="+mn-lt"/>
                <a:ea typeface="+mn-ea"/>
              </a:rPr>
              <a:t>và mối quan hệ giữa chúng</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Một cách lý thuyết, t</a:t>
            </a:r>
            <a:r>
              <a:rPr lang="vi-VN" sz="1200" b="0" u="none" strike="noStrike">
                <a:solidFill>
                  <a:schemeClr val="dk1"/>
                </a:solidFill>
                <a:effectLst/>
                <a:uFillTx/>
                <a:latin typeface="+mn-lt"/>
                <a:ea typeface="+mn-ea"/>
              </a:rPr>
              <a:t>ất cả các tương tác có thể có </a:t>
            </a:r>
            <a:r>
              <a:rPr lang="en-US" sz="1200" b="0" u="none" strike="noStrike">
                <a:solidFill>
                  <a:schemeClr val="dk1"/>
                </a:solidFill>
                <a:effectLst/>
                <a:uFillTx/>
                <a:latin typeface="+mn-lt"/>
                <a:ea typeface="+mn-ea"/>
              </a:rPr>
              <a:t>của </a:t>
            </a:r>
            <a:r>
              <a:rPr lang="vi-VN" sz="1200" b="0" u="none" strike="noStrike">
                <a:solidFill>
                  <a:schemeClr val="dk1"/>
                </a:solidFill>
                <a:effectLst/>
                <a:uFillTx/>
                <a:latin typeface="+mn-lt"/>
                <a:ea typeface="+mn-ea"/>
              </a:rPr>
              <a:t>một hệ thống </a:t>
            </a:r>
            <a:r>
              <a:rPr lang="en-US" sz="1200" b="0" u="none" strike="noStrike">
                <a:solidFill>
                  <a:schemeClr val="dk1"/>
                </a:solidFill>
                <a:effectLst/>
                <a:uFillTx/>
                <a:latin typeface="+mn-lt"/>
                <a:ea typeface="+mn-ea"/>
              </a:rPr>
              <a:t>đều </a:t>
            </a:r>
            <a:r>
              <a:rPr lang="vi-VN" sz="1200" b="0" u="none" strike="noStrike">
                <a:solidFill>
                  <a:schemeClr val="dk1"/>
                </a:solidFill>
                <a:effectLst/>
                <a:uFillTx/>
                <a:latin typeface="+mn-lt"/>
                <a:ea typeface="+mn-ea"/>
              </a:rPr>
              <a:t>có thể </a:t>
            </a:r>
            <a:r>
              <a:rPr lang="en-US" sz="1200" b="0" u="none" strike="noStrike">
                <a:solidFill>
                  <a:schemeClr val="dk1"/>
                </a:solidFill>
                <a:effectLst/>
                <a:uFillTx/>
                <a:latin typeface="+mn-lt"/>
                <a:ea typeface="+mn-ea"/>
              </a:rPr>
              <a:t>được biểu diễn </a:t>
            </a:r>
            <a:r>
              <a:rPr lang="vi-VN" sz="1200" b="0" u="none" strike="noStrike">
                <a:solidFill>
                  <a:schemeClr val="dk1"/>
                </a:solidFill>
                <a:effectLst/>
                <a:uFillTx/>
                <a:latin typeface="+mn-lt"/>
                <a:ea typeface="+mn-ea"/>
              </a:rPr>
              <a:t>trong một </a:t>
            </a:r>
            <a:r>
              <a:rPr lang="en-US" sz="1200" b="0" u="none" strike="noStrike">
                <a:solidFill>
                  <a:schemeClr val="dk1"/>
                </a:solidFill>
                <a:effectLst/>
                <a:uFillTx/>
                <a:latin typeface="+mn-lt"/>
                <a:ea typeface="+mn-ea"/>
              </a:rPr>
              <a:t>biểu đồ </a:t>
            </a:r>
            <a:r>
              <a:rPr lang="vi-VN" sz="1200" b="0" u="none" strike="noStrike">
                <a:solidFill>
                  <a:schemeClr val="dk1"/>
                </a:solidFill>
                <a:effectLst/>
                <a:uFillTx/>
                <a:latin typeface="+mn-lt"/>
                <a:ea typeface="+mn-ea"/>
              </a:rPr>
              <a:t>ca sử dụng. Tuy nhiên, </a:t>
            </a:r>
            <a:r>
              <a:rPr lang="en-US" sz="1200" b="0" u="none" strike="noStrike">
                <a:solidFill>
                  <a:schemeClr val="dk1"/>
                </a:solidFill>
                <a:effectLst/>
                <a:uFillTx/>
                <a:latin typeface="+mn-lt"/>
                <a:ea typeface="+mn-ea"/>
              </a:rPr>
              <a:t>với trường hợp số lượng ca sử dụng lớn, thông thường chúng ta cần đến nhiều biểu đồ ca sử dụng</a:t>
            </a:r>
            <a:r>
              <a:rPr lang="vi-VN" sz="1200" b="0" u="none" strike="noStrike">
                <a:solidFill>
                  <a:schemeClr val="dk1"/>
                </a:solidFill>
                <a:effectLst/>
                <a:uFillTx/>
                <a:latin typeface="+mn-lt"/>
                <a:ea typeface="+mn-ea"/>
              </a:rPr>
              <a:t>, </a:t>
            </a:r>
            <a:r>
              <a:rPr lang="en-US" sz="1200" b="0" u="none" strike="noStrike">
                <a:solidFill>
                  <a:schemeClr val="dk1"/>
                </a:solidFill>
                <a:effectLst/>
                <a:uFillTx/>
                <a:latin typeface="+mn-lt"/>
                <a:ea typeface="+mn-ea"/>
              </a:rPr>
              <a:t>trong đó, </a:t>
            </a:r>
            <a:r>
              <a:rPr lang="vi-VN" sz="1200" b="0" u="none" strike="noStrike">
                <a:solidFill>
                  <a:schemeClr val="dk1"/>
                </a:solidFill>
                <a:effectLst/>
                <a:uFillTx/>
                <a:latin typeface="+mn-lt"/>
                <a:ea typeface="+mn-ea"/>
              </a:rPr>
              <a:t>mỗi biểu đồ </a:t>
            </a:r>
            <a:r>
              <a:rPr lang="en-US" sz="1200" b="0" u="none" strike="noStrike">
                <a:solidFill>
                  <a:schemeClr val="dk1"/>
                </a:solidFill>
                <a:effectLst/>
                <a:uFillTx/>
                <a:latin typeface="+mn-lt"/>
                <a:ea typeface="+mn-ea"/>
              </a:rPr>
              <a:t>chỉ biểu diễn một phần </a:t>
            </a:r>
            <a:r>
              <a:rPr lang="vi-VN" sz="1200" b="0" u="none" strike="noStrike">
                <a:solidFill>
                  <a:schemeClr val="dk1"/>
                </a:solidFill>
                <a:effectLst/>
                <a:uFillTx/>
                <a:latin typeface="+mn-lt"/>
                <a:ea typeface="+mn-ea"/>
              </a:rPr>
              <a:t>các ca sử dụng liên quan</a:t>
            </a:r>
            <a:r>
              <a:rPr lang="en-US" sz="1200" b="0" u="none" strike="noStrike">
                <a:solidFill>
                  <a:schemeClr val="dk1"/>
                </a:solidFill>
                <a:effectLst/>
                <a:uFillTx/>
                <a:latin typeface="+mn-lt"/>
                <a:ea typeface="+mn-ea"/>
              </a:rPr>
              <a:t> đến nhau</a:t>
            </a:r>
            <a:r>
              <a:rPr lang="vi-VN" sz="1200" b="0" u="none" strike="noStrike">
                <a:solidFill>
                  <a:schemeClr val="dk1"/>
                </a:solidFill>
                <a:effectLst/>
                <a:uFillTx/>
                <a:latin typeface="+mn-lt"/>
                <a:ea typeface="+mn-ea"/>
              </a:rPr>
              <a:t>. Ví dụ, </a:t>
            </a:r>
            <a:r>
              <a:rPr lang="en-US" sz="1200" b="0" u="none" strike="noStrike">
                <a:solidFill>
                  <a:schemeClr val="dk1"/>
                </a:solidFill>
                <a:effectLst/>
                <a:uFillTx/>
                <a:latin typeface="+mn-lt"/>
                <a:ea typeface="+mn-ea"/>
              </a:rPr>
              <a:t>biểu đồ ca sử dụng trong hình vẽ trên biểu diễn </a:t>
            </a:r>
            <a:r>
              <a:rPr lang="vi-VN" sz="1200" b="0" u="none" strike="noStrike">
                <a:solidFill>
                  <a:schemeClr val="dk1"/>
                </a:solidFill>
                <a:effectLst/>
                <a:uFillTx/>
                <a:latin typeface="+mn-lt"/>
                <a:ea typeface="+mn-ea"/>
              </a:rPr>
              <a:t>tất cả các </a:t>
            </a:r>
            <a:r>
              <a:rPr lang="en-US" sz="1200" b="0" u="none" strike="noStrike">
                <a:solidFill>
                  <a:schemeClr val="dk1"/>
                </a:solidFill>
                <a:effectLst/>
                <a:uFillTx/>
                <a:latin typeface="+mn-lt"/>
                <a:ea typeface="+mn-ea"/>
              </a:rPr>
              <a:t>ca </a:t>
            </a:r>
            <a:r>
              <a:rPr lang="vi-VN" sz="1200" b="0" u="none" strike="noStrike">
                <a:solidFill>
                  <a:schemeClr val="dk1"/>
                </a:solidFill>
                <a:effectLst/>
                <a:uFillTx/>
                <a:latin typeface="+mn-lt"/>
                <a:ea typeface="+mn-ea"/>
              </a:rPr>
              <a:t>sử dụng trong </a:t>
            </a:r>
            <a:r>
              <a:rPr lang="en-US" sz="1200" b="0" u="none" strike="noStrike">
                <a:solidFill>
                  <a:schemeClr val="dk1"/>
                </a:solidFill>
                <a:effectLst/>
                <a:uFillTx/>
                <a:latin typeface="+mn-lt"/>
                <a:ea typeface="+mn-ea"/>
              </a:rPr>
              <a:t>hệ thống </a:t>
            </a:r>
            <a:r>
              <a:rPr lang="vi-VN" sz="1200" b="0" u="none" strike="noStrike">
                <a:solidFill>
                  <a:schemeClr val="dk1"/>
                </a:solidFill>
                <a:effectLst/>
                <a:uFillTx/>
                <a:latin typeface="+mn-lt"/>
                <a:ea typeface="+mn-ea"/>
              </a:rPr>
              <a:t>MHC-PMS </a:t>
            </a:r>
            <a:r>
              <a:rPr lang="en-US" sz="1200" b="0" u="none" strike="noStrike">
                <a:solidFill>
                  <a:schemeClr val="dk1"/>
                </a:solidFill>
                <a:effectLst/>
                <a:uFillTx/>
                <a:latin typeface="+mn-lt"/>
                <a:ea typeface="+mn-ea"/>
              </a:rPr>
              <a:t>tương ứng với tác nhân </a:t>
            </a:r>
            <a:r>
              <a:rPr lang="vi-VN" sz="1200" b="0" u="none" strike="noStrike">
                <a:solidFill>
                  <a:schemeClr val="dk1"/>
                </a:solidFill>
                <a:effectLst/>
                <a:uFillTx/>
                <a:latin typeface="+mn-lt"/>
                <a:ea typeface="+mn-ea"/>
              </a:rPr>
              <a:t>'Nhân viên tiếp </a:t>
            </a:r>
            <a:r>
              <a:rPr lang="en-US" sz="1200" b="0" u="none" strike="noStrike">
                <a:solidFill>
                  <a:schemeClr val="dk1"/>
                </a:solidFill>
                <a:effectLst/>
                <a:uFillTx/>
                <a:latin typeface="+mn-lt"/>
                <a:ea typeface="+mn-ea"/>
              </a:rPr>
              <a:t>tân</a:t>
            </a:r>
            <a:r>
              <a:rPr lang="vi-VN" sz="1200" b="0" u="none" strike="noStrike">
                <a:solidFill>
                  <a:schemeClr val="dk1"/>
                </a:solidFill>
                <a:effectLst/>
                <a:uFillTx/>
                <a:latin typeface="+mn-lt"/>
                <a:ea typeface="+mn-ea"/>
              </a:rPr>
              <a:t> y tế'.</a:t>
            </a:r>
            <a:endParaRPr lang="en-US" sz="1200" b="0" u="none" strike="noStrike">
              <a:solidFill>
                <a:srgbClr val="000000"/>
              </a:solidFill>
              <a:effectLst/>
              <a:uFillTx/>
              <a:latin typeface="Arial"/>
            </a:endParaRPr>
          </a:p>
        </p:txBody>
      </p:sp>
      <p:sp>
        <p:nvSpPr>
          <p:cNvPr id="300" name="PlaceHolder 3"/>
          <p:cNvSpPr>
            <a:spLocks noGrp="1"/>
          </p:cNvSpPr>
          <p:nvPr>
            <p:ph type="sldNum" idx="78"/>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20B07D-617D-4E07-BD8B-AEE48AE24B5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1373040" y="754200"/>
            <a:ext cx="5025600" cy="3771720"/>
          </a:xfrm>
          <a:prstGeom prst="rect">
            <a:avLst/>
          </a:prstGeom>
          <a:ln w="0">
            <a:noFill/>
          </a:ln>
        </p:spPr>
      </p:sp>
      <p:sp>
        <p:nvSpPr>
          <p:cNvPr id="302"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Các biểu đồ </a:t>
            </a:r>
            <a:r>
              <a:rPr lang="en-US" sz="2000" b="0" u="none" strike="noStrike">
                <a:solidFill>
                  <a:srgbClr val="000000"/>
                </a:solidFill>
                <a:effectLst/>
                <a:uFillTx/>
                <a:latin typeface="Arial"/>
              </a:rPr>
              <a:t>tuần </a:t>
            </a:r>
            <a:r>
              <a:rPr lang="vi-VN" sz="2000" b="0" u="none" strike="noStrike">
                <a:solidFill>
                  <a:srgbClr val="000000"/>
                </a:solidFill>
                <a:effectLst/>
                <a:uFillTx/>
                <a:latin typeface="Arial"/>
              </a:rPr>
              <a:t>tự trong UML chủ yếu được sử dụng để mô hình hóa các tương tác giữa các tác nhân và các đối tượng trong một hệ thống và các tương tác giữa các đối tượng.</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UML </a:t>
            </a:r>
            <a:r>
              <a:rPr lang="en-US" sz="2000" b="0" u="none" strike="noStrike">
                <a:solidFill>
                  <a:srgbClr val="000000"/>
                </a:solidFill>
                <a:effectLst/>
                <a:uFillTx/>
                <a:latin typeface="Arial"/>
              </a:rPr>
              <a:t>cung cấp </a:t>
            </a:r>
            <a:r>
              <a:rPr lang="vi-VN" sz="2000" b="0" u="none" strike="noStrike">
                <a:solidFill>
                  <a:srgbClr val="000000"/>
                </a:solidFill>
                <a:effectLst/>
                <a:uFillTx/>
                <a:latin typeface="Arial"/>
              </a:rPr>
              <a:t>cú pháp phong phú cho các biểu đồ </a:t>
            </a:r>
            <a:r>
              <a:rPr lang="en-US" sz="2000" b="0" u="none" strike="noStrike">
                <a:solidFill>
                  <a:srgbClr val="000000"/>
                </a:solidFill>
                <a:effectLst/>
                <a:uFillTx/>
                <a:latin typeface="Arial"/>
              </a:rPr>
              <a:t>tuần </a:t>
            </a:r>
            <a:r>
              <a:rPr lang="vi-VN" sz="2000" b="0" u="none" strike="noStrike">
                <a:solidFill>
                  <a:srgbClr val="000000"/>
                </a:solidFill>
                <a:effectLst/>
                <a:uFillTx/>
                <a:latin typeface="Arial"/>
              </a:rPr>
              <a:t>tự, cho phép </a:t>
            </a:r>
            <a:r>
              <a:rPr lang="en-US" sz="2000" b="0" u="none" strike="noStrike">
                <a:solidFill>
                  <a:srgbClr val="000000"/>
                </a:solidFill>
                <a:effectLst/>
                <a:uFillTx/>
                <a:latin typeface="Arial"/>
              </a:rPr>
              <a:t>biểu diễn </a:t>
            </a:r>
            <a:r>
              <a:rPr lang="vi-VN" sz="2000" b="0" u="none" strike="noStrike">
                <a:solidFill>
                  <a:srgbClr val="000000"/>
                </a:solidFill>
                <a:effectLst/>
                <a:uFillTx/>
                <a:latin typeface="Arial"/>
              </a:rPr>
              <a:t>nhiều kiểu tương tác khác nhau. </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Như tên của nó, một biểu đồ </a:t>
            </a:r>
            <a:r>
              <a:rPr lang="en-US" sz="2000" b="0" u="none" strike="noStrike">
                <a:solidFill>
                  <a:srgbClr val="000000"/>
                </a:solidFill>
                <a:effectLst/>
                <a:uFillTx/>
                <a:latin typeface="Arial"/>
              </a:rPr>
              <a:t>tuần </a:t>
            </a:r>
            <a:r>
              <a:rPr lang="vi-VN" sz="2000" b="0" u="none" strike="noStrike">
                <a:solidFill>
                  <a:srgbClr val="000000"/>
                </a:solidFill>
                <a:effectLst/>
                <a:uFillTx/>
                <a:latin typeface="Arial"/>
              </a:rPr>
              <a:t>tự </a:t>
            </a:r>
            <a:r>
              <a:rPr lang="en-US" sz="2000" b="0" u="none" strike="noStrike">
                <a:solidFill>
                  <a:srgbClr val="000000"/>
                </a:solidFill>
                <a:effectLst/>
                <a:uFillTx/>
                <a:latin typeface="Arial"/>
              </a:rPr>
              <a:t>cho phép </a:t>
            </a:r>
            <a:r>
              <a:rPr lang="vi-VN" sz="2000" b="0" u="none" strike="noStrike">
                <a:solidFill>
                  <a:srgbClr val="000000"/>
                </a:solidFill>
                <a:effectLst/>
                <a:uFillTx/>
                <a:latin typeface="Arial"/>
              </a:rPr>
              <a:t>hiển thị chuỗi các tương tác</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diễn ra trong một </a:t>
            </a:r>
            <a:r>
              <a:rPr lang="en-US" sz="2000" b="0" u="none" strike="noStrike">
                <a:solidFill>
                  <a:srgbClr val="000000"/>
                </a:solidFill>
                <a:effectLst/>
                <a:uFillTx/>
                <a:latin typeface="Arial"/>
              </a:rPr>
              <a:t>ca </a:t>
            </a:r>
            <a:r>
              <a:rPr lang="vi-VN" sz="2000" b="0" u="none" strike="noStrike">
                <a:solidFill>
                  <a:srgbClr val="000000"/>
                </a:solidFill>
                <a:effectLst/>
                <a:uFillTx/>
                <a:latin typeface="Arial"/>
              </a:rPr>
              <a:t>sử dụng hoặc </a:t>
            </a:r>
            <a:r>
              <a:rPr lang="en-US" sz="2000" b="0" u="none" strike="noStrike">
                <a:solidFill>
                  <a:srgbClr val="000000"/>
                </a:solidFill>
                <a:effectLst/>
                <a:uFillTx/>
                <a:latin typeface="Arial"/>
              </a:rPr>
              <a:t>một kịch bản cụ thể của ca </a:t>
            </a:r>
            <a:r>
              <a:rPr lang="vi-VN" sz="2000" b="0" u="none" strike="noStrike">
                <a:solidFill>
                  <a:srgbClr val="000000"/>
                </a:solidFill>
                <a:effectLst/>
                <a:uFillTx/>
                <a:latin typeface="Arial"/>
              </a:rPr>
              <a:t>sử dụng.</a:t>
            </a:r>
            <a:endParaRPr lang="en-US" sz="2000" b="0" u="none" strike="noStrike">
              <a:solidFill>
                <a:srgbClr val="000000"/>
              </a:solidFill>
              <a:effectLst/>
              <a:uFillTx/>
              <a:latin typeface="Arial"/>
            </a:endParaRPr>
          </a:p>
        </p:txBody>
      </p:sp>
      <p:sp>
        <p:nvSpPr>
          <p:cNvPr id="303" name="PlaceHolder 3"/>
          <p:cNvSpPr>
            <a:spLocks noGrp="1"/>
          </p:cNvSpPr>
          <p:nvPr>
            <p:ph type="sldNum" idx="79"/>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0848A5C-B3B8-453A-A8E8-7C240BB56D2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373040" y="754200"/>
            <a:ext cx="5025600" cy="3771720"/>
          </a:xfrm>
          <a:prstGeom prst="rect">
            <a:avLst/>
          </a:prstGeom>
          <a:ln w="0">
            <a:noFill/>
          </a:ln>
        </p:spPr>
      </p:sp>
      <p:sp>
        <p:nvSpPr>
          <p:cNvPr id="305"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Các meta-concepts để biểu diễn biểu đồ tuần tự bao gồm:</a:t>
            </a:r>
            <a:endParaRPr lang="en-US" sz="20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Calibri"/>
              </a:rPr>
              <a:t>Đường sông (</a:t>
            </a:r>
            <a:r>
              <a:rPr lang="en-US" sz="1200" b="1" u="none" strike="noStrike">
                <a:solidFill>
                  <a:srgbClr val="000000"/>
                </a:solidFill>
                <a:effectLst/>
                <a:uFillTx/>
                <a:latin typeface="Calibri"/>
              </a:rPr>
              <a:t>Lifelines)</a:t>
            </a:r>
            <a:r>
              <a:rPr lang="en-US" sz="1200" b="0" u="none" strike="noStrike">
                <a:solidFill>
                  <a:srgbClr val="000000"/>
                </a:solidFill>
                <a:effectLst/>
                <a:uFillTx/>
                <a:latin typeface="Calibri"/>
              </a:rPr>
              <a:t> (1) biểu diễn các thể hiện của lớp, thành phần, tác nhân hay các thiết bị.</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Calibri"/>
              </a:rPr>
              <a:t>Các thông điệp (3, 4, 6, 7) được gửi từ đối tượng gửi đến đối tượng nhận.</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Calibri"/>
              </a:rPr>
              <a:t>Một khoảng thực thi (5) xuất hiện ở đối tượng nhận thông điệp.</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Calibri"/>
              </a:rPr>
              <a:t>Ký pháp (9) để chỉ tình huống một thông điệp được gửi từ nguồn không xác định, và được gửi một cách không đồng bộ.</a:t>
            </a:r>
            <a:endParaRPr lang="en-US" sz="1200" b="0" u="none" strike="noStrike">
              <a:solidFill>
                <a:srgbClr val="000000"/>
              </a:solidFill>
              <a:effectLst/>
              <a:uFillTx/>
              <a:latin typeface="Arial"/>
            </a:endParaRPr>
          </a:p>
        </p:txBody>
      </p:sp>
      <p:sp>
        <p:nvSpPr>
          <p:cNvPr id="306" name="PlaceHolder 3"/>
          <p:cNvSpPr>
            <a:spLocks noGrp="1"/>
          </p:cNvSpPr>
          <p:nvPr>
            <p:ph type="sldNum" idx="80"/>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E529DF-74D8-4023-A34A-AD8DE362D1F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1373040" y="754200"/>
            <a:ext cx="5025600" cy="3771720"/>
          </a:xfrm>
          <a:prstGeom prst="rect">
            <a:avLst/>
          </a:prstGeom>
          <a:ln w="0">
            <a:noFill/>
          </a:ln>
        </p:spPr>
      </p:sp>
      <p:sp>
        <p:nvSpPr>
          <p:cNvPr id="308"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marL="285840" indent="-285840">
              <a:lnSpc>
                <a:spcPct val="100000"/>
              </a:lnSpc>
              <a:buClr>
                <a:srgbClr val="000000"/>
              </a:buClr>
              <a:buFont typeface="Arial"/>
              <a:buChar char="•"/>
            </a:pPr>
            <a:r>
              <a:rPr lang="en-US" sz="1200" b="0" u="none" strike="noStrike">
                <a:solidFill>
                  <a:srgbClr val="000000"/>
                </a:solidFill>
                <a:effectLst/>
                <a:uFillTx/>
                <a:latin typeface="Arial"/>
              </a:rPr>
              <a:t>Thông điệp đồng bộ (</a:t>
            </a:r>
            <a:r>
              <a:rPr lang="en-US" sz="1200" b="1" u="none" strike="noStrike">
                <a:solidFill>
                  <a:srgbClr val="000000"/>
                </a:solidFill>
                <a:effectLst/>
                <a:uFillTx/>
                <a:latin typeface="Arial"/>
              </a:rPr>
              <a:t>Synchronous) </a:t>
            </a:r>
            <a:r>
              <a:rPr lang="en-US" sz="1200" b="0" u="none" strike="noStrike">
                <a:solidFill>
                  <a:srgbClr val="000000"/>
                </a:solidFill>
                <a:effectLst/>
                <a:uFillTx/>
                <a:latin typeface="Arial"/>
              </a:rPr>
              <a:t>(3) mô tả tương tác trong đó đối tượng gửi chờ cho đến khi nhận được phản hồi của đổi tượng nhận.</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Arial"/>
              </a:rPr>
              <a:t>Mũi tên </a:t>
            </a:r>
            <a:r>
              <a:rPr lang="en-US" sz="1200" b="1" u="none" strike="noStrike">
                <a:solidFill>
                  <a:srgbClr val="000000"/>
                </a:solidFill>
                <a:effectLst/>
                <a:uFillTx/>
                <a:latin typeface="Arial"/>
              </a:rPr>
              <a:t>&lt;&lt;return&gt;&gt;</a:t>
            </a:r>
            <a:r>
              <a:rPr lang="en-US" sz="1200" b="0" u="none" strike="noStrike">
                <a:solidFill>
                  <a:srgbClr val="000000"/>
                </a:solidFill>
                <a:effectLst/>
                <a:uFillTx/>
                <a:latin typeface="Arial"/>
              </a:rPr>
              <a:t> là tín hiệu từ đối tượng nhận, để kết thúc một thực thi.</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Arial"/>
              </a:rPr>
              <a:t>Mũi tên bất đồng bộ (</a:t>
            </a:r>
            <a:r>
              <a:rPr lang="en-US" sz="1200" b="1" u="none" strike="noStrike">
                <a:solidFill>
                  <a:srgbClr val="000000"/>
                </a:solidFill>
                <a:effectLst/>
                <a:uFillTx/>
                <a:latin typeface="Arial"/>
              </a:rPr>
              <a:t>Asynchronous</a:t>
            </a:r>
            <a:r>
              <a:rPr lang="en-US" sz="1200" b="0" u="none" strike="noStrike">
                <a:solidFill>
                  <a:srgbClr val="000000"/>
                </a:solidFill>
                <a:effectLst/>
                <a:uFillTx/>
                <a:latin typeface="Arial"/>
              </a:rPr>
              <a:t>) (4) để chỉ người gửi có thể tiếp tục công việc mà không phải chờ phản hồi từ người nhận.</a:t>
            </a:r>
            <a:endParaRPr lang="en-US" sz="1200" b="0" u="none" strike="noStrike">
              <a:solidFill>
                <a:srgbClr val="000000"/>
              </a:solidFill>
              <a:effectLst/>
              <a:uFillTx/>
              <a:latin typeface="Arial"/>
            </a:endParaRPr>
          </a:p>
          <a:p>
            <a:pPr marL="285840" indent="-285840">
              <a:lnSpc>
                <a:spcPct val="100000"/>
              </a:lnSpc>
              <a:buClr>
                <a:srgbClr val="000000"/>
              </a:buClr>
              <a:buFont typeface="Arial"/>
              <a:buChar char="•"/>
            </a:pPr>
            <a:r>
              <a:rPr lang="en-US" sz="1200" b="0" u="none" strike="noStrike">
                <a:solidFill>
                  <a:srgbClr val="000000"/>
                </a:solidFill>
                <a:effectLst/>
                <a:uFillTx/>
                <a:latin typeface="Arial"/>
              </a:rPr>
              <a:t>Tín hiệu &lt;&lt;</a:t>
            </a:r>
            <a:r>
              <a:rPr lang="en-US" sz="1200" b="1" u="none" strike="noStrike">
                <a:solidFill>
                  <a:srgbClr val="000000"/>
                </a:solidFill>
                <a:effectLst/>
                <a:uFillTx/>
                <a:latin typeface="Arial"/>
              </a:rPr>
              <a:t>Create&gt;&gt;</a:t>
            </a:r>
            <a:r>
              <a:rPr lang="en-US" sz="1200" b="0" u="none" strike="noStrike">
                <a:solidFill>
                  <a:srgbClr val="000000"/>
                </a:solidFill>
                <a:effectLst/>
                <a:uFillTx/>
                <a:latin typeface="Arial"/>
              </a:rPr>
              <a:t> (8) để mô tả hành động đối tượng gửi tạo đối tượng nhận.</a:t>
            </a:r>
            <a:endParaRPr lang="en-US" sz="1200" b="0" u="none" strike="noStrike">
              <a:solidFill>
                <a:srgbClr val="000000"/>
              </a:solidFill>
              <a:effectLst/>
              <a:uFillTx/>
              <a:latin typeface="Arial"/>
            </a:endParaRPr>
          </a:p>
        </p:txBody>
      </p:sp>
      <p:sp>
        <p:nvSpPr>
          <p:cNvPr id="309" name="PlaceHolder 3"/>
          <p:cNvSpPr>
            <a:spLocks noGrp="1"/>
          </p:cNvSpPr>
          <p:nvPr>
            <p:ph type="sldNum" idx="81"/>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E577A7-DEB2-42AE-8AE3-07F854C4031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1373040" y="754200"/>
            <a:ext cx="5025600" cy="3771720"/>
          </a:xfrm>
          <a:prstGeom prst="rect">
            <a:avLst/>
          </a:prstGeom>
          <a:ln w="0">
            <a:noFill/>
          </a:ln>
        </p:spPr>
      </p:sp>
      <p:sp>
        <p:nvSpPr>
          <p:cNvPr id="311"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Hình vẽ trong slide biểu diễn biểu đồ tuần tự cho ca sử dụng “truyền dữ liệu” (transfer data) của hệ thống quản lý bệnh nhân </a:t>
            </a:r>
            <a:r>
              <a:rPr lang="vi-VN" sz="1200" b="0" u="none" strike="noStrike">
                <a:solidFill>
                  <a:schemeClr val="dk1"/>
                </a:solidFill>
                <a:effectLst/>
                <a:uFillTx/>
                <a:latin typeface="+mn-lt"/>
                <a:ea typeface="+mn-ea"/>
              </a:rPr>
              <a:t>MHC-PMS</a:t>
            </a:r>
            <a:r>
              <a:rPr lang="en-US" sz="1200" b="0" u="none" strike="noStrike">
                <a:solidFill>
                  <a:schemeClr val="dk1"/>
                </a:solidFill>
                <a:effectLst/>
                <a:uFillTx/>
                <a:latin typeface="+mn-lt"/>
                <a:ea typeface="+mn-ea"/>
              </a:rPr>
              <a:t>.</a:t>
            </a:r>
            <a:endParaRPr lang="en-US" sz="1200" b="0" u="none" strike="noStrike">
              <a:solidFill>
                <a:srgbClr val="000000"/>
              </a:solidFill>
              <a:effectLst/>
              <a:uFillTx/>
              <a:latin typeface="Arial"/>
            </a:endParaRPr>
          </a:p>
          <a:p>
            <a:pPr indent="0">
              <a:lnSpc>
                <a:spcPct val="100000"/>
              </a:lnSpc>
              <a:buNone/>
            </a:pPr>
            <a:r>
              <a:rPr lang="en-US" sz="1200" b="0" u="none" strike="noStrike">
                <a:solidFill>
                  <a:schemeClr val="dk1"/>
                </a:solidFill>
                <a:effectLst/>
                <a:uFillTx/>
                <a:latin typeface="+mn-lt"/>
                <a:ea typeface="+mn-ea"/>
              </a:rPr>
              <a:t>Ở đây diễn ra sự tương tác của năm đối tượng: hai đối tượng tương ứng với tác nhân Nhân viên tiếp tân y tế và hệ thống thông tin bệnh nhân (PRS). Ba đối tượng còn lại là những đối tượng của hệ thống quản lý bệnh nhân </a:t>
            </a:r>
            <a:r>
              <a:rPr lang="vi-VN" sz="1200" b="0" u="none" strike="noStrike">
                <a:solidFill>
                  <a:schemeClr val="dk1"/>
                </a:solidFill>
                <a:effectLst/>
                <a:uFillTx/>
                <a:latin typeface="+mn-lt"/>
                <a:ea typeface="+mn-ea"/>
              </a:rPr>
              <a:t>MHC-PMS</a:t>
            </a:r>
            <a:r>
              <a:rPr lang="en-US" sz="1200" b="0" u="none" strike="noStrike">
                <a:solidFill>
                  <a:schemeClr val="dk1"/>
                </a:solidFill>
                <a:effectLst/>
                <a:uFillTx/>
                <a:latin typeface="+mn-lt"/>
                <a:ea typeface="+mn-ea"/>
              </a:rPr>
              <a:t>.</a:t>
            </a:r>
            <a:endParaRPr lang="en-US" sz="1200" b="0" u="none" strike="noStrike">
              <a:solidFill>
                <a:srgbClr val="000000"/>
              </a:solidFill>
              <a:effectLst/>
              <a:uFillTx/>
              <a:latin typeface="Arial"/>
            </a:endParaRPr>
          </a:p>
        </p:txBody>
      </p:sp>
      <p:sp>
        <p:nvSpPr>
          <p:cNvPr id="312" name="PlaceHolder 3"/>
          <p:cNvSpPr>
            <a:spLocks noGrp="1"/>
          </p:cNvSpPr>
          <p:nvPr>
            <p:ph type="sldNum" idx="82"/>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744B96-9F99-46E4-8DA6-8029AD7F67B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1373040" y="754200"/>
            <a:ext cx="5025600" cy="3771720"/>
          </a:xfrm>
          <a:prstGeom prst="rect">
            <a:avLst/>
          </a:prstGeom>
          <a:ln w="0">
            <a:noFill/>
          </a:ln>
        </p:spPr>
      </p:sp>
      <p:sp>
        <p:nvSpPr>
          <p:cNvPr id="314"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Các mô hình </a:t>
            </a:r>
            <a:r>
              <a:rPr lang="en-US" sz="2000" b="0" u="none" strike="noStrike">
                <a:solidFill>
                  <a:srgbClr val="000000"/>
                </a:solidFill>
                <a:effectLst/>
                <a:uFillTx/>
                <a:latin typeface="Arial"/>
              </a:rPr>
              <a:t>cấu trúc </a:t>
            </a:r>
            <a:r>
              <a:rPr lang="vi-VN" sz="2000" b="0" u="none" strike="noStrike">
                <a:solidFill>
                  <a:srgbClr val="000000"/>
                </a:solidFill>
                <a:effectLst/>
                <a:uFillTx/>
                <a:latin typeface="Arial"/>
              </a:rPr>
              <a:t>hiển thị tổ chức của một hệ thống theo</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các thành phần tạo nên hệ thống đó và các mối quan hệ của chúng. Mô hình cấu </a:t>
            </a:r>
            <a:r>
              <a:rPr lang="en-US" sz="2000" b="0" u="none" strike="noStrike">
                <a:solidFill>
                  <a:srgbClr val="000000"/>
                </a:solidFill>
                <a:effectLst/>
                <a:uFillTx/>
                <a:latin typeface="Arial"/>
              </a:rPr>
              <a:t>trúc </a:t>
            </a:r>
            <a:r>
              <a:rPr lang="vi-VN" sz="2000" b="0" u="none" strike="noStrike">
                <a:solidFill>
                  <a:srgbClr val="000000"/>
                </a:solidFill>
                <a:effectLst/>
                <a:uFillTx/>
                <a:latin typeface="Arial"/>
              </a:rPr>
              <a:t>có thể</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là các mô hình tĩnh, hiển thị cấu trúc của thiết kế hệ thống hoặc các mô hình động,</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hiển thị tổ chức của hệ thống khi nó đang thực thi. </a:t>
            </a:r>
            <a:r>
              <a:rPr lang="en-US" sz="2000" b="0" u="none" strike="noStrike">
                <a:solidFill>
                  <a:srgbClr val="000000"/>
                </a:solidFill>
                <a:effectLst/>
                <a:uFillTx/>
                <a:latin typeface="Arial"/>
              </a:rPr>
              <a:t>Hai loại mô hình này có sự khác nhau. Mô hình động chỉ ra cách</a:t>
            </a:r>
            <a:r>
              <a:rPr lang="vi-VN" sz="2000" b="0" u="none" strike="noStrike">
                <a:solidFill>
                  <a:srgbClr val="000000"/>
                </a:solidFill>
                <a:effectLst/>
                <a:uFillTx/>
                <a:latin typeface="Arial"/>
              </a:rPr>
              <a:t> tổ chức động của một hệ thống </a:t>
            </a:r>
            <a:r>
              <a:rPr lang="en-US" sz="2000" b="0" u="none" strike="noStrike">
                <a:solidFill>
                  <a:srgbClr val="000000"/>
                </a:solidFill>
                <a:effectLst/>
                <a:uFillTx/>
                <a:latin typeface="Arial"/>
              </a:rPr>
              <a:t>ở dạng </a:t>
            </a:r>
            <a:r>
              <a:rPr lang="vi-VN" sz="2000" b="0" u="none" strike="noStrike">
                <a:solidFill>
                  <a:srgbClr val="000000"/>
                </a:solidFill>
                <a:effectLst/>
                <a:uFillTx/>
                <a:latin typeface="Arial"/>
              </a:rPr>
              <a:t>tập hợp các </a:t>
            </a:r>
            <a:r>
              <a:rPr lang="en-US" sz="2000" b="0" u="none" strike="noStrike">
                <a:solidFill>
                  <a:srgbClr val="000000"/>
                </a:solidFill>
                <a:effectLst/>
                <a:uFillTx/>
                <a:latin typeface="Arial"/>
              </a:rPr>
              <a:t>luồng </a:t>
            </a:r>
            <a:r>
              <a:rPr lang="vi-VN" sz="2000" b="0" u="none" strike="noStrike">
                <a:solidFill>
                  <a:srgbClr val="000000"/>
                </a:solidFill>
                <a:effectLst/>
                <a:uFillTx/>
                <a:latin typeface="Arial"/>
              </a:rPr>
              <a:t>tương tác</a:t>
            </a:r>
            <a:r>
              <a:rPr lang="en-US" sz="2000" b="0" u="none" strike="noStrike">
                <a:solidFill>
                  <a:srgbClr val="000000"/>
                </a:solidFill>
                <a:effectLst/>
                <a:uFillTx/>
                <a:latin typeface="Arial"/>
              </a:rPr>
              <a:t>. Trong khi đó, mô hình tĩnh chỉ ra quan hệ cấu trúc giữa các thành phần của hệ thống</a:t>
            </a:r>
            <a:r>
              <a:rPr lang="vi-VN" sz="2000" b="0" u="none" strike="noStrike">
                <a:solidFill>
                  <a:srgbClr val="000000"/>
                </a:solidFill>
                <a:effectLst/>
                <a:uFillTx/>
                <a:latin typeface="Arial"/>
              </a:rPr>
              <a:t>.</a:t>
            </a:r>
            <a:r>
              <a:rPr lang="en-US" sz="2000" b="0" u="none" strike="noStrike">
                <a:solidFill>
                  <a:srgbClr val="000000"/>
                </a:solidFill>
                <a:effectLst/>
                <a:uFillTx/>
                <a:latin typeface="Arial"/>
              </a:rPr>
              <a:t> </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a:t>
            </a:r>
            <a:r>
              <a:rPr lang="vi-VN" sz="2000" b="0" u="none" strike="noStrike">
                <a:solidFill>
                  <a:srgbClr val="000000"/>
                </a:solidFill>
                <a:effectLst/>
                <a:uFillTx/>
                <a:latin typeface="Arial"/>
              </a:rPr>
              <a:t>ác mô hình cấu trúc của hệ thống </a:t>
            </a:r>
            <a:r>
              <a:rPr lang="en-US" sz="2000" b="0" u="none" strike="noStrike">
                <a:solidFill>
                  <a:srgbClr val="000000"/>
                </a:solidFill>
                <a:effectLst/>
                <a:uFillTx/>
                <a:latin typeface="Arial"/>
              </a:rPr>
              <a:t>thường được tạo ra để hỗ trợ hoạt động </a:t>
            </a:r>
            <a:r>
              <a:rPr lang="vi-VN" sz="2000" b="0" u="none" strike="noStrike">
                <a:solidFill>
                  <a:srgbClr val="000000"/>
                </a:solidFill>
                <a:effectLst/>
                <a:uFillTx/>
                <a:latin typeface="Arial"/>
              </a:rPr>
              <a:t>thảo luận và thiết kế</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kiến trúc hệ thống. Thiết kế kiến trúc là một chủ đề đặc biệt quan trọng trong </a:t>
            </a:r>
            <a:r>
              <a:rPr lang="en-US" sz="2000" b="0" u="none" strike="noStrike">
                <a:solidFill>
                  <a:srgbClr val="000000"/>
                </a:solidFill>
                <a:effectLst/>
                <a:uFillTx/>
                <a:latin typeface="Arial"/>
              </a:rPr>
              <a:t>công nghệ </a:t>
            </a:r>
            <a:r>
              <a:rPr lang="vi-VN" sz="2000" b="0" u="none" strike="noStrike">
                <a:solidFill>
                  <a:srgbClr val="000000"/>
                </a:solidFill>
                <a:effectLst/>
                <a:uFillTx/>
                <a:latin typeface="Arial"/>
              </a:rPr>
              <a:t>phần mềm</a:t>
            </a:r>
            <a:r>
              <a:rPr lang="en-US" sz="2000" b="0" u="none" strike="noStrike">
                <a:solidFill>
                  <a:srgbClr val="000000"/>
                </a:solidFill>
                <a:effectLst/>
                <a:uFillTx/>
                <a:latin typeface="Arial"/>
              </a:rPr>
              <a:t>. C</a:t>
            </a:r>
            <a:r>
              <a:rPr lang="vi-VN" sz="2000" b="0" u="none" strike="noStrike">
                <a:solidFill>
                  <a:srgbClr val="000000"/>
                </a:solidFill>
                <a:effectLst/>
                <a:uFillTx/>
                <a:latin typeface="Arial"/>
              </a:rPr>
              <a:t>ác biểu đồ thành phần, gói và triển khai </a:t>
            </a:r>
            <a:r>
              <a:rPr lang="en-US" sz="2000" b="0" u="none" strike="noStrike">
                <a:solidFill>
                  <a:srgbClr val="000000"/>
                </a:solidFill>
                <a:effectLst/>
                <a:uFillTx/>
                <a:latin typeface="Arial"/>
              </a:rPr>
              <a:t>của </a:t>
            </a:r>
            <a:r>
              <a:rPr lang="vi-VN" sz="2000" b="0" u="none" strike="noStrike">
                <a:solidFill>
                  <a:srgbClr val="000000"/>
                </a:solidFill>
                <a:effectLst/>
                <a:uFillTx/>
                <a:latin typeface="Arial"/>
              </a:rPr>
              <a:t>UML có thể được sử dụng </a:t>
            </a:r>
            <a:r>
              <a:rPr lang="en-US" sz="2000" b="0" u="none" strike="noStrike">
                <a:solidFill>
                  <a:srgbClr val="000000"/>
                </a:solidFill>
                <a:effectLst/>
                <a:uFillTx/>
                <a:latin typeface="Arial"/>
              </a:rPr>
              <a:t>để biểu diễn </a:t>
            </a:r>
            <a:r>
              <a:rPr lang="vi-VN" sz="2000" b="0" u="none" strike="noStrike">
                <a:solidFill>
                  <a:srgbClr val="000000"/>
                </a:solidFill>
                <a:effectLst/>
                <a:uFillTx/>
                <a:latin typeface="Arial"/>
              </a:rPr>
              <a:t>mô hình kiến trúc</a:t>
            </a:r>
            <a:r>
              <a:rPr lang="en-US" sz="2000" b="0" u="none" strike="noStrike">
                <a:solidFill>
                  <a:srgbClr val="000000"/>
                </a:solidFill>
                <a:effectLst/>
                <a:uFillTx/>
                <a:latin typeface="Arial"/>
              </a:rPr>
              <a:t> hệ thống.</a:t>
            </a:r>
            <a:endParaRPr lang="en-US" sz="2000" b="0" u="none" strike="noStrike">
              <a:solidFill>
                <a:srgbClr val="000000"/>
              </a:solidFill>
              <a:effectLst/>
              <a:uFillTx/>
              <a:latin typeface="Arial"/>
            </a:endParaRPr>
          </a:p>
        </p:txBody>
      </p:sp>
      <p:sp>
        <p:nvSpPr>
          <p:cNvPr id="315" name="PlaceHolder 3"/>
          <p:cNvSpPr>
            <a:spLocks noGrp="1"/>
          </p:cNvSpPr>
          <p:nvPr>
            <p:ph type="sldNum" idx="83"/>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F65E0B-1AC1-4831-BD30-E98D557D9E4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373040" y="754200"/>
            <a:ext cx="5025600" cy="3771720"/>
          </a:xfrm>
          <a:prstGeom prst="rect">
            <a:avLst/>
          </a:prstGeom>
          <a:ln w="0">
            <a:noFill/>
          </a:ln>
        </p:spPr>
      </p:sp>
      <p:sp>
        <p:nvSpPr>
          <p:cNvPr id="317"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Mô hình cấu trúc của hệ thống thường được biểu diễn bởi các biểu đồ lớp UML. Biểu lớp bao gồm tập các lớp và mối quan hệ giữa chúng. Mỗi đặc tả lớp chứa đựng các thông tin về trạng thái (giá trị thuộc tính) và hành vi của đối tượng (các thao tác/phương thức).</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Quan hệ ngữ nghĩa giữa các lớp được diễn đạt bởi khái niệm (meta-concepts) quan hệ kết hợp (association). Chẳng hạn, lớp bệnh nhân (Patient) có quan hệ kết hợp với lớp Sự hội chẩn (Consultation).</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Quan hệ giữa lớp mang đặc điểm chung của một lớp khác, nghĩa là lớp này là sự đặc biệt hóa của lớp kia, sẽ được diễn đạt bằng mối quan hệ tổng quát hóa. Chẳng hạn, như trong hình vẽ, lớp Bác sĩ (Doctor) là sự tổng quát hóa (mang đặc điểm chung) của hai lớp Bác sĩ Bệnh viện (Hospital Doctor) và Bác sĩ đa khoa địa phương (General Practitioner).</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Quan hệ giữa lớp đóng vai trò tổng thể (whole) với các lớp bộ phần (parts) được diễn đạt bởi mối quan hệ tụ hợp (aggregation). Chẳng hạn, lớp Hồ sơ bệnh nhân (Patient record) bao gộp lớp Bệnh nhân (Patient). Trường hợp, khi hủy lớp tổng thể sẽ dẫn đến các lớp bộ phận cũng bị hủy theo thì mối quan hệ đó được gọi là quan hệ hợp thành (composition).</a:t>
            </a:r>
            <a:endParaRPr lang="en-US" sz="2000" b="0" u="none" strike="noStrike">
              <a:solidFill>
                <a:srgbClr val="000000"/>
              </a:solidFill>
              <a:effectLst/>
              <a:uFillTx/>
              <a:latin typeface="Arial"/>
            </a:endParaRPr>
          </a:p>
        </p:txBody>
      </p:sp>
      <p:sp>
        <p:nvSpPr>
          <p:cNvPr id="318" name="PlaceHolder 3"/>
          <p:cNvSpPr>
            <a:spLocks noGrp="1"/>
          </p:cNvSpPr>
          <p:nvPr>
            <p:ph type="sldNum" idx="84"/>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33C646-521E-4E54-BC56-18B0367BB97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1373040" y="754200"/>
            <a:ext cx="5025600" cy="3771720"/>
          </a:xfrm>
          <a:prstGeom prst="rect">
            <a:avLst/>
          </a:prstGeom>
          <a:ln w="0">
            <a:noFill/>
          </a:ln>
        </p:spPr>
      </p:sp>
      <p:sp>
        <p:nvSpPr>
          <p:cNvPr id="320"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Hình vẽ trong slide biểu diễn biểu đồ lớp cho hệ thống quản lý bệnh nhân </a:t>
            </a:r>
            <a:r>
              <a:rPr lang="vi-VN" sz="1200" b="0" u="none" strike="noStrike">
                <a:solidFill>
                  <a:schemeClr val="dk1"/>
                </a:solidFill>
                <a:effectLst/>
                <a:uFillTx/>
                <a:latin typeface="+mn-lt"/>
                <a:ea typeface="+mn-ea"/>
              </a:rPr>
              <a:t>MHC-PMS</a:t>
            </a:r>
            <a:r>
              <a:rPr lang="en-US" sz="1200" b="0" u="none" strike="noStrike">
                <a:solidFill>
                  <a:schemeClr val="dk1"/>
                </a:solidFill>
                <a:effectLst/>
                <a:uFillTx/>
                <a:latin typeface="+mn-lt"/>
                <a:ea typeface="+mn-ea"/>
              </a:rPr>
              <a:t>. Biểu đồ này gồm 8 lớp và 7 mối quan hệ kết hợp.</a:t>
            </a:r>
            <a:endParaRPr lang="en-US" sz="1200" b="0" u="none" strike="noStrike">
              <a:solidFill>
                <a:srgbClr val="000000"/>
              </a:solidFill>
              <a:effectLst/>
              <a:uFillTx/>
              <a:latin typeface="Arial"/>
            </a:endParaRPr>
          </a:p>
          <a:p>
            <a:pPr indent="0">
              <a:lnSpc>
                <a:spcPct val="100000"/>
              </a:lnSpc>
              <a:buNone/>
            </a:pPr>
            <a:r>
              <a:rPr lang="en-US" sz="1200" b="0" u="none" strike="noStrike">
                <a:solidFill>
                  <a:schemeClr val="dk1"/>
                </a:solidFill>
                <a:effectLst/>
                <a:uFillTx/>
                <a:latin typeface="+mn-lt"/>
                <a:ea typeface="+mn-ea"/>
              </a:rPr>
              <a:t>Ràng buộc lực lượng giữa các lớp tham gia các quan hệ kết hợp có thể là 0, 0..1, 1..*, 0..*, hoặc phần cận trên và dưới được thay bằng các giá trị cụ thể, chẳng hạn, ta có ràng buộc lực lượng 1..4 giữa các lớp Consultation và Hospital Doctor như trong hình vẽ.</a:t>
            </a:r>
            <a:endParaRPr lang="en-US" sz="1200" b="0" u="none" strike="noStrike">
              <a:solidFill>
                <a:srgbClr val="000000"/>
              </a:solidFill>
              <a:effectLst/>
              <a:uFillTx/>
              <a:latin typeface="Arial"/>
            </a:endParaRPr>
          </a:p>
        </p:txBody>
      </p:sp>
      <p:sp>
        <p:nvSpPr>
          <p:cNvPr id="321" name="PlaceHolder 3"/>
          <p:cNvSpPr>
            <a:spLocks noGrp="1"/>
          </p:cNvSpPr>
          <p:nvPr>
            <p:ph type="sldNum" idx="85"/>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85D141-CF03-4AEA-9DAA-6F06766D779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1373040" y="754200"/>
            <a:ext cx="5025600" cy="3771720"/>
          </a:xfrm>
          <a:prstGeom prst="rect">
            <a:avLst/>
          </a:prstGeom>
          <a:ln w="0">
            <a:noFill/>
          </a:ln>
        </p:spPr>
      </p:sp>
      <p:sp>
        <p:nvSpPr>
          <p:cNvPr id="323"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1200" b="0" u="none" strike="noStrike">
                <a:solidFill>
                  <a:schemeClr val="dk1"/>
                </a:solidFill>
                <a:effectLst/>
                <a:uFillTx/>
                <a:latin typeface="+mn-lt"/>
                <a:ea typeface="+mn-ea"/>
              </a:rPr>
              <a:t>M</a:t>
            </a:r>
            <a:r>
              <a:rPr lang="vi-VN" sz="1200" b="0" u="none" strike="noStrike">
                <a:solidFill>
                  <a:schemeClr val="dk1"/>
                </a:solidFill>
                <a:effectLst/>
                <a:uFillTx/>
                <a:latin typeface="+mn-lt"/>
                <a:ea typeface="+mn-ea"/>
              </a:rPr>
              <a:t>ô hình hành vi là các mô hình</a:t>
            </a:r>
            <a:r>
              <a:rPr lang="en-US" sz="1200" b="0" u="none" strike="noStrike">
                <a:solidFill>
                  <a:schemeClr val="dk1"/>
                </a:solidFill>
                <a:effectLst/>
                <a:uFillTx/>
                <a:latin typeface="+mn-lt"/>
                <a:ea typeface="+mn-ea"/>
              </a:rPr>
              <a:t> về </a:t>
            </a:r>
            <a:r>
              <a:rPr lang="vi-VN" sz="1200" b="0" u="none" strike="noStrike">
                <a:solidFill>
                  <a:schemeClr val="dk1"/>
                </a:solidFill>
                <a:effectLst/>
                <a:uFillTx/>
                <a:latin typeface="+mn-lt"/>
                <a:ea typeface="+mn-ea"/>
              </a:rPr>
              <a:t>hành vi động của hệ thống khi nó đang thực thi.</a:t>
            </a:r>
            <a:r>
              <a:rPr lang="en-US" sz="1200" b="0" u="none" strike="noStrike">
                <a:solidFill>
                  <a:schemeClr val="dk1"/>
                </a:solidFill>
                <a:effectLst/>
                <a:uFillTx/>
                <a:latin typeface="+mn-lt"/>
                <a:ea typeface="+mn-ea"/>
              </a:rPr>
              <a:t> Mô hình này diễn tả những </a:t>
            </a:r>
            <a:r>
              <a:rPr lang="vi-VN" sz="1200" b="0" u="none" strike="noStrike">
                <a:solidFill>
                  <a:schemeClr val="dk1"/>
                </a:solidFill>
                <a:effectLst/>
                <a:uFillTx/>
                <a:latin typeface="+mn-lt"/>
                <a:ea typeface="+mn-ea"/>
              </a:rPr>
              <a:t>gì xảy ra hoặc những gì được cho là xảy ra khi một hệ thống phản ứng với</a:t>
            </a:r>
            <a:r>
              <a:rPr lang="en-US" sz="1200" b="0" u="none" strike="noStrike">
                <a:solidFill>
                  <a:schemeClr val="dk1"/>
                </a:solidFill>
                <a:effectLst/>
                <a:uFillTx/>
                <a:latin typeface="+mn-lt"/>
                <a:ea typeface="+mn-ea"/>
              </a:rPr>
              <a:t> </a:t>
            </a:r>
            <a:r>
              <a:rPr lang="vi-VN" sz="1200" b="0" u="none" strike="noStrike">
                <a:solidFill>
                  <a:schemeClr val="dk1"/>
                </a:solidFill>
                <a:effectLst/>
                <a:uFillTx/>
                <a:latin typeface="+mn-lt"/>
                <a:ea typeface="+mn-ea"/>
              </a:rPr>
              <a:t>kích thích từ môi trường của nó. </a:t>
            </a:r>
            <a:r>
              <a:rPr lang="en-US" sz="1200" b="0" u="none" strike="noStrike">
                <a:solidFill>
                  <a:schemeClr val="dk1"/>
                </a:solidFill>
                <a:effectLst/>
                <a:uFillTx/>
                <a:latin typeface="+mn-lt"/>
                <a:ea typeface="+mn-ea"/>
              </a:rPr>
              <a:t>Thông thường có hai loại </a:t>
            </a:r>
            <a:r>
              <a:rPr lang="vi-VN" sz="1200" b="0" u="none" strike="noStrike">
                <a:solidFill>
                  <a:schemeClr val="dk1"/>
                </a:solidFill>
                <a:effectLst/>
                <a:uFillTx/>
                <a:latin typeface="+mn-lt"/>
                <a:ea typeface="+mn-ea"/>
              </a:rPr>
              <a:t>kích thích</a:t>
            </a:r>
            <a:r>
              <a:rPr lang="en-US" sz="1200" b="0" u="none" strike="noStrike">
                <a:solidFill>
                  <a:schemeClr val="dk1"/>
                </a:solidFill>
                <a:effectLst/>
                <a:uFillTx/>
                <a:latin typeface="+mn-lt"/>
                <a:ea typeface="+mn-ea"/>
              </a:rPr>
              <a:t> từ môi trường của hệ thống</a:t>
            </a:r>
            <a:r>
              <a:rPr lang="vi-VN" sz="1200" b="0" u="none" strike="noStrike">
                <a:solidFill>
                  <a:schemeClr val="dk1"/>
                </a:solidFill>
                <a:effectLst/>
                <a:uFillTx/>
                <a:latin typeface="+mn-lt"/>
                <a:ea typeface="+mn-ea"/>
              </a:rPr>
              <a:t>:</a:t>
            </a: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vi-VN" sz="1200" b="0" u="none" strike="noStrike">
                <a:solidFill>
                  <a:schemeClr val="dk1"/>
                </a:solidFill>
                <a:effectLst/>
                <a:uFillTx/>
                <a:latin typeface="+mn-lt"/>
                <a:ea typeface="+mn-ea"/>
              </a:rPr>
              <a:t>Dữ liệu</a:t>
            </a:r>
            <a:r>
              <a:rPr lang="en-US" sz="1200" b="0" u="none" strike="noStrike">
                <a:solidFill>
                  <a:schemeClr val="dk1"/>
                </a:solidFill>
                <a:effectLst/>
                <a:uFillTx/>
                <a:latin typeface="+mn-lt"/>
                <a:ea typeface="+mn-ea"/>
              </a:rPr>
              <a:t>:</a:t>
            </a:r>
            <a:r>
              <a:rPr lang="vi-VN" sz="1200" b="0" u="none" strike="noStrike">
                <a:solidFill>
                  <a:schemeClr val="dk1"/>
                </a:solidFill>
                <a:effectLst/>
                <a:uFillTx/>
                <a:latin typeface="+mn-lt"/>
                <a:ea typeface="+mn-ea"/>
              </a:rPr>
              <a:t> Một số dữ liệu </a:t>
            </a:r>
            <a:r>
              <a:rPr lang="en-US" sz="1200" b="0" u="none" strike="noStrike">
                <a:solidFill>
                  <a:schemeClr val="dk1"/>
                </a:solidFill>
                <a:effectLst/>
                <a:uFillTx/>
                <a:latin typeface="+mn-lt"/>
                <a:ea typeface="+mn-ea"/>
              </a:rPr>
              <a:t>được gửi </a:t>
            </a:r>
            <a:r>
              <a:rPr lang="vi-VN" sz="1200" b="0" u="none" strike="noStrike">
                <a:solidFill>
                  <a:schemeClr val="dk1"/>
                </a:solidFill>
                <a:effectLst/>
                <a:uFillTx/>
                <a:latin typeface="+mn-lt"/>
                <a:ea typeface="+mn-ea"/>
              </a:rPr>
              <a:t>đến </a:t>
            </a:r>
            <a:r>
              <a:rPr lang="en-US" sz="1200" b="0" u="none" strike="noStrike">
                <a:solidFill>
                  <a:schemeClr val="dk1"/>
                </a:solidFill>
                <a:effectLst/>
                <a:uFillTx/>
                <a:latin typeface="+mn-lt"/>
                <a:ea typeface="+mn-ea"/>
              </a:rPr>
              <a:t>và </a:t>
            </a:r>
            <a:r>
              <a:rPr lang="vi-VN" sz="1200" b="0" u="none" strike="noStrike">
                <a:solidFill>
                  <a:schemeClr val="dk1"/>
                </a:solidFill>
                <a:effectLst/>
                <a:uFillTx/>
                <a:latin typeface="+mn-lt"/>
                <a:ea typeface="+mn-ea"/>
              </a:rPr>
              <a:t>phải được xử lý bởi hệ thống.</a:t>
            </a:r>
            <a:endParaRPr lang="en-US" sz="1200" b="0" u="none" strike="noStrike">
              <a:solidFill>
                <a:srgbClr val="000000"/>
              </a:solidFill>
              <a:effectLst/>
              <a:uFillTx/>
              <a:latin typeface="Arial"/>
            </a:endParaRPr>
          </a:p>
          <a:p>
            <a:pPr marL="228600" indent="-228600">
              <a:lnSpc>
                <a:spcPct val="100000"/>
              </a:lnSpc>
              <a:buClr>
                <a:srgbClr val="000000"/>
              </a:buClr>
              <a:buFont typeface="OpenSymbol"/>
              <a:buAutoNum type="arabicPeriod"/>
            </a:pPr>
            <a:r>
              <a:rPr lang="vi-VN" sz="1200" b="0" u="none" strike="noStrike">
                <a:solidFill>
                  <a:schemeClr val="dk1"/>
                </a:solidFill>
                <a:effectLst/>
                <a:uFillTx/>
                <a:latin typeface="+mn-lt"/>
                <a:ea typeface="+mn-ea"/>
              </a:rPr>
              <a:t>Sự kiện Một số sự kiện xảy ra sẽ kích hoạt quá trình xử lý </a:t>
            </a:r>
            <a:r>
              <a:rPr lang="en-US" sz="1200" b="0" u="none" strike="noStrike">
                <a:solidFill>
                  <a:schemeClr val="dk1"/>
                </a:solidFill>
                <a:effectLst/>
                <a:uFillTx/>
                <a:latin typeface="+mn-lt"/>
                <a:ea typeface="+mn-ea"/>
              </a:rPr>
              <a:t>của </a:t>
            </a:r>
            <a:r>
              <a:rPr lang="vi-VN" sz="1200" b="0" u="none" strike="noStrike">
                <a:solidFill>
                  <a:schemeClr val="dk1"/>
                </a:solidFill>
                <a:effectLst/>
                <a:uFillTx/>
                <a:latin typeface="+mn-lt"/>
                <a:ea typeface="+mn-ea"/>
              </a:rPr>
              <a:t>hệ thống. Sự kiện có thể có</a:t>
            </a:r>
            <a:r>
              <a:rPr lang="en-US" sz="1200" b="0" u="none" strike="noStrike">
                <a:solidFill>
                  <a:schemeClr val="dk1"/>
                </a:solidFill>
                <a:effectLst/>
                <a:uFillTx/>
                <a:latin typeface="+mn-lt"/>
                <a:ea typeface="+mn-ea"/>
              </a:rPr>
              <a:t> </a:t>
            </a:r>
            <a:r>
              <a:rPr lang="vi-VN" sz="1200" b="0" u="none" strike="noStrike">
                <a:solidFill>
                  <a:schemeClr val="dk1"/>
                </a:solidFill>
                <a:effectLst/>
                <a:uFillTx/>
                <a:latin typeface="+mn-lt"/>
                <a:ea typeface="+mn-ea"/>
              </a:rPr>
              <a:t>dữ liệu liên quan nhưng không phải luôn luôn như vậy</a:t>
            </a:r>
            <a:r>
              <a:rPr lang="en-US" sz="1200" b="0" u="none" strike="noStrike">
                <a:solidFill>
                  <a:schemeClr val="dk1"/>
                </a:solidFill>
                <a:effectLst/>
                <a:uFillTx/>
                <a:latin typeface="+mn-lt"/>
                <a:ea typeface="+mn-ea"/>
              </a:rPr>
              <a:t>.</a:t>
            </a:r>
            <a:endParaRPr lang="en-US" sz="1200" b="0" u="none" strike="noStrike">
              <a:solidFill>
                <a:srgbClr val="000000"/>
              </a:solidFill>
              <a:effectLst/>
              <a:uFillTx/>
              <a:latin typeface="Arial"/>
            </a:endParaRPr>
          </a:p>
        </p:txBody>
      </p:sp>
      <p:sp>
        <p:nvSpPr>
          <p:cNvPr id="324" name="PlaceHolder 3"/>
          <p:cNvSpPr>
            <a:spLocks noGrp="1"/>
          </p:cNvSpPr>
          <p:nvPr>
            <p:ph type="sldNum" idx="86"/>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BEDA5A-4979-4AA2-859B-2CBC1B59726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1373040" y="754200"/>
            <a:ext cx="5025600" cy="3771720"/>
          </a:xfrm>
          <a:prstGeom prst="rect">
            <a:avLst/>
          </a:prstGeom>
          <a:ln w="0">
            <a:noFill/>
          </a:ln>
        </p:spPr>
      </p:sp>
      <p:sp>
        <p:nvSpPr>
          <p:cNvPr id="326"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Các mô hình hướng dữ liệu cho thấy chuỗi các hành động liên quan đến việc xử lý dữ liệu đầu vào và tạo ra đầu ra </a:t>
            </a:r>
            <a:r>
              <a:rPr lang="en-US" sz="2000" b="0" u="none" strike="noStrike">
                <a:solidFill>
                  <a:srgbClr val="000000"/>
                </a:solidFill>
                <a:effectLst/>
                <a:uFillTx/>
                <a:latin typeface="Arial"/>
              </a:rPr>
              <a:t>tương ứng</a:t>
            </a:r>
            <a:r>
              <a:rPr lang="vi-VN" sz="2000" b="0" u="none" strike="noStrike">
                <a:solidFill>
                  <a:srgbClr val="000000"/>
                </a:solidFill>
                <a:effectLst/>
                <a:uFillTx/>
                <a:latin typeface="Arial"/>
              </a:rPr>
              <a:t>. Chúng đặc biệt hữu ích trong quá trình phân tích các yêu cầu vì chúng có thể được sử dụng để hiển thị xử lý từ đầu đến cuối trong </a:t>
            </a:r>
            <a:r>
              <a:rPr lang="en-US" sz="2000" b="0" u="none" strike="noStrike">
                <a:solidFill>
                  <a:srgbClr val="000000"/>
                </a:solidFill>
                <a:effectLst/>
                <a:uFillTx/>
                <a:latin typeface="Arial"/>
              </a:rPr>
              <a:t>một </a:t>
            </a:r>
            <a:r>
              <a:rPr lang="vi-VN" sz="2000" b="0" u="none" strike="noStrike">
                <a:solidFill>
                  <a:srgbClr val="000000"/>
                </a:solidFill>
                <a:effectLst/>
                <a:uFillTx/>
                <a:latin typeface="Arial"/>
              </a:rPr>
              <a:t>hệ thống. Tức là, chúng </a:t>
            </a:r>
            <a:r>
              <a:rPr lang="en-US" sz="2000" b="0" u="none" strike="noStrike">
                <a:solidFill>
                  <a:srgbClr val="000000"/>
                </a:solidFill>
                <a:effectLst/>
                <a:uFillTx/>
                <a:latin typeface="Arial"/>
              </a:rPr>
              <a:t>biểu diễn </a:t>
            </a:r>
            <a:r>
              <a:rPr lang="vi-VN" sz="2000" b="0" u="none" strike="noStrike">
                <a:solidFill>
                  <a:srgbClr val="000000"/>
                </a:solidFill>
                <a:effectLst/>
                <a:uFillTx/>
                <a:latin typeface="Arial"/>
              </a:rPr>
              <a:t>toàn bộ chuỗi hành động diễn ra từ đầu vào đang được xử lý cho </a:t>
            </a:r>
            <a:r>
              <a:rPr lang="en-US" sz="2000" b="0" u="none" strike="noStrike">
                <a:solidFill>
                  <a:srgbClr val="000000"/>
                </a:solidFill>
                <a:effectLst/>
                <a:uFillTx/>
                <a:latin typeface="Arial"/>
              </a:rPr>
              <a:t>đến </a:t>
            </a:r>
            <a:r>
              <a:rPr lang="vi-VN" sz="2000" b="0" u="none" strike="noStrike">
                <a:solidFill>
                  <a:srgbClr val="000000"/>
                </a:solidFill>
                <a:effectLst/>
                <a:uFillTx/>
                <a:latin typeface="Arial"/>
              </a:rPr>
              <a:t>đầu ra tương ứng, đó là phản hồi của hệ thống.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Các mô hình hướng dữ liệu </a:t>
            </a:r>
            <a:r>
              <a:rPr lang="en-US" sz="2000" b="0" u="none" strike="noStrike">
                <a:solidFill>
                  <a:srgbClr val="000000"/>
                </a:solidFill>
                <a:effectLst/>
                <a:uFillTx/>
                <a:latin typeface="Arial"/>
              </a:rPr>
              <a:t>là một trong </a:t>
            </a:r>
            <a:r>
              <a:rPr lang="vi-VN" sz="2000" b="0" u="none" strike="noStrike">
                <a:solidFill>
                  <a:srgbClr val="000000"/>
                </a:solidFill>
                <a:effectLst/>
                <a:uFillTx/>
                <a:latin typeface="Arial"/>
              </a:rPr>
              <a:t>số các mô hình đồ họa đầu tiên</a:t>
            </a:r>
            <a:r>
              <a:rPr lang="en-US" sz="2000" b="0" u="none" strike="noStrike">
                <a:solidFill>
                  <a:srgbClr val="000000"/>
                </a:solidFill>
                <a:effectLst/>
                <a:uFillTx/>
                <a:latin typeface="Arial"/>
              </a:rPr>
              <a:t> được đề xuất cho phần mềm</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Vào </a:t>
            </a:r>
            <a:r>
              <a:rPr lang="vi-VN" sz="2000" b="0" u="none" strike="noStrike">
                <a:solidFill>
                  <a:srgbClr val="000000"/>
                </a:solidFill>
                <a:effectLst/>
                <a:uFillTx/>
                <a:latin typeface="Arial"/>
              </a:rPr>
              <a:t>những năm 1970, các phương pháp có cấu trúc như Phân tích Cấu trúc của DeMarco (DeMarco, 1978) đã giới thiệu sơ đồ </a:t>
            </a:r>
            <a:r>
              <a:rPr lang="en-US" sz="2000" b="0" u="none" strike="noStrike">
                <a:solidFill>
                  <a:srgbClr val="000000"/>
                </a:solidFill>
                <a:effectLst/>
                <a:uFillTx/>
                <a:latin typeface="Arial"/>
              </a:rPr>
              <a:t>luồng </a:t>
            </a:r>
            <a:r>
              <a:rPr lang="vi-VN" sz="2000" b="0" u="none" strike="noStrike">
                <a:solidFill>
                  <a:srgbClr val="000000"/>
                </a:solidFill>
                <a:effectLst/>
                <a:uFillTx/>
                <a:latin typeface="Arial"/>
              </a:rPr>
              <a:t>dữ liệu (DFD) </a:t>
            </a:r>
            <a:r>
              <a:rPr lang="en-US" sz="2000" b="0" u="none" strike="noStrike">
                <a:solidFill>
                  <a:srgbClr val="000000"/>
                </a:solidFill>
                <a:effectLst/>
                <a:uFillTx/>
                <a:latin typeface="Arial"/>
              </a:rPr>
              <a:t>nhằm biểu diễn </a:t>
            </a:r>
            <a:r>
              <a:rPr lang="vi-VN" sz="2000" b="0" u="none" strike="noStrike">
                <a:solidFill>
                  <a:srgbClr val="000000"/>
                </a:solidFill>
                <a:effectLst/>
                <a:uFillTx/>
                <a:latin typeface="Arial"/>
              </a:rPr>
              <a:t>các bước xử lý trong một hệ thống. Mô hình luồng dữ liệu rất hữu ích vì </a:t>
            </a:r>
            <a:r>
              <a:rPr lang="en-US" sz="2000" b="0" u="none" strike="noStrike">
                <a:solidFill>
                  <a:srgbClr val="000000"/>
                </a:solidFill>
                <a:effectLst/>
                <a:uFillTx/>
                <a:latin typeface="Arial"/>
              </a:rPr>
              <a:t>cho phép </a:t>
            </a:r>
            <a:r>
              <a:rPr lang="vi-VN" sz="2000" b="0" u="none" strike="noStrike">
                <a:solidFill>
                  <a:srgbClr val="000000"/>
                </a:solidFill>
                <a:effectLst/>
                <a:uFillTx/>
                <a:latin typeface="Arial"/>
              </a:rPr>
              <a:t>theo dõi và ghi lại cách dữ liệu liên kết với một </a:t>
            </a:r>
            <a:r>
              <a:rPr lang="en-US" sz="2000" b="0" u="none" strike="noStrike">
                <a:solidFill>
                  <a:srgbClr val="000000"/>
                </a:solidFill>
                <a:effectLst/>
                <a:uFillTx/>
                <a:latin typeface="Arial"/>
              </a:rPr>
              <a:t>quy trình xử lý xuyên suốt </a:t>
            </a:r>
            <a:r>
              <a:rPr lang="vi-VN" sz="2000" b="0" u="none" strike="noStrike">
                <a:solidFill>
                  <a:srgbClr val="000000"/>
                </a:solidFill>
                <a:effectLst/>
                <a:uFillTx/>
                <a:latin typeface="Arial"/>
              </a:rPr>
              <a:t>hệ thống</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giúp các nhà phân tích và thiết kế hiểu được những gì đang diễn ra. Biểu đồ luồng dữ liệu rất đơn giản và trực quan </a:t>
            </a:r>
            <a:r>
              <a:rPr lang="en-US" sz="2000" b="0" u="none" strike="noStrike">
                <a:solidFill>
                  <a:srgbClr val="000000"/>
                </a:solidFill>
                <a:effectLst/>
                <a:uFillTx/>
                <a:latin typeface="Arial"/>
              </a:rPr>
              <a:t>ở mức người dùng có thể hiểu và đánh giá </a:t>
            </a:r>
            <a:r>
              <a:rPr lang="vi-VN" sz="2000" b="0" u="none" strike="noStrike">
                <a:solidFill>
                  <a:srgbClr val="000000"/>
                </a:solidFill>
                <a:effectLst/>
                <a:uFillTx/>
                <a:latin typeface="Arial"/>
              </a:rPr>
              <a:t>mô hình. </a:t>
            </a:r>
            <a:r>
              <a:rPr lang="en-US" sz="2000" b="0" u="none" strike="noStrike">
                <a:solidFill>
                  <a:srgbClr val="000000"/>
                </a:solidFill>
                <a:effectLst/>
                <a:uFillTx/>
                <a:latin typeface="Arial"/>
              </a:rPr>
              <a:t>Ban đầu, </a:t>
            </a:r>
            <a:r>
              <a:rPr lang="vi-VN" sz="2000" b="0" u="none" strike="noStrike">
                <a:solidFill>
                  <a:srgbClr val="000000"/>
                </a:solidFill>
                <a:effectLst/>
                <a:uFillTx/>
                <a:latin typeface="Arial"/>
              </a:rPr>
              <a:t>UML không hỗ trợ </a:t>
            </a:r>
            <a:r>
              <a:rPr lang="en-US" sz="2000" b="0" u="none" strike="noStrike">
                <a:solidFill>
                  <a:srgbClr val="000000"/>
                </a:solidFill>
                <a:effectLst/>
                <a:uFillTx/>
                <a:latin typeface="Arial"/>
              </a:rPr>
              <a:t>biểu đồ luồng </a:t>
            </a:r>
            <a:r>
              <a:rPr lang="vi-VN" sz="2000" b="0" u="none" strike="noStrike">
                <a:solidFill>
                  <a:srgbClr val="000000"/>
                </a:solidFill>
                <a:effectLst/>
                <a:uFillTx/>
                <a:latin typeface="Arial"/>
              </a:rPr>
              <a:t>dữ liệu</a:t>
            </a:r>
            <a:r>
              <a:rPr lang="en-US" sz="2000" b="0" u="none" strike="noStrike">
                <a:solidFill>
                  <a:srgbClr val="000000"/>
                </a:solidFill>
                <a:effectLst/>
                <a:uFillTx/>
                <a:latin typeface="Arial"/>
              </a:rPr>
              <a:t> bởi vì </a:t>
            </a:r>
            <a:r>
              <a:rPr lang="vi-VN" sz="2000" b="0" u="none" strike="noStrike">
                <a:solidFill>
                  <a:srgbClr val="000000"/>
                </a:solidFill>
                <a:effectLst/>
                <a:uFillTx/>
                <a:latin typeface="Arial"/>
              </a:rPr>
              <a:t>DFD </a:t>
            </a:r>
            <a:r>
              <a:rPr lang="en-US" sz="2000" b="0" u="none" strike="noStrike">
                <a:solidFill>
                  <a:srgbClr val="000000"/>
                </a:solidFill>
                <a:effectLst/>
                <a:uFillTx/>
                <a:latin typeface="Arial"/>
              </a:rPr>
              <a:t>chỉ </a:t>
            </a:r>
            <a:r>
              <a:rPr lang="vi-VN" sz="2000" b="0" u="none" strike="noStrike">
                <a:solidFill>
                  <a:srgbClr val="000000"/>
                </a:solidFill>
                <a:effectLst/>
                <a:uFillTx/>
                <a:latin typeface="Arial"/>
              </a:rPr>
              <a:t>tập trung vào các chức năng của hệ thống và không </a:t>
            </a:r>
            <a:r>
              <a:rPr lang="en-US" sz="2000" b="0" u="none" strike="noStrike">
                <a:solidFill>
                  <a:srgbClr val="000000"/>
                </a:solidFill>
                <a:effectLst/>
                <a:uFillTx/>
                <a:latin typeface="Arial"/>
              </a:rPr>
              <a:t>làm rõ quá trình truyền thông điệp giữa </a:t>
            </a:r>
            <a:r>
              <a:rPr lang="vi-VN" sz="2000" b="0" u="none" strike="noStrike">
                <a:solidFill>
                  <a:srgbClr val="000000"/>
                </a:solidFill>
                <a:effectLst/>
                <a:uFillTx/>
                <a:latin typeface="Arial"/>
              </a:rPr>
              <a:t>các đối tượng hệ thống. Tuy nhiên, vì các hệ thống hướng dữ liệu rất phổ biến trong </a:t>
            </a:r>
            <a:r>
              <a:rPr lang="en-US" sz="2000" b="0" u="none" strike="noStrike">
                <a:solidFill>
                  <a:srgbClr val="000000"/>
                </a:solidFill>
                <a:effectLst/>
                <a:uFillTx/>
                <a:latin typeface="Arial"/>
              </a:rPr>
              <a:t>các hệ thống nghiệp vụ</a:t>
            </a:r>
            <a:r>
              <a:rPr lang="vi-VN" sz="2000" b="0" u="none" strike="noStrike">
                <a:solidFill>
                  <a:srgbClr val="000000"/>
                </a:solidFill>
                <a:effectLst/>
                <a:uFillTx/>
                <a:latin typeface="Arial"/>
              </a:rPr>
              <a:t>, UML 2.0 đã giới thiệu </a:t>
            </a:r>
            <a:r>
              <a:rPr lang="en-US" sz="2000" b="0" u="none" strike="noStrike">
                <a:solidFill>
                  <a:srgbClr val="000000"/>
                </a:solidFill>
                <a:effectLst/>
                <a:uFillTx/>
                <a:latin typeface="Arial"/>
              </a:rPr>
              <a:t>biểu đồ </a:t>
            </a:r>
            <a:r>
              <a:rPr lang="vi-VN" sz="2000" b="0" u="none" strike="noStrike">
                <a:solidFill>
                  <a:srgbClr val="000000"/>
                </a:solidFill>
                <a:effectLst/>
                <a:uFillTx/>
                <a:latin typeface="Arial"/>
              </a:rPr>
              <a:t>hoạt động</a:t>
            </a:r>
            <a:r>
              <a:rPr lang="en-US" sz="2000" b="0" u="none" strike="noStrike">
                <a:solidFill>
                  <a:srgbClr val="000000"/>
                </a:solidFill>
                <a:effectLst/>
                <a:uFillTx/>
                <a:latin typeface="Arial"/>
              </a:rPr>
              <a:t> có khả năng diễn đạt tương tự như các biểu </a:t>
            </a:r>
            <a:r>
              <a:rPr lang="vi-VN" sz="2000" b="0" u="none" strike="noStrike">
                <a:solidFill>
                  <a:srgbClr val="000000"/>
                </a:solidFill>
                <a:effectLst/>
                <a:uFillTx/>
                <a:latin typeface="Arial"/>
              </a:rPr>
              <a:t>đồ luồng dữ liệu. </a:t>
            </a:r>
            <a:endParaRPr lang="en-US" sz="2000" b="0" u="none" strike="noStrike">
              <a:solidFill>
                <a:srgbClr val="000000"/>
              </a:solidFill>
              <a:effectLst/>
              <a:uFillTx/>
              <a:latin typeface="Arial"/>
            </a:endParaRPr>
          </a:p>
        </p:txBody>
      </p:sp>
      <p:sp>
        <p:nvSpPr>
          <p:cNvPr id="327" name="PlaceHolder 3"/>
          <p:cNvSpPr>
            <a:spLocks noGrp="1"/>
          </p:cNvSpPr>
          <p:nvPr>
            <p:ph type="sldNum" idx="87"/>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04197F-9AC4-4143-AAD9-919C36D891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373040" y="754200"/>
            <a:ext cx="5025600" cy="3771720"/>
          </a:xfrm>
          <a:prstGeom prst="rect">
            <a:avLst/>
          </a:prstGeom>
          <a:ln w="0">
            <a:noFill/>
          </a:ln>
        </p:spPr>
      </p:sp>
      <p:sp>
        <p:nvSpPr>
          <p:cNvPr id="329"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defTabSz="914400">
              <a:lnSpc>
                <a:spcPct val="100000"/>
              </a:lnSpc>
              <a:buNone/>
              <a:tabLst>
                <a:tab algn="l" pos="0"/>
              </a:tabLst>
            </a:pPr>
            <a:r>
              <a:rPr lang="vi-VN" sz="2000" b="0" u="none" strike="noStrike">
                <a:solidFill>
                  <a:srgbClr val="000000"/>
                </a:solidFill>
                <a:effectLst/>
                <a:uFillTx/>
                <a:latin typeface="Arial"/>
              </a:rPr>
              <a:t>Ví dụ, </a:t>
            </a:r>
            <a:r>
              <a:rPr lang="en-US" sz="2000" b="0" u="none" strike="noStrike">
                <a:solidFill>
                  <a:srgbClr val="000000"/>
                </a:solidFill>
                <a:effectLst/>
                <a:uFillTx/>
                <a:latin typeface="Arial"/>
              </a:rPr>
              <a:t>h</a:t>
            </a:r>
            <a:r>
              <a:rPr lang="vi-VN" sz="2000" b="0" u="none" strike="noStrike">
                <a:solidFill>
                  <a:srgbClr val="000000"/>
                </a:solidFill>
                <a:effectLst/>
                <a:uFillTx/>
                <a:latin typeface="Arial"/>
              </a:rPr>
              <a:t>ình </a:t>
            </a:r>
            <a:r>
              <a:rPr lang="en-US" sz="2000" b="0" u="none" strike="noStrike">
                <a:solidFill>
                  <a:srgbClr val="000000"/>
                </a:solidFill>
                <a:effectLst/>
                <a:uFillTx/>
                <a:latin typeface="Arial"/>
              </a:rPr>
              <a:t>vẽ trong slide </a:t>
            </a:r>
            <a:r>
              <a:rPr lang="vi-VN" sz="2000" b="0" u="none" strike="noStrike">
                <a:solidFill>
                  <a:srgbClr val="000000"/>
                </a:solidFill>
                <a:effectLst/>
                <a:uFillTx/>
                <a:latin typeface="Arial"/>
              </a:rPr>
              <a:t>cho thấy chuỗi xử lý liên quan đến phần mềm </a:t>
            </a:r>
            <a:r>
              <a:rPr lang="en-US" sz="2000" b="0" u="none" strike="noStrike">
                <a:solidFill>
                  <a:srgbClr val="000000"/>
                </a:solidFill>
                <a:effectLst/>
                <a:uFillTx/>
                <a:latin typeface="Arial"/>
              </a:rPr>
              <a:t>hỗ trợ tiêm </a:t>
            </a:r>
            <a:r>
              <a:rPr lang="vi-VN" sz="2000" b="0" u="none" strike="noStrike">
                <a:solidFill>
                  <a:srgbClr val="000000"/>
                </a:solidFill>
                <a:effectLst/>
                <a:uFillTx/>
                <a:latin typeface="Arial"/>
              </a:rPr>
              <a:t>insulin</a:t>
            </a:r>
            <a:r>
              <a:rPr lang="en-US" sz="2000" b="0" u="none" strike="noStrike">
                <a:solidFill>
                  <a:srgbClr val="000000"/>
                </a:solidFill>
                <a:effectLst/>
                <a:uFillTx/>
                <a:latin typeface="Arial"/>
              </a:rPr>
              <a:t> (phần mềm này được giới thiệu ở trang 18, giáo trình Sommerville)</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Biểu đồ </a:t>
            </a:r>
            <a:r>
              <a:rPr lang="vi-VN" sz="2000" b="0" u="none" strike="noStrike">
                <a:solidFill>
                  <a:srgbClr val="000000"/>
                </a:solidFill>
                <a:effectLst/>
                <a:uFillTx/>
                <a:latin typeface="Arial"/>
              </a:rPr>
              <a:t>này</a:t>
            </a:r>
            <a:r>
              <a:rPr lang="en-US" sz="2000" b="0" u="none" strike="noStrike">
                <a:solidFill>
                  <a:srgbClr val="000000"/>
                </a:solidFill>
                <a:effectLst/>
                <a:uFillTx/>
                <a:latin typeface="Arial"/>
              </a:rPr>
              <a:t> tái hiện </a:t>
            </a:r>
            <a:r>
              <a:rPr lang="vi-VN" sz="2000" b="0" u="none" strike="noStrike">
                <a:solidFill>
                  <a:srgbClr val="000000"/>
                </a:solidFill>
                <a:effectLst/>
                <a:uFillTx/>
                <a:latin typeface="Arial"/>
              </a:rPr>
              <a:t>các bước xử lý (được biểu diễn dưới dạng hoạt động</a:t>
            </a:r>
            <a:r>
              <a:rPr lang="en-US" sz="2000" b="0" u="none" strike="noStrike">
                <a:solidFill>
                  <a:srgbClr val="000000"/>
                </a:solidFill>
                <a:effectLst/>
                <a:uFillTx/>
                <a:latin typeface="Arial"/>
              </a:rPr>
              <a:t>, với ký pháp hình chữ nhật vát góc</a:t>
            </a:r>
            <a:r>
              <a:rPr lang="vi-VN" sz="2000" b="0" u="none" strike="noStrike">
                <a:solidFill>
                  <a:srgbClr val="000000"/>
                </a:solidFill>
                <a:effectLst/>
                <a:uFillTx/>
                <a:latin typeface="Arial"/>
              </a:rPr>
              <a:t>) và dữ liệu </a:t>
            </a:r>
            <a:r>
              <a:rPr lang="en-US" sz="2000" b="0" u="none" strike="noStrike">
                <a:solidFill>
                  <a:srgbClr val="000000"/>
                </a:solidFill>
                <a:effectLst/>
                <a:uFillTx/>
                <a:latin typeface="Arial"/>
              </a:rPr>
              <a:t>truyền qua </a:t>
            </a:r>
            <a:r>
              <a:rPr lang="vi-VN" sz="2000" b="0" u="none" strike="noStrike">
                <a:solidFill>
                  <a:srgbClr val="000000"/>
                </a:solidFill>
                <a:effectLst/>
                <a:uFillTx/>
                <a:latin typeface="Arial"/>
              </a:rPr>
              <a:t>các bước này (được biểu diễn dưới dạng đối tượng</a:t>
            </a:r>
            <a:r>
              <a:rPr lang="en-US" sz="2000" b="0" u="none" strike="noStrike">
                <a:solidFill>
                  <a:srgbClr val="000000"/>
                </a:solidFill>
                <a:effectLst/>
                <a:uFillTx/>
                <a:latin typeface="Arial"/>
              </a:rPr>
              <a:t>, với ký pháp hình chữ nhật</a:t>
            </a:r>
            <a:r>
              <a:rPr lang="vi-VN" sz="2000" b="0" u="none" strike="noStrike">
                <a:solidFill>
                  <a:srgbClr val="000000"/>
                </a:solidFill>
                <a:effectLst/>
                <a:uFillTx/>
                <a:latin typeface="Arial"/>
              </a:rPr>
              <a:t>). </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r>
              <a:rPr lang="vi-VN" sz="2000" b="0" u="none" strike="noStrike">
                <a:solidFill>
                  <a:srgbClr val="000000"/>
                </a:solidFill>
                <a:effectLst/>
                <a:uFillTx/>
                <a:latin typeface="Arial"/>
              </a:rPr>
              <a:t>Một cách khác để hiển thị chuỗi xử lý trong một hệ thống là sử dụng các </a:t>
            </a:r>
            <a:r>
              <a:rPr lang="en-US" sz="2000" b="0" u="none" strike="noStrike">
                <a:solidFill>
                  <a:srgbClr val="000000"/>
                </a:solidFill>
                <a:effectLst/>
                <a:uFillTx/>
                <a:latin typeface="Arial"/>
              </a:rPr>
              <a:t>biểu</a:t>
            </a:r>
            <a:r>
              <a:rPr lang="vi-VN" sz="2000" b="0" u="none" strike="noStrike">
                <a:solidFill>
                  <a:srgbClr val="000000"/>
                </a:solidFill>
                <a:effectLst/>
                <a:uFillTx/>
                <a:latin typeface="Arial"/>
              </a:rPr>
              <a:t> đồ trình tự UML. </a:t>
            </a:r>
            <a:r>
              <a:rPr lang="en-US" sz="2000" b="0" u="none" strike="noStrike">
                <a:solidFill>
                  <a:srgbClr val="000000"/>
                </a:solidFill>
                <a:effectLst/>
                <a:uFillTx/>
                <a:latin typeface="Arial"/>
              </a:rPr>
              <a:t>Tuy nhiên, biểu đồ tuần tự chỉ tập trung </a:t>
            </a:r>
            <a:r>
              <a:rPr lang="vi-VN" sz="2000" b="0" u="none" strike="noStrike">
                <a:solidFill>
                  <a:srgbClr val="000000"/>
                </a:solidFill>
                <a:effectLst/>
                <a:uFillTx/>
                <a:latin typeface="Arial"/>
              </a:rPr>
              <a:t>mô </a:t>
            </a:r>
            <a:r>
              <a:rPr lang="en-US" sz="2000" b="0" u="none" strike="noStrike">
                <a:solidFill>
                  <a:srgbClr val="000000"/>
                </a:solidFill>
                <a:effectLst/>
                <a:uFillTx/>
                <a:latin typeface="Arial"/>
              </a:rPr>
              <a:t>tả </a:t>
            </a:r>
            <a:r>
              <a:rPr lang="vi-VN" sz="2000" b="0" u="none" strike="noStrike">
                <a:solidFill>
                  <a:srgbClr val="000000"/>
                </a:solidFill>
                <a:effectLst/>
                <a:uFillTx/>
                <a:latin typeface="Arial"/>
              </a:rPr>
              <a:t>tương tác </a:t>
            </a:r>
            <a:r>
              <a:rPr lang="en-US" sz="2000" b="0" u="none" strike="noStrike">
                <a:solidFill>
                  <a:srgbClr val="000000"/>
                </a:solidFill>
                <a:effectLst/>
                <a:uFillTx/>
                <a:latin typeface="Arial"/>
              </a:rPr>
              <a:t>giữa các đối tượng ở dạng trình tự truyền thông điệp giữa chúng, thông tin luồng </a:t>
            </a:r>
            <a:r>
              <a:rPr lang="vi-VN" sz="2000" b="0" u="none" strike="noStrike">
                <a:solidFill>
                  <a:srgbClr val="000000"/>
                </a:solidFill>
                <a:effectLst/>
                <a:uFillTx/>
                <a:latin typeface="Arial"/>
              </a:rPr>
              <a:t>dữ liệu </a:t>
            </a:r>
            <a:r>
              <a:rPr lang="en-US" sz="2000" b="0" u="none" strike="noStrike">
                <a:solidFill>
                  <a:srgbClr val="000000"/>
                </a:solidFill>
                <a:effectLst/>
                <a:uFillTx/>
                <a:latin typeface="Arial"/>
              </a:rPr>
              <a:t>thường không được biểu diễn tường minh, và thường phải qua một vài phép biến đổi mô hình để thu được dạng biểu đồ luồng dữ liệu</a:t>
            </a:r>
            <a:r>
              <a:rPr lang="vi-VN"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330" name="PlaceHolder 3"/>
          <p:cNvSpPr>
            <a:spLocks noGrp="1"/>
          </p:cNvSpPr>
          <p:nvPr>
            <p:ph type="sldNum" idx="88"/>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E3FF5E-9B71-41A6-8A91-269B1642166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1373040" y="754200"/>
            <a:ext cx="5025600" cy="3771720"/>
          </a:xfrm>
          <a:prstGeom prst="rect">
            <a:avLst/>
          </a:prstGeom>
          <a:ln w="0">
            <a:noFill/>
          </a:ln>
        </p:spPr>
      </p:sp>
      <p:sp>
        <p:nvSpPr>
          <p:cNvPr id="332"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Mô hình hướng sự kiện cho thấy cách hệ thống phản hồi các sự kiện bên ngoài và bên trong. </a:t>
            </a:r>
            <a:r>
              <a:rPr lang="en-US" sz="2000" b="0" u="none" strike="noStrike">
                <a:solidFill>
                  <a:srgbClr val="000000"/>
                </a:solidFill>
                <a:effectLst/>
                <a:uFillTx/>
                <a:latin typeface="Arial"/>
              </a:rPr>
              <a:t>Mô hình này được xây dựng</a:t>
            </a:r>
            <a:r>
              <a:rPr lang="vi-VN" sz="2000" b="0" u="none" strike="noStrike">
                <a:solidFill>
                  <a:srgbClr val="000000"/>
                </a:solidFill>
                <a:effectLst/>
                <a:uFillTx/>
                <a:latin typeface="Arial"/>
              </a:rPr>
              <a:t> dựa trên giả định rằng một hệ thống có một số hữu hạn các trạng thái và các sự kiện (kích thích) có thể gây ra sự chuyển đổi từ trạng thái này sang trạng thái khác. Ví dụ, một hệ thống kiểm soát van có thể di chuyển từ trạng thái 'Van mở' sang trạng thái 'Van đóng' khi một lệnh vận hành (kích thích) được nhận. </a:t>
            </a:r>
            <a:r>
              <a:rPr lang="en-US" sz="2000" b="0" u="none" strike="noStrike">
                <a:solidFill>
                  <a:srgbClr val="000000"/>
                </a:solidFill>
                <a:effectLst/>
                <a:uFillTx/>
                <a:latin typeface="Arial"/>
              </a:rPr>
              <a:t>Góc nhìn </a:t>
            </a:r>
            <a:r>
              <a:rPr lang="vi-VN" sz="2000" b="0" u="none" strike="noStrike">
                <a:solidFill>
                  <a:srgbClr val="000000"/>
                </a:solidFill>
                <a:effectLst/>
                <a:uFillTx/>
                <a:latin typeface="Arial"/>
              </a:rPr>
              <a:t>hệ thống </a:t>
            </a:r>
            <a:r>
              <a:rPr lang="en-US" sz="2000" b="0" u="none" strike="noStrike">
                <a:solidFill>
                  <a:srgbClr val="000000"/>
                </a:solidFill>
                <a:effectLst/>
                <a:uFillTx/>
                <a:latin typeface="Arial"/>
              </a:rPr>
              <a:t>này </a:t>
            </a:r>
            <a:r>
              <a:rPr lang="vi-VN" sz="2000" b="0" u="none" strike="noStrike">
                <a:solidFill>
                  <a:srgbClr val="000000"/>
                </a:solidFill>
                <a:effectLst/>
                <a:uFillTx/>
                <a:latin typeface="Arial"/>
              </a:rPr>
              <a:t>đặc biệt thích hợp cho các hệ thống thời gian thực. Mô hình dựa trên sự kiện được giới thiệu trong các phương pháp thiết kế thời gian thực như phương pháp được đề xuất bởi Ward và Mellor </a:t>
            </a:r>
            <a:r>
              <a:rPr lang="en-US" sz="2000" b="0" u="none" strike="noStrike">
                <a:solidFill>
                  <a:srgbClr val="000000"/>
                </a:solidFill>
                <a:effectLst/>
                <a:uFillTx/>
                <a:latin typeface="Arial"/>
              </a:rPr>
              <a:t>vào năm </a:t>
            </a:r>
            <a:r>
              <a:rPr lang="vi-VN" sz="2000" b="0" u="none" strike="noStrike">
                <a:solidFill>
                  <a:srgbClr val="000000"/>
                </a:solidFill>
                <a:effectLst/>
                <a:uFillTx/>
                <a:latin typeface="Arial"/>
              </a:rPr>
              <a:t>1985 và </a:t>
            </a:r>
            <a:r>
              <a:rPr lang="en-US" sz="2000" b="0" u="none" strike="noStrike">
                <a:solidFill>
                  <a:srgbClr val="000000"/>
                </a:solidFill>
                <a:effectLst/>
                <a:uFillTx/>
                <a:latin typeface="Arial"/>
              </a:rPr>
              <a:t>bởi </a:t>
            </a:r>
            <a:r>
              <a:rPr lang="vi-VN" sz="2000" b="0" u="none" strike="noStrike">
                <a:solidFill>
                  <a:srgbClr val="000000"/>
                </a:solidFill>
                <a:effectLst/>
                <a:uFillTx/>
                <a:latin typeface="Arial"/>
              </a:rPr>
              <a:t>Harel </a:t>
            </a:r>
            <a:r>
              <a:rPr lang="en-US" sz="2000" b="0" u="none" strike="noStrike">
                <a:solidFill>
                  <a:srgbClr val="000000"/>
                </a:solidFill>
                <a:effectLst/>
                <a:uFillTx/>
                <a:latin typeface="Arial"/>
              </a:rPr>
              <a:t>vào năm </a:t>
            </a:r>
            <a:r>
              <a:rPr lang="vi-VN" sz="2000" b="0" u="none" strike="noStrike">
                <a:solidFill>
                  <a:srgbClr val="000000"/>
                </a:solidFill>
                <a:effectLst/>
                <a:uFillTx/>
                <a:latin typeface="Arial"/>
              </a:rPr>
              <a:t>1987.</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333" name="PlaceHolder 3"/>
          <p:cNvSpPr>
            <a:spLocks noGrp="1"/>
          </p:cNvSpPr>
          <p:nvPr>
            <p:ph type="sldNum" idx="89"/>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87F7B4-00CF-46C6-BEBD-9BD3B1C8CA4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1373040" y="754200"/>
            <a:ext cx="5025600" cy="3771720"/>
          </a:xfrm>
          <a:prstGeom prst="rect">
            <a:avLst/>
          </a:prstGeom>
          <a:ln w="0">
            <a:noFill/>
          </a:ln>
        </p:spPr>
      </p:sp>
      <p:sp>
        <p:nvSpPr>
          <p:cNvPr id="335"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defTabSz="914400">
              <a:lnSpc>
                <a:spcPct val="100000"/>
              </a:lnSpc>
              <a:buNone/>
              <a:tabLst>
                <a:tab algn="l" pos="0"/>
              </a:tabLst>
            </a:pPr>
            <a:r>
              <a:rPr lang="vi-VN" sz="2000" b="0" u="none" strike="noStrike">
                <a:solidFill>
                  <a:srgbClr val="000000"/>
                </a:solidFill>
                <a:effectLst/>
                <a:uFillTx/>
                <a:latin typeface="Arial"/>
              </a:rPr>
              <a:t>UML hỗ trợ mô hình dựa trên sự kiện bằng cách sử dụng </a:t>
            </a:r>
            <a:r>
              <a:rPr lang="en-US" sz="2000" b="0" u="none" strike="noStrike">
                <a:solidFill>
                  <a:srgbClr val="000000"/>
                </a:solidFill>
                <a:effectLst/>
                <a:uFillTx/>
                <a:latin typeface="Arial"/>
              </a:rPr>
              <a:t>biểu </a:t>
            </a:r>
            <a:r>
              <a:rPr lang="vi-VN" sz="2000" b="0" u="none" strike="noStrike">
                <a:solidFill>
                  <a:srgbClr val="000000"/>
                </a:solidFill>
                <a:effectLst/>
                <a:uFillTx/>
                <a:latin typeface="Arial"/>
              </a:rPr>
              <a:t>đồ trạng thái, dựa trên Statecharts</a:t>
            </a:r>
            <a:r>
              <a:rPr lang="en-US" sz="2000" b="0" u="none" strike="noStrike">
                <a:solidFill>
                  <a:srgbClr val="000000"/>
                </a:solidFill>
                <a:effectLst/>
                <a:uFillTx/>
                <a:latin typeface="Arial"/>
              </a:rPr>
              <a:t> do </a:t>
            </a:r>
            <a:r>
              <a:rPr lang="vi-VN" sz="2000" b="0" u="none" strike="noStrike">
                <a:solidFill>
                  <a:srgbClr val="000000"/>
                </a:solidFill>
                <a:effectLst/>
                <a:uFillTx/>
                <a:latin typeface="Arial"/>
              </a:rPr>
              <a:t>Harel</a:t>
            </a:r>
            <a:r>
              <a:rPr lang="en-US" sz="2000" b="0" u="none" strike="noStrike">
                <a:solidFill>
                  <a:srgbClr val="000000"/>
                </a:solidFill>
                <a:effectLst/>
                <a:uFillTx/>
                <a:latin typeface="Arial"/>
              </a:rPr>
              <a:t> đề xuất vào năm </a:t>
            </a:r>
            <a:r>
              <a:rPr lang="vi-VN" sz="2000" b="0" u="none" strike="noStrike">
                <a:solidFill>
                  <a:srgbClr val="000000"/>
                </a:solidFill>
                <a:effectLst/>
                <a:uFillTx/>
                <a:latin typeface="Arial"/>
              </a:rPr>
              <a:t>1987. </a:t>
            </a:r>
            <a:r>
              <a:rPr lang="en-US" sz="2000" b="0" u="none" strike="noStrike">
                <a:solidFill>
                  <a:srgbClr val="000000"/>
                </a:solidFill>
                <a:effectLst/>
                <a:uFillTx/>
                <a:latin typeface="Arial"/>
              </a:rPr>
              <a:t>Biểu </a:t>
            </a:r>
            <a:r>
              <a:rPr lang="vi-VN" sz="2000" b="0" u="none" strike="noStrike">
                <a:solidFill>
                  <a:srgbClr val="000000"/>
                </a:solidFill>
                <a:effectLst/>
                <a:uFillTx/>
                <a:latin typeface="Arial"/>
              </a:rPr>
              <a:t>đồ trạng thái </a:t>
            </a:r>
            <a:r>
              <a:rPr lang="en-US" sz="2000" b="0" u="none" strike="noStrike">
                <a:solidFill>
                  <a:srgbClr val="000000"/>
                </a:solidFill>
                <a:effectLst/>
                <a:uFillTx/>
                <a:latin typeface="Arial"/>
              </a:rPr>
              <a:t>biểu diễn </a:t>
            </a:r>
            <a:r>
              <a:rPr lang="vi-VN" sz="2000" b="0" u="none" strike="noStrike">
                <a:solidFill>
                  <a:srgbClr val="000000"/>
                </a:solidFill>
                <a:effectLst/>
                <a:uFillTx/>
                <a:latin typeface="Arial"/>
              </a:rPr>
              <a:t>trạng thái hệ thống và các sự kiện gây chuyển tiếp từ trạng thái này sang trạng thái khác. Chúng không hiển thị luồng dữ liệu bên trong hệ thống nhưng có thể bao gồm thông tin bổ sung về các tính toán được thực hiện ở mỗi trạng thái.</a:t>
            </a:r>
            <a:endParaRPr lang="en-US" sz="2000" b="0" u="none" strike="noStrike">
              <a:solidFill>
                <a:srgbClr val="000000"/>
              </a:solidFill>
              <a:effectLst/>
              <a:uFillTx/>
              <a:latin typeface="Arial"/>
            </a:endParaRPr>
          </a:p>
        </p:txBody>
      </p:sp>
      <p:sp>
        <p:nvSpPr>
          <p:cNvPr id="336" name="PlaceHolder 3"/>
          <p:cNvSpPr>
            <a:spLocks noGrp="1"/>
          </p:cNvSpPr>
          <p:nvPr>
            <p:ph type="sldNum" idx="90"/>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713B16-09B7-4675-9683-8AF52DF0F37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373040" y="754200"/>
            <a:ext cx="5025600" cy="3771720"/>
          </a:xfrm>
          <a:prstGeom prst="rect">
            <a:avLst/>
          </a:prstGeom>
          <a:ln w="0">
            <a:noFill/>
          </a:ln>
        </p:spPr>
      </p:sp>
      <p:sp>
        <p:nvSpPr>
          <p:cNvPr id="338"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Chúng ta tập trung vào v</a:t>
            </a:r>
            <a:r>
              <a:rPr lang="vi-VN" sz="2000" b="0" u="none" strike="noStrike">
                <a:solidFill>
                  <a:srgbClr val="000000"/>
                </a:solidFill>
                <a:effectLst/>
                <a:uFillTx/>
                <a:latin typeface="Arial"/>
              </a:rPr>
              <a:t>í dụ về phần mềm điều khiển cho lò vi sóng </a:t>
            </a:r>
            <a:r>
              <a:rPr lang="en-US" sz="2000" b="0" u="none" strike="noStrike">
                <a:solidFill>
                  <a:srgbClr val="000000"/>
                </a:solidFill>
                <a:effectLst/>
                <a:uFillTx/>
                <a:latin typeface="Arial"/>
              </a:rPr>
              <a:t>ở mức </a:t>
            </a:r>
            <a:r>
              <a:rPr lang="vi-VN" sz="2000" b="0" u="none" strike="noStrike">
                <a:solidFill>
                  <a:srgbClr val="000000"/>
                </a:solidFill>
                <a:effectLst/>
                <a:uFillTx/>
                <a:latin typeface="Arial"/>
              </a:rPr>
              <a:t>đơn giản để minh họa mô hình hướng sự kiện. Lò vi sóng </a:t>
            </a:r>
            <a:r>
              <a:rPr lang="en-US" sz="2000" b="0" u="none" strike="noStrike">
                <a:solidFill>
                  <a:srgbClr val="000000"/>
                </a:solidFill>
                <a:effectLst/>
                <a:uFillTx/>
                <a:latin typeface="Arial"/>
              </a:rPr>
              <a:t>trong thực tế </a:t>
            </a:r>
            <a:r>
              <a:rPr lang="vi-VN" sz="2000" b="0" u="none" strike="noStrike">
                <a:solidFill>
                  <a:srgbClr val="000000"/>
                </a:solidFill>
                <a:effectLst/>
                <a:uFillTx/>
                <a:latin typeface="Arial"/>
              </a:rPr>
              <a:t>phức tạp hơn nhiều so với hệ thống này</a:t>
            </a:r>
            <a:r>
              <a:rPr lang="en-US" sz="2000" b="0" u="none" strike="noStrike">
                <a:solidFill>
                  <a:srgbClr val="000000"/>
                </a:solidFill>
                <a:effectLst/>
                <a:uFillTx/>
                <a:latin typeface="Arial"/>
              </a:rPr>
              <a:t>. Mục đích của sự </a:t>
            </a:r>
            <a:r>
              <a:rPr lang="vi-VN" sz="2000" b="0" u="none" strike="noStrike">
                <a:solidFill>
                  <a:srgbClr val="000000"/>
                </a:solidFill>
                <a:effectLst/>
                <a:uFillTx/>
                <a:latin typeface="Arial"/>
              </a:rPr>
              <a:t>đơn giản hóa </a:t>
            </a:r>
            <a:r>
              <a:rPr lang="en-US" sz="2000" b="0" u="none" strike="noStrike">
                <a:solidFill>
                  <a:srgbClr val="000000"/>
                </a:solidFill>
                <a:effectLst/>
                <a:uFillTx/>
                <a:latin typeface="Arial"/>
              </a:rPr>
              <a:t>ở đây là để tăng tính </a:t>
            </a:r>
            <a:r>
              <a:rPr lang="vi-VN" sz="2000" b="0" u="none" strike="noStrike">
                <a:solidFill>
                  <a:srgbClr val="000000"/>
                </a:solidFill>
                <a:effectLst/>
                <a:uFillTx/>
                <a:latin typeface="Arial"/>
              </a:rPr>
              <a:t>dễ hiểu hơn. Lò vi sóng đơn giản này có công tắc để chọn toàn bộ hoặc một nửa công suất, bàn phím số để nhập thời gian nấu, nút bắt đầu / dừng và màn hình chữ và số. </a:t>
            </a:r>
            <a:r>
              <a:rPr lang="en-US" sz="2000" b="0" u="none" strike="noStrike">
                <a:solidFill>
                  <a:srgbClr val="000000"/>
                </a:solidFill>
                <a:effectLst/>
                <a:uFillTx/>
                <a:latin typeface="Arial"/>
              </a:rPr>
              <a:t>Chúng ta </a:t>
            </a:r>
            <a:r>
              <a:rPr lang="vi-VN" sz="2000" b="0" u="none" strike="noStrike">
                <a:solidFill>
                  <a:srgbClr val="000000"/>
                </a:solidFill>
                <a:effectLst/>
                <a:uFillTx/>
                <a:latin typeface="Arial"/>
              </a:rPr>
              <a:t>giả định rằng chuỗi các hành động trong việc sử dụng lò vi sóng là</a:t>
            </a:r>
            <a:r>
              <a:rPr lang="en-US" sz="2000" b="0" u="none" strike="noStrike">
                <a:solidFill>
                  <a:srgbClr val="000000"/>
                </a:solidFill>
                <a:effectLst/>
                <a:uFillTx/>
                <a:latin typeface="Arial"/>
              </a:rPr>
              <a:t> như sau</a:t>
            </a:r>
            <a:r>
              <a:rPr lang="vi-VN" sz="2000" b="0" u="none" strike="noStrike">
                <a:solidFill>
                  <a:srgbClr val="000000"/>
                </a:solidFill>
                <a:effectLst/>
                <a:uFillTx/>
                <a:latin typeface="Arial"/>
              </a:rPr>
              <a:t>: </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vi-VN" sz="2000" b="0" u="none" strike="noStrike">
                <a:solidFill>
                  <a:srgbClr val="000000"/>
                </a:solidFill>
                <a:effectLst/>
                <a:uFillTx/>
                <a:latin typeface="Arial"/>
              </a:rPr>
              <a:t>Chọn mức công suất (hoặc là một nửa công suất hoặc toàn bộ công suất). </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vi-VN" sz="2000" b="0" u="none" strike="noStrike">
                <a:solidFill>
                  <a:srgbClr val="000000"/>
                </a:solidFill>
                <a:effectLst/>
                <a:uFillTx/>
                <a:latin typeface="Arial"/>
              </a:rPr>
              <a:t>Nhập thời gian nấu bằng bàn phím số. </a:t>
            </a:r>
            <a:endParaRPr lang="en-US" sz="2000" b="0" u="none" strike="noStrike">
              <a:solidFill>
                <a:srgbClr val="000000"/>
              </a:solidFill>
              <a:effectLst/>
              <a:uFillTx/>
              <a:latin typeface="Arial"/>
            </a:endParaRPr>
          </a:p>
          <a:p>
            <a:pPr marL="228600" indent="-228600">
              <a:lnSpc>
                <a:spcPct val="100000"/>
              </a:lnSpc>
              <a:buClr>
                <a:srgbClr val="000000"/>
              </a:buClr>
              <a:buFont typeface="+mj-lt"/>
              <a:buAutoNum type="arabicPeriod"/>
            </a:pPr>
            <a:r>
              <a:rPr lang="vi-VN" sz="2000" b="0" u="none" strike="noStrike">
                <a:solidFill>
                  <a:srgbClr val="000000"/>
                </a:solidFill>
                <a:effectLst/>
                <a:uFillTx/>
                <a:latin typeface="Arial"/>
              </a:rPr>
              <a:t>Nhấn Start và thực phẩm được nấu chín trong một thời gian nhất định.</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Vì lý do an toàn, lò không nên hoạt động khi cửa mở và khi hoàn thành nấu, chuông sẽ kêu. Lò có màn hình chữ và số rất đơn giản được sử dụng để hiển thị các cảnh báo và thông báo cảnh báo khác nhau.</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Trong các </a:t>
            </a:r>
            <a:r>
              <a:rPr lang="en-US" sz="2000" b="0" u="none" strike="noStrike">
                <a:solidFill>
                  <a:srgbClr val="000000"/>
                </a:solidFill>
                <a:effectLst/>
                <a:uFillTx/>
                <a:latin typeface="Arial"/>
              </a:rPr>
              <a:t>biểu </a:t>
            </a:r>
            <a:r>
              <a:rPr lang="vi-VN" sz="2000" b="0" u="none" strike="noStrike">
                <a:solidFill>
                  <a:srgbClr val="000000"/>
                </a:solidFill>
                <a:effectLst/>
                <a:uFillTx/>
                <a:latin typeface="Arial"/>
              </a:rPr>
              <a:t>đồ trạng thái UML, các hình chữ nhật tròn biểu diễn các trạng thái hệ thống. Chúng có thể bao gồm một mô tả ngắn gọn (sau ‘do’) về các hành động được thực hiện trong t</a:t>
            </a:r>
            <a:r>
              <a:rPr lang="en-US" sz="2000" b="0" u="none" strike="noStrike">
                <a:solidFill>
                  <a:srgbClr val="000000"/>
                </a:solidFill>
                <a:effectLst/>
                <a:uFillTx/>
                <a:latin typeface="Arial"/>
              </a:rPr>
              <a:t>rạng thái</a:t>
            </a:r>
            <a:r>
              <a:rPr lang="vi-VN" sz="2000" b="0" u="none" strike="noStrike">
                <a:solidFill>
                  <a:srgbClr val="000000"/>
                </a:solidFill>
                <a:effectLst/>
                <a:uFillTx/>
                <a:latin typeface="Arial"/>
              </a:rPr>
              <a:t> đó. Các mũi tên được dán nhãn thể hiện các kích thích bắt buộc chuyển đổi từ trạng thái này sang trạng thái khác. </a:t>
            </a:r>
            <a:r>
              <a:rPr lang="en-US" sz="2000" b="0" u="none" strike="noStrike">
                <a:solidFill>
                  <a:srgbClr val="000000"/>
                </a:solidFill>
                <a:effectLst/>
                <a:uFillTx/>
                <a:latin typeface="Arial"/>
              </a:rPr>
              <a:t>Chúng ta </a:t>
            </a:r>
            <a:r>
              <a:rPr lang="vi-VN" sz="2000" b="0" u="none" strike="noStrike">
                <a:solidFill>
                  <a:srgbClr val="000000"/>
                </a:solidFill>
                <a:effectLst/>
                <a:uFillTx/>
                <a:latin typeface="Arial"/>
              </a:rPr>
              <a:t>có thể chỉ ra các trạng thái bắt đầu và kết thúc bằng cách sử dụng các vòng tròn đầy, như trong biểu đồ hoạt động. </a:t>
            </a:r>
            <a:r>
              <a:rPr lang="en-US" sz="2000" b="0" u="none" strike="noStrike">
                <a:solidFill>
                  <a:srgbClr val="000000"/>
                </a:solidFill>
                <a:effectLst/>
                <a:uFillTx/>
                <a:latin typeface="Arial"/>
              </a:rPr>
              <a:t>Hình vẽ trong slide cho </a:t>
            </a:r>
            <a:r>
              <a:rPr lang="vi-VN" sz="2000" b="0" u="none" strike="noStrike">
                <a:solidFill>
                  <a:srgbClr val="000000"/>
                </a:solidFill>
                <a:effectLst/>
                <a:uFillTx/>
                <a:latin typeface="Arial"/>
              </a:rPr>
              <a:t>thấy rằng hệ thống bắt đầu trong trạng thái chờ và phản hồi ban đầu </a:t>
            </a:r>
            <a:r>
              <a:rPr lang="en-US" sz="2000" b="0" u="none" strike="noStrike">
                <a:solidFill>
                  <a:srgbClr val="000000"/>
                </a:solidFill>
                <a:effectLst/>
                <a:uFillTx/>
                <a:latin typeface="Arial"/>
              </a:rPr>
              <a:t>tương ứng với việc chọn </a:t>
            </a:r>
            <a:r>
              <a:rPr lang="vi-VN" sz="2000" b="0" u="none" strike="noStrike">
                <a:solidFill>
                  <a:srgbClr val="000000"/>
                </a:solidFill>
                <a:effectLst/>
                <a:uFillTx/>
                <a:latin typeface="Arial"/>
              </a:rPr>
              <a:t>nút nguồn đầy đủ hoặc một nửa công suất. Người dùng có thể thay đổi quyết định của mình sau khi chọn một trong số đó và nhấn nút khác. </a:t>
            </a:r>
            <a:r>
              <a:rPr lang="en-US" sz="2000" b="0" u="none" strike="noStrike">
                <a:solidFill>
                  <a:srgbClr val="000000"/>
                </a:solidFill>
                <a:effectLst/>
                <a:uFillTx/>
                <a:latin typeface="Arial"/>
              </a:rPr>
              <a:t>Khi </a:t>
            </a:r>
            <a:r>
              <a:rPr lang="vi-VN" sz="2000" b="0" u="none" strike="noStrike">
                <a:solidFill>
                  <a:srgbClr val="000000"/>
                </a:solidFill>
                <a:effectLst/>
                <a:uFillTx/>
                <a:latin typeface="Arial"/>
              </a:rPr>
              <a:t>thời gian </a:t>
            </a:r>
            <a:r>
              <a:rPr lang="en-US" sz="2000" b="0" u="none" strike="noStrike">
                <a:solidFill>
                  <a:srgbClr val="000000"/>
                </a:solidFill>
                <a:effectLst/>
                <a:uFillTx/>
                <a:latin typeface="Arial"/>
              </a:rPr>
              <a:t>đ</a:t>
            </a:r>
            <a:r>
              <a:rPr lang="vi-VN" sz="2000" b="0" u="none" strike="noStrike">
                <a:solidFill>
                  <a:srgbClr val="000000"/>
                </a:solidFill>
                <a:effectLst/>
                <a:uFillTx/>
                <a:latin typeface="Arial"/>
              </a:rPr>
              <a:t>ã </a:t>
            </a:r>
            <a:r>
              <a:rPr lang="en-US" sz="2000" b="0" u="none" strike="noStrike">
                <a:solidFill>
                  <a:srgbClr val="000000"/>
                </a:solidFill>
                <a:effectLst/>
                <a:uFillTx/>
                <a:latin typeface="Arial"/>
              </a:rPr>
              <a:t>được </a:t>
            </a:r>
            <a:r>
              <a:rPr lang="vi-VN" sz="2000" b="0" u="none" strike="noStrike">
                <a:solidFill>
                  <a:srgbClr val="000000"/>
                </a:solidFill>
                <a:effectLst/>
                <a:uFillTx/>
                <a:latin typeface="Arial"/>
              </a:rPr>
              <a:t>đặt và nếu cửa đóng, nút Khởi động sẽ được bật. Nhấn nút này sẽ bắt đầu vận hành lò và </a:t>
            </a:r>
            <a:r>
              <a:rPr lang="en-US" sz="2000" b="0" u="none" strike="noStrike">
                <a:solidFill>
                  <a:srgbClr val="000000"/>
                </a:solidFill>
                <a:effectLst/>
                <a:uFillTx/>
                <a:latin typeface="Arial"/>
              </a:rPr>
              <a:t>quá trình </a:t>
            </a:r>
            <a:r>
              <a:rPr lang="vi-VN" sz="2000" b="0" u="none" strike="noStrike">
                <a:solidFill>
                  <a:srgbClr val="000000"/>
                </a:solidFill>
                <a:effectLst/>
                <a:uFillTx/>
                <a:latin typeface="Arial"/>
              </a:rPr>
              <a:t>nấu sẽ diễn ra trong khoảng thời gian đã chỉ định. </a:t>
            </a:r>
            <a:r>
              <a:rPr lang="en-US" sz="2000" b="0" u="none" strike="noStrike">
                <a:solidFill>
                  <a:srgbClr val="000000"/>
                </a:solidFill>
                <a:effectLst/>
                <a:uFillTx/>
                <a:latin typeface="Arial"/>
              </a:rPr>
              <a:t>Khi k</a:t>
            </a:r>
            <a:r>
              <a:rPr lang="vi-VN" sz="2000" b="0" u="none" strike="noStrike">
                <a:solidFill>
                  <a:srgbClr val="000000"/>
                </a:solidFill>
                <a:effectLst/>
                <a:uFillTx/>
                <a:latin typeface="Arial"/>
              </a:rPr>
              <a:t>ết thúc chu trình nấu</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hệ thống trở về trạng thái chờ.</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Ký </a:t>
            </a:r>
            <a:r>
              <a:rPr lang="en-US" sz="2000" b="0" u="none" strike="noStrike">
                <a:solidFill>
                  <a:srgbClr val="000000"/>
                </a:solidFill>
                <a:effectLst/>
                <a:uFillTx/>
                <a:latin typeface="Arial"/>
              </a:rPr>
              <a:t>pháp </a:t>
            </a:r>
            <a:r>
              <a:rPr lang="vi-VN" sz="2000" b="0" u="none" strike="noStrike">
                <a:solidFill>
                  <a:srgbClr val="000000"/>
                </a:solidFill>
                <a:effectLst/>
                <a:uFillTx/>
                <a:latin typeface="Arial"/>
              </a:rPr>
              <a:t>UML cho phép chỉ ra hoạt động diễn ra trong trạng thái. </a:t>
            </a:r>
            <a:r>
              <a:rPr lang="en-US" sz="2000" b="0" u="none" strike="noStrike">
                <a:solidFill>
                  <a:srgbClr val="000000"/>
                </a:solidFill>
                <a:effectLst/>
                <a:uFillTx/>
                <a:latin typeface="Arial"/>
              </a:rPr>
              <a:t>Ở mức </a:t>
            </a:r>
            <a:r>
              <a:rPr lang="vi-VN" sz="2000" b="0" u="none" strike="noStrike">
                <a:solidFill>
                  <a:srgbClr val="000000"/>
                </a:solidFill>
                <a:effectLst/>
                <a:uFillTx/>
                <a:latin typeface="Arial"/>
              </a:rPr>
              <a:t>đặc </a:t>
            </a:r>
            <a:r>
              <a:rPr lang="en-US" sz="2000" b="0" u="none" strike="noStrike">
                <a:solidFill>
                  <a:srgbClr val="000000"/>
                </a:solidFill>
                <a:effectLst/>
                <a:uFillTx/>
                <a:latin typeface="Arial"/>
              </a:rPr>
              <a:t>tả </a:t>
            </a:r>
            <a:r>
              <a:rPr lang="vi-VN" sz="2000" b="0" u="none" strike="noStrike">
                <a:solidFill>
                  <a:srgbClr val="000000"/>
                </a:solidFill>
                <a:effectLst/>
                <a:uFillTx/>
                <a:latin typeface="Arial"/>
              </a:rPr>
              <a:t>hệ thống chi tiết, </a:t>
            </a:r>
            <a:r>
              <a:rPr lang="en-US" sz="2000" b="0" u="none" strike="noStrike">
                <a:solidFill>
                  <a:srgbClr val="000000"/>
                </a:solidFill>
                <a:effectLst/>
                <a:uFillTx/>
                <a:latin typeface="Arial"/>
              </a:rPr>
              <a:t>các thông tin bổ sung </a:t>
            </a:r>
            <a:r>
              <a:rPr lang="vi-VN" sz="2000" b="0" u="none" strike="noStrike">
                <a:solidFill>
                  <a:srgbClr val="000000"/>
                </a:solidFill>
                <a:effectLst/>
                <a:uFillTx/>
                <a:latin typeface="Arial"/>
              </a:rPr>
              <a:t>về c</a:t>
            </a:r>
            <a:r>
              <a:rPr lang="en-US" sz="2000" b="0" u="none" strike="noStrike">
                <a:solidFill>
                  <a:srgbClr val="000000"/>
                </a:solidFill>
                <a:effectLst/>
                <a:uFillTx/>
                <a:latin typeface="Arial"/>
              </a:rPr>
              <a:t>ác</a:t>
            </a:r>
            <a:r>
              <a:rPr lang="vi-VN" sz="2000" b="0" u="none" strike="noStrike">
                <a:solidFill>
                  <a:srgbClr val="000000"/>
                </a:solidFill>
                <a:effectLst/>
                <a:uFillTx/>
                <a:latin typeface="Arial"/>
              </a:rPr>
              <a:t> kích thích và trạng thái hệ thống</a:t>
            </a:r>
            <a:r>
              <a:rPr lang="en-US" sz="2000" b="0" u="none" strike="noStrike">
                <a:solidFill>
                  <a:srgbClr val="000000"/>
                </a:solidFill>
                <a:effectLst/>
                <a:uFillTx/>
                <a:latin typeface="Arial"/>
              </a:rPr>
              <a:t> cần phải được cung cấp</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Trong thực hành, các thông tin đặc tả bổ trợ như vậy thường được </a:t>
            </a:r>
            <a:r>
              <a:rPr lang="vi-VN" sz="2000" b="0" u="none" strike="noStrike">
                <a:solidFill>
                  <a:srgbClr val="000000"/>
                </a:solidFill>
                <a:effectLst/>
                <a:uFillTx/>
                <a:latin typeface="Arial"/>
              </a:rPr>
              <a:t>mô tả </a:t>
            </a:r>
            <a:r>
              <a:rPr lang="en-US" sz="2000" b="0" u="none" strike="noStrike">
                <a:solidFill>
                  <a:srgbClr val="000000"/>
                </a:solidFill>
                <a:effectLst/>
                <a:uFillTx/>
                <a:latin typeface="Arial"/>
              </a:rPr>
              <a:t>ở dạng </a:t>
            </a:r>
            <a:r>
              <a:rPr lang="vi-VN" sz="2000" b="0" u="none" strike="noStrike">
                <a:solidFill>
                  <a:srgbClr val="000000"/>
                </a:solidFill>
                <a:effectLst/>
                <a:uFillTx/>
                <a:latin typeface="Arial"/>
              </a:rPr>
              <a:t>bảng.</a:t>
            </a:r>
            <a:endParaRPr lang="en-US" sz="2000" b="0" u="none" strike="noStrike">
              <a:solidFill>
                <a:srgbClr val="000000"/>
              </a:solidFill>
              <a:effectLst/>
              <a:uFillTx/>
              <a:latin typeface="Arial"/>
            </a:endParaRPr>
          </a:p>
        </p:txBody>
      </p:sp>
      <p:sp>
        <p:nvSpPr>
          <p:cNvPr id="339" name="PlaceHolder 3"/>
          <p:cNvSpPr>
            <a:spLocks noGrp="1"/>
          </p:cNvSpPr>
          <p:nvPr>
            <p:ph type="sldNum" idx="91"/>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18CDED-DE8E-433B-8A2F-6A4A0723B5E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373040" y="754200"/>
            <a:ext cx="5025600" cy="3771720"/>
          </a:xfrm>
          <a:prstGeom prst="rect">
            <a:avLst/>
          </a:prstGeom>
          <a:ln w="0">
            <a:noFill/>
          </a:ln>
        </p:spPr>
      </p:sp>
      <p:sp>
        <p:nvSpPr>
          <p:cNvPr id="341"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M</a:t>
            </a:r>
            <a:r>
              <a:rPr lang="vi-VN" sz="2000" b="0" u="none" strike="noStrike">
                <a:solidFill>
                  <a:srgbClr val="000000"/>
                </a:solidFill>
                <a:effectLst/>
                <a:uFillTx/>
                <a:latin typeface="Arial"/>
              </a:rPr>
              <a:t>ô hình dựa trên </a:t>
            </a:r>
            <a:r>
              <a:rPr lang="en-US" sz="2000" b="0" u="none" strike="noStrike">
                <a:solidFill>
                  <a:srgbClr val="000000"/>
                </a:solidFill>
                <a:effectLst/>
                <a:uFillTx/>
                <a:latin typeface="Arial"/>
              </a:rPr>
              <a:t>trạng thái thường gặp vấn đề bùng nổ trạng thái, nghĩa là </a:t>
            </a:r>
            <a:r>
              <a:rPr lang="vi-VN" sz="2000" b="0" u="none" strike="noStrike">
                <a:solidFill>
                  <a:srgbClr val="000000"/>
                </a:solidFill>
                <a:effectLst/>
                <a:uFillTx/>
                <a:latin typeface="Arial"/>
              </a:rPr>
              <a:t>số lượng các trạng thái có thể tăng </a:t>
            </a:r>
            <a:r>
              <a:rPr lang="en-US" sz="2000" b="0" u="none" strike="noStrike">
                <a:solidFill>
                  <a:srgbClr val="000000"/>
                </a:solidFill>
                <a:effectLst/>
                <a:uFillTx/>
                <a:latin typeface="Arial"/>
              </a:rPr>
              <a:t>lên </a:t>
            </a:r>
            <a:r>
              <a:rPr lang="vi-VN" sz="2000" b="0" u="none" strike="noStrike">
                <a:solidFill>
                  <a:srgbClr val="000000"/>
                </a:solidFill>
                <a:effectLst/>
                <a:uFillTx/>
                <a:latin typeface="Arial"/>
              </a:rPr>
              <a:t>nhanh chóng. Đối với các mô hình hệ thống lớn, do đó, chi tiết trong các mô hình</a:t>
            </a:r>
            <a:r>
              <a:rPr lang="en-US" sz="2000" b="0" u="none" strike="noStrike">
                <a:solidFill>
                  <a:srgbClr val="000000"/>
                </a:solidFill>
                <a:effectLst/>
                <a:uFillTx/>
                <a:latin typeface="Arial"/>
              </a:rPr>
              <a:t> đôi khi cần phải ẩn đi</a:t>
            </a:r>
            <a:r>
              <a:rPr lang="vi-VN" sz="2000" b="0" u="none" strike="noStrike">
                <a:solidFill>
                  <a:srgbClr val="000000"/>
                </a:solidFill>
                <a:effectLst/>
                <a:uFillTx/>
                <a:latin typeface="Arial"/>
              </a:rPr>
              <a:t>. Một cách để làm điều này là sử dụng khái niệm của </a:t>
            </a:r>
            <a:r>
              <a:rPr lang="en-US" sz="2000" b="0" u="none" strike="noStrike">
                <a:solidFill>
                  <a:srgbClr val="000000"/>
                </a:solidFill>
                <a:effectLst/>
                <a:uFillTx/>
                <a:latin typeface="Arial"/>
              </a:rPr>
              <a:t>“</a:t>
            </a:r>
            <a:r>
              <a:rPr lang="vi-VN" sz="2000" b="0" u="none" strike="noStrike">
                <a:solidFill>
                  <a:srgbClr val="000000"/>
                </a:solidFill>
                <a:effectLst/>
                <a:uFillTx/>
                <a:latin typeface="Arial"/>
              </a:rPr>
              <a:t>superstate</a:t>
            </a:r>
            <a:r>
              <a:rPr lang="en-US" sz="2000" b="0" u="none" strike="noStrike">
                <a:solidFill>
                  <a:srgbClr val="000000"/>
                </a:solidFill>
                <a:effectLst/>
                <a:uFillTx/>
                <a:latin typeface="Arial"/>
              </a:rPr>
              <a:t>”. Superstate cho phép </a:t>
            </a:r>
            <a:r>
              <a:rPr lang="vi-VN" sz="2000" b="0" u="none" strike="noStrike">
                <a:solidFill>
                  <a:srgbClr val="000000"/>
                </a:solidFill>
                <a:effectLst/>
                <a:uFillTx/>
                <a:latin typeface="Arial"/>
              </a:rPr>
              <a:t>gói gọn một số trạng thái riêng biệt. Superstate này </a:t>
            </a:r>
            <a:r>
              <a:rPr lang="en-US" sz="2000" b="0" u="none" strike="noStrike">
                <a:solidFill>
                  <a:srgbClr val="000000"/>
                </a:solidFill>
                <a:effectLst/>
                <a:uFillTx/>
                <a:latin typeface="Arial"/>
              </a:rPr>
              <a:t>có xem là </a:t>
            </a:r>
            <a:r>
              <a:rPr lang="vi-VN" sz="2000" b="0" u="none" strike="noStrike">
                <a:solidFill>
                  <a:srgbClr val="000000"/>
                </a:solidFill>
                <a:effectLst/>
                <a:uFillTx/>
                <a:latin typeface="Arial"/>
              </a:rPr>
              <a:t>trạng thái đơn trên một mô hình cấp cao</a:t>
            </a:r>
            <a:r>
              <a:rPr lang="en-US" sz="2000" b="0" u="none" strike="noStrike">
                <a:solidFill>
                  <a:srgbClr val="000000"/>
                </a:solidFill>
                <a:effectLst/>
                <a:uFillTx/>
                <a:latin typeface="Arial"/>
              </a:rPr>
              <a:t>,</a:t>
            </a:r>
            <a:r>
              <a:rPr lang="vi-VN" sz="2000" b="0" u="none" strike="noStrike">
                <a:solidFill>
                  <a:srgbClr val="000000"/>
                </a:solidFill>
                <a:effectLst/>
                <a:uFillTx/>
                <a:latin typeface="Arial"/>
              </a:rPr>
              <a:t> nhưng sau đó được mở rộng để hiển thị chi tiết hơn trên một biểu đồ riêng biệt. Để minh họa khái niệm này, hãy xem xét trạng thái </a:t>
            </a:r>
            <a:r>
              <a:rPr lang="en-US" sz="2000" b="0" u="none" strike="noStrike">
                <a:solidFill>
                  <a:srgbClr val="000000"/>
                </a:solidFill>
                <a:effectLst/>
                <a:uFillTx/>
                <a:latin typeface="Arial"/>
              </a:rPr>
              <a:t>Operation </a:t>
            </a:r>
            <a:r>
              <a:rPr lang="vi-VN" sz="2000" b="0" u="none" strike="noStrike">
                <a:solidFill>
                  <a:srgbClr val="000000"/>
                </a:solidFill>
                <a:effectLst/>
                <a:uFillTx/>
                <a:latin typeface="Arial"/>
              </a:rPr>
              <a:t>trong </a:t>
            </a:r>
            <a:r>
              <a:rPr lang="en-US" sz="2000" b="0" u="none" strike="noStrike">
                <a:solidFill>
                  <a:srgbClr val="000000"/>
                </a:solidFill>
                <a:effectLst/>
                <a:uFillTx/>
                <a:latin typeface="Arial"/>
              </a:rPr>
              <a:t>slide trước</a:t>
            </a:r>
            <a:r>
              <a:rPr lang="vi-VN" sz="2000" b="0" u="none" strike="noStrike">
                <a:solidFill>
                  <a:srgbClr val="000000"/>
                </a:solidFill>
                <a:effectLst/>
                <a:uFillTx/>
                <a:latin typeface="Arial"/>
              </a:rPr>
              <a:t>. Đây là một superstate có thể được mở rộng, như minh họa </a:t>
            </a:r>
            <a:r>
              <a:rPr lang="en-US" sz="2000" b="0" u="none" strike="noStrike">
                <a:solidFill>
                  <a:srgbClr val="000000"/>
                </a:solidFill>
                <a:effectLst/>
                <a:uFillTx/>
                <a:latin typeface="Arial"/>
              </a:rPr>
              <a:t>trong slide</a:t>
            </a:r>
            <a:r>
              <a:rPr lang="vi-VN" sz="2000" b="0" u="none" strike="noStrike">
                <a:solidFill>
                  <a:srgbClr val="000000"/>
                </a:solidFill>
                <a:effectLst/>
                <a:uFillTx/>
                <a:latin typeface="Arial"/>
              </a:rPr>
              <a:t>. Trạng thái hoạt động bao gồm một số trạng thái con. Nó cho thấy rằng hoạt động bắt đầu với một kiểm tra trạng thái và nếu bất kỳ vấn đề </a:t>
            </a:r>
            <a:r>
              <a:rPr lang="en-US" sz="2000" b="0" u="none" strike="noStrike">
                <a:solidFill>
                  <a:srgbClr val="000000"/>
                </a:solidFill>
                <a:effectLst/>
                <a:uFillTx/>
                <a:latin typeface="Arial"/>
              </a:rPr>
              <a:t>nào </a:t>
            </a:r>
            <a:r>
              <a:rPr lang="vi-VN" sz="2000" b="0" u="none" strike="noStrike">
                <a:solidFill>
                  <a:srgbClr val="000000"/>
                </a:solidFill>
                <a:effectLst/>
                <a:uFillTx/>
                <a:latin typeface="Arial"/>
              </a:rPr>
              <a:t>được phát hiện</a:t>
            </a:r>
            <a:r>
              <a:rPr lang="en-US" sz="2000" b="0" u="none" strike="noStrike">
                <a:solidFill>
                  <a:srgbClr val="000000"/>
                </a:solidFill>
                <a:effectLst/>
                <a:uFillTx/>
                <a:latin typeface="Arial"/>
              </a:rPr>
              <a:t>,</a:t>
            </a:r>
            <a:r>
              <a:rPr lang="vi-VN" sz="2000" b="0" u="none" strike="noStrike">
                <a:solidFill>
                  <a:srgbClr val="000000"/>
                </a:solidFill>
                <a:effectLst/>
                <a:uFillTx/>
                <a:latin typeface="Arial"/>
              </a:rPr>
              <a:t> một báo động được chỉ định và hoạt động </a:t>
            </a:r>
            <a:r>
              <a:rPr lang="en-US" sz="2000" b="0" u="none" strike="noStrike">
                <a:solidFill>
                  <a:srgbClr val="000000"/>
                </a:solidFill>
                <a:effectLst/>
                <a:uFillTx/>
                <a:latin typeface="Arial"/>
              </a:rPr>
              <a:t>lò sẽ </a:t>
            </a:r>
            <a:r>
              <a:rPr lang="vi-VN" sz="2000" b="0" u="none" strike="noStrike">
                <a:solidFill>
                  <a:srgbClr val="000000"/>
                </a:solidFill>
                <a:effectLst/>
                <a:uFillTx/>
                <a:latin typeface="Arial"/>
              </a:rPr>
              <a:t>bị vô hiệu hóa. </a:t>
            </a:r>
            <a:r>
              <a:rPr lang="en-US" sz="2000" b="0" u="none" strike="noStrike">
                <a:solidFill>
                  <a:srgbClr val="000000"/>
                </a:solidFill>
                <a:effectLst/>
                <a:uFillTx/>
                <a:latin typeface="Arial"/>
              </a:rPr>
              <a:t>Quá trình n</a:t>
            </a:r>
            <a:r>
              <a:rPr lang="vi-VN" sz="2000" b="0" u="none" strike="noStrike">
                <a:solidFill>
                  <a:srgbClr val="000000"/>
                </a:solidFill>
                <a:effectLst/>
                <a:uFillTx/>
                <a:latin typeface="Arial"/>
              </a:rPr>
              <a:t>ấu ăn </a:t>
            </a:r>
            <a:r>
              <a:rPr lang="en-US" sz="2000" b="0" u="none" strike="noStrike">
                <a:solidFill>
                  <a:srgbClr val="000000"/>
                </a:solidFill>
                <a:effectLst/>
                <a:uFillTx/>
                <a:latin typeface="Arial"/>
              </a:rPr>
              <a:t>được tiến hành qua việc </a:t>
            </a:r>
            <a:r>
              <a:rPr lang="vi-VN" sz="2000" b="0" u="none" strike="noStrike">
                <a:solidFill>
                  <a:srgbClr val="000000"/>
                </a:solidFill>
                <a:effectLst/>
                <a:uFillTx/>
                <a:latin typeface="Arial"/>
              </a:rPr>
              <a:t>chạy máy phát vi sóng trong thời gian quy định; khi hoàn thành, một tiếng còi vang lên. Nếu cửa được mở trong quá trình hoạt động, hệ thống sẽ chuyển sang trạng thái vô hiệu hóa</a:t>
            </a:r>
            <a:r>
              <a:rPr lang="en-US" sz="2000" b="0" u="none" strike="noStrike">
                <a:solidFill>
                  <a:srgbClr val="000000"/>
                </a:solidFill>
                <a:effectLst/>
                <a:uFillTx/>
                <a:latin typeface="Arial"/>
              </a:rPr>
              <a:t>, đúng như đặc tả hoạt động lò vi sóng trong slide trước</a:t>
            </a:r>
            <a:r>
              <a:rPr lang="vi-VN" sz="2000" b="0" u="none" strike="noStrike">
                <a:solidFill>
                  <a:srgbClr val="000000"/>
                </a:solidFill>
                <a:effectLst/>
                <a:uFillTx/>
                <a:latin typeface="Arial"/>
              </a:rPr>
              <a:t>.</a:t>
            </a:r>
            <a:endParaRPr lang="en-US" sz="2000" b="0" u="none" strike="noStrike">
              <a:solidFill>
                <a:srgbClr val="000000"/>
              </a:solidFill>
              <a:effectLst/>
              <a:uFillTx/>
              <a:latin typeface="Arial"/>
            </a:endParaRPr>
          </a:p>
        </p:txBody>
      </p:sp>
      <p:sp>
        <p:nvSpPr>
          <p:cNvPr id="342" name="PlaceHolder 3"/>
          <p:cNvSpPr>
            <a:spLocks noGrp="1"/>
          </p:cNvSpPr>
          <p:nvPr>
            <p:ph type="sldNum" idx="92"/>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291760-F833-4415-A29D-772F34970C7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1373040" y="754200"/>
            <a:ext cx="5025600" cy="3771720"/>
          </a:xfrm>
          <a:prstGeom prst="rect">
            <a:avLst/>
          </a:prstGeom>
          <a:ln w="0">
            <a:noFill/>
          </a:ln>
        </p:spPr>
      </p:sp>
      <p:sp>
        <p:nvSpPr>
          <p:cNvPr id="344"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vi-VN" sz="2000" b="0" u="none" strike="noStrike">
                <a:solidFill>
                  <a:srgbClr val="000000"/>
                </a:solidFill>
                <a:effectLst/>
                <a:uFillTx/>
                <a:latin typeface="Arial"/>
              </a:rPr>
              <a:t>Kỹ thuật định hướng mô hình (MDE) là một cách tiếp cận để phát triển phần mềm, </a:t>
            </a:r>
            <a:r>
              <a:rPr lang="en-US" sz="2000" b="0" u="none" strike="noStrike">
                <a:solidFill>
                  <a:srgbClr val="000000"/>
                </a:solidFill>
                <a:effectLst/>
                <a:uFillTx/>
                <a:latin typeface="Arial"/>
              </a:rPr>
              <a:t>trong đó </a:t>
            </a:r>
            <a:r>
              <a:rPr lang="vi-VN" sz="2000" b="0" u="none" strike="noStrike">
                <a:solidFill>
                  <a:srgbClr val="000000"/>
                </a:solidFill>
                <a:effectLst/>
                <a:uFillTx/>
                <a:latin typeface="Arial"/>
              </a:rPr>
              <a:t>các mô hình thay vì các chương trình </a:t>
            </a:r>
            <a:r>
              <a:rPr lang="en-US" sz="2000" b="0" u="none" strike="noStrike">
                <a:solidFill>
                  <a:srgbClr val="000000"/>
                </a:solidFill>
                <a:effectLst/>
                <a:uFillTx/>
                <a:latin typeface="Arial"/>
              </a:rPr>
              <a:t>sẽ </a:t>
            </a:r>
            <a:r>
              <a:rPr lang="vi-VN" sz="2000" b="0" u="none" strike="noStrike">
                <a:solidFill>
                  <a:srgbClr val="000000"/>
                </a:solidFill>
                <a:effectLst/>
                <a:uFillTx/>
                <a:latin typeface="Arial"/>
              </a:rPr>
              <a:t>là các </a:t>
            </a:r>
            <a:r>
              <a:rPr lang="en-US" sz="2000" b="0" u="none" strike="noStrike">
                <a:solidFill>
                  <a:srgbClr val="000000"/>
                </a:solidFill>
                <a:effectLst/>
                <a:uFillTx/>
                <a:latin typeface="Arial"/>
              </a:rPr>
              <a:t>chế tác chính được tạo ra trong </a:t>
            </a:r>
            <a:r>
              <a:rPr lang="vi-VN" sz="2000" b="0" u="none" strike="noStrike">
                <a:solidFill>
                  <a:srgbClr val="000000"/>
                </a:solidFill>
                <a:effectLst/>
                <a:uFillTx/>
                <a:latin typeface="Arial"/>
              </a:rPr>
              <a:t>quá trình phát triển. </a:t>
            </a:r>
            <a:r>
              <a:rPr lang="en-US" sz="2000" b="0" u="none" strike="noStrike">
                <a:solidFill>
                  <a:srgbClr val="000000"/>
                </a:solidFill>
                <a:effectLst/>
                <a:uFillTx/>
                <a:latin typeface="Arial"/>
              </a:rPr>
              <a:t>Từ các mô hình này, c</a:t>
            </a:r>
            <a:r>
              <a:rPr lang="vi-VN" sz="2000" b="0" u="none" strike="noStrike">
                <a:solidFill>
                  <a:srgbClr val="000000"/>
                </a:solidFill>
                <a:effectLst/>
                <a:uFillTx/>
                <a:latin typeface="Arial"/>
              </a:rPr>
              <a:t>ác chương trình thực </a:t>
            </a:r>
            <a:r>
              <a:rPr lang="en-US" sz="2000" b="0" u="none" strike="noStrike">
                <a:solidFill>
                  <a:srgbClr val="000000"/>
                </a:solidFill>
                <a:effectLst/>
                <a:uFillTx/>
                <a:latin typeface="Arial"/>
              </a:rPr>
              <a:t>thi </a:t>
            </a:r>
            <a:r>
              <a:rPr lang="vi-VN" sz="2000" b="0" u="none" strike="noStrike">
                <a:solidFill>
                  <a:srgbClr val="000000"/>
                </a:solidFill>
                <a:effectLst/>
                <a:uFillTx/>
                <a:latin typeface="Arial"/>
              </a:rPr>
              <a:t>trên </a:t>
            </a:r>
            <a:r>
              <a:rPr lang="en-US" sz="2000" b="0" u="none" strike="noStrike">
                <a:solidFill>
                  <a:srgbClr val="000000"/>
                </a:solidFill>
                <a:effectLst/>
                <a:uFillTx/>
                <a:latin typeface="Arial"/>
              </a:rPr>
              <a:t>các </a:t>
            </a:r>
            <a:r>
              <a:rPr lang="vi-VN" sz="2000" b="0" u="none" strike="noStrike">
                <a:solidFill>
                  <a:srgbClr val="000000"/>
                </a:solidFill>
                <a:effectLst/>
                <a:uFillTx/>
                <a:latin typeface="Arial"/>
              </a:rPr>
              <a:t>nền </a:t>
            </a:r>
            <a:r>
              <a:rPr lang="en-US" sz="2000" b="0" u="none" strike="noStrike">
                <a:solidFill>
                  <a:srgbClr val="000000"/>
                </a:solidFill>
                <a:effectLst/>
                <a:uFillTx/>
                <a:latin typeface="Arial"/>
              </a:rPr>
              <a:t>tảng </a:t>
            </a:r>
            <a:r>
              <a:rPr lang="vi-VN" sz="2000" b="0" u="none" strike="noStrike">
                <a:solidFill>
                  <a:srgbClr val="000000"/>
                </a:solidFill>
                <a:effectLst/>
                <a:uFillTx/>
                <a:latin typeface="Arial"/>
              </a:rPr>
              <a:t>phần cứng / phần mềm </a:t>
            </a:r>
            <a:r>
              <a:rPr lang="en-US" sz="2000" b="0" u="none" strike="noStrike">
                <a:solidFill>
                  <a:srgbClr val="000000"/>
                </a:solidFill>
                <a:effectLst/>
                <a:uFillTx/>
                <a:latin typeface="Arial"/>
              </a:rPr>
              <a:t>khác nhau sẽ </a:t>
            </a:r>
            <a:r>
              <a:rPr lang="vi-VN" sz="2000" b="0" u="none" strike="noStrike">
                <a:solidFill>
                  <a:srgbClr val="000000"/>
                </a:solidFill>
                <a:effectLst/>
                <a:uFillTx/>
                <a:latin typeface="Arial"/>
              </a:rPr>
              <a:t>được </a:t>
            </a:r>
            <a:r>
              <a:rPr lang="en-US" sz="2000" b="0" u="none" strike="noStrike">
                <a:solidFill>
                  <a:srgbClr val="000000"/>
                </a:solidFill>
                <a:effectLst/>
                <a:uFillTx/>
                <a:latin typeface="Arial"/>
              </a:rPr>
              <a:t>sinh </a:t>
            </a:r>
            <a:r>
              <a:rPr lang="vi-VN" sz="2000" b="0" u="none" strike="noStrike">
                <a:solidFill>
                  <a:srgbClr val="000000"/>
                </a:solidFill>
                <a:effectLst/>
                <a:uFillTx/>
                <a:latin typeface="Arial"/>
              </a:rPr>
              <a:t>tự động</a:t>
            </a:r>
            <a:r>
              <a:rPr lang="en-US" sz="2000" b="0" u="none" strike="noStrike">
                <a:solidFill>
                  <a:srgbClr val="000000"/>
                </a:solidFill>
                <a:effectLst/>
                <a:uFillTx/>
                <a:latin typeface="Arial"/>
              </a:rPr>
              <a:t> bằng các phép chuyển đổi mô hình</a:t>
            </a:r>
            <a:r>
              <a:rPr lang="vi-VN" sz="2000" b="0" u="none" strike="noStrike">
                <a:solidFill>
                  <a:srgbClr val="000000"/>
                </a:solidFill>
                <a:effectLst/>
                <a:uFillTx/>
                <a:latin typeface="Arial"/>
              </a:rPr>
              <a:t>. </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Tư tưởng chính của </a:t>
            </a:r>
            <a:r>
              <a:rPr lang="vi-VN" sz="2000" b="0" u="none" strike="noStrike">
                <a:solidFill>
                  <a:srgbClr val="000000"/>
                </a:solidFill>
                <a:effectLst/>
                <a:uFillTx/>
                <a:latin typeface="Arial"/>
              </a:rPr>
              <a:t>MDE </a:t>
            </a:r>
            <a:r>
              <a:rPr lang="en-US" sz="2000" b="0" u="none" strike="noStrike">
                <a:solidFill>
                  <a:srgbClr val="000000"/>
                </a:solidFill>
                <a:effectLst/>
                <a:uFillTx/>
                <a:latin typeface="Arial"/>
              </a:rPr>
              <a:t>là tập trung gia tăng </a:t>
            </a:r>
            <a:r>
              <a:rPr lang="vi-VN" sz="2000" b="0" u="none" strike="noStrike">
                <a:solidFill>
                  <a:srgbClr val="000000"/>
                </a:solidFill>
                <a:effectLst/>
                <a:uFillTx/>
                <a:latin typeface="Arial"/>
              </a:rPr>
              <a:t>mức độ trừu tượng trong k</a:t>
            </a:r>
            <a:r>
              <a:rPr lang="en-US" sz="2000" b="0" u="none" strike="noStrike">
                <a:solidFill>
                  <a:srgbClr val="000000"/>
                </a:solidFill>
                <a:effectLst/>
                <a:uFillTx/>
                <a:latin typeface="Arial"/>
              </a:rPr>
              <a:t>ỹ</a:t>
            </a:r>
            <a:r>
              <a:rPr lang="vi-VN" sz="2000" b="0" u="none" strike="noStrike">
                <a:solidFill>
                  <a:srgbClr val="000000"/>
                </a:solidFill>
                <a:effectLst/>
                <a:uFillTx/>
                <a:latin typeface="Arial"/>
              </a:rPr>
              <a:t> nghệ phần mềm</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các kỹ sư không còn phải quan tâm đến chi tiết ngôn ngữ lập trình hay chi tiết cụ thể của nền tảng thực thi. </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Kỹ thuật định hướng mô hình </a:t>
            </a:r>
            <a:r>
              <a:rPr lang="en-US" sz="2000" b="0" u="none" strike="noStrike">
                <a:solidFill>
                  <a:srgbClr val="000000"/>
                </a:solidFill>
                <a:effectLst/>
                <a:uFillTx/>
                <a:latin typeface="Arial"/>
              </a:rPr>
              <a:t>được bắt </a:t>
            </a:r>
            <a:r>
              <a:rPr lang="vi-VN" sz="2000" b="0" u="none" strike="noStrike">
                <a:solidFill>
                  <a:srgbClr val="000000"/>
                </a:solidFill>
                <a:effectLst/>
                <a:uFillTx/>
                <a:latin typeface="Arial"/>
              </a:rPr>
              <a:t>nguồn </a:t>
            </a:r>
            <a:r>
              <a:rPr lang="en-US" sz="2000" b="0" u="none" strike="noStrike">
                <a:solidFill>
                  <a:srgbClr val="000000"/>
                </a:solidFill>
                <a:effectLst/>
                <a:uFillTx/>
                <a:latin typeface="Arial"/>
              </a:rPr>
              <a:t>từ </a:t>
            </a:r>
            <a:r>
              <a:rPr lang="vi-VN" sz="2000" b="0" u="none" strike="noStrike">
                <a:solidFill>
                  <a:srgbClr val="000000"/>
                </a:solidFill>
                <a:effectLst/>
                <a:uFillTx/>
                <a:latin typeface="Arial"/>
              </a:rPr>
              <a:t>kiến ​​trúc hướng mô hình (MDA) được đề xuất bởi </a:t>
            </a:r>
            <a:r>
              <a:rPr lang="en-US" sz="2000" b="0" u="none" strike="noStrike">
                <a:solidFill>
                  <a:srgbClr val="000000"/>
                </a:solidFill>
                <a:effectLst/>
                <a:uFillTx/>
                <a:latin typeface="Arial"/>
              </a:rPr>
              <a:t>tổ chức </a:t>
            </a:r>
            <a:r>
              <a:rPr lang="vi-VN" sz="2000" b="0" u="none" strike="noStrike">
                <a:solidFill>
                  <a:srgbClr val="000000"/>
                </a:solidFill>
                <a:effectLst/>
                <a:uFillTx/>
                <a:latin typeface="Arial"/>
              </a:rPr>
              <a:t>OMG vào năm 2001</a:t>
            </a:r>
            <a:r>
              <a:rPr lang="en-US" sz="2000" b="0" u="none" strike="noStrike">
                <a:solidFill>
                  <a:srgbClr val="000000"/>
                </a:solidFill>
                <a:effectLst/>
                <a:uFillTx/>
                <a:latin typeface="Arial"/>
              </a:rPr>
              <a:t>, và được nổi lên </a:t>
            </a:r>
            <a:r>
              <a:rPr lang="vi-VN" sz="2000" b="0" u="none" strike="noStrike">
                <a:solidFill>
                  <a:srgbClr val="000000"/>
                </a:solidFill>
                <a:effectLst/>
                <a:uFillTx/>
                <a:latin typeface="Arial"/>
              </a:rPr>
              <a:t>như một mô hình phát triển phần mềm mới. Mô hình theo định hướng mô hình và kiến ​​trúc hướng mô hình thường được xem là giống nhau. Tuy nhiên, MDE </a:t>
            </a:r>
            <a:r>
              <a:rPr lang="en-US" sz="2000" b="0" u="none" strike="noStrike">
                <a:solidFill>
                  <a:srgbClr val="000000"/>
                </a:solidFill>
                <a:effectLst/>
                <a:uFillTx/>
                <a:latin typeface="Arial"/>
              </a:rPr>
              <a:t>thường </a:t>
            </a:r>
            <a:r>
              <a:rPr lang="vi-VN" sz="2000" b="0" u="none" strike="noStrike">
                <a:solidFill>
                  <a:srgbClr val="000000"/>
                </a:solidFill>
                <a:effectLst/>
                <a:uFillTx/>
                <a:latin typeface="Arial"/>
              </a:rPr>
              <a:t>có phạm vi rộng hơn MDA</a:t>
            </a:r>
            <a:r>
              <a:rPr lang="en-US" sz="2000" b="0" u="none" strike="noStrike">
                <a:solidFill>
                  <a:srgbClr val="000000"/>
                </a:solidFill>
                <a:effectLst/>
                <a:uFillTx/>
                <a:latin typeface="Arial"/>
              </a:rPr>
              <a:t>: </a:t>
            </a:r>
            <a:r>
              <a:rPr lang="vi-VN" sz="2000" b="0" u="none" strike="noStrike">
                <a:solidFill>
                  <a:srgbClr val="000000"/>
                </a:solidFill>
                <a:effectLst/>
                <a:uFillTx/>
                <a:latin typeface="Arial"/>
              </a:rPr>
              <a:t>MDA tập trung vào các giai đoạn thiết kế và thực hiện phát triển phần mềm</a:t>
            </a:r>
            <a:r>
              <a:rPr lang="en-US" sz="2000" b="0" u="none" strike="noStrike">
                <a:solidFill>
                  <a:srgbClr val="000000"/>
                </a:solidFill>
                <a:effectLst/>
                <a:uFillTx/>
                <a:latin typeface="Arial"/>
              </a:rPr>
              <a:t>,</a:t>
            </a:r>
            <a:r>
              <a:rPr lang="vi-VN" sz="2000" b="0" u="none" strike="noStrike">
                <a:solidFill>
                  <a:srgbClr val="000000"/>
                </a:solidFill>
                <a:effectLst/>
                <a:uFillTx/>
                <a:latin typeface="Arial"/>
              </a:rPr>
              <a:t> trong khi MDE quan tâm đến tất cả các khía cạnh của quy trình kỹ thuật phần mềm. Do đó, các chủ đề như kỹ </a:t>
            </a:r>
            <a:r>
              <a:rPr lang="en-US" sz="2000" b="0" u="none" strike="noStrike">
                <a:solidFill>
                  <a:srgbClr val="000000"/>
                </a:solidFill>
                <a:effectLst/>
                <a:uFillTx/>
                <a:latin typeface="Arial"/>
              </a:rPr>
              <a:t>nghệ </a:t>
            </a:r>
            <a:r>
              <a:rPr lang="vi-VN" sz="2000" b="0" u="none" strike="noStrike">
                <a:solidFill>
                  <a:srgbClr val="000000"/>
                </a:solidFill>
                <a:effectLst/>
                <a:uFillTx/>
                <a:latin typeface="Arial"/>
              </a:rPr>
              <a:t>yêu cầu dựa trên mô hình, quy trình </a:t>
            </a:r>
            <a:r>
              <a:rPr lang="en-US" sz="2000" b="0" u="none" strike="noStrike">
                <a:solidFill>
                  <a:srgbClr val="000000"/>
                </a:solidFill>
                <a:effectLst/>
                <a:uFillTx/>
                <a:latin typeface="Arial"/>
              </a:rPr>
              <a:t>cho </a:t>
            </a:r>
            <a:r>
              <a:rPr lang="vi-VN" sz="2000" b="0" u="none" strike="noStrike">
                <a:solidFill>
                  <a:srgbClr val="000000"/>
                </a:solidFill>
                <a:effectLst/>
                <a:uFillTx/>
                <a:latin typeface="Arial"/>
              </a:rPr>
              <a:t>phát triển dựa trên mô hình</a:t>
            </a:r>
            <a:r>
              <a:rPr lang="en-US" sz="2000" b="0" u="none" strike="noStrike">
                <a:solidFill>
                  <a:srgbClr val="000000"/>
                </a:solidFill>
                <a:effectLst/>
                <a:uFillTx/>
                <a:latin typeface="Arial"/>
              </a:rPr>
              <a:t>, hay kiểm thử dựa vào </a:t>
            </a:r>
            <a:r>
              <a:rPr lang="vi-VN" sz="2000" b="0" u="none" strike="noStrike">
                <a:solidFill>
                  <a:srgbClr val="000000"/>
                </a:solidFill>
                <a:effectLst/>
                <a:uFillTx/>
                <a:latin typeface="Arial"/>
              </a:rPr>
              <a:t>mô hình là một phần của MDE.</a:t>
            </a:r>
            <a:endParaRPr lang="en-US" sz="2000" b="0" u="none" strike="noStrike">
              <a:solidFill>
                <a:srgbClr val="000000"/>
              </a:solidFill>
              <a:effectLst/>
              <a:uFillTx/>
              <a:latin typeface="Arial"/>
            </a:endParaRPr>
          </a:p>
        </p:txBody>
      </p:sp>
      <p:sp>
        <p:nvSpPr>
          <p:cNvPr id="345" name="PlaceHolder 3"/>
          <p:cNvSpPr>
            <a:spLocks noGrp="1"/>
          </p:cNvSpPr>
          <p:nvPr>
            <p:ph type="sldNum" idx="93"/>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C12D85-1BA9-4F9A-8DB3-406F6F765FF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1373040" y="754200"/>
            <a:ext cx="5025600" cy="3771720"/>
          </a:xfrm>
          <a:prstGeom prst="rect">
            <a:avLst/>
          </a:prstGeom>
          <a:ln w="0">
            <a:noFill/>
          </a:ln>
        </p:spPr>
      </p:sp>
      <p:sp>
        <p:nvSpPr>
          <p:cNvPr id="347"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US" sz="2000" b="0" u="none" strike="noStrike">
                <a:solidFill>
                  <a:srgbClr val="000000"/>
                </a:solidFill>
                <a:effectLst/>
                <a:uFillTx/>
                <a:latin typeface="Arial"/>
              </a:rPr>
              <a:t>Ưu điểm của kỹ nghệ định hướng </a:t>
            </a:r>
            <a:r>
              <a:rPr lang="vi-VN" sz="2000" b="0" u="none" strike="noStrike">
                <a:solidFill>
                  <a:srgbClr val="000000"/>
                </a:solidFill>
                <a:effectLst/>
                <a:uFillTx/>
                <a:latin typeface="Arial"/>
              </a:rPr>
              <a:t>mô hình </a:t>
            </a:r>
            <a:r>
              <a:rPr lang="en-US" sz="2000" b="0" u="none" strike="noStrike">
                <a:solidFill>
                  <a:srgbClr val="000000"/>
                </a:solidFill>
                <a:effectLst/>
                <a:uFillTx/>
                <a:latin typeface="Arial"/>
              </a:rPr>
              <a:t>là </a:t>
            </a:r>
            <a:r>
              <a:rPr lang="vi-VN" sz="2000" b="0" u="none" strike="noStrike">
                <a:solidFill>
                  <a:srgbClr val="000000"/>
                </a:solidFill>
                <a:effectLst/>
                <a:uFillTx/>
                <a:latin typeface="Arial"/>
              </a:rPr>
              <a:t>cho phép các kỹ sư suy nghĩ về các hệ thống ở mức trừu tượng cao, mà không cần quan tâm đến các chi tiết của việc triển khai. Điều này làm giảm khả năng xảy ra lỗi, tăng tốc quá trình thiết kế và triển khai, và cho phép tạo ra các mô hình ứng dụng </a:t>
            </a:r>
            <a:r>
              <a:rPr lang="en-US" sz="2000" b="0" u="none" strike="noStrike">
                <a:solidFill>
                  <a:srgbClr val="000000"/>
                </a:solidFill>
                <a:effectLst/>
                <a:uFillTx/>
                <a:latin typeface="Arial"/>
              </a:rPr>
              <a:t>độc lập nền và </a:t>
            </a:r>
            <a:r>
              <a:rPr lang="vi-VN" sz="2000" b="0" u="none" strike="noStrike">
                <a:solidFill>
                  <a:srgbClr val="000000"/>
                </a:solidFill>
                <a:effectLst/>
                <a:uFillTx/>
                <a:latin typeface="Arial"/>
              </a:rPr>
              <a:t>có thể tái sử dụng được. Bằng cách sử dụng các công cụ mạnh mẽ, việc triển khai hệ thống có thể được tạo cho các nền tảng khác nhau từ cùng một mô hình. Do đó, để thích ứng hệ thống </a:t>
            </a:r>
            <a:r>
              <a:rPr lang="en-US" sz="2000" b="0" u="none" strike="noStrike">
                <a:solidFill>
                  <a:srgbClr val="000000"/>
                </a:solidFill>
                <a:effectLst/>
                <a:uFillTx/>
                <a:latin typeface="Arial"/>
              </a:rPr>
              <a:t>với </a:t>
            </a:r>
            <a:r>
              <a:rPr lang="vi-VN" sz="2000" b="0" u="none" strike="noStrike">
                <a:solidFill>
                  <a:srgbClr val="000000"/>
                </a:solidFill>
                <a:effectLst/>
                <a:uFillTx/>
                <a:latin typeface="Arial"/>
              </a:rPr>
              <a:t>một số công nghệ nền tảng mới, chỉ cần </a:t>
            </a:r>
            <a:r>
              <a:rPr lang="en-US" sz="2000" b="0" u="none" strike="noStrike">
                <a:solidFill>
                  <a:srgbClr val="000000"/>
                </a:solidFill>
                <a:effectLst/>
                <a:uFillTx/>
                <a:latin typeface="Arial"/>
              </a:rPr>
              <a:t>bổ sung chương trình chuyển đổi và sinh mã </a:t>
            </a:r>
            <a:r>
              <a:rPr lang="vi-VN" sz="2000" b="0" u="none" strike="noStrike">
                <a:solidFill>
                  <a:srgbClr val="000000"/>
                </a:solidFill>
                <a:effectLst/>
                <a:uFillTx/>
                <a:latin typeface="Arial"/>
              </a:rPr>
              <a:t>cho nền tảng đó. </a:t>
            </a:r>
            <a:r>
              <a:rPr lang="en-US" sz="2000" b="0" u="none" strike="noStrike">
                <a:solidFill>
                  <a:srgbClr val="000000"/>
                </a:solidFill>
                <a:effectLst/>
                <a:uFillTx/>
                <a:latin typeface="Arial"/>
              </a:rPr>
              <a:t>Một k</a:t>
            </a:r>
            <a:r>
              <a:rPr lang="vi-VN" sz="2000" b="0" u="none" strike="noStrike">
                <a:solidFill>
                  <a:srgbClr val="000000"/>
                </a:solidFill>
                <a:effectLst/>
                <a:uFillTx/>
                <a:latin typeface="Arial"/>
              </a:rPr>
              <a:t>hi</a:t>
            </a:r>
            <a:r>
              <a:rPr lang="en-US" sz="2000" b="0" u="none" strike="noStrike">
                <a:solidFill>
                  <a:srgbClr val="000000"/>
                </a:solidFill>
                <a:effectLst/>
                <a:uFillTx/>
                <a:latin typeface="Arial"/>
              </a:rPr>
              <a:t> đã có</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chương trình chuyển đổi</a:t>
            </a:r>
            <a:r>
              <a:rPr lang="vi-VN" sz="2000" b="0" u="none" strike="noStrike">
                <a:solidFill>
                  <a:srgbClr val="000000"/>
                </a:solidFill>
                <a:effectLst/>
                <a:uFillTx/>
                <a:latin typeface="Arial"/>
              </a:rPr>
              <a:t>, tất cả các mô hình độc lập nền tảng có thể được </a:t>
            </a:r>
            <a:r>
              <a:rPr lang="en-US" sz="2000" b="0" u="none" strike="noStrike">
                <a:solidFill>
                  <a:srgbClr val="000000"/>
                </a:solidFill>
                <a:effectLst/>
                <a:uFillTx/>
                <a:latin typeface="Arial"/>
              </a:rPr>
              <a:t>triển khai </a:t>
            </a:r>
            <a:r>
              <a:rPr lang="vi-VN" sz="2000" b="0" u="none" strike="noStrike">
                <a:solidFill>
                  <a:srgbClr val="000000"/>
                </a:solidFill>
                <a:effectLst/>
                <a:uFillTx/>
                <a:latin typeface="Arial"/>
              </a:rPr>
              <a:t>nhanh chóng trên nền tảng mới.</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Có một số khó khăn đặt ra cho kỹ nghệ định hướng mô hình. M</a:t>
            </a:r>
            <a:r>
              <a:rPr lang="vi-VN" sz="2000" b="0" u="none" strike="noStrike">
                <a:solidFill>
                  <a:srgbClr val="000000"/>
                </a:solidFill>
                <a:effectLst/>
                <a:uFillTx/>
                <a:latin typeface="Arial"/>
              </a:rPr>
              <a:t>ô hình </a:t>
            </a:r>
            <a:r>
              <a:rPr lang="en-US" sz="2000" b="0" u="none" strike="noStrike">
                <a:solidFill>
                  <a:srgbClr val="000000"/>
                </a:solidFill>
                <a:effectLst/>
                <a:uFillTx/>
                <a:latin typeface="Arial"/>
              </a:rPr>
              <a:t>là phương tiện hữu hiệu cho </a:t>
            </a:r>
            <a:r>
              <a:rPr lang="vi-VN" sz="2000" b="0" u="none" strike="noStrike">
                <a:solidFill>
                  <a:srgbClr val="000000"/>
                </a:solidFill>
                <a:effectLst/>
                <a:uFillTx/>
                <a:latin typeface="Arial"/>
              </a:rPr>
              <a:t>các cuộc thảo luận về thiết kế phần mềm. Tuy nhiên, không phải lúc nào các trừu tượng</a:t>
            </a:r>
            <a:r>
              <a:rPr lang="en-US" sz="2000" b="0" u="none" strike="noStrike">
                <a:solidFill>
                  <a:srgbClr val="000000"/>
                </a:solidFill>
                <a:effectLst/>
                <a:uFillTx/>
                <a:latin typeface="Arial"/>
              </a:rPr>
              <a:t> (khái niệm), </a:t>
            </a:r>
            <a:r>
              <a:rPr lang="vi-VN" sz="2000" b="0" u="none" strike="noStrike">
                <a:solidFill>
                  <a:srgbClr val="000000"/>
                </a:solidFill>
                <a:effectLst/>
                <a:uFillTx/>
                <a:latin typeface="Arial"/>
              </a:rPr>
              <a:t>được hỗ trợ bởi mô hình </a:t>
            </a:r>
            <a:r>
              <a:rPr lang="en-US" sz="2000" b="0" u="none" strike="noStrike">
                <a:solidFill>
                  <a:srgbClr val="000000"/>
                </a:solidFill>
                <a:effectLst/>
                <a:uFillTx/>
                <a:latin typeface="Arial"/>
              </a:rPr>
              <a:t>cũng </a:t>
            </a:r>
            <a:r>
              <a:rPr lang="vi-VN" sz="2000" b="0" u="none" strike="noStrike">
                <a:solidFill>
                  <a:srgbClr val="000000"/>
                </a:solidFill>
                <a:effectLst/>
                <a:uFillTx/>
                <a:latin typeface="Arial"/>
              </a:rPr>
              <a:t>là các trừu tượng</a:t>
            </a:r>
            <a:r>
              <a:rPr lang="en-US" sz="2000" b="0" u="none" strike="noStrike">
                <a:solidFill>
                  <a:srgbClr val="000000"/>
                </a:solidFill>
                <a:effectLst/>
                <a:uFillTx/>
                <a:latin typeface="Arial"/>
              </a:rPr>
              <a:t> ở mức thực thi</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Trong thực tế, </a:t>
            </a:r>
            <a:r>
              <a:rPr lang="vi-VN" sz="2000" b="0" u="none" strike="noStrike">
                <a:solidFill>
                  <a:srgbClr val="000000"/>
                </a:solidFill>
                <a:effectLst/>
                <a:uFillTx/>
                <a:latin typeface="Arial"/>
              </a:rPr>
              <a:t>các mô hình thiết kế </a:t>
            </a:r>
            <a:r>
              <a:rPr lang="en-US" sz="2000" b="0" u="none" strike="noStrike">
                <a:solidFill>
                  <a:srgbClr val="000000"/>
                </a:solidFill>
                <a:effectLst/>
                <a:uFillTx/>
                <a:latin typeface="Arial"/>
              </a:rPr>
              <a:t>thường được phác thảo một cách </a:t>
            </a:r>
            <a:r>
              <a:rPr lang="vi-VN" sz="2000" b="0" u="none" strike="noStrike">
                <a:solidFill>
                  <a:srgbClr val="000000"/>
                </a:solidFill>
                <a:effectLst/>
                <a:uFillTx/>
                <a:latin typeface="Arial"/>
              </a:rPr>
              <a:t>không chính </a:t>
            </a:r>
            <a:r>
              <a:rPr lang="en-US" sz="2000" b="0" u="none" strike="noStrike">
                <a:solidFill>
                  <a:srgbClr val="000000"/>
                </a:solidFill>
                <a:effectLst/>
                <a:uFillTx/>
                <a:latin typeface="Arial"/>
              </a:rPr>
              <a:t>xác (informal), </a:t>
            </a:r>
            <a:r>
              <a:rPr lang="vi-VN" sz="2000" b="0" u="none" strike="noStrike">
                <a:solidFill>
                  <a:srgbClr val="000000"/>
                </a:solidFill>
                <a:effectLst/>
                <a:uFillTx/>
                <a:latin typeface="Arial"/>
              </a:rPr>
              <a:t>sau đó </a:t>
            </a:r>
            <a:r>
              <a:rPr lang="en-US" sz="2000" b="0" u="none" strike="noStrike">
                <a:solidFill>
                  <a:srgbClr val="000000"/>
                </a:solidFill>
                <a:effectLst/>
                <a:uFillTx/>
                <a:latin typeface="Arial"/>
              </a:rPr>
              <a:t>chuyển sang cài đặt </a:t>
            </a:r>
            <a:r>
              <a:rPr lang="vi-VN" sz="2000" b="0" u="none" strike="noStrike">
                <a:solidFill>
                  <a:srgbClr val="000000"/>
                </a:solidFill>
                <a:effectLst/>
                <a:uFillTx/>
                <a:latin typeface="Arial"/>
              </a:rPr>
              <a:t>hệ thống bằng cách sử dụng </a:t>
            </a:r>
            <a:r>
              <a:rPr lang="en-US" sz="2000" b="0" u="none" strike="noStrike">
                <a:solidFill>
                  <a:srgbClr val="000000"/>
                </a:solidFill>
                <a:effectLst/>
                <a:uFillTx/>
                <a:latin typeface="Arial"/>
              </a:rPr>
              <a:t>các </a:t>
            </a:r>
            <a:r>
              <a:rPr lang="vi-VN" sz="2000" b="0" u="none" strike="noStrike">
                <a:solidFill>
                  <a:srgbClr val="000000"/>
                </a:solidFill>
                <a:effectLst/>
                <a:uFillTx/>
                <a:latin typeface="Arial"/>
              </a:rPr>
              <a:t>gói </a:t>
            </a:r>
            <a:r>
              <a:rPr lang="en-US" sz="2000" b="0" u="none" strike="noStrike">
                <a:solidFill>
                  <a:srgbClr val="000000"/>
                </a:solidFill>
                <a:effectLst/>
                <a:uFillTx/>
                <a:latin typeface="Arial"/>
              </a:rPr>
              <a:t>hay các </a:t>
            </a:r>
            <a:r>
              <a:rPr lang="vi-VN" sz="2000" b="0" u="none" strike="noStrike">
                <a:solidFill>
                  <a:srgbClr val="000000"/>
                </a:solidFill>
                <a:effectLst/>
                <a:uFillTx/>
                <a:latin typeface="Arial"/>
              </a:rPr>
              <a:t>cấu hình có</a:t>
            </a:r>
            <a:r>
              <a:rPr lang="en-US" sz="2000" b="0" u="none" strike="noStrike">
                <a:solidFill>
                  <a:srgbClr val="000000"/>
                </a:solidFill>
                <a:effectLst/>
                <a:uFillTx/>
                <a:latin typeface="Arial"/>
              </a:rPr>
              <a:t> sẵn</a:t>
            </a:r>
            <a:r>
              <a:rPr lang="vi-VN" sz="2000" b="0" u="none" strike="noStrike">
                <a:solidFill>
                  <a:srgbClr val="000000"/>
                </a:solidFill>
                <a:effectLst/>
                <a:uFillTx/>
                <a:latin typeface="Arial"/>
              </a:rPr>
              <a:t>.</a:t>
            </a:r>
            <a:r>
              <a:rPr lang="en-US" sz="2000" b="0" u="none" strike="noStrike">
                <a:solidFill>
                  <a:srgbClr val="000000"/>
                </a:solidFill>
                <a:effectLst/>
                <a:uFillTx/>
                <a:latin typeface="Arial"/>
              </a:rPr>
              <a:t> Theo lược đồ phát triển này đổi hỏi các chi phí cho việc tạo và duy trì các bộ chuyển đổi mô hình và sinh mã tự động.</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r>
              <a:rPr lang="vi-VN" sz="2000" b="0" u="none" strike="noStrike">
                <a:solidFill>
                  <a:srgbClr val="000000"/>
                </a:solidFill>
                <a:effectLst/>
                <a:uFillTx/>
                <a:latin typeface="Arial"/>
              </a:rPr>
              <a:t>Hơn nữa, các lập luận về độc lập nền tảng chỉ có giá trị đối với các hệ thống </a:t>
            </a:r>
            <a:r>
              <a:rPr lang="en-US" sz="2000" b="0" u="none" strike="noStrike">
                <a:solidFill>
                  <a:srgbClr val="000000"/>
                </a:solidFill>
                <a:effectLst/>
                <a:uFillTx/>
                <a:latin typeface="Arial"/>
              </a:rPr>
              <a:t>có vòng đời dài</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và theo đó </a:t>
            </a:r>
            <a:r>
              <a:rPr lang="vi-VN" sz="2000" b="0" u="none" strike="noStrike">
                <a:solidFill>
                  <a:srgbClr val="000000"/>
                </a:solidFill>
                <a:effectLst/>
                <a:uFillTx/>
                <a:latin typeface="Arial"/>
              </a:rPr>
              <a:t>các nền tảng </a:t>
            </a:r>
            <a:r>
              <a:rPr lang="en-US" sz="2000" b="0" u="none" strike="noStrike">
                <a:solidFill>
                  <a:srgbClr val="000000"/>
                </a:solidFill>
                <a:effectLst/>
                <a:uFillTx/>
                <a:latin typeface="Arial"/>
              </a:rPr>
              <a:t>có thể </a:t>
            </a:r>
            <a:r>
              <a:rPr lang="vi-VN" sz="2000" b="0" u="none" strike="noStrike">
                <a:solidFill>
                  <a:srgbClr val="000000"/>
                </a:solidFill>
                <a:effectLst/>
                <a:uFillTx/>
                <a:latin typeface="Arial"/>
              </a:rPr>
              <a:t>trở nên lỗi thời trong suốt thời gian tồn tại của hệ thống. Tuy nhiên, đối với lớp hệ thống này, chúng tôi biết rằng việc triển khai không phải là vấn đề chính — kỹ </a:t>
            </a:r>
            <a:r>
              <a:rPr lang="en-US" sz="2000" b="0" u="none" strike="noStrike">
                <a:solidFill>
                  <a:srgbClr val="000000"/>
                </a:solidFill>
                <a:effectLst/>
                <a:uFillTx/>
                <a:latin typeface="Arial"/>
              </a:rPr>
              <a:t>nghệ </a:t>
            </a:r>
            <a:r>
              <a:rPr lang="vi-VN" sz="2000" b="0" u="none" strike="noStrike">
                <a:solidFill>
                  <a:srgbClr val="000000"/>
                </a:solidFill>
                <a:effectLst/>
                <a:uFillTx/>
                <a:latin typeface="Arial"/>
              </a:rPr>
              <a:t>yêu cầu, bảo mật và sự </a:t>
            </a:r>
            <a:r>
              <a:rPr lang="en-US" sz="2000" b="0" u="none" strike="noStrike">
                <a:solidFill>
                  <a:srgbClr val="000000"/>
                </a:solidFill>
                <a:effectLst/>
                <a:uFillTx/>
                <a:latin typeface="Arial"/>
              </a:rPr>
              <a:t>tin cậy</a:t>
            </a:r>
            <a:r>
              <a:rPr lang="vi-VN" sz="2000" b="0" u="none" strike="noStrike">
                <a:solidFill>
                  <a:srgbClr val="000000"/>
                </a:solidFill>
                <a:effectLst/>
                <a:uFillTx/>
                <a:latin typeface="Arial"/>
              </a:rPr>
              <a:t>, </a:t>
            </a:r>
            <a:r>
              <a:rPr lang="en-US" sz="2000" b="0" u="none" strike="noStrike">
                <a:solidFill>
                  <a:srgbClr val="000000"/>
                </a:solidFill>
                <a:effectLst/>
                <a:uFillTx/>
                <a:latin typeface="Arial"/>
              </a:rPr>
              <a:t>vấn đề </a:t>
            </a:r>
            <a:r>
              <a:rPr lang="vi-VN" sz="2000" b="0" u="none" strike="noStrike">
                <a:solidFill>
                  <a:srgbClr val="000000"/>
                </a:solidFill>
                <a:effectLst/>
                <a:uFillTx/>
                <a:latin typeface="Arial"/>
              </a:rPr>
              <a:t>tích hợp với các hệ thống cũ và </a:t>
            </a:r>
            <a:r>
              <a:rPr lang="en-US" sz="2000" b="0" u="none" strike="noStrike">
                <a:solidFill>
                  <a:srgbClr val="000000"/>
                </a:solidFill>
                <a:effectLst/>
                <a:uFillTx/>
                <a:latin typeface="Arial"/>
              </a:rPr>
              <a:t>kiểm thử </a:t>
            </a:r>
            <a:r>
              <a:rPr lang="vi-VN" sz="2000" b="0" u="none" strike="noStrike">
                <a:solidFill>
                  <a:srgbClr val="000000"/>
                </a:solidFill>
                <a:effectLst/>
                <a:uFillTx/>
                <a:latin typeface="Arial"/>
              </a:rPr>
              <a:t>có ý nghĩa hơn.</a:t>
            </a:r>
            <a:endParaRPr lang="en-US" sz="2000" b="0" u="none" strike="noStrike">
              <a:solidFill>
                <a:srgbClr val="000000"/>
              </a:solidFill>
              <a:effectLst/>
              <a:uFillTx/>
              <a:latin typeface="Arial"/>
            </a:endParaRPr>
          </a:p>
        </p:txBody>
      </p:sp>
      <p:sp>
        <p:nvSpPr>
          <p:cNvPr id="348" name="PlaceHolder 3"/>
          <p:cNvSpPr>
            <a:spLocks noGrp="1"/>
          </p:cNvSpPr>
          <p:nvPr>
            <p:ph type="sldNum" idx="94"/>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F28926-A2F2-47EB-919E-84D54061231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1373040" y="754200"/>
            <a:ext cx="5025600" cy="3771720"/>
          </a:xfrm>
          <a:prstGeom prst="rect">
            <a:avLst/>
          </a:prstGeom>
          <a:ln w="0">
            <a:noFill/>
          </a:ln>
        </p:spPr>
      </p:sp>
      <p:sp>
        <p:nvSpPr>
          <p:cNvPr id="350" name="PlaceHolder 2"/>
          <p:cNvSpPr>
            <a:spLocks noGrp="1"/>
          </p:cNvSpPr>
          <p:nvPr>
            <p:ph type="body"/>
          </p:nvPr>
        </p:nvSpPr>
        <p:spPr>
          <a:xfrm>
            <a:off x="777960" y="4778280"/>
            <a:ext cx="6216120" cy="4525560"/>
          </a:xfrm>
          <a:prstGeom prst="rect">
            <a:avLst/>
          </a:prstGeom>
          <a:noFill/>
          <a:ln w="0">
            <a:noFill/>
          </a:ln>
        </p:spPr>
        <p:txBody>
          <a:bodyPr lIns="91440" rIns="91440" tIns="45720" bIns="45720" anchor="t">
            <a:noAutofit/>
          </a:bodyPr>
          <a:p>
            <a:pPr indent="0">
              <a:lnSpc>
                <a:spcPct val="100000"/>
              </a:lnSpc>
              <a:buNone/>
            </a:pPr>
            <a:r>
              <a:rPr lang="en-GB" sz="1200" b="0" u="none" strike="noStrike">
                <a:solidFill>
                  <a:srgbClr val="000000"/>
                </a:solidFill>
                <a:effectLst/>
                <a:uFillTx/>
                <a:latin typeface="Arial"/>
              </a:rPr>
              <a:t>Trong bài học này chúng ta đã tập trung vào các điểm chính sau:</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rgbClr val="000000"/>
                </a:solidFill>
                <a:effectLst/>
                <a:uFillTx/>
                <a:latin typeface="Arial"/>
              </a:rPr>
              <a:t>Mô hình là </a:t>
            </a:r>
            <a:r>
              <a:rPr lang="en-US" sz="1200" b="0" u="none" strike="noStrike">
                <a:solidFill>
                  <a:srgbClr val="000000"/>
                </a:solidFill>
                <a:effectLst/>
                <a:uFillTx/>
                <a:latin typeface="Arial"/>
              </a:rPr>
              <a:t>sự đơn giản hóa </a:t>
            </a:r>
            <a:r>
              <a:rPr lang="vi-VN" sz="1200" b="0" u="none" strike="noStrike">
                <a:solidFill>
                  <a:srgbClr val="000000"/>
                </a:solidFill>
                <a:effectLst/>
                <a:uFillTx/>
                <a:latin typeface="Arial"/>
              </a:rPr>
              <a:t>của hệ thống</a:t>
            </a:r>
            <a:r>
              <a:rPr lang="en-US" sz="1200" b="0" u="none" strike="noStrike">
                <a:solidFill>
                  <a:srgbClr val="000000"/>
                </a:solidFill>
                <a:effectLst/>
                <a:uFillTx/>
                <a:latin typeface="Arial"/>
              </a:rPr>
              <a:t>,</a:t>
            </a:r>
            <a:r>
              <a:rPr lang="vi-VN" sz="1200" b="0" u="none" strike="noStrike">
                <a:solidFill>
                  <a:srgbClr val="000000"/>
                </a:solidFill>
                <a:effectLst/>
                <a:uFillTx/>
                <a:latin typeface="Arial"/>
              </a:rPr>
              <a:t> bỏ qua </a:t>
            </a:r>
            <a:r>
              <a:rPr lang="en-US" sz="1200" b="0" u="none" strike="noStrike">
                <a:solidFill>
                  <a:srgbClr val="000000"/>
                </a:solidFill>
                <a:effectLst/>
                <a:uFillTx/>
                <a:latin typeface="Arial"/>
              </a:rPr>
              <a:t>một số </a:t>
            </a:r>
            <a:r>
              <a:rPr lang="vi-VN" sz="1200" b="0" u="none" strike="noStrike">
                <a:solidFill>
                  <a:srgbClr val="000000"/>
                </a:solidFill>
                <a:effectLst/>
                <a:uFillTx/>
                <a:latin typeface="Arial"/>
              </a:rPr>
              <a:t>chi tiết hệ thống</a:t>
            </a:r>
            <a:r>
              <a:rPr lang="en-US" sz="1200" b="0" u="none" strike="noStrike">
                <a:solidFill>
                  <a:srgbClr val="000000"/>
                </a:solidFill>
                <a:effectLst/>
                <a:uFillTx/>
                <a:latin typeface="Arial"/>
              </a:rPr>
              <a:t> để hiểu, phân tích và xây dựng hệ thống</a:t>
            </a:r>
            <a:r>
              <a:rPr lang="vi-VN" sz="1200" b="0" u="none" strike="noStrike">
                <a:solidFill>
                  <a:srgbClr val="000000"/>
                </a:solidFill>
                <a:effectLst/>
                <a:uFillTx/>
                <a:latin typeface="Arial"/>
              </a:rPr>
              <a:t>. Các mô hình hệ thống được </a:t>
            </a:r>
            <a:r>
              <a:rPr lang="en-US" sz="1200" b="0" u="none" strike="noStrike">
                <a:solidFill>
                  <a:srgbClr val="000000"/>
                </a:solidFill>
                <a:effectLst/>
                <a:uFillTx/>
                <a:latin typeface="Arial"/>
              </a:rPr>
              <a:t>tạo ra bổ sung cho nhau, phản ánh hệ thống từ các khía cạnh chính bao gồm khía cạnh ngữ cảnh</a:t>
            </a:r>
            <a:r>
              <a:rPr lang="vi-VN" sz="1200" b="0" u="none" strike="noStrike">
                <a:solidFill>
                  <a:srgbClr val="000000"/>
                </a:solidFill>
                <a:effectLst/>
                <a:uFillTx/>
                <a:latin typeface="Arial"/>
              </a:rPr>
              <a:t>, tương tác, cấu trúc và hành vi của hệ thống.</a:t>
            </a:r>
            <a:r>
              <a:rPr lang="en-US" sz="1200" b="0" u="none" strike="noStrike">
                <a:solidFill>
                  <a:srgbClr val="000000"/>
                </a:solidFill>
                <a:effectLst/>
                <a:uFillTx/>
                <a:latin typeface="Arial"/>
              </a:rPr>
              <a:t> Các biểu đồ UML thường được sử dụng để biểu diễn cho các góc nhìn này.</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en-US" sz="1200" b="0" u="none" strike="noStrike">
                <a:solidFill>
                  <a:srgbClr val="000000"/>
                </a:solidFill>
                <a:effectLst/>
                <a:uFillTx/>
                <a:latin typeface="Arial"/>
              </a:rPr>
              <a:t>Mô</a:t>
            </a:r>
            <a:r>
              <a:rPr lang="vi-VN" sz="1200" b="0" u="none" strike="noStrike">
                <a:solidFill>
                  <a:srgbClr val="000000"/>
                </a:solidFill>
                <a:effectLst/>
                <a:uFillTx/>
                <a:latin typeface="Arial"/>
              </a:rPr>
              <a:t> hình ngữ cảnh </a:t>
            </a:r>
            <a:r>
              <a:rPr lang="en-US" sz="1200" b="0" u="none" strike="noStrike">
                <a:solidFill>
                  <a:srgbClr val="000000"/>
                </a:solidFill>
                <a:effectLst/>
                <a:uFillTx/>
                <a:latin typeface="Arial"/>
              </a:rPr>
              <a:t>cho phép </a:t>
            </a:r>
            <a:r>
              <a:rPr lang="vi-VN" sz="1200" b="0" u="none" strike="noStrike">
                <a:solidFill>
                  <a:srgbClr val="000000"/>
                </a:solidFill>
                <a:effectLst/>
                <a:uFillTx/>
                <a:latin typeface="Arial"/>
              </a:rPr>
              <a:t>định vị </a:t>
            </a:r>
            <a:r>
              <a:rPr lang="en-US" sz="1200" b="0" u="none" strike="noStrike">
                <a:solidFill>
                  <a:srgbClr val="000000"/>
                </a:solidFill>
                <a:effectLst/>
                <a:uFillTx/>
                <a:latin typeface="Arial"/>
              </a:rPr>
              <a:t>hệ thống trong mối quan hệ với </a:t>
            </a:r>
            <a:r>
              <a:rPr lang="vi-VN" sz="1200" b="0" u="none" strike="noStrike">
                <a:solidFill>
                  <a:srgbClr val="000000"/>
                </a:solidFill>
                <a:effectLst/>
                <a:uFillTx/>
                <a:latin typeface="Arial"/>
              </a:rPr>
              <a:t>các hệ thống </a:t>
            </a:r>
            <a:r>
              <a:rPr lang="en-US" sz="1200" b="0" u="none" strike="noStrike">
                <a:solidFill>
                  <a:srgbClr val="000000"/>
                </a:solidFill>
                <a:effectLst/>
                <a:uFillTx/>
                <a:latin typeface="Arial"/>
              </a:rPr>
              <a:t>khác </a:t>
            </a:r>
            <a:r>
              <a:rPr lang="vi-VN" sz="1200" b="0" u="none" strike="noStrike">
                <a:solidFill>
                  <a:srgbClr val="000000"/>
                </a:solidFill>
                <a:effectLst/>
                <a:uFillTx/>
                <a:latin typeface="Arial"/>
              </a:rPr>
              <a:t>và </a:t>
            </a:r>
            <a:r>
              <a:rPr lang="en-US" sz="1200" b="0" u="none" strike="noStrike">
                <a:solidFill>
                  <a:srgbClr val="000000"/>
                </a:solidFill>
                <a:effectLst/>
                <a:uFillTx/>
                <a:latin typeface="Arial"/>
              </a:rPr>
              <a:t>các </a:t>
            </a:r>
            <a:r>
              <a:rPr lang="vi-VN" sz="1200" b="0" u="none" strike="noStrike">
                <a:solidFill>
                  <a:srgbClr val="000000"/>
                </a:solidFill>
                <a:effectLst/>
                <a:uFillTx/>
                <a:latin typeface="Arial"/>
              </a:rPr>
              <a:t>quy trình </a:t>
            </a:r>
            <a:r>
              <a:rPr lang="en-US" sz="1200" b="0" u="none" strike="noStrike">
                <a:solidFill>
                  <a:srgbClr val="000000"/>
                </a:solidFill>
                <a:effectLst/>
                <a:uFillTx/>
                <a:latin typeface="Arial"/>
              </a:rPr>
              <a:t>nghiệp vụ thuộc về môi trường</a:t>
            </a:r>
            <a:r>
              <a:rPr lang="vi-VN" sz="1200" b="0" u="none" strike="noStrike">
                <a:solidFill>
                  <a:srgbClr val="000000"/>
                </a:solidFill>
                <a:effectLst/>
                <a:uFillTx/>
                <a:latin typeface="Arial"/>
              </a:rPr>
              <a:t>.</a:t>
            </a:r>
            <a:r>
              <a:rPr lang="en-US" sz="1200" b="0" u="none" strike="noStrike">
                <a:solidFill>
                  <a:srgbClr val="000000"/>
                </a:solidFill>
                <a:effectLst/>
                <a:uFillTx/>
                <a:latin typeface="Arial"/>
              </a:rPr>
              <a:t> </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en-US" sz="1200" b="0" u="none" strike="noStrike">
                <a:solidFill>
                  <a:srgbClr val="000000"/>
                </a:solidFill>
                <a:effectLst/>
                <a:uFillTx/>
                <a:latin typeface="Arial"/>
              </a:rPr>
              <a:t>Biểu đồ </a:t>
            </a:r>
            <a:r>
              <a:rPr lang="vi-VN" sz="1200" b="0" u="none" strike="noStrike">
                <a:solidFill>
                  <a:srgbClr val="000000"/>
                </a:solidFill>
                <a:effectLst/>
                <a:uFillTx/>
                <a:latin typeface="Arial"/>
              </a:rPr>
              <a:t>ca sử dụng và </a:t>
            </a:r>
            <a:r>
              <a:rPr lang="en-US" sz="1200" b="0" u="none" strike="noStrike">
                <a:solidFill>
                  <a:srgbClr val="000000"/>
                </a:solidFill>
                <a:effectLst/>
                <a:uFillTx/>
                <a:latin typeface="Arial"/>
              </a:rPr>
              <a:t>biểu </a:t>
            </a:r>
            <a:r>
              <a:rPr lang="vi-VN" sz="1200" b="0" u="none" strike="noStrike">
                <a:solidFill>
                  <a:srgbClr val="000000"/>
                </a:solidFill>
                <a:effectLst/>
                <a:uFillTx/>
                <a:latin typeface="Arial"/>
              </a:rPr>
              <a:t>đồ </a:t>
            </a:r>
            <a:r>
              <a:rPr lang="en-US" sz="1200" b="0" u="none" strike="noStrike">
                <a:solidFill>
                  <a:srgbClr val="000000"/>
                </a:solidFill>
                <a:effectLst/>
                <a:uFillTx/>
                <a:latin typeface="Arial"/>
              </a:rPr>
              <a:t>tuần </a:t>
            </a:r>
            <a:r>
              <a:rPr lang="vi-VN" sz="1200" b="0" u="none" strike="noStrike">
                <a:solidFill>
                  <a:srgbClr val="000000"/>
                </a:solidFill>
                <a:effectLst/>
                <a:uFillTx/>
                <a:latin typeface="Arial"/>
              </a:rPr>
              <a:t>tự được sử dụng để mô tả tương tác giữa người dùng và hệ thống. Các ca sử dụng mô tả tương tác giữa hệ thống và các tác nhân bên ngoài; </a:t>
            </a:r>
            <a:r>
              <a:rPr lang="en-US" sz="1200" b="0" u="none" strike="noStrike">
                <a:solidFill>
                  <a:srgbClr val="000000"/>
                </a:solidFill>
                <a:effectLst/>
                <a:uFillTx/>
                <a:latin typeface="Arial"/>
              </a:rPr>
              <a:t>Biểu </a:t>
            </a:r>
            <a:r>
              <a:rPr lang="vi-VN" sz="1200" b="0" u="none" strike="noStrike">
                <a:solidFill>
                  <a:srgbClr val="000000"/>
                </a:solidFill>
                <a:effectLst/>
                <a:uFillTx/>
                <a:latin typeface="Arial"/>
              </a:rPr>
              <a:t>đồ tuần tự </a:t>
            </a:r>
            <a:r>
              <a:rPr lang="en-US" sz="1200" b="0" u="none" strike="noStrike">
                <a:solidFill>
                  <a:srgbClr val="000000"/>
                </a:solidFill>
                <a:effectLst/>
                <a:uFillTx/>
                <a:latin typeface="Arial"/>
              </a:rPr>
              <a:t>bổ sung </a:t>
            </a:r>
            <a:r>
              <a:rPr lang="vi-VN" sz="1200" b="0" u="none" strike="noStrike">
                <a:solidFill>
                  <a:srgbClr val="000000"/>
                </a:solidFill>
                <a:effectLst/>
                <a:uFillTx/>
                <a:latin typeface="Arial"/>
              </a:rPr>
              <a:t>thông tin vào các biểu đồ này bằng cách </a:t>
            </a:r>
            <a:r>
              <a:rPr lang="en-US" sz="1200" b="0" u="none" strike="noStrike">
                <a:solidFill>
                  <a:srgbClr val="000000"/>
                </a:solidFill>
                <a:effectLst/>
                <a:uFillTx/>
                <a:latin typeface="Arial"/>
              </a:rPr>
              <a:t>biểu diễn các </a:t>
            </a:r>
            <a:r>
              <a:rPr lang="vi-VN" sz="1200" b="0" u="none" strike="noStrike">
                <a:solidFill>
                  <a:srgbClr val="000000"/>
                </a:solidFill>
                <a:effectLst/>
                <a:uFillTx/>
                <a:latin typeface="Arial"/>
              </a:rPr>
              <a:t>tương tác giữa các đối tượng hệ thống.</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rgbClr val="000000"/>
                </a:solidFill>
                <a:effectLst/>
                <a:uFillTx/>
                <a:latin typeface="Arial"/>
              </a:rPr>
              <a:t>Các mô hình cấu </a:t>
            </a:r>
            <a:r>
              <a:rPr lang="en-US" sz="1200" b="0" u="none" strike="noStrike">
                <a:solidFill>
                  <a:srgbClr val="000000"/>
                </a:solidFill>
                <a:effectLst/>
                <a:uFillTx/>
                <a:latin typeface="Arial"/>
              </a:rPr>
              <a:t>trúc biểu diễn cách </a:t>
            </a:r>
            <a:r>
              <a:rPr lang="vi-VN" sz="1200" b="0" u="none" strike="noStrike">
                <a:solidFill>
                  <a:srgbClr val="000000"/>
                </a:solidFill>
                <a:effectLst/>
                <a:uFillTx/>
                <a:latin typeface="Arial"/>
              </a:rPr>
              <a:t>tổ chức và kiến ​​trúc của một hệ thống. Các </a:t>
            </a:r>
            <a:r>
              <a:rPr lang="en-US" sz="1200" b="0" u="none" strike="noStrike">
                <a:solidFill>
                  <a:srgbClr val="000000"/>
                </a:solidFill>
                <a:effectLst/>
                <a:uFillTx/>
                <a:latin typeface="Arial"/>
              </a:rPr>
              <a:t>biểu </a:t>
            </a:r>
            <a:r>
              <a:rPr lang="vi-VN" sz="1200" b="0" u="none" strike="noStrike">
                <a:solidFill>
                  <a:srgbClr val="000000"/>
                </a:solidFill>
                <a:effectLst/>
                <a:uFillTx/>
                <a:latin typeface="Arial"/>
              </a:rPr>
              <a:t>đồ lớp </a:t>
            </a:r>
            <a:r>
              <a:rPr lang="en-US" sz="1200" b="0" u="none" strike="noStrike">
                <a:solidFill>
                  <a:srgbClr val="000000"/>
                </a:solidFill>
                <a:effectLst/>
                <a:uFillTx/>
                <a:latin typeface="Arial"/>
              </a:rPr>
              <a:t>thường </a:t>
            </a:r>
            <a:r>
              <a:rPr lang="vi-VN" sz="1200" b="0" u="none" strike="noStrike">
                <a:solidFill>
                  <a:srgbClr val="000000"/>
                </a:solidFill>
                <a:effectLst/>
                <a:uFillTx/>
                <a:latin typeface="Arial"/>
              </a:rPr>
              <a:t>được sử dụng để định nghĩa cấu trúc tĩnh của các lớp trong một hệ thống và các liên kết </a:t>
            </a:r>
            <a:r>
              <a:rPr lang="en-US" sz="1200" b="0" u="none" strike="noStrike">
                <a:solidFill>
                  <a:srgbClr val="000000"/>
                </a:solidFill>
                <a:effectLst/>
                <a:uFillTx/>
                <a:latin typeface="Arial"/>
              </a:rPr>
              <a:t>giữa </a:t>
            </a:r>
            <a:r>
              <a:rPr lang="vi-VN" sz="1200" b="0" u="none" strike="noStrike">
                <a:solidFill>
                  <a:srgbClr val="000000"/>
                </a:solidFill>
                <a:effectLst/>
                <a:uFillTx/>
                <a:latin typeface="Arial"/>
              </a:rPr>
              <a:t>chúng.</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rgbClr val="000000"/>
                </a:solidFill>
                <a:effectLst/>
                <a:uFillTx/>
                <a:latin typeface="Arial"/>
              </a:rPr>
              <a:t>Các mô hình hành vi được sử dụng để mô tả hành vi động của một hệ thống </a:t>
            </a:r>
            <a:r>
              <a:rPr lang="en-US" sz="1200" b="0" u="none" strike="noStrike">
                <a:solidFill>
                  <a:srgbClr val="000000"/>
                </a:solidFill>
                <a:effectLst/>
                <a:uFillTx/>
                <a:latin typeface="Arial"/>
              </a:rPr>
              <a:t>khi </a:t>
            </a:r>
            <a:r>
              <a:rPr lang="vi-VN" sz="1200" b="0" u="none" strike="noStrike">
                <a:solidFill>
                  <a:srgbClr val="000000"/>
                </a:solidFill>
                <a:effectLst/>
                <a:uFillTx/>
                <a:latin typeface="Arial"/>
              </a:rPr>
              <a:t>thực thi. Hành vi này có thể được mô hình hóa từ quan điểm của dữ liệu được xử lý bởi hệ thống, hoặc bởi các sự kiện kích thích phản hồi từ một hệ thống.</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rgbClr val="000000"/>
                </a:solidFill>
                <a:effectLst/>
                <a:uFillTx/>
                <a:latin typeface="Arial"/>
              </a:rPr>
              <a:t>Biểu đồ hoạt động có thể được sử dụng để mô hình hóa việc xử lý dữ liệu, trong đó mỗi hoạt động đại diện cho một bước quy trình.</a:t>
            </a:r>
            <a:endParaRPr lang="en-US" sz="1200" b="0" u="none" strike="noStrike">
              <a:solidFill>
                <a:srgbClr val="000000"/>
              </a:solidFill>
              <a:effectLst/>
              <a:uFillTx/>
              <a:latin typeface="Arial"/>
            </a:endParaRPr>
          </a:p>
          <a:p>
            <a:pPr indent="0">
              <a:lnSpc>
                <a:spcPct val="100000"/>
              </a:lnSpc>
              <a:buNone/>
            </a:pPr>
            <a:r>
              <a:rPr lang="en-US" sz="1200" b="0" u="none" strike="noStrike">
                <a:solidFill>
                  <a:srgbClr val="000000"/>
                </a:solidFill>
                <a:effectLst/>
                <a:uFillTx/>
                <a:latin typeface="Arial"/>
              </a:rPr>
              <a:t>Biểu </a:t>
            </a:r>
            <a:r>
              <a:rPr lang="vi-VN" sz="1200" b="0" u="none" strike="noStrike">
                <a:solidFill>
                  <a:srgbClr val="000000"/>
                </a:solidFill>
                <a:effectLst/>
                <a:uFillTx/>
                <a:latin typeface="Arial"/>
              </a:rPr>
              <a:t>đồ trạng thái được sử dụng để mô hình hóa hành vi của hệ thống để đáp ứng với các sự kiện bên trong hoặc bên ngoài.</a:t>
            </a:r>
            <a:endParaRPr lang="en-US" sz="1200" b="0" u="none" strike="noStrike">
              <a:solidFill>
                <a:srgbClr val="000000"/>
              </a:solidFill>
              <a:effectLst/>
              <a:uFillTx/>
              <a:latin typeface="Arial"/>
            </a:endParaRPr>
          </a:p>
          <a:p>
            <a:pPr indent="0">
              <a:lnSpc>
                <a:spcPct val="100000"/>
              </a:lnSpc>
              <a:buNone/>
            </a:pPr>
            <a:endParaRPr lang="en-US" sz="1200" b="0" u="none" strike="noStrike">
              <a:solidFill>
                <a:srgbClr val="000000"/>
              </a:solidFill>
              <a:effectLst/>
              <a:uFillTx/>
              <a:latin typeface="Arial"/>
            </a:endParaRPr>
          </a:p>
          <a:p>
            <a:pPr indent="0">
              <a:lnSpc>
                <a:spcPct val="100000"/>
              </a:lnSpc>
              <a:buNone/>
            </a:pPr>
            <a:r>
              <a:rPr lang="vi-VN" sz="1200" b="0" u="none" strike="noStrike">
                <a:solidFill>
                  <a:srgbClr val="000000"/>
                </a:solidFill>
                <a:effectLst/>
                <a:uFillTx/>
                <a:latin typeface="Arial"/>
              </a:rPr>
              <a:t>Kỹ </a:t>
            </a:r>
            <a:r>
              <a:rPr lang="en-US" sz="1200" b="0" u="none" strike="noStrike">
                <a:solidFill>
                  <a:srgbClr val="000000"/>
                </a:solidFill>
                <a:effectLst/>
                <a:uFillTx/>
                <a:latin typeface="Arial"/>
              </a:rPr>
              <a:t>nghệ hướng </a:t>
            </a:r>
            <a:r>
              <a:rPr lang="vi-VN" sz="1200" b="0" u="none" strike="noStrike">
                <a:solidFill>
                  <a:srgbClr val="000000"/>
                </a:solidFill>
                <a:effectLst/>
                <a:uFillTx/>
                <a:latin typeface="Arial"/>
              </a:rPr>
              <a:t>mô hình là một cách tiếp cận để phát triển phần mềm trong đó một hệ thống được biểu diễn như là một tập hợp các mô hình có thể được tự động chuyển thành mã thực thi.</a:t>
            </a:r>
            <a:endParaRPr lang="en-US" sz="1200" b="0" u="none" strike="noStrike">
              <a:solidFill>
                <a:srgbClr val="000000"/>
              </a:solidFill>
              <a:effectLst/>
              <a:uFillTx/>
              <a:latin typeface="Arial"/>
            </a:endParaRPr>
          </a:p>
        </p:txBody>
      </p:sp>
      <p:sp>
        <p:nvSpPr>
          <p:cNvPr id="351" name="PlaceHolder 3"/>
          <p:cNvSpPr>
            <a:spLocks noGrp="1"/>
          </p:cNvSpPr>
          <p:nvPr>
            <p:ph type="sldNum" idx="95"/>
          </p:nvPr>
        </p:nvSpPr>
        <p:spPr>
          <a:xfrm>
            <a:off x="4402080" y="9553680"/>
            <a:ext cx="3368160" cy="50292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316B14-7B27-4D93-B54A-AD872D3E9AC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2920" y="2122560"/>
            <a:ext cx="7739640" cy="14641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chemeClr val="accent6">
                    <a:lumMod val="50000"/>
                  </a:schemeClr>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3" name="PlaceHolder 2"/>
          <p:cNvSpPr>
            <a:spLocks noGrp="1"/>
          </p:cNvSpPr>
          <p:nvPr>
            <p:ph type="dt" idx="1"/>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 name="PlaceHolder 3"/>
          <p:cNvSpPr>
            <a:spLocks noGrp="1"/>
          </p:cNvSpPr>
          <p:nvPr>
            <p:ph type="ftr" idx="2"/>
          </p:nvPr>
        </p:nvSpPr>
        <p:spPr>
          <a:xfrm>
            <a:off x="2266920" y="6332760"/>
            <a:ext cx="434304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032D1F37-3FC7-49BE-A979-EC31259ED1F9}"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7" name="PlaceHolder 2"/>
          <p:cNvSpPr>
            <a:spLocks noGrp="1"/>
          </p:cNvSpPr>
          <p:nvPr>
            <p:ph type="body"/>
          </p:nvPr>
        </p:nvSpPr>
        <p:spPr>
          <a:xfrm>
            <a:off x="455400" y="1594440"/>
            <a:ext cx="8195040" cy="450900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
        <p:nvSpPr>
          <p:cNvPr id="8" name="PlaceHolder 3"/>
          <p:cNvSpPr>
            <a:spLocks noGrp="1"/>
          </p:cNvSpPr>
          <p:nvPr>
            <p:ph type="dt" idx="4"/>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9" name="PlaceHolder 4"/>
          <p:cNvSpPr>
            <a:spLocks noGrp="1"/>
          </p:cNvSpPr>
          <p:nvPr>
            <p:ph type="ftr" idx="5"/>
          </p:nvPr>
        </p:nvSpPr>
        <p:spPr>
          <a:xfrm>
            <a:off x="2190600" y="6332760"/>
            <a:ext cx="449532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5769688C-3ED8-41E8-B453-4D5CBFDBA8E1}"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01680" y="273600"/>
            <a:ext cx="2048400" cy="5829480"/>
          </a:xfrm>
          <a:prstGeom prst="rect">
            <a:avLst/>
          </a:prstGeom>
          <a:noFill/>
          <a:ln w="9360">
            <a:noFill/>
          </a:ln>
        </p:spPr>
        <p:txBody>
          <a:bodyPr numCol="1" spcCol="0" lIns="86760" rIns="86760" tIns="43560" bIns="43560" anchor="ctr" vert="eaVert">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12" name="PlaceHolder 2"/>
          <p:cNvSpPr>
            <a:spLocks noGrp="1"/>
          </p:cNvSpPr>
          <p:nvPr>
            <p:ph type="body"/>
          </p:nvPr>
        </p:nvSpPr>
        <p:spPr>
          <a:xfrm>
            <a:off x="455400" y="273600"/>
            <a:ext cx="5994360" cy="582948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
        <p:nvSpPr>
          <p:cNvPr id="13" name="PlaceHolder 3"/>
          <p:cNvSpPr>
            <a:spLocks noGrp="1"/>
          </p:cNvSpPr>
          <p:nvPr>
            <p:ph type="dt" idx="7"/>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14" name="PlaceHolder 4"/>
          <p:cNvSpPr>
            <a:spLocks noGrp="1"/>
          </p:cNvSpPr>
          <p:nvPr>
            <p:ph type="ftr" idx="8"/>
          </p:nvPr>
        </p:nvSpPr>
        <p:spPr>
          <a:xfrm>
            <a:off x="2190600" y="6332760"/>
            <a:ext cx="449532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0E1F9DAC-B7E0-4FF4-AE7A-131AC032D4D4}"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67080" y="305280"/>
            <a:ext cx="7771320" cy="91368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17" name="PlaceHolder 2"/>
          <p:cNvSpPr>
            <a:spLocks noGrp="1"/>
          </p:cNvSpPr>
          <p:nvPr>
            <p:ph type="body"/>
          </p:nvPr>
        </p:nvSpPr>
        <p:spPr>
          <a:xfrm>
            <a:off x="986400" y="1670040"/>
            <a:ext cx="3809520" cy="411516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
        <p:nvSpPr>
          <p:cNvPr id="18" name="PlaceHolder 3"/>
          <p:cNvSpPr>
            <a:spLocks noGrp="1"/>
          </p:cNvSpPr>
          <p:nvPr>
            <p:ph type="body"/>
          </p:nvPr>
        </p:nvSpPr>
        <p:spPr>
          <a:xfrm>
            <a:off x="4948200" y="1670040"/>
            <a:ext cx="3809520" cy="411516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0"/>
          </p:nvPr>
        </p:nvSpPr>
        <p:spPr>
          <a:xfrm>
            <a:off x="2190600" y="6332760"/>
            <a:ext cx="449532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20" name="PlaceHolder 2"/>
          <p:cNvSpPr>
            <a:spLocks noGrp="1"/>
          </p:cNvSpPr>
          <p:nvPr>
            <p:ph type="sldNum" idx="11"/>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01F38A86-5727-4446-94A9-DE5EC151DC7A}"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
        <p:nvSpPr>
          <p:cNvPr id="21" name="PlaceHolder 3"/>
          <p:cNvSpPr>
            <a:spLocks noGrp="1"/>
          </p:cNvSpPr>
          <p:nvPr>
            <p:ph type="title"/>
          </p:nvPr>
        </p:nvSpPr>
        <p:spPr>
          <a:xfrm>
            <a:off x="455040" y="272520"/>
            <a:ext cx="8194680" cy="114048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22" name="PlaceHolder 4"/>
          <p:cNvSpPr>
            <a:spLocks noGrp="1"/>
          </p:cNvSpPr>
          <p:nvPr>
            <p:ph type="body"/>
          </p:nvPr>
        </p:nvSpPr>
        <p:spPr>
          <a:xfrm>
            <a:off x="455040" y="1598760"/>
            <a:ext cx="8194680" cy="3962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000" b="0" u="none" strike="noStrike">
                <a:solidFill>
                  <a:schemeClr val="dk1"/>
                </a:solidFill>
                <a:effectLst/>
                <a:uFillTx/>
                <a:latin typeface="Calibri"/>
              </a:rPr>
              <a:t>Click to edit the outline text format</a:t>
            </a:r>
            <a:endParaRPr lang="en-US" sz="30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300" b="0" u="none" strike="noStrike">
                <a:solidFill>
                  <a:schemeClr val="dk1"/>
                </a:solidFill>
                <a:effectLst/>
                <a:uFillTx/>
                <a:latin typeface="Calibri"/>
              </a:rPr>
              <a:t>Second Outline Level</a:t>
            </a:r>
            <a:endParaRPr lang="en-US" sz="23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1900" b="0" u="none" strike="noStrike">
                <a:solidFill>
                  <a:schemeClr val="dk1"/>
                </a:solidFill>
                <a:effectLst/>
                <a:uFillTx/>
                <a:latin typeface="Calibri"/>
              </a:rPr>
              <a:t>Third Outline Level</a:t>
            </a:r>
            <a:endParaRPr lang="en-US" sz="19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1900" b="0" u="none" strike="noStrike">
                <a:solidFill>
                  <a:schemeClr val="dk1"/>
                </a:solidFill>
                <a:effectLst/>
                <a:uFillTx/>
                <a:latin typeface="Calibri"/>
              </a:rPr>
              <a:t>Fourth Outline Level</a:t>
            </a:r>
            <a:endParaRPr lang="en-US" sz="19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cxnSp>
        <p:nvCxnSpPr>
          <p:cNvPr id="23" name="Straight Connector 3"/>
          <p:cNvCxnSpPr/>
          <p:nvPr/>
        </p:nvCxnSpPr>
        <p:spPr>
          <a:xfrm>
            <a:off x="426600" y="1352160"/>
            <a:ext cx="8181360" cy="360"/>
          </a:xfrm>
          <a:prstGeom prst="straightConnector1">
            <a:avLst/>
          </a:prstGeom>
          <a:ln>
            <a:solidFill>
              <a:srgbClr val="feb80a"/>
            </a:solidFill>
            <a:round/>
          </a:ln>
        </p:spPr>
      </p:cxnSp>
      <p:sp>
        <p:nvSpPr>
          <p:cNvPr id="24"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rm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25" name="PlaceHolder 2"/>
          <p:cNvSpPr>
            <a:spLocks noGrp="1"/>
          </p:cNvSpPr>
          <p:nvPr>
            <p:ph type="body"/>
          </p:nvPr>
        </p:nvSpPr>
        <p:spPr>
          <a:xfrm>
            <a:off x="455400" y="1594440"/>
            <a:ext cx="8195040" cy="4509000"/>
          </a:xfrm>
          <a:prstGeom prst="rect">
            <a:avLst/>
          </a:prstGeom>
          <a:noFill/>
          <a:ln w="9360">
            <a:noFill/>
          </a:ln>
        </p:spPr>
        <p:txBody>
          <a:bodyPr numCol="1" spcCol="0" lIns="86760" rIns="86760" tIns="43560" bIns="43560" anchor="t">
            <a:norm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
        <p:nvSpPr>
          <p:cNvPr id="26" name="PlaceHolder 3"/>
          <p:cNvSpPr>
            <a:spLocks noGrp="1"/>
          </p:cNvSpPr>
          <p:nvPr>
            <p:ph type="dt" idx="12"/>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27" name="PlaceHolder 4"/>
          <p:cNvSpPr>
            <a:spLocks noGrp="1"/>
          </p:cNvSpPr>
          <p:nvPr>
            <p:ph type="ftr" idx="13"/>
          </p:nvPr>
        </p:nvSpPr>
        <p:spPr>
          <a:xfrm>
            <a:off x="2266920" y="6332760"/>
            <a:ext cx="441936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28" name="PlaceHolder 5"/>
          <p:cNvSpPr>
            <a:spLocks noGrp="1"/>
          </p:cNvSpPr>
          <p:nvPr>
            <p:ph type="sldNum" idx="14"/>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Arial"/>
              </a:defRPr>
            </a:lvl1pPr>
          </a:lstStyle>
          <a:p>
            <a:pPr indent="0" algn="r" defTabSz="914400">
              <a:lnSpc>
                <a:spcPct val="100000"/>
              </a:lnSpc>
              <a:buNone/>
            </a:pPr>
            <a:fld id="{B6DEB73B-B528-4773-AEB4-7020096ED9DA}"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719280" y="4390560"/>
            <a:ext cx="7739640" cy="1356840"/>
          </a:xfrm>
          <a:prstGeom prst="rect">
            <a:avLst/>
          </a:prstGeom>
          <a:noFill/>
          <a:ln w="9360">
            <a:noFill/>
          </a:ln>
        </p:spPr>
        <p:txBody>
          <a:bodyPr numCol="1" spcCol="0" lIns="86760" rIns="86760" tIns="43560" bIns="43560" anchor="t">
            <a:noAutofit/>
          </a:bodyPr>
          <a:p>
            <a:pPr indent="0">
              <a:lnSpc>
                <a:spcPct val="100000"/>
              </a:lnSpc>
              <a:buNone/>
            </a:pPr>
            <a:r>
              <a:rPr lang="en-US" sz="3800" b="1" u="none" strike="noStrike" cap="all">
                <a:solidFill>
                  <a:srgbClr val="0070c0"/>
                </a:solidFill>
                <a:effectLst/>
                <a:uFillTx/>
                <a:latin typeface="Calibri"/>
              </a:rPr>
              <a:t>Click to edit Master title style</a:t>
            </a:r>
            <a:endParaRPr lang="en-US" sz="3800" b="0" u="none" strike="noStrike">
              <a:solidFill>
                <a:schemeClr val="dk1"/>
              </a:solidFill>
              <a:effectLst/>
              <a:uFillTx/>
              <a:latin typeface="Calibri"/>
            </a:endParaRPr>
          </a:p>
        </p:txBody>
      </p:sp>
      <p:sp>
        <p:nvSpPr>
          <p:cNvPr id="30" name="PlaceHolder 2"/>
          <p:cNvSpPr>
            <a:spLocks noGrp="1"/>
          </p:cNvSpPr>
          <p:nvPr>
            <p:ph type="body"/>
          </p:nvPr>
        </p:nvSpPr>
        <p:spPr>
          <a:xfrm>
            <a:off x="719280" y="2895840"/>
            <a:ext cx="7739640" cy="1494360"/>
          </a:xfrm>
          <a:prstGeom prst="rect">
            <a:avLst/>
          </a:prstGeom>
          <a:noFill/>
          <a:ln w="9360">
            <a:noFill/>
          </a:ln>
        </p:spPr>
        <p:txBody>
          <a:bodyPr numCol="1" spcCol="0" lIns="86760" rIns="86760" tIns="43560" bIns="43560" anchor="b">
            <a:noAutofit/>
          </a:bodyPr>
          <a:p>
            <a:pPr indent="0">
              <a:lnSpc>
                <a:spcPct val="100000"/>
              </a:lnSpc>
              <a:spcBef>
                <a:spcPts val="380"/>
              </a:spcBef>
              <a:buNone/>
              <a:tabLst>
                <a:tab algn="l" pos="0"/>
              </a:tabLst>
            </a:pPr>
            <a:r>
              <a:rPr lang="en-US" sz="1900" b="0" u="none" strike="noStrike">
                <a:solidFill>
                  <a:schemeClr val="dk1">
                    <a:tint val="75000"/>
                  </a:schemeClr>
                </a:solidFill>
                <a:effectLst/>
                <a:uFillTx/>
                <a:latin typeface="Calibri"/>
              </a:rPr>
              <a:t>Click to edit Master text styles</a:t>
            </a:r>
            <a:endParaRPr lang="en-US" sz="1900" b="0" u="none" strike="noStrike">
              <a:solidFill>
                <a:schemeClr val="dk1"/>
              </a:solidFill>
              <a:effectLst/>
              <a:uFillTx/>
              <a:latin typeface="Calibri"/>
            </a:endParaRPr>
          </a:p>
        </p:txBody>
      </p:sp>
      <p:sp>
        <p:nvSpPr>
          <p:cNvPr id="31" name="PlaceHolder 3"/>
          <p:cNvSpPr>
            <a:spLocks noGrp="1"/>
          </p:cNvSpPr>
          <p:nvPr>
            <p:ph type="dt" idx="15"/>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32" name="PlaceHolder 4"/>
          <p:cNvSpPr>
            <a:spLocks noGrp="1"/>
          </p:cNvSpPr>
          <p:nvPr>
            <p:ph type="ftr" idx="16"/>
          </p:nvPr>
        </p:nvSpPr>
        <p:spPr>
          <a:xfrm>
            <a:off x="2266920" y="6332760"/>
            <a:ext cx="441936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33" name="PlaceHolder 5"/>
          <p:cNvSpPr>
            <a:spLocks noGrp="1"/>
          </p:cNvSpPr>
          <p:nvPr>
            <p:ph type="sldNum" idx="17"/>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BE3D3B2B-8016-4B32-BA98-3F9859702307}"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cxnSp>
        <p:nvCxnSpPr>
          <p:cNvPr id="34" name="Straight Connector 4"/>
          <p:cNvCxnSpPr/>
          <p:nvPr/>
        </p:nvCxnSpPr>
        <p:spPr>
          <a:xfrm>
            <a:off x="426600" y="1352160"/>
            <a:ext cx="8181360" cy="360"/>
          </a:xfrm>
          <a:prstGeom prst="straightConnector1">
            <a:avLst/>
          </a:prstGeom>
          <a:ln>
            <a:solidFill>
              <a:srgbClr val="feb603"/>
            </a:solidFill>
            <a:round/>
          </a:ln>
        </p:spPr>
      </p:cxnSp>
      <p:sp>
        <p:nvSpPr>
          <p:cNvPr id="35"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36" name="PlaceHolder 2"/>
          <p:cNvSpPr>
            <a:spLocks noGrp="1"/>
          </p:cNvSpPr>
          <p:nvPr>
            <p:ph type="body"/>
          </p:nvPr>
        </p:nvSpPr>
        <p:spPr>
          <a:xfrm>
            <a:off x="455400" y="1594440"/>
            <a:ext cx="4021560" cy="450900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US" sz="2700" b="0" u="none" strike="noStrike">
              <a:solidFill>
                <a:schemeClr val="dk1"/>
              </a:solidFill>
              <a:effectLst/>
              <a:uFillTx/>
              <a:latin typeface="Calibri"/>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US" sz="2300" b="0" u="none" strike="noStrike">
              <a:solidFill>
                <a:schemeClr val="dk1"/>
              </a:solidFill>
              <a:effectLst/>
              <a:uFillTx/>
              <a:latin typeface="Calibri"/>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US" sz="1900" b="0" u="none" strike="noStrike">
              <a:solidFill>
                <a:schemeClr val="dk1"/>
              </a:solidFill>
              <a:effectLst/>
              <a:uFillTx/>
              <a:latin typeface="Calibri"/>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US" sz="1700" b="0" u="none" strike="noStrike">
              <a:solidFill>
                <a:schemeClr val="dk1"/>
              </a:solidFill>
              <a:effectLst/>
              <a:uFillTx/>
              <a:latin typeface="Calibri"/>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US" sz="1700" b="0" u="none" strike="noStrike">
              <a:solidFill>
                <a:schemeClr val="dk1"/>
              </a:solidFill>
              <a:effectLst/>
              <a:uFillTx/>
              <a:latin typeface="Calibri"/>
            </a:endParaRPr>
          </a:p>
        </p:txBody>
      </p:sp>
      <p:sp>
        <p:nvSpPr>
          <p:cNvPr id="37" name="PlaceHolder 3"/>
          <p:cNvSpPr>
            <a:spLocks noGrp="1"/>
          </p:cNvSpPr>
          <p:nvPr>
            <p:ph type="body"/>
          </p:nvPr>
        </p:nvSpPr>
        <p:spPr>
          <a:xfrm>
            <a:off x="4628880" y="1594440"/>
            <a:ext cx="4021560" cy="450900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US" sz="2700" b="0" u="none" strike="noStrike">
              <a:solidFill>
                <a:schemeClr val="dk1"/>
              </a:solidFill>
              <a:effectLst/>
              <a:uFillTx/>
              <a:latin typeface="Calibri"/>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US" sz="2300" b="0" u="none" strike="noStrike">
              <a:solidFill>
                <a:schemeClr val="dk1"/>
              </a:solidFill>
              <a:effectLst/>
              <a:uFillTx/>
              <a:latin typeface="Calibri"/>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US" sz="1900" b="0" u="none" strike="noStrike">
              <a:solidFill>
                <a:schemeClr val="dk1"/>
              </a:solidFill>
              <a:effectLst/>
              <a:uFillTx/>
              <a:latin typeface="Calibri"/>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US" sz="1700" b="0" u="none" strike="noStrike">
              <a:solidFill>
                <a:schemeClr val="dk1"/>
              </a:solidFill>
              <a:effectLst/>
              <a:uFillTx/>
              <a:latin typeface="Calibri"/>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US" sz="1700" b="0" u="none" strike="noStrike">
              <a:solidFill>
                <a:schemeClr val="dk1"/>
              </a:solidFill>
              <a:effectLst/>
              <a:uFillTx/>
              <a:latin typeface="Calibri"/>
            </a:endParaRPr>
          </a:p>
        </p:txBody>
      </p:sp>
      <p:sp>
        <p:nvSpPr>
          <p:cNvPr id="38" name="PlaceHolder 4"/>
          <p:cNvSpPr>
            <a:spLocks noGrp="1"/>
          </p:cNvSpPr>
          <p:nvPr>
            <p:ph type="dt" idx="18"/>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39" name="PlaceHolder 5"/>
          <p:cNvSpPr>
            <a:spLocks noGrp="1"/>
          </p:cNvSpPr>
          <p:nvPr>
            <p:ph type="ftr" idx="19"/>
          </p:nvPr>
        </p:nvSpPr>
        <p:spPr>
          <a:xfrm>
            <a:off x="2266920" y="6332760"/>
            <a:ext cx="434304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40" name="PlaceHolder 6"/>
          <p:cNvSpPr>
            <a:spLocks noGrp="1"/>
          </p:cNvSpPr>
          <p:nvPr>
            <p:ph type="sldNum" idx="20"/>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96202CE8-1009-461D-91B9-C4C40F72AFDE}"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cxnSp>
        <p:nvCxnSpPr>
          <p:cNvPr id="41" name="Straight Connector 6"/>
          <p:cNvCxnSpPr/>
          <p:nvPr/>
        </p:nvCxnSpPr>
        <p:spPr>
          <a:xfrm>
            <a:off x="426600" y="1352160"/>
            <a:ext cx="8181360" cy="360"/>
          </a:xfrm>
          <a:prstGeom prst="straightConnector1">
            <a:avLst/>
          </a:prstGeom>
          <a:ln>
            <a:solidFill>
              <a:srgbClr val="feb603"/>
            </a:solidFill>
            <a:round/>
          </a:ln>
        </p:spPr>
      </p:cxnSp>
      <p:sp>
        <p:nvSpPr>
          <p:cNvPr id="42" name="PlaceHolder 1"/>
          <p:cNvSpPr>
            <a:spLocks noGrp="1"/>
          </p:cNvSpPr>
          <p:nvPr>
            <p:ph type="title"/>
          </p:nvPr>
        </p:nvSpPr>
        <p:spPr>
          <a:xfrm>
            <a:off x="455400" y="2736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43" name="PlaceHolder 2"/>
          <p:cNvSpPr>
            <a:spLocks noGrp="1"/>
          </p:cNvSpPr>
          <p:nvPr>
            <p:ph type="body"/>
          </p:nvPr>
        </p:nvSpPr>
        <p:spPr>
          <a:xfrm>
            <a:off x="455400" y="1529280"/>
            <a:ext cx="4023000" cy="63720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US" sz="2300" b="0" u="none" strike="noStrike">
              <a:solidFill>
                <a:schemeClr val="dk1"/>
              </a:solidFill>
              <a:effectLst/>
              <a:uFillTx/>
              <a:latin typeface="Calibri"/>
            </a:endParaRPr>
          </a:p>
        </p:txBody>
      </p:sp>
      <p:sp>
        <p:nvSpPr>
          <p:cNvPr id="44" name="PlaceHolder 3"/>
          <p:cNvSpPr>
            <a:spLocks noGrp="1"/>
          </p:cNvSpPr>
          <p:nvPr>
            <p:ph type="body"/>
          </p:nvPr>
        </p:nvSpPr>
        <p:spPr>
          <a:xfrm>
            <a:off x="455400" y="2166840"/>
            <a:ext cx="4023000" cy="393624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US" sz="2300" b="0" u="none" strike="noStrike">
              <a:solidFill>
                <a:schemeClr val="dk1"/>
              </a:solidFill>
              <a:effectLst/>
              <a:uFillTx/>
              <a:latin typeface="Calibri"/>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US" sz="1900" b="0" u="none" strike="noStrike">
              <a:solidFill>
                <a:schemeClr val="dk1"/>
              </a:solidFill>
              <a:effectLst/>
              <a:uFillTx/>
              <a:latin typeface="Calibri"/>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US" sz="1700" b="0" u="none" strike="noStrike">
              <a:solidFill>
                <a:schemeClr val="dk1"/>
              </a:solidFill>
              <a:effectLst/>
              <a:uFillTx/>
              <a:latin typeface="Calibri"/>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45" name="PlaceHolder 4"/>
          <p:cNvSpPr>
            <a:spLocks noGrp="1"/>
          </p:cNvSpPr>
          <p:nvPr>
            <p:ph type="body"/>
          </p:nvPr>
        </p:nvSpPr>
        <p:spPr>
          <a:xfrm>
            <a:off x="4625640" y="1529280"/>
            <a:ext cx="4024440" cy="63720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US" sz="2300" b="0" u="none" strike="noStrike">
              <a:solidFill>
                <a:schemeClr val="dk1"/>
              </a:solidFill>
              <a:effectLst/>
              <a:uFillTx/>
              <a:latin typeface="Calibri"/>
            </a:endParaRPr>
          </a:p>
        </p:txBody>
      </p:sp>
      <p:sp>
        <p:nvSpPr>
          <p:cNvPr id="46" name="PlaceHolder 5"/>
          <p:cNvSpPr>
            <a:spLocks noGrp="1"/>
          </p:cNvSpPr>
          <p:nvPr>
            <p:ph type="body"/>
          </p:nvPr>
        </p:nvSpPr>
        <p:spPr>
          <a:xfrm>
            <a:off x="4625640" y="2166840"/>
            <a:ext cx="4024440" cy="393624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US" sz="2300" b="0" u="none" strike="noStrike">
              <a:solidFill>
                <a:schemeClr val="dk1"/>
              </a:solidFill>
              <a:effectLst/>
              <a:uFillTx/>
              <a:latin typeface="Calibri"/>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US" sz="1900" b="0" u="none" strike="noStrike">
              <a:solidFill>
                <a:schemeClr val="dk1"/>
              </a:solidFill>
              <a:effectLst/>
              <a:uFillTx/>
              <a:latin typeface="Calibri"/>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US" sz="1700" b="0" u="none" strike="noStrike">
              <a:solidFill>
                <a:schemeClr val="dk1"/>
              </a:solidFill>
              <a:effectLst/>
              <a:uFillTx/>
              <a:latin typeface="Calibri"/>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chemeClr val="dk1"/>
              </a:solidFill>
              <a:effectLst/>
              <a:uFillTx/>
              <a:latin typeface="Calibri"/>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chemeClr val="dk1"/>
              </a:solidFill>
              <a:effectLst/>
              <a:uFillTx/>
              <a:latin typeface="Calibri"/>
            </a:endParaRPr>
          </a:p>
        </p:txBody>
      </p:sp>
      <p:sp>
        <p:nvSpPr>
          <p:cNvPr id="47" name="PlaceHolder 6"/>
          <p:cNvSpPr>
            <a:spLocks noGrp="1"/>
          </p:cNvSpPr>
          <p:nvPr>
            <p:ph type="dt" idx="21"/>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8" name="PlaceHolder 7"/>
          <p:cNvSpPr>
            <a:spLocks noGrp="1"/>
          </p:cNvSpPr>
          <p:nvPr>
            <p:ph type="ftr" idx="22"/>
          </p:nvPr>
        </p:nvSpPr>
        <p:spPr>
          <a:xfrm>
            <a:off x="2266920" y="6332760"/>
            <a:ext cx="441936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49" name="PlaceHolder 8"/>
          <p:cNvSpPr>
            <a:spLocks noGrp="1"/>
          </p:cNvSpPr>
          <p:nvPr>
            <p:ph type="sldNum" idx="23"/>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B286720D-BAEC-4F36-89F4-1B2319C0B43B}"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cxnSp>
        <p:nvCxnSpPr>
          <p:cNvPr id="50" name="Straight Connector 2"/>
          <p:cNvCxnSpPr/>
          <p:nvPr/>
        </p:nvCxnSpPr>
        <p:spPr>
          <a:xfrm>
            <a:off x="426600" y="1352160"/>
            <a:ext cx="8181360" cy="360"/>
          </a:xfrm>
          <a:prstGeom prst="straightConnector1">
            <a:avLst/>
          </a:prstGeom>
          <a:ln>
            <a:solidFill>
              <a:srgbClr val="feb603"/>
            </a:solidFill>
            <a:round/>
          </a:ln>
        </p:spPr>
      </p:cxnSp>
      <p:sp>
        <p:nvSpPr>
          <p:cNvPr id="51"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Click to edit Master title style</a:t>
            </a:r>
            <a:endParaRPr lang="en-US" sz="4200" b="0" u="none" strike="noStrike">
              <a:solidFill>
                <a:schemeClr val="dk1"/>
              </a:solidFill>
              <a:effectLst/>
              <a:uFillTx/>
              <a:latin typeface="Calibri"/>
            </a:endParaRPr>
          </a:p>
        </p:txBody>
      </p:sp>
      <p:sp>
        <p:nvSpPr>
          <p:cNvPr id="52" name="PlaceHolder 2"/>
          <p:cNvSpPr>
            <a:spLocks noGrp="1"/>
          </p:cNvSpPr>
          <p:nvPr>
            <p:ph type="dt" idx="24"/>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3" name="PlaceHolder 3"/>
          <p:cNvSpPr>
            <a:spLocks noGrp="1"/>
          </p:cNvSpPr>
          <p:nvPr>
            <p:ph type="ftr" idx="25"/>
          </p:nvPr>
        </p:nvSpPr>
        <p:spPr>
          <a:xfrm>
            <a:off x="2343240" y="6332760"/>
            <a:ext cx="434304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4" name="PlaceHolder 4"/>
          <p:cNvSpPr>
            <a:spLocks noGrp="1"/>
          </p:cNvSpPr>
          <p:nvPr>
            <p:ph type="sldNum" idx="26"/>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7283FEED-88EC-4FC8-938E-D1F4BF3A7485}"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
        <p:nvSpPr>
          <p:cNvPr id="55" name="PlaceHolder 5"/>
          <p:cNvSpPr>
            <a:spLocks noGrp="1"/>
          </p:cNvSpPr>
          <p:nvPr>
            <p:ph type="body"/>
          </p:nvPr>
        </p:nvSpPr>
        <p:spPr>
          <a:xfrm>
            <a:off x="455040" y="1598760"/>
            <a:ext cx="8194680" cy="3962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000" b="0" u="none" strike="noStrike">
                <a:solidFill>
                  <a:schemeClr val="dk1"/>
                </a:solidFill>
                <a:effectLst/>
                <a:uFillTx/>
                <a:latin typeface="Calibri"/>
              </a:rPr>
              <a:t>Click to edit the outline text format</a:t>
            </a:r>
            <a:endParaRPr lang="en-US" sz="30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300" b="0" u="none" strike="noStrike">
                <a:solidFill>
                  <a:schemeClr val="dk1"/>
                </a:solidFill>
                <a:effectLst/>
                <a:uFillTx/>
                <a:latin typeface="Calibri"/>
              </a:rPr>
              <a:t>Second Outline Level</a:t>
            </a:r>
            <a:endParaRPr lang="en-US" sz="23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1900" b="0" u="none" strike="noStrike">
                <a:solidFill>
                  <a:schemeClr val="dk1"/>
                </a:solidFill>
                <a:effectLst/>
                <a:uFillTx/>
                <a:latin typeface="Calibri"/>
              </a:rPr>
              <a:t>Third Outline Level</a:t>
            </a:r>
            <a:endParaRPr lang="en-US" sz="19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1900" b="0" u="none" strike="noStrike">
                <a:solidFill>
                  <a:schemeClr val="dk1"/>
                </a:solidFill>
                <a:effectLst/>
                <a:uFillTx/>
                <a:latin typeface="Calibri"/>
              </a:rPr>
              <a:t>Fourth Outline Level</a:t>
            </a:r>
            <a:endParaRPr lang="en-US" sz="19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dt" idx="27"/>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7" name="PlaceHolder 2"/>
          <p:cNvSpPr>
            <a:spLocks noGrp="1"/>
          </p:cNvSpPr>
          <p:nvPr>
            <p:ph type="ftr" idx="28"/>
          </p:nvPr>
        </p:nvSpPr>
        <p:spPr>
          <a:xfrm>
            <a:off x="2266920" y="6332760"/>
            <a:ext cx="441936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8" name="PlaceHolder 3"/>
          <p:cNvSpPr>
            <a:spLocks noGrp="1"/>
          </p:cNvSpPr>
          <p:nvPr>
            <p:ph type="sldNum" idx="29"/>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5798FAA5-AA63-438A-BA6A-8523EDDC19DB}"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55400" y="272160"/>
            <a:ext cx="2995560" cy="1157400"/>
          </a:xfrm>
          <a:prstGeom prst="rect">
            <a:avLst/>
          </a:prstGeom>
          <a:noFill/>
          <a:ln w="9360">
            <a:noFill/>
          </a:ln>
        </p:spPr>
        <p:txBody>
          <a:bodyPr numCol="1" spcCol="0" lIns="86760" rIns="86760" tIns="43560" bIns="43560" anchor="b">
            <a:noAutofit/>
          </a:bodyPr>
          <a:p>
            <a:pPr indent="0">
              <a:lnSpc>
                <a:spcPct val="100000"/>
              </a:lnSpc>
              <a:buNone/>
            </a:pPr>
            <a:r>
              <a:rPr lang="en-US" sz="1900" b="1" u="none" strike="noStrike">
                <a:solidFill>
                  <a:srgbClr val="0070c0"/>
                </a:solidFill>
                <a:effectLst/>
                <a:uFillTx/>
                <a:latin typeface="Calibri"/>
              </a:rPr>
              <a:t>Click to edit Master title style</a:t>
            </a:r>
            <a:endParaRPr lang="en-US" sz="1900" b="0" u="none" strike="noStrike">
              <a:solidFill>
                <a:schemeClr val="dk1"/>
              </a:solidFill>
              <a:effectLst/>
              <a:uFillTx/>
              <a:latin typeface="Calibri"/>
            </a:endParaRPr>
          </a:p>
        </p:txBody>
      </p:sp>
      <p:sp>
        <p:nvSpPr>
          <p:cNvPr id="60" name="PlaceHolder 2"/>
          <p:cNvSpPr>
            <a:spLocks noGrp="1"/>
          </p:cNvSpPr>
          <p:nvPr>
            <p:ph type="body"/>
          </p:nvPr>
        </p:nvSpPr>
        <p:spPr>
          <a:xfrm>
            <a:off x="3560040" y="272160"/>
            <a:ext cx="5090040" cy="583092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chemeClr val="dk1"/>
              </a:solidFill>
              <a:effectLst/>
              <a:uFillTx/>
              <a:latin typeface="Calibri"/>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chemeClr val="dk1"/>
              </a:solidFill>
              <a:effectLst/>
              <a:uFillTx/>
              <a:latin typeface="Calibri"/>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chemeClr val="dk1"/>
              </a:solidFill>
              <a:effectLst/>
              <a:uFillTx/>
              <a:latin typeface="Calibri"/>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chemeClr val="dk1"/>
              </a:solidFill>
              <a:effectLst/>
              <a:uFillTx/>
              <a:latin typeface="Calibri"/>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chemeClr val="dk1"/>
              </a:solidFill>
              <a:effectLst/>
              <a:uFillTx/>
              <a:latin typeface="Calibri"/>
            </a:endParaRPr>
          </a:p>
        </p:txBody>
      </p:sp>
      <p:sp>
        <p:nvSpPr>
          <p:cNvPr id="61" name="PlaceHolder 3"/>
          <p:cNvSpPr>
            <a:spLocks noGrp="1"/>
          </p:cNvSpPr>
          <p:nvPr>
            <p:ph type="body"/>
          </p:nvPr>
        </p:nvSpPr>
        <p:spPr>
          <a:xfrm>
            <a:off x="455400" y="1429920"/>
            <a:ext cx="2995560" cy="467316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US" sz="1300" b="0" u="none" strike="noStrike">
              <a:solidFill>
                <a:schemeClr val="dk1"/>
              </a:solidFill>
              <a:effectLst/>
              <a:uFillTx/>
              <a:latin typeface="Calibri"/>
            </a:endParaRPr>
          </a:p>
        </p:txBody>
      </p:sp>
      <p:sp>
        <p:nvSpPr>
          <p:cNvPr id="62" name="PlaceHolder 4"/>
          <p:cNvSpPr>
            <a:spLocks noGrp="1"/>
          </p:cNvSpPr>
          <p:nvPr>
            <p:ph type="dt" idx="30"/>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63" name="PlaceHolder 5"/>
          <p:cNvSpPr>
            <a:spLocks noGrp="1"/>
          </p:cNvSpPr>
          <p:nvPr>
            <p:ph type="ftr" idx="31"/>
          </p:nvPr>
        </p:nvSpPr>
        <p:spPr>
          <a:xfrm>
            <a:off x="2190600" y="6332760"/>
            <a:ext cx="449532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64" name="PlaceHolder 6"/>
          <p:cNvSpPr>
            <a:spLocks noGrp="1"/>
          </p:cNvSpPr>
          <p:nvPr>
            <p:ph type="sldNum" idx="32"/>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9847D223-23C8-4E24-9698-F252F85D08A0}"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1784880" y="4782960"/>
            <a:ext cx="5463360" cy="564120"/>
          </a:xfrm>
          <a:prstGeom prst="rect">
            <a:avLst/>
          </a:prstGeom>
          <a:noFill/>
          <a:ln w="9360">
            <a:noFill/>
          </a:ln>
        </p:spPr>
        <p:txBody>
          <a:bodyPr numCol="1" spcCol="0" lIns="86760" rIns="86760" tIns="43560" bIns="43560" anchor="b">
            <a:noAutofit/>
          </a:bodyPr>
          <a:p>
            <a:pPr indent="0">
              <a:lnSpc>
                <a:spcPct val="100000"/>
              </a:lnSpc>
              <a:buNone/>
            </a:pPr>
            <a:r>
              <a:rPr lang="en-US" sz="1900" b="1" u="none" strike="noStrike">
                <a:solidFill>
                  <a:srgbClr val="0070c0"/>
                </a:solidFill>
                <a:effectLst/>
                <a:uFillTx/>
                <a:latin typeface="Calibri"/>
              </a:rPr>
              <a:t>Click to edit Master title style</a:t>
            </a:r>
            <a:endParaRPr lang="en-US" sz="1900" b="0" u="none" strike="noStrike">
              <a:solidFill>
                <a:schemeClr val="dk1"/>
              </a:solidFill>
              <a:effectLst/>
              <a:uFillTx/>
              <a:latin typeface="Calibri"/>
            </a:endParaRPr>
          </a:p>
        </p:txBody>
      </p:sp>
      <p:sp>
        <p:nvSpPr>
          <p:cNvPr id="66" name="PlaceHolder 2"/>
          <p:cNvSpPr>
            <a:spLocks noGrp="1"/>
          </p:cNvSpPr>
          <p:nvPr>
            <p:ph type="body"/>
          </p:nvPr>
        </p:nvSpPr>
        <p:spPr>
          <a:xfrm>
            <a:off x="1784880" y="610560"/>
            <a:ext cx="5463360" cy="4099320"/>
          </a:xfrm>
          <a:prstGeom prst="rect">
            <a:avLst/>
          </a:prstGeom>
          <a:noFill/>
          <a:ln w="0">
            <a:noFill/>
          </a:ln>
        </p:spPr>
        <p:txBody>
          <a:bodyPr lIns="90000" rIns="90000" tIns="45000" bIns="45000" anchor="t">
            <a:normAutofit/>
          </a:bodyPr>
          <a:p>
            <a:pPr indent="0" defTabSz="914400">
              <a:lnSpc>
                <a:spcPct val="100000"/>
              </a:lnSpc>
              <a:buNone/>
              <a:tabLst>
                <a:tab algn="l" pos="0"/>
              </a:tabLst>
            </a:pPr>
            <a:r>
              <a:rPr lang="en-US" sz="3000" b="0" u="none" strike="noStrike">
                <a:solidFill>
                  <a:schemeClr val="dk1"/>
                </a:solidFill>
                <a:effectLst/>
                <a:uFillTx/>
                <a:latin typeface="Calibri"/>
              </a:rPr>
              <a:t>Click icon to add picture</a:t>
            </a:r>
            <a:endParaRPr lang="en-US" sz="3000" b="0" u="none" strike="noStrike">
              <a:solidFill>
                <a:schemeClr val="dk1"/>
              </a:solidFill>
              <a:effectLst/>
              <a:uFillTx/>
              <a:latin typeface="Calibri"/>
            </a:endParaRPr>
          </a:p>
        </p:txBody>
      </p:sp>
      <p:sp>
        <p:nvSpPr>
          <p:cNvPr id="67" name="PlaceHolder 3"/>
          <p:cNvSpPr>
            <a:spLocks noGrp="1"/>
          </p:cNvSpPr>
          <p:nvPr>
            <p:ph type="body"/>
          </p:nvPr>
        </p:nvSpPr>
        <p:spPr>
          <a:xfrm>
            <a:off x="1784880" y="5347440"/>
            <a:ext cx="5463360" cy="80136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US" sz="1300" b="0" u="none" strike="noStrike">
              <a:solidFill>
                <a:schemeClr val="dk1"/>
              </a:solidFill>
              <a:effectLst/>
              <a:uFillTx/>
              <a:latin typeface="Calibri"/>
            </a:endParaRPr>
          </a:p>
        </p:txBody>
      </p:sp>
      <p:sp>
        <p:nvSpPr>
          <p:cNvPr id="68" name="PlaceHolder 4"/>
          <p:cNvSpPr>
            <a:spLocks noGrp="1"/>
          </p:cNvSpPr>
          <p:nvPr>
            <p:ph type="dt" idx="33"/>
          </p:nvPr>
        </p:nvSpPr>
        <p:spPr>
          <a:xfrm>
            <a:off x="455400" y="6332760"/>
            <a:ext cx="2124360" cy="363240"/>
          </a:xfrm>
          <a:prstGeom prst="rect">
            <a:avLst/>
          </a:prstGeom>
          <a:noFill/>
          <a:ln w="0">
            <a:noFill/>
          </a:ln>
        </p:spPr>
        <p:txBody>
          <a:bodyPr lIns="86760" rIns="86760" tIns="43560" bIns="43560" anchor="ctr">
            <a:noAutofit/>
          </a:bodyPr>
          <a:lstStyle>
            <a:lvl1pPr indent="0" defTabSz="914400">
              <a:lnSpc>
                <a:spcPct val="100000"/>
              </a:lnSpc>
              <a:buNone/>
              <a:defRPr lang="en-US" sz="1100" b="0" u="none" strike="noStrike">
                <a:solidFill>
                  <a:schemeClr val="dk1">
                    <a:tint val="75000"/>
                  </a:schemeClr>
                </a:solidFill>
                <a:effectLst/>
                <a:uFillTx/>
                <a:latin typeface="Calibri"/>
              </a:defRPr>
            </a:lvl1pPr>
          </a:lstStyle>
          <a:p>
            <a:pPr indent="0" defTabSz="914400">
              <a:lnSpc>
                <a:spcPct val="100000"/>
              </a:lnSpc>
              <a:buNone/>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69" name="PlaceHolder 5"/>
          <p:cNvSpPr>
            <a:spLocks noGrp="1"/>
          </p:cNvSpPr>
          <p:nvPr>
            <p:ph type="ftr" idx="34"/>
          </p:nvPr>
        </p:nvSpPr>
        <p:spPr>
          <a:xfrm>
            <a:off x="2190600" y="6332760"/>
            <a:ext cx="449532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70" name="PlaceHolder 6"/>
          <p:cNvSpPr>
            <a:spLocks noGrp="1"/>
          </p:cNvSpPr>
          <p:nvPr>
            <p:ph type="sldNum" idx="35"/>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Calibri"/>
              </a:defRPr>
            </a:lvl1pPr>
          </a:lstStyle>
          <a:p>
            <a:pPr indent="0" algn="r" defTabSz="914400">
              <a:lnSpc>
                <a:spcPct val="100000"/>
              </a:lnSpc>
              <a:buNone/>
            </a:pPr>
            <a:fld id="{CC68FA67-75A0-4866-B0C4-9D5C4B7D2A8A}"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wmf"/><Relationship Id="rId3" Type="http://schemas.openxmlformats.org/officeDocument/2006/relationships/image" Target="../media/image3.png"/><Relationship Id="rId4" Type="http://schemas.openxmlformats.org/officeDocument/2006/relationships/slideLayout" Target="../slideLayouts/slideLayout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6.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6.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6.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0.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6.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6.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0.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5.xml"/><Relationship Id="rId5"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1.wmf"/><Relationship Id="rId2" Type="http://schemas.openxmlformats.org/officeDocument/2006/relationships/slideLayout" Target="../slideLayouts/slideLayout10.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2.wmf"/><Relationship Id="rId2" Type="http://schemas.openxmlformats.org/officeDocument/2006/relationships/slideLayout" Target="../slideLayouts/slideLayout10.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3.wmf"/><Relationship Id="rId2" Type="http://schemas.openxmlformats.org/officeDocument/2006/relationships/slideLayout" Target="../slideLayouts/slideLayout10.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slideLayout" Target="../slideLayouts/slideLayout10.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CustomShape 1"/>
          <p:cNvSpPr/>
          <p:nvPr/>
        </p:nvSpPr>
        <p:spPr>
          <a:xfrm>
            <a:off x="682920" y="1568520"/>
            <a:ext cx="7737840" cy="1462320"/>
          </a:xfrm>
          <a:prstGeom prst="rect">
            <a:avLst/>
          </a:prstGeom>
          <a:noFill/>
          <a:ln w="9360">
            <a:noFill/>
          </a:ln>
        </p:spPr>
        <p:style>
          <a:lnRef idx="0"/>
          <a:fillRef idx="0"/>
          <a:effectRef idx="0"/>
          <a:fontRef idx="minor"/>
        </p:style>
        <p:txBody>
          <a:bodyPr lIns="86760" rIns="86760" tIns="43560" bIns="43560" anchor="ctr">
            <a:noAutofit/>
          </a:bodyPr>
          <a:p>
            <a:pPr algn="ctr" defTabSz="914400">
              <a:lnSpc>
                <a:spcPct val="100000"/>
              </a:lnSpc>
            </a:pPr>
            <a:r>
              <a:rPr lang="en-US" sz="4200" b="0" u="none" strike="noStrike">
                <a:solidFill>
                  <a:srgbClr val="0d594f"/>
                </a:solidFill>
                <a:effectLst/>
                <a:uFillTx/>
                <a:latin typeface="Calibri"/>
                <a:ea typeface="DejaVu Sans"/>
              </a:rPr>
              <a:t>Công nghệ phần mềm</a:t>
            </a:r>
            <a:endParaRPr lang="en-US" sz="4200" b="0" u="none" strike="noStrike">
              <a:solidFill>
                <a:srgbClr val="000000"/>
              </a:solidFill>
              <a:effectLst/>
              <a:uFillTx/>
              <a:latin typeface="Arial"/>
            </a:endParaRPr>
          </a:p>
        </p:txBody>
      </p:sp>
      <p:sp>
        <p:nvSpPr>
          <p:cNvPr id="78" name="CustomShape 2"/>
          <p:cNvSpPr/>
          <p:nvPr/>
        </p:nvSpPr>
        <p:spPr>
          <a:xfrm>
            <a:off x="1365840" y="3871800"/>
            <a:ext cx="6372000" cy="1743840"/>
          </a:xfrm>
          <a:prstGeom prst="rect">
            <a:avLst/>
          </a:prstGeom>
          <a:noFill/>
          <a:ln w="9360">
            <a:noFill/>
          </a:ln>
        </p:spPr>
        <p:style>
          <a:lnRef idx="0"/>
          <a:fillRef idx="0"/>
          <a:effectRef idx="0"/>
          <a:fontRef idx="minor"/>
        </p:style>
        <p:txBody>
          <a:bodyPr lIns="90000" rIns="90000" tIns="45000" bIns="45000" anchor="t">
            <a:noAutofit/>
          </a:bodyPr>
          <a:p>
            <a:pPr defTabSz="914400">
              <a:lnSpc>
                <a:spcPct val="100000"/>
              </a:lnSpc>
            </a:pPr>
            <a:endParaRPr lang="en-US" sz="1800" b="0" u="none" strike="noStrike">
              <a:solidFill>
                <a:srgbClr val="000000"/>
              </a:solidFill>
              <a:effectLst/>
              <a:uFillTx/>
              <a:latin typeface="Calibri"/>
            </a:endParaRPr>
          </a:p>
        </p:txBody>
      </p:sp>
      <p:sp>
        <p:nvSpPr>
          <p:cNvPr id="79" name="Rectangle 1"/>
          <p:cNvSpPr/>
          <p:nvPr/>
        </p:nvSpPr>
        <p:spPr>
          <a:xfrm>
            <a:off x="2016720" y="3548160"/>
            <a:ext cx="4898880" cy="5536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spcBef>
                <a:spcPts val="601"/>
              </a:spcBef>
            </a:pPr>
            <a:r>
              <a:rPr lang="en-US" sz="3000" b="1" u="none" strike="noStrike">
                <a:solidFill>
                  <a:srgbClr val="c00000"/>
                </a:solidFill>
                <a:effectLst/>
                <a:uFillTx/>
                <a:latin typeface="Calibri"/>
              </a:rPr>
              <a:t>Bài 05: Mô hình hóa hệ thống</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Nội dung</a:t>
            </a:r>
            <a:endParaRPr lang="en-US" sz="4200" b="0" u="none" strike="noStrike">
              <a:solidFill>
                <a:srgbClr val="000000"/>
              </a:solidFill>
              <a:effectLst/>
              <a:uFillTx/>
              <a:latin typeface="Arial"/>
            </a:endParaRPr>
          </a:p>
        </p:txBody>
      </p:sp>
      <p:sp>
        <p:nvSpPr>
          <p:cNvPr id="81"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Khái niệm mô hình hóa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Ngôn ngữ mô hình hóa UML</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Các góc nhìn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Một số loại mô hình hệ thống</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Mô hình ngữ cảnh</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Mô hình tương tác</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Mô hình cấu trúc</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Mô hình hành vi</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Kỹ nghệ hướng mô hình</a:t>
            </a:r>
            <a:endParaRPr lang="en-US" sz="3000" b="0" u="none" strike="noStrike">
              <a:solidFill>
                <a:srgbClr val="000000"/>
              </a:solidFill>
              <a:effectLst/>
              <a:uFillTx/>
              <a:latin typeface="Arial"/>
            </a:endParaRPr>
          </a:p>
        </p:txBody>
      </p:sp>
      <p:sp>
        <p:nvSpPr>
          <p:cNvPr id="82" name="CustomShape 3"/>
          <p:cNvSpPr/>
          <p:nvPr/>
        </p:nvSpPr>
        <p:spPr>
          <a:xfrm>
            <a:off x="68497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6DF55266-290C-4B7E-B1A6-444D677A5E79}"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A2BC789C-1594-44D6-BAB8-7E979C59F600}"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Khái niệm cơ bản về hệ thống</a:t>
            </a:r>
            <a:endParaRPr lang="en-US" sz="4200" b="0" u="none" strike="noStrike">
              <a:solidFill>
                <a:srgbClr val="000000"/>
              </a:solidFill>
              <a:effectLst/>
              <a:uFillTx/>
              <a:latin typeface="Arial"/>
            </a:endParaRPr>
          </a:p>
        </p:txBody>
      </p:sp>
      <p:sp>
        <p:nvSpPr>
          <p:cNvPr id="84" name="CustomShape 2"/>
          <p:cNvSpPr/>
          <p:nvPr/>
        </p:nvSpPr>
        <p:spPr>
          <a:xfrm>
            <a:off x="3618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Hệ thống bao gồm các thành phần (thiết bị, phần mềm, con người), hoạt động trong môi trường, và hướng mục đích</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Hệ thống hiện thời (system-as-is): đang vận hành, có vấn đề hoặc nhu cầu cần cải tiến (cơ hội mới)</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Hệ thống được phát triển (system-to-be): cần được phát triển, tiến hóa từ hệ thống hiện thời (giải pháp dựa vào phần mềm – software-to-be).</a:t>
            </a:r>
            <a:endParaRPr lang="en-US" sz="3000" b="0" u="none" strike="noStrike">
              <a:solidFill>
                <a:srgbClr val="000000"/>
              </a:solidFill>
              <a:effectLst/>
              <a:uFillTx/>
              <a:latin typeface="Arial"/>
            </a:endParaRPr>
          </a:p>
        </p:txBody>
      </p:sp>
      <p:sp>
        <p:nvSpPr>
          <p:cNvPr id="85"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00A4A3F0-9174-414C-896E-FF2AD55D24A3}"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A2163FB5-8FA0-491E-B318-3AA21136BA1D}"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hóa hệ thống</a:t>
            </a:r>
            <a:endParaRPr lang="en-US" sz="4200" b="0" u="none" strike="noStrike">
              <a:solidFill>
                <a:srgbClr val="000000"/>
              </a:solidFill>
              <a:effectLst/>
              <a:uFillTx/>
              <a:latin typeface="Arial"/>
            </a:endParaRPr>
          </a:p>
        </p:txBody>
      </p:sp>
      <p:sp>
        <p:nvSpPr>
          <p:cNvPr id="87" name="CustomShape 2"/>
          <p:cNvSpPr/>
          <p:nvPr/>
        </p:nvSpPr>
        <p:spPr>
          <a:xfrm>
            <a:off x="152280" y="5245200"/>
            <a:ext cx="8819640" cy="833400"/>
          </a:xfrm>
          <a:prstGeom prst="rect">
            <a:avLst/>
          </a:prstGeom>
          <a:noFill/>
          <a:ln w="9360">
            <a:noFill/>
          </a:ln>
        </p:spPr>
        <p:style>
          <a:lnRef idx="0"/>
          <a:fillRef idx="0"/>
          <a:effectRef idx="0"/>
          <a:fontRef idx="minor"/>
        </p:style>
        <p:txBody>
          <a:bodyPr lIns="90360" rIns="90360" tIns="44280" bIns="44280" anchor="t">
            <a:normAutofit lnSpcReduction="9999"/>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hóa hệ thống: sự đơn giản hóa của chủ thể trong thế giới thực</a:t>
            </a:r>
            <a:endParaRPr lang="en-US" sz="3000" b="0" u="none" strike="noStrike">
              <a:solidFill>
                <a:srgbClr val="000000"/>
              </a:solidFill>
              <a:effectLst/>
              <a:uFillTx/>
              <a:latin typeface="Arial"/>
            </a:endParaRPr>
          </a:p>
        </p:txBody>
      </p:sp>
      <p:sp>
        <p:nvSpPr>
          <p:cNvPr id="88"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37971BC4-2D3B-4E48-9CB0-04074C1ACF7D}"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grpSp>
        <p:nvGrpSpPr>
          <p:cNvPr id="89" name="Group 1"/>
          <p:cNvGrpSpPr/>
          <p:nvPr/>
        </p:nvGrpSpPr>
        <p:grpSpPr>
          <a:xfrm>
            <a:off x="209520" y="1282680"/>
            <a:ext cx="8438760" cy="3662640"/>
            <a:chOff x="209520" y="1282680"/>
            <a:chExt cx="8438760" cy="3662640"/>
          </a:xfrm>
        </p:grpSpPr>
        <p:sp>
          <p:nvSpPr>
            <p:cNvPr id="90" name="Rectangle 5"/>
            <p:cNvSpPr/>
            <p:nvPr/>
          </p:nvSpPr>
          <p:spPr>
            <a:xfrm>
              <a:off x="209520" y="1282680"/>
              <a:ext cx="8438760" cy="360"/>
            </a:xfrm>
            <a:prstGeom prst="rect">
              <a:avLst/>
            </a:prstGeom>
            <a:noFill/>
            <a:ln w="0">
              <a:noFill/>
            </a:ln>
          </p:spPr>
          <p:style>
            <a:lnRef idx="0"/>
            <a:fillRef idx="0"/>
            <a:effectRef idx="0"/>
            <a:fontRef idx="minor"/>
          </p:style>
          <p:txBody>
            <a:bodyPr lIns="108000" rIns="108000" tIns="360" bIns="360" anchor="t">
              <a:spAutoFit/>
            </a:bodyPr>
            <a:p>
              <a:pPr defTabSz="914400">
                <a:lnSpc>
                  <a:spcPct val="100000"/>
                </a:lnSpc>
              </a:pPr>
              <a:endParaRPr lang="en-US" sz="1800" b="0" u="none" strike="noStrike">
                <a:solidFill>
                  <a:schemeClr val="dk1"/>
                </a:solidFill>
                <a:effectLst/>
                <a:uFillTx/>
                <a:latin typeface="Calibri"/>
              </a:endParaRPr>
            </a:p>
          </p:txBody>
        </p:sp>
        <p:sp>
          <p:nvSpPr>
            <p:cNvPr id="91" name="Rectangle 6"/>
            <p:cNvSpPr/>
            <p:nvPr/>
          </p:nvSpPr>
          <p:spPr>
            <a:xfrm>
              <a:off x="209520" y="4188600"/>
              <a:ext cx="8438760" cy="714960"/>
            </a:xfrm>
            <a:prstGeom prst="rect">
              <a:avLst/>
            </a:prstGeom>
            <a:noFill/>
            <a:ln w="0">
              <a:noFill/>
            </a:ln>
          </p:spPr>
          <p:style>
            <a:lnRef idx="0"/>
            <a:fillRef idx="0"/>
            <a:effectRef idx="0"/>
            <a:fontRef idx="minor"/>
          </p:style>
          <p:txBody>
            <a:bodyPr lIns="108000" rIns="108000" tIns="54000" bIns="54000" anchor="t">
              <a:spAutoFit/>
            </a:bodyPr>
            <a:p>
              <a:pPr defTabSz="914400">
                <a:lnSpc>
                  <a:spcPct val="100000"/>
                </a:lnSpc>
              </a:pPr>
              <a:endParaRPr lang="en-US" sz="24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p:txBody>
        </p:sp>
        <p:pic>
          <p:nvPicPr>
            <p:cNvPr id="92" name="Picture 8"/>
            <p:cNvPicPr/>
            <p:nvPr/>
          </p:nvPicPr>
          <p:blipFill>
            <a:blip r:embed="rId1"/>
            <a:stretch/>
          </p:blipFill>
          <p:spPr>
            <a:xfrm>
              <a:off x="843840" y="2145600"/>
              <a:ext cx="2516760" cy="1511640"/>
            </a:xfrm>
            <a:prstGeom prst="rect">
              <a:avLst/>
            </a:prstGeom>
            <a:noFill/>
            <a:ln w="0">
              <a:noFill/>
            </a:ln>
          </p:spPr>
        </p:pic>
        <p:pic>
          <p:nvPicPr>
            <p:cNvPr id="93" name="Picture 9"/>
            <p:cNvPicPr/>
            <p:nvPr/>
          </p:nvPicPr>
          <p:blipFill>
            <a:blip r:embed="rId2"/>
            <a:stretch/>
          </p:blipFill>
          <p:spPr>
            <a:xfrm>
              <a:off x="842400" y="3871440"/>
              <a:ext cx="2637000" cy="1073880"/>
            </a:xfrm>
            <a:prstGeom prst="rect">
              <a:avLst/>
            </a:prstGeom>
            <a:noFill/>
            <a:ln w="0">
              <a:noFill/>
            </a:ln>
          </p:spPr>
        </p:pic>
        <p:grpSp>
          <p:nvGrpSpPr>
            <p:cNvPr id="94" name="Group 16"/>
            <p:cNvGrpSpPr/>
            <p:nvPr/>
          </p:nvGrpSpPr>
          <p:grpSpPr>
            <a:xfrm>
              <a:off x="3995280" y="2508840"/>
              <a:ext cx="855360" cy="567000"/>
              <a:chOff x="3995280" y="2508840"/>
              <a:chExt cx="855360" cy="567000"/>
            </a:xfrm>
          </p:grpSpPr>
          <p:sp>
            <p:nvSpPr>
              <p:cNvPr id="95" name="Freeform 12"/>
              <p:cNvSpPr/>
              <p:nvPr/>
            </p:nvSpPr>
            <p:spPr>
              <a:xfrm>
                <a:off x="3995280" y="2516760"/>
                <a:ext cx="855360" cy="559080"/>
              </a:xfrm>
              <a:custGeom>
                <a:avLst/>
                <a:gdLst>
                  <a:gd name="textAreaLeft" fmla="*/ 0 w 855360"/>
                  <a:gd name="textAreaRight" fmla="*/ 855720 w 855360"/>
                  <a:gd name="textAreaTop" fmla="*/ 0 h 559080"/>
                  <a:gd name="textAreaBottom" fmla="*/ 559440 h 559080"/>
                  <a:gd name="GluePoint1X" fmla="*/ 42 w 1168"/>
                  <a:gd name="GluePoint1Y" fmla="*/ 0 h 826"/>
                  <a:gd name="GluePoint2X" fmla="*/ 146 w 1168"/>
                  <a:gd name="GluePoint2Y" fmla="*/ 52 h 826"/>
                  <a:gd name="GluePoint3X" fmla="*/ 42 w 1168"/>
                  <a:gd name="GluePoint3Y" fmla="*/ 103 h 826"/>
                  <a:gd name="GluePoint4X" fmla="*/ 42 w 1168"/>
                  <a:gd name="GluePoint4Y" fmla="*/ 78 h 826"/>
                  <a:gd name="GluePoint5X" fmla="*/ 0 w 1168"/>
                  <a:gd name="GluePoint5Y" fmla="*/ 78 h 826"/>
                  <a:gd name="GluePoint6X" fmla="*/ 0 w 1168"/>
                  <a:gd name="GluePoint6Y" fmla="*/ 26 h 826"/>
                  <a:gd name="GluePoint7X" fmla="*/ 42 w 1168"/>
                  <a:gd name="GluePoint7Y" fmla="*/ 26 h 826"/>
                  <a:gd name="GluePoint8X" fmla="*/ 42 w 1168"/>
                  <a:gd name="GluePoint8Y" fmla="*/ 0 h 8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168" h="826">
                    <a:moveTo>
                      <a:pt x="342" y="0"/>
                    </a:moveTo>
                    <a:lnTo>
                      <a:pt x="1168" y="413"/>
                    </a:lnTo>
                    <a:lnTo>
                      <a:pt x="342" y="826"/>
                    </a:lnTo>
                    <a:lnTo>
                      <a:pt x="342" y="618"/>
                    </a:lnTo>
                    <a:lnTo>
                      <a:pt x="0" y="618"/>
                    </a:lnTo>
                    <a:lnTo>
                      <a:pt x="0" y="207"/>
                    </a:lnTo>
                    <a:lnTo>
                      <a:pt x="342" y="207"/>
                    </a:lnTo>
                    <a:lnTo>
                      <a:pt x="342" y="0"/>
                    </a:lnTo>
                    <a:close/>
                  </a:path>
                </a:pathLst>
              </a:custGeom>
              <a:solidFill>
                <a:srgbClr val="800080"/>
              </a:solidFill>
              <a:ln w="0">
                <a:noFill/>
              </a:ln>
            </p:spPr>
            <p:style>
              <a:lnRef idx="0"/>
              <a:fillRef idx="0"/>
              <a:effectRef idx="0"/>
              <a:fontRef idx="minor"/>
            </p:style>
            <p:txBody>
              <a:bodyPr lIns="90000" rIns="90000" tIns="45000" bIns="45000" anchor="t">
                <a:noAutofit/>
              </a:bodyPr>
              <a:p>
                <a:pPr defTabSz="914400">
                  <a:lnSpc>
                    <a:spcPct val="100000"/>
                  </a:lnSpc>
                </a:pPr>
                <a:endParaRPr lang="en-US" sz="1800" b="0" u="none" strike="noStrike">
                  <a:solidFill>
                    <a:schemeClr val="dk1"/>
                  </a:solidFill>
                  <a:effectLst/>
                  <a:uFillTx/>
                  <a:latin typeface="Calibri"/>
                </a:endParaRPr>
              </a:p>
            </p:txBody>
          </p:sp>
          <p:sp>
            <p:nvSpPr>
              <p:cNvPr id="96" name="Freeform 13"/>
              <p:cNvSpPr/>
              <p:nvPr/>
            </p:nvSpPr>
            <p:spPr>
              <a:xfrm>
                <a:off x="4053960" y="2585880"/>
                <a:ext cx="675000" cy="403200"/>
              </a:xfrm>
              <a:custGeom>
                <a:avLst/>
                <a:gdLst>
                  <a:gd name="textAreaLeft" fmla="*/ 0 w 675000"/>
                  <a:gd name="textAreaRight" fmla="*/ 675360 w 675000"/>
                  <a:gd name="textAreaTop" fmla="*/ 0 h 403200"/>
                  <a:gd name="textAreaBottom" fmla="*/ 403560 h 403200"/>
                  <a:gd name="GluePoint1X" fmla="*/ 41 w 923"/>
                  <a:gd name="GluePoint1Y" fmla="*/ 0 h 596"/>
                  <a:gd name="GluePoint2X" fmla="*/ 115 w 923"/>
                  <a:gd name="GluePoint2Y" fmla="*/ 37 h 596"/>
                  <a:gd name="GluePoint3X" fmla="*/ 41 w 923"/>
                  <a:gd name="GluePoint3Y" fmla="*/ 75 h 596"/>
                  <a:gd name="GluePoint4X" fmla="*/ 41 w 923"/>
                  <a:gd name="GluePoint4Y" fmla="*/ 55 h 596"/>
                  <a:gd name="GluePoint5X" fmla="*/ 0 w 923"/>
                  <a:gd name="GluePoint5Y" fmla="*/ 55 h 596"/>
                  <a:gd name="GluePoint6X" fmla="*/ 0 w 923"/>
                  <a:gd name="GluePoint6Y" fmla="*/ 19 h 596"/>
                  <a:gd name="GluePoint7X" fmla="*/ 41 w 923"/>
                  <a:gd name="GluePoint7Y" fmla="*/ 19 h 596"/>
                  <a:gd name="GluePoint8X" fmla="*/ 41 w 923"/>
                  <a:gd name="GluePoint8Y" fmla="*/ 0 h 59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23" h="596">
                    <a:moveTo>
                      <a:pt x="328" y="0"/>
                    </a:moveTo>
                    <a:lnTo>
                      <a:pt x="923" y="299"/>
                    </a:lnTo>
                    <a:lnTo>
                      <a:pt x="328" y="596"/>
                    </a:lnTo>
                    <a:lnTo>
                      <a:pt x="328" y="447"/>
                    </a:lnTo>
                    <a:lnTo>
                      <a:pt x="0" y="447"/>
                    </a:lnTo>
                    <a:lnTo>
                      <a:pt x="0" y="150"/>
                    </a:lnTo>
                    <a:lnTo>
                      <a:pt x="328" y="150"/>
                    </a:lnTo>
                    <a:lnTo>
                      <a:pt x="328" y="0"/>
                    </a:lnTo>
                    <a:close/>
                  </a:path>
                </a:pathLst>
              </a:custGeom>
              <a:solidFill>
                <a:srgbClr val="ff99ff"/>
              </a:solidFill>
              <a:ln w="0">
                <a:noFill/>
              </a:ln>
            </p:spPr>
            <p:style>
              <a:lnRef idx="0"/>
              <a:fillRef idx="0"/>
              <a:effectRef idx="0"/>
              <a:fontRef idx="minor"/>
            </p:style>
            <p:txBody>
              <a:bodyPr lIns="90000" rIns="90000" tIns="45000" bIns="45000" anchor="t">
                <a:noAutofit/>
              </a:bodyPr>
              <a:p>
                <a:pPr defTabSz="914400">
                  <a:lnSpc>
                    <a:spcPct val="100000"/>
                  </a:lnSpc>
                </a:pPr>
                <a:endParaRPr lang="en-US" sz="1800" b="0" u="none" strike="noStrike">
                  <a:solidFill>
                    <a:schemeClr val="dk1"/>
                  </a:solidFill>
                  <a:effectLst/>
                  <a:uFillTx/>
                  <a:latin typeface="Calibri"/>
                </a:endParaRPr>
              </a:p>
            </p:txBody>
          </p:sp>
          <p:sp>
            <p:nvSpPr>
              <p:cNvPr id="97" name="Freeform 14"/>
              <p:cNvSpPr/>
              <p:nvPr/>
            </p:nvSpPr>
            <p:spPr>
              <a:xfrm>
                <a:off x="3995280" y="2508840"/>
                <a:ext cx="298440" cy="419760"/>
              </a:xfrm>
              <a:custGeom>
                <a:avLst/>
                <a:gdLst>
                  <a:gd name="textAreaLeft" fmla="*/ 0 w 298440"/>
                  <a:gd name="textAreaRight" fmla="*/ 298800 w 298440"/>
                  <a:gd name="textAreaTop" fmla="*/ 0 h 419760"/>
                  <a:gd name="textAreaBottom" fmla="*/ 420120 h 419760"/>
                  <a:gd name="GluePoint1X" fmla="*/ 0 w 408"/>
                  <a:gd name="GluePoint1Y" fmla="*/ 78 h 620"/>
                  <a:gd name="GluePoint2X" fmla="*/ 10 w 408"/>
                  <a:gd name="GluePoint2Y" fmla="*/ 71 h 620"/>
                  <a:gd name="GluePoint3X" fmla="*/ 10 w 408"/>
                  <a:gd name="GluePoint3Y" fmla="*/ 34 h 620"/>
                  <a:gd name="GluePoint4X" fmla="*/ 0 w 408"/>
                  <a:gd name="GluePoint4Y" fmla="*/ 26 h 620"/>
                  <a:gd name="GluePoint5X" fmla="*/ 0 w 408"/>
                  <a:gd name="GluePoint5Y" fmla="*/ 78 h 620"/>
                  <a:gd name="GluePoint6X" fmla="*/ 43 w 408"/>
                  <a:gd name="GluePoint6Y" fmla="*/ 25 h 620"/>
                  <a:gd name="GluePoint7X" fmla="*/ 51 w 408"/>
                  <a:gd name="GluePoint7Y" fmla="*/ 34 h 620"/>
                  <a:gd name="GluePoint8X" fmla="*/ 51 w 408"/>
                  <a:gd name="GluePoint8Y" fmla="*/ 14 h 620"/>
                  <a:gd name="GluePoint9X" fmla="*/ 43 w 408"/>
                  <a:gd name="GluePoint9Y" fmla="*/ 0 h 620"/>
                  <a:gd name="GluePoint10X" fmla="*/ 43 w 408"/>
                  <a:gd name="GluePoint10Y" fmla="*/ 25 h 6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408" h="620">
                    <a:moveTo>
                      <a:pt x="0" y="620"/>
                    </a:moveTo>
                    <a:lnTo>
                      <a:pt x="80" y="561"/>
                    </a:lnTo>
                    <a:lnTo>
                      <a:pt x="80" y="265"/>
                    </a:lnTo>
                    <a:lnTo>
                      <a:pt x="0" y="208"/>
                    </a:lnTo>
                    <a:lnTo>
                      <a:pt x="0" y="620"/>
                    </a:lnTo>
                    <a:close/>
                    <a:moveTo>
                      <a:pt x="342" y="207"/>
                    </a:moveTo>
                    <a:lnTo>
                      <a:pt x="408" y="265"/>
                    </a:lnTo>
                    <a:lnTo>
                      <a:pt x="408" y="115"/>
                    </a:lnTo>
                    <a:lnTo>
                      <a:pt x="342" y="0"/>
                    </a:lnTo>
                    <a:lnTo>
                      <a:pt x="342" y="207"/>
                    </a:lnTo>
                    <a:close/>
                  </a:path>
                </a:pathLst>
              </a:custGeom>
              <a:solidFill>
                <a:srgbClr val="bf00bf"/>
              </a:solidFill>
              <a:ln w="0">
                <a:noFill/>
              </a:ln>
            </p:spPr>
            <p:style>
              <a:lnRef idx="0"/>
              <a:fillRef idx="0"/>
              <a:effectRef idx="0"/>
              <a:fontRef idx="minor"/>
            </p:style>
            <p:txBody>
              <a:bodyPr lIns="90000" rIns="90000" tIns="45000" bIns="45000" anchor="t">
                <a:noAutofit/>
              </a:bodyPr>
              <a:p>
                <a:pPr defTabSz="914400">
                  <a:lnSpc>
                    <a:spcPct val="100000"/>
                  </a:lnSpc>
                </a:pPr>
                <a:endParaRPr lang="en-US" sz="1800" b="0" u="none" strike="noStrike">
                  <a:solidFill>
                    <a:schemeClr val="dk1"/>
                  </a:solidFill>
                  <a:effectLst/>
                  <a:uFillTx/>
                  <a:latin typeface="Calibri"/>
                </a:endParaRPr>
              </a:p>
            </p:txBody>
          </p:sp>
          <p:sp>
            <p:nvSpPr>
              <p:cNvPr id="98" name="Freeform 15"/>
              <p:cNvSpPr/>
              <p:nvPr/>
            </p:nvSpPr>
            <p:spPr>
              <a:xfrm>
                <a:off x="3995280" y="2508840"/>
                <a:ext cx="855360" cy="280080"/>
              </a:xfrm>
              <a:custGeom>
                <a:avLst/>
                <a:gdLst>
                  <a:gd name="textAreaLeft" fmla="*/ 0 w 855360"/>
                  <a:gd name="textAreaRight" fmla="*/ 855720 w 855360"/>
                  <a:gd name="textAreaTop" fmla="*/ 0 h 280080"/>
                  <a:gd name="textAreaBottom" fmla="*/ 280440 h 280080"/>
                  <a:gd name="GluePoint1X" fmla="*/ 51 w 1168"/>
                  <a:gd name="GluePoint1Y" fmla="*/ 15 h 413"/>
                  <a:gd name="GluePoint2X" fmla="*/ 125 w 1168"/>
                  <a:gd name="GluePoint2Y" fmla="*/ 52 h 413"/>
                  <a:gd name="GluePoint3X" fmla="*/ 146 w 1168"/>
                  <a:gd name="GluePoint3Y" fmla="*/ 52 h 413"/>
                  <a:gd name="GluePoint4X" fmla="*/ 42 w 1168"/>
                  <a:gd name="GluePoint4Y" fmla="*/ 0 h 413"/>
                  <a:gd name="GluePoint5X" fmla="*/ 51 w 1168"/>
                  <a:gd name="GluePoint5Y" fmla="*/ 15 h 413"/>
                  <a:gd name="GluePoint6X" fmla="*/ 0 w 1168"/>
                  <a:gd name="GluePoint6Y" fmla="*/ 26 h 413"/>
                  <a:gd name="GluePoint7X" fmla="*/ 10 w 1168"/>
                  <a:gd name="GluePoint7Y" fmla="*/ 34 h 413"/>
                  <a:gd name="GluePoint8X" fmla="*/ 51 w 1168"/>
                  <a:gd name="GluePoint8Y" fmla="*/ 34 h 413"/>
                  <a:gd name="GluePoint9X" fmla="*/ 42 w 1168"/>
                  <a:gd name="GluePoint9Y" fmla="*/ 26 h 413"/>
                  <a:gd name="GluePoint10X" fmla="*/ 0 w 1168"/>
                  <a:gd name="GluePoint10Y" fmla="*/ 26 h 41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68" h="413">
                    <a:moveTo>
                      <a:pt x="408" y="116"/>
                    </a:moveTo>
                    <a:lnTo>
                      <a:pt x="1002" y="413"/>
                    </a:lnTo>
                    <a:lnTo>
                      <a:pt x="1168" y="413"/>
                    </a:lnTo>
                    <a:lnTo>
                      <a:pt x="342" y="0"/>
                    </a:lnTo>
                    <a:lnTo>
                      <a:pt x="408" y="116"/>
                    </a:lnTo>
                    <a:close/>
                    <a:moveTo>
                      <a:pt x="0" y="208"/>
                    </a:moveTo>
                    <a:lnTo>
                      <a:pt x="80" y="265"/>
                    </a:lnTo>
                    <a:lnTo>
                      <a:pt x="408" y="265"/>
                    </a:lnTo>
                    <a:lnTo>
                      <a:pt x="342" y="207"/>
                    </a:lnTo>
                    <a:lnTo>
                      <a:pt x="0" y="208"/>
                    </a:lnTo>
                    <a:close/>
                  </a:path>
                </a:pathLst>
              </a:custGeom>
              <a:solidFill>
                <a:srgbClr val="ff00ff"/>
              </a:solidFill>
              <a:ln w="0">
                <a:noFill/>
              </a:ln>
            </p:spPr>
            <p:style>
              <a:lnRef idx="0"/>
              <a:fillRef idx="0"/>
              <a:effectRef idx="0"/>
              <a:fontRef idx="minor"/>
            </p:style>
            <p:txBody>
              <a:bodyPr lIns="90000" rIns="90000" tIns="45000" bIns="45000" anchor="t">
                <a:noAutofit/>
              </a:bodyPr>
              <a:p>
                <a:pPr defTabSz="914400">
                  <a:lnSpc>
                    <a:spcPct val="100000"/>
                  </a:lnSpc>
                </a:pPr>
                <a:endParaRPr lang="en-US" sz="1800" b="0" u="none" strike="noStrike">
                  <a:solidFill>
                    <a:schemeClr val="dk1"/>
                  </a:solidFill>
                  <a:effectLst/>
                  <a:uFillTx/>
                  <a:latin typeface="Calibri"/>
                </a:endParaRPr>
              </a:p>
            </p:txBody>
          </p:sp>
        </p:grpSp>
        <p:pic>
          <p:nvPicPr>
            <p:cNvPr id="99" name="Picture 11"/>
            <p:cNvPicPr/>
            <p:nvPr/>
          </p:nvPicPr>
          <p:blipFill>
            <a:blip r:embed="rId3"/>
            <a:stretch/>
          </p:blipFill>
          <p:spPr>
            <a:xfrm>
              <a:off x="5167440" y="1709280"/>
              <a:ext cx="3340080" cy="2055960"/>
            </a:xfrm>
            <a:prstGeom prst="rect">
              <a:avLst/>
            </a:prstGeom>
            <a:noFill/>
            <a:ln w="9525">
              <a:solidFill>
                <a:srgbClr val="d6ecff"/>
              </a:solidFill>
              <a:miter/>
            </a:ln>
          </p:spPr>
        </p:pic>
      </p:gr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0B00C919-6FBE-414C-868F-5DB58AB078F9}"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Mục đích của mô hình hóa hệ thống</a:t>
            </a:r>
            <a:endParaRPr lang="en-US" sz="4200" b="0" u="none" strike="noStrike">
              <a:solidFill>
                <a:srgbClr val="000000"/>
              </a:solidFill>
              <a:effectLst/>
              <a:uFillTx/>
              <a:latin typeface="Arial"/>
            </a:endParaRPr>
          </a:p>
        </p:txBody>
      </p:sp>
      <p:sp>
        <p:nvSpPr>
          <p:cNvPr id="101" name="CustomShape 2"/>
          <p:cNvSpPr/>
          <p:nvPr/>
        </p:nvSpPr>
        <p:spPr>
          <a:xfrm>
            <a:off x="361800" y="1594440"/>
            <a:ext cx="8440560" cy="4507200"/>
          </a:xfrm>
          <a:prstGeom prst="rect">
            <a:avLst/>
          </a:prstGeom>
          <a:noFill/>
          <a:ln w="9360">
            <a:noFill/>
          </a:ln>
        </p:spPr>
        <p:style>
          <a:lnRef idx="0"/>
          <a:fillRef idx="0"/>
          <a:effectRef idx="0"/>
          <a:fontRef idx="minor"/>
        </p:style>
        <p:txBody>
          <a:bodyPr lIns="90360" rIns="90360" tIns="44280" bIns="44280" anchor="t">
            <a:normAutofit/>
          </a:bodyPr>
          <a:p>
            <a:pPr marL="326160" lvl="1" indent="-324360" defTabSz="914400">
              <a:lnSpc>
                <a:spcPct val="90000"/>
              </a:lnSpc>
              <a:spcBef>
                <a:spcPts val="601"/>
              </a:spcBef>
              <a:buClr>
                <a:srgbClr val="000000"/>
              </a:buClr>
              <a:buSzPct val="60000"/>
              <a:buFont typeface="Arial"/>
              <a:buChar char="•"/>
            </a:pPr>
            <a:r>
              <a:rPr lang="en-US" sz="3000" b="0" u="none" strike="noStrike">
                <a:solidFill>
                  <a:srgbClr val="000000"/>
                </a:solidFill>
                <a:effectLst/>
                <a:uFillTx/>
                <a:latin typeface="Calibri"/>
              </a:rPr>
              <a:t>Để hiểu tổng thể hệ thống (chức năng, cấu trúc) và  để giao tiếp giữa các bên liên quan</a:t>
            </a:r>
            <a:endParaRPr lang="en-US" sz="3000" b="0" u="none" strike="noStrike">
              <a:solidFill>
                <a:srgbClr val="000000"/>
              </a:solidFill>
              <a:effectLst/>
              <a:uFillTx/>
              <a:latin typeface="Arial"/>
            </a:endParaRPr>
          </a:p>
          <a:p>
            <a:pPr marL="326160" lvl="1" indent="-324360" defTabSz="914400">
              <a:lnSpc>
                <a:spcPct val="90000"/>
              </a:lnSpc>
              <a:spcBef>
                <a:spcPts val="601"/>
              </a:spcBef>
              <a:buClr>
                <a:srgbClr val="000000"/>
              </a:buClr>
              <a:buSzPct val="60000"/>
              <a:buFont typeface="Arial"/>
              <a:buChar char="•"/>
            </a:pPr>
            <a:r>
              <a:rPr lang="en-US" sz="3000" b="0" u="none" strike="noStrike">
                <a:solidFill>
                  <a:srgbClr val="000000"/>
                </a:solidFill>
                <a:effectLst/>
                <a:uFillTx/>
                <a:latin typeface="Calibri"/>
                <a:ea typeface="DejaVu Sans"/>
              </a:rPr>
              <a:t>Mô hình hệ thống hiện thời: giúp cho thu thập và phân tích yêu cầu (kỹ nghệ yêu cầu)</a:t>
            </a:r>
            <a:endParaRPr lang="en-US" sz="3000" b="0" u="none" strike="noStrike">
              <a:solidFill>
                <a:srgbClr val="000000"/>
              </a:solidFill>
              <a:effectLst/>
              <a:uFillTx/>
              <a:latin typeface="Arial"/>
            </a:endParaRPr>
          </a:p>
          <a:p>
            <a:pPr marL="326160" lvl="1" indent="-324360" defTabSz="914400">
              <a:lnSpc>
                <a:spcPct val="90000"/>
              </a:lnSpc>
              <a:spcBef>
                <a:spcPts val="601"/>
              </a:spcBef>
              <a:buClr>
                <a:srgbClr val="000000"/>
              </a:buClr>
              <a:buSzPct val="60000"/>
              <a:buFont typeface="Arial"/>
              <a:buChar char="•"/>
            </a:pPr>
            <a:r>
              <a:rPr lang="en-US" sz="3000" b="0" u="none" strike="noStrike">
                <a:solidFill>
                  <a:srgbClr val="000000"/>
                </a:solidFill>
                <a:effectLst/>
                <a:uFillTx/>
                <a:latin typeface="Calibri"/>
                <a:ea typeface="DejaVu Sans"/>
              </a:rPr>
              <a:t>Mô hình hệ thống mới: (phân tích, thiết kế, cài đặt)</a:t>
            </a:r>
            <a:endParaRPr lang="en-US" sz="3000" b="0" u="none" strike="noStrike">
              <a:solidFill>
                <a:srgbClr val="000000"/>
              </a:solidFill>
              <a:effectLst/>
              <a:uFillTx/>
              <a:latin typeface="Arial"/>
            </a:endParaRPr>
          </a:p>
          <a:p>
            <a:pPr marL="630360" lvl="1" indent="-2840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đặc tả yêu cầu hệ thống</a:t>
            </a:r>
            <a:endParaRPr lang="en-US" sz="3000" b="0" u="none" strike="noStrike">
              <a:solidFill>
                <a:srgbClr val="000000"/>
              </a:solidFill>
              <a:effectLst/>
              <a:uFillTx/>
              <a:latin typeface="Arial"/>
            </a:endParaRPr>
          </a:p>
          <a:p>
            <a:pPr marL="630360" lvl="1" indent="-2840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đề xuất thiết kế hệ thống</a:t>
            </a:r>
            <a:endParaRPr lang="en-US" sz="3000" b="0" u="none" strike="noStrike">
              <a:solidFill>
                <a:srgbClr val="000000"/>
              </a:solidFill>
              <a:effectLst/>
              <a:uFillTx/>
              <a:latin typeface="Arial"/>
            </a:endParaRPr>
          </a:p>
          <a:p>
            <a:pPr marL="630360" lvl="1" indent="-2840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làm tài liệu</a:t>
            </a: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p:txBody>
      </p:sp>
      <p:sp>
        <p:nvSpPr>
          <p:cNvPr id="102"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398ADBA4-3E35-4556-BBDD-04267AAB94A2}"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B9505A66-6516-4CD5-B9DD-44B98884DE9C}"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Nguyên lý mô hình hóa hệ thống</a:t>
            </a:r>
            <a:endParaRPr lang="en-US" sz="4200" b="0" u="none" strike="noStrike">
              <a:solidFill>
                <a:srgbClr val="000000"/>
              </a:solidFill>
              <a:effectLst/>
              <a:uFillTx/>
              <a:latin typeface="Arial"/>
            </a:endParaRPr>
          </a:p>
        </p:txBody>
      </p:sp>
      <p:sp>
        <p:nvSpPr>
          <p:cNvPr id="104" name="CustomShape 2"/>
          <p:cNvSpPr/>
          <p:nvPr/>
        </p:nvSpPr>
        <p:spPr>
          <a:xfrm>
            <a:off x="361800" y="1663560"/>
            <a:ext cx="84578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1199"/>
              </a:spcBef>
              <a:buClr>
                <a:srgbClr val="000000"/>
              </a:buClr>
              <a:buFont typeface="Arial"/>
              <a:buChar char="•"/>
            </a:pPr>
            <a:r>
              <a:rPr lang="vi-VN" sz="3000" b="0" u="none" strike="noStrike">
                <a:solidFill>
                  <a:srgbClr val="000000"/>
                </a:solidFill>
                <a:effectLst/>
                <a:uFillTx/>
                <a:latin typeface="Calibri"/>
                <a:ea typeface="DejaVu Sans"/>
              </a:rPr>
              <a:t>Mô hình ảnh hưởng đến cách vấn đề</a:t>
            </a:r>
            <a:r>
              <a:rPr lang="en-US" sz="3000" b="0" u="none" strike="noStrike">
                <a:solidFill>
                  <a:srgbClr val="000000"/>
                </a:solidFill>
                <a:effectLst/>
                <a:uFillTx/>
                <a:latin typeface="Calibri"/>
                <a:ea typeface="DejaVu Sans"/>
              </a:rPr>
              <a:t> được </a:t>
            </a:r>
            <a:br>
              <a:rPr sz="3000"/>
            </a:br>
            <a:r>
              <a:rPr lang="en-US" sz="3000" b="0" u="none" strike="noStrike">
                <a:solidFill>
                  <a:srgbClr val="000000"/>
                </a:solidFill>
                <a:effectLst/>
                <a:uFillTx/>
                <a:latin typeface="Calibri"/>
                <a:ea typeface="DejaVu Sans"/>
              </a:rPr>
              <a:t>giải quyết</a:t>
            </a:r>
            <a:endParaRPr lang="en-US" sz="3000" b="0" u="none" strike="noStrike">
              <a:solidFill>
                <a:srgbClr val="000000"/>
              </a:solidFill>
              <a:effectLst/>
              <a:uFillTx/>
              <a:latin typeface="Arial"/>
            </a:endParaRPr>
          </a:p>
          <a:p>
            <a:pPr marL="326160" indent="-324360" defTabSz="914400">
              <a:lnSpc>
                <a:spcPct val="90000"/>
              </a:lnSpc>
              <a:spcBef>
                <a:spcPts val="1199"/>
              </a:spcBef>
              <a:buClr>
                <a:srgbClr val="000000"/>
              </a:buClr>
              <a:buFont typeface="Arial"/>
              <a:buChar char="•"/>
            </a:pPr>
            <a:r>
              <a:rPr lang="en-US" sz="3000" b="0" u="none" strike="noStrike">
                <a:solidFill>
                  <a:srgbClr val="000000"/>
                </a:solidFill>
                <a:effectLst/>
                <a:uFillTx/>
                <a:latin typeface="Calibri"/>
                <a:ea typeface="DejaVu Sans"/>
              </a:rPr>
              <a:t>Mọi m</a:t>
            </a:r>
            <a:r>
              <a:rPr lang="vi-VN" sz="3000" b="0" u="none" strike="noStrike">
                <a:solidFill>
                  <a:srgbClr val="000000"/>
                </a:solidFill>
                <a:effectLst/>
                <a:uFillTx/>
                <a:latin typeface="Calibri"/>
                <a:ea typeface="DejaVu Sans"/>
              </a:rPr>
              <a:t>ô hình có thể được </a:t>
            </a:r>
            <a:r>
              <a:rPr lang="en-US" sz="3000" b="0" u="none" strike="noStrike">
                <a:solidFill>
                  <a:srgbClr val="000000"/>
                </a:solidFill>
                <a:effectLst/>
                <a:uFillTx/>
                <a:latin typeface="Calibri"/>
                <a:ea typeface="DejaVu Sans"/>
              </a:rPr>
              <a:t>biểu diễn </a:t>
            </a:r>
            <a:r>
              <a:rPr lang="vi-VN" sz="3000" b="0" u="none" strike="noStrike">
                <a:solidFill>
                  <a:srgbClr val="000000"/>
                </a:solidFill>
                <a:effectLst/>
                <a:uFillTx/>
                <a:latin typeface="Calibri"/>
                <a:ea typeface="DejaVu Sans"/>
              </a:rPr>
              <a:t>ở các mức độ chính xác khác nhau.</a:t>
            </a:r>
            <a:endParaRPr lang="en-US" sz="3000" b="0" u="none" strike="noStrike">
              <a:solidFill>
                <a:srgbClr val="000000"/>
              </a:solidFill>
              <a:effectLst/>
              <a:uFillTx/>
              <a:latin typeface="Arial"/>
            </a:endParaRPr>
          </a:p>
          <a:p>
            <a:pPr marL="326160" indent="-324360" defTabSz="914400">
              <a:lnSpc>
                <a:spcPct val="90000"/>
              </a:lnSpc>
              <a:spcBef>
                <a:spcPts val="1199"/>
              </a:spcBef>
              <a:buClr>
                <a:srgbClr val="000000"/>
              </a:buClr>
              <a:buFont typeface="Arial"/>
              <a:buChar char="•"/>
            </a:pPr>
            <a:r>
              <a:rPr lang="en-US" sz="3000" b="0" u="none" strike="noStrike">
                <a:solidFill>
                  <a:srgbClr val="000000"/>
                </a:solidFill>
                <a:effectLst/>
                <a:uFillTx/>
                <a:latin typeface="Calibri"/>
                <a:ea typeface="DejaVu Sans"/>
              </a:rPr>
              <a:t>M</a:t>
            </a:r>
            <a:r>
              <a:rPr lang="vi-VN" sz="3000" b="0" u="none" strike="noStrike">
                <a:solidFill>
                  <a:srgbClr val="000000"/>
                </a:solidFill>
                <a:effectLst/>
                <a:uFillTx/>
                <a:latin typeface="Calibri"/>
                <a:ea typeface="DejaVu Sans"/>
              </a:rPr>
              <a:t>ô hình tốt nhất </a:t>
            </a:r>
            <a:r>
              <a:rPr lang="en-US" sz="3000" b="0" u="none" strike="noStrike">
                <a:solidFill>
                  <a:srgbClr val="000000"/>
                </a:solidFill>
                <a:effectLst/>
                <a:uFillTx/>
                <a:latin typeface="Calibri"/>
                <a:ea typeface="DejaVu Sans"/>
              </a:rPr>
              <a:t>là khi </a:t>
            </a:r>
            <a:r>
              <a:rPr lang="vi-VN" sz="3000" b="0" u="none" strike="noStrike">
                <a:solidFill>
                  <a:srgbClr val="000000"/>
                </a:solidFill>
                <a:effectLst/>
                <a:uFillTx/>
                <a:latin typeface="Calibri"/>
                <a:ea typeface="DejaVu Sans"/>
              </a:rPr>
              <a:t>được kết nối với thực tế.</a:t>
            </a:r>
            <a:endParaRPr lang="en-US" sz="3000" b="0" u="none" strike="noStrike">
              <a:solidFill>
                <a:srgbClr val="000000"/>
              </a:solidFill>
              <a:effectLst/>
              <a:uFillTx/>
              <a:latin typeface="Arial"/>
            </a:endParaRPr>
          </a:p>
          <a:p>
            <a:pPr marL="326160" indent="-324360" defTabSz="914400">
              <a:lnSpc>
                <a:spcPct val="90000"/>
              </a:lnSpc>
              <a:spcBef>
                <a:spcPts val="1199"/>
              </a:spcBef>
              <a:buClr>
                <a:srgbClr val="000000"/>
              </a:buClr>
              <a:buFont typeface="Arial"/>
              <a:buChar char="•"/>
            </a:pPr>
            <a:r>
              <a:rPr lang="en-US" sz="3000" b="0" u="none" strike="noStrike">
                <a:solidFill>
                  <a:srgbClr val="000000"/>
                </a:solidFill>
                <a:effectLst/>
                <a:uFillTx/>
                <a:latin typeface="Calibri"/>
                <a:ea typeface="DejaVu Sans"/>
              </a:rPr>
              <a:t>Sử dụng một </a:t>
            </a:r>
            <a:r>
              <a:rPr lang="vi-VN" sz="3000" b="0" u="none" strike="noStrike">
                <a:solidFill>
                  <a:srgbClr val="000000"/>
                </a:solidFill>
                <a:effectLst/>
                <a:uFillTx/>
                <a:latin typeface="Calibri"/>
                <a:ea typeface="DejaVu Sans"/>
              </a:rPr>
              <a:t>mô hình duy nhất </a:t>
            </a:r>
            <a:r>
              <a:rPr lang="en-US" sz="3000" b="0" u="none" strike="noStrike">
                <a:solidFill>
                  <a:srgbClr val="000000"/>
                </a:solidFill>
                <a:effectLst/>
                <a:uFillTx/>
                <a:latin typeface="Calibri"/>
                <a:ea typeface="DejaVu Sans"/>
              </a:rPr>
              <a:t>thường không </a:t>
            </a:r>
            <a:r>
              <a:rPr lang="vi-VN" sz="3000" b="0" u="none" strike="noStrike">
                <a:solidFill>
                  <a:srgbClr val="000000"/>
                </a:solidFill>
                <a:effectLst/>
                <a:uFillTx/>
                <a:latin typeface="Calibri"/>
                <a:ea typeface="DejaVu Sans"/>
              </a:rPr>
              <a:t>đủ.</a:t>
            </a:r>
            <a:endParaRPr lang="en-US" sz="3000" b="0" u="none" strike="noStrike">
              <a:solidFill>
                <a:srgbClr val="000000"/>
              </a:solidFill>
              <a:effectLst/>
              <a:uFillTx/>
              <a:latin typeface="Arial"/>
            </a:endParaRPr>
          </a:p>
        </p:txBody>
      </p:sp>
      <p:sp>
        <p:nvSpPr>
          <p:cNvPr id="105"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998C8BFE-523D-4390-8144-940CB2947731}"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C70624F7-0A04-49C2-92D5-F123718EACAD}"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Các góc nhìn hệ thống</a:t>
            </a:r>
            <a:endParaRPr lang="en-US" sz="4200" b="0" u="none" strike="noStrike">
              <a:solidFill>
                <a:srgbClr val="000000"/>
              </a:solidFill>
              <a:effectLst/>
              <a:uFillTx/>
              <a:latin typeface="Arial"/>
            </a:endParaRPr>
          </a:p>
        </p:txBody>
      </p:sp>
      <p:sp>
        <p:nvSpPr>
          <p:cNvPr id="107"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Góc nhìn từ bên ngoài: mô hình hóa ngữ cảnh và môi trường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Góc nhìn tương tác: giữa môi trường và hệ thống, hoặc giữa các thành phần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Góc nhìn cấu trúc: mô hình hóa tổ chức hệ thống, hoặc biểu diễn cấu trúc của dữ liệu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Góc nhìn hành vi: mô hình hóa hành vi động của hệ thống, và cách mà hệ thống phản hồi các sự kiện</a:t>
            </a:r>
            <a:endParaRPr lang="en-US" sz="3000" b="0" u="none" strike="noStrike">
              <a:solidFill>
                <a:srgbClr val="000000"/>
              </a:solidFill>
              <a:effectLst/>
              <a:uFillTx/>
              <a:latin typeface="Arial"/>
            </a:endParaRPr>
          </a:p>
        </p:txBody>
      </p:sp>
      <p:sp>
        <p:nvSpPr>
          <p:cNvPr id="108" name="CustomShape 3"/>
          <p:cNvSpPr/>
          <p:nvPr/>
        </p:nvSpPr>
        <p:spPr>
          <a:xfrm>
            <a:off x="68389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D1C2B0F2-C5AD-4983-A31B-FDEF33776ED8}"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891F3019-9E75-4468-821B-2CA0398D8219}"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Các loại biểu đồ UML</a:t>
            </a:r>
            <a:endParaRPr lang="en-US" sz="4200" b="0" u="none" strike="noStrike">
              <a:solidFill>
                <a:srgbClr val="000000"/>
              </a:solidFill>
              <a:effectLst/>
              <a:uFillTx/>
              <a:latin typeface="Arial"/>
            </a:endParaRPr>
          </a:p>
        </p:txBody>
      </p:sp>
      <p:sp>
        <p:nvSpPr>
          <p:cNvPr id="110" name="CustomShape 2"/>
          <p:cNvSpPr/>
          <p:nvPr/>
        </p:nvSpPr>
        <p:spPr>
          <a:xfrm>
            <a:off x="455400" y="1594440"/>
            <a:ext cx="8364240" cy="4737960"/>
          </a:xfrm>
          <a:prstGeom prst="rect">
            <a:avLst/>
          </a:prstGeom>
          <a:noFill/>
          <a:ln w="9360">
            <a:noFill/>
          </a:ln>
        </p:spPr>
        <p:style>
          <a:lnRef idx="0"/>
          <a:fillRef idx="0"/>
          <a:effectRef idx="0"/>
          <a:fontRef idx="minor"/>
        </p:style>
        <p:txBody>
          <a:bodyPr lIns="90360" rIns="90360" tIns="44280" bIns="44280" anchor="t">
            <a:normAutofit fontScale="85000" lnSpcReduction="9999"/>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hoạt động: biểu diễn các hoạt động diễn ra trong một tiến trình hay một xử lý dữ liệu</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ca sử dụng: biểu diễn chuỗi tương tác giữa hệ thống và môi trường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tuần tự: biểu diễn tương tác giữa tác nhân và hệ thống, hay giữa các thành phần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lớp:  biểu diễn các lớp đối tượng và quan hệ giữa chúng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trạng thái: biểu diễn cách hệ thống phản ứng với các sự kiện từ bên trong và bên ngoài</a:t>
            </a:r>
            <a:endParaRPr lang="en-US" sz="3000" b="0" u="none" strike="noStrike">
              <a:solidFill>
                <a:srgbClr val="000000"/>
              </a:solidFill>
              <a:effectLst/>
              <a:uFillTx/>
              <a:latin typeface="Arial"/>
            </a:endParaRPr>
          </a:p>
        </p:txBody>
      </p:sp>
      <p:sp>
        <p:nvSpPr>
          <p:cNvPr id="111"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EFE38423-6C3F-41C0-80F1-D5E2A9B10643}"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EDA9D3AF-390F-4520-B023-843D6809C04F}"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ngữ cảnh</a:t>
            </a:r>
            <a:endParaRPr lang="en-US" sz="4200" b="0" u="none" strike="noStrike">
              <a:solidFill>
                <a:srgbClr val="000000"/>
              </a:solidFill>
              <a:effectLst/>
              <a:uFillTx/>
              <a:latin typeface="Arial"/>
            </a:endParaRPr>
          </a:p>
        </p:txBody>
      </p:sp>
      <p:sp>
        <p:nvSpPr>
          <p:cNvPr id="113"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Được dùng để minh họa ngữ cảnh hoạt động của hệ thống (các yếu tố làm nên biên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Việc xác định biên hệ thống chịu ảnh hưởng của các yếu tố tổ chức và xã hội.</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Là một dạng mô hình kiến trúc chỉ mối quan hệ của hệ thống với các hệ thống khác.</a:t>
            </a: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p:txBody>
      </p:sp>
      <p:sp>
        <p:nvSpPr>
          <p:cNvPr id="114"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27500A72-F51B-4945-BB34-13EA673AFD2D}"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DC5C177D-072B-4093-B3E7-02BFD706BD7F}"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Biên hệ thống</a:t>
            </a:r>
            <a:endParaRPr lang="en-US" sz="4200" b="0" u="none" strike="noStrike">
              <a:solidFill>
                <a:srgbClr val="000000"/>
              </a:solidFill>
              <a:effectLst/>
              <a:uFillTx/>
              <a:latin typeface="Arial"/>
            </a:endParaRPr>
          </a:p>
        </p:txBody>
      </p:sp>
      <p:sp>
        <p:nvSpPr>
          <p:cNvPr id="116"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Biên hệ thống xác định những gì thuộc về hệ thống và những gì thuộc về môi trường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Biên hệ thống ảnh hưởng sâu sắc đến yêu cầu của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vi-VN" sz="3000" b="0" u="none" strike="noStrike">
                <a:solidFill>
                  <a:srgbClr val="000000"/>
                </a:solidFill>
                <a:effectLst/>
                <a:uFillTx/>
                <a:latin typeface="Calibri"/>
                <a:ea typeface="DejaVu Sans"/>
              </a:rPr>
              <a:t>Xác định </a:t>
            </a:r>
            <a:r>
              <a:rPr lang="en-US" sz="3000" b="0" u="none" strike="noStrike">
                <a:solidFill>
                  <a:srgbClr val="000000"/>
                </a:solidFill>
                <a:effectLst/>
                <a:uFillTx/>
                <a:latin typeface="Calibri"/>
                <a:ea typeface="DejaVu Sans"/>
              </a:rPr>
              <a:t>biên</a:t>
            </a:r>
            <a:r>
              <a:rPr lang="vi-VN" sz="3000" b="0" u="none" strike="noStrike">
                <a:solidFill>
                  <a:srgbClr val="000000"/>
                </a:solidFill>
                <a:effectLst/>
                <a:uFillTx/>
                <a:latin typeface="Calibri"/>
                <a:ea typeface="DejaVu Sans"/>
              </a:rPr>
              <a:t> hệ thống </a:t>
            </a:r>
            <a:r>
              <a:rPr lang="en-US" sz="3000" b="0" u="none" strike="noStrike">
                <a:solidFill>
                  <a:srgbClr val="000000"/>
                </a:solidFill>
                <a:effectLst/>
                <a:uFillTx/>
                <a:latin typeface="Calibri"/>
                <a:ea typeface="DejaVu Sans"/>
              </a:rPr>
              <a:t>mang yếu tố </a:t>
            </a:r>
            <a:r>
              <a:rPr lang="vi-VN" sz="3000" b="0" u="none" strike="noStrike">
                <a:solidFill>
                  <a:srgbClr val="000000"/>
                </a:solidFill>
                <a:effectLst/>
                <a:uFillTx/>
                <a:latin typeface="Calibri"/>
                <a:ea typeface="DejaVu Sans"/>
              </a:rPr>
              <a:t>chính trị</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Á</a:t>
            </a:r>
            <a:r>
              <a:rPr lang="vi-VN" sz="3000" b="0" u="none" strike="noStrike">
                <a:solidFill>
                  <a:srgbClr val="000000"/>
                </a:solidFill>
                <a:effectLst/>
                <a:uFillTx/>
                <a:latin typeface="Calibri"/>
                <a:ea typeface="DejaVu Sans"/>
              </a:rPr>
              <a:t>p lực để </a:t>
            </a:r>
            <a:r>
              <a:rPr lang="en-US" sz="3000" b="0" u="none" strike="noStrike">
                <a:solidFill>
                  <a:srgbClr val="000000"/>
                </a:solidFill>
                <a:effectLst/>
                <a:uFillTx/>
                <a:latin typeface="Calibri"/>
                <a:ea typeface="DejaVu Sans"/>
              </a:rPr>
              <a:t>xác định </a:t>
            </a:r>
            <a:r>
              <a:rPr lang="vi-VN" sz="3000" b="0" u="none" strike="noStrike">
                <a:solidFill>
                  <a:srgbClr val="000000"/>
                </a:solidFill>
                <a:effectLst/>
                <a:uFillTx/>
                <a:latin typeface="Calibri"/>
                <a:ea typeface="DejaVu Sans"/>
              </a:rPr>
              <a:t>hệ thống</a:t>
            </a:r>
            <a:r>
              <a:rPr lang="en-US" sz="3000" b="0" u="none" strike="noStrike">
                <a:solidFill>
                  <a:srgbClr val="000000"/>
                </a:solidFill>
                <a:effectLst/>
                <a:uFillTx/>
                <a:latin typeface="Calibri"/>
                <a:ea typeface="DejaVu Sans"/>
              </a:rPr>
              <a:t>, qua đó </a:t>
            </a:r>
            <a:r>
              <a:rPr lang="vi-VN" sz="3000" b="0" u="none" strike="noStrike">
                <a:solidFill>
                  <a:srgbClr val="000000"/>
                </a:solidFill>
                <a:effectLst/>
                <a:uFillTx/>
                <a:latin typeface="Calibri"/>
                <a:ea typeface="DejaVu Sans"/>
              </a:rPr>
              <a:t>làm tăng / giảm ảnh hưởng hoặc khối lượng công việc của các </a:t>
            </a:r>
            <a:r>
              <a:rPr lang="en-US" sz="3000" b="0" u="none" strike="noStrike">
                <a:solidFill>
                  <a:srgbClr val="000000"/>
                </a:solidFill>
                <a:effectLst/>
                <a:uFillTx/>
                <a:latin typeface="Calibri"/>
                <a:ea typeface="DejaVu Sans"/>
              </a:rPr>
              <a:t>thành </a:t>
            </a:r>
            <a:r>
              <a:rPr lang="vi-VN" sz="3000" b="0" u="none" strike="noStrike">
                <a:solidFill>
                  <a:srgbClr val="000000"/>
                </a:solidFill>
                <a:effectLst/>
                <a:uFillTx/>
                <a:latin typeface="Calibri"/>
                <a:ea typeface="DejaVu Sans"/>
              </a:rPr>
              <a:t>phần </a:t>
            </a:r>
            <a:r>
              <a:rPr lang="en-US" sz="3000" b="0" u="none" strike="noStrike">
                <a:solidFill>
                  <a:srgbClr val="000000"/>
                </a:solidFill>
                <a:effectLst/>
                <a:uFillTx/>
                <a:latin typeface="Calibri"/>
                <a:ea typeface="DejaVu Sans"/>
              </a:rPr>
              <a:t>trong </a:t>
            </a:r>
            <a:r>
              <a:rPr lang="vi-VN" sz="3000" b="0" u="none" strike="noStrike">
                <a:solidFill>
                  <a:srgbClr val="000000"/>
                </a:solidFill>
                <a:effectLst/>
                <a:uFillTx/>
                <a:latin typeface="Calibri"/>
                <a:ea typeface="DejaVu Sans"/>
              </a:rPr>
              <a:t>tổ chức.</a:t>
            </a:r>
            <a:endParaRPr lang="en-US" sz="3000" b="0" u="none" strike="noStrike">
              <a:solidFill>
                <a:srgbClr val="000000"/>
              </a:solidFill>
              <a:effectLst/>
              <a:uFillTx/>
              <a:latin typeface="Arial"/>
            </a:endParaRPr>
          </a:p>
        </p:txBody>
      </p:sp>
      <p:sp>
        <p:nvSpPr>
          <p:cNvPr id="117"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BD33653A-31C2-46D6-A056-7BA330B79722}"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ED7A324F-D49D-4C1B-A247-D98C44033D60}"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Ví dụ mô hình ngữ cảnh</a:t>
            </a:r>
            <a:endParaRPr lang="en-US" sz="4200" b="0" u="none" strike="noStrike">
              <a:solidFill>
                <a:srgbClr val="000000"/>
              </a:solidFill>
              <a:effectLst/>
              <a:uFillTx/>
              <a:latin typeface="Arial"/>
            </a:endParaRPr>
          </a:p>
        </p:txBody>
      </p:sp>
      <p:sp>
        <p:nvSpPr>
          <p:cNvPr id="119"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defTabSz="914400">
              <a:lnSpc>
                <a:spcPct val="90000"/>
              </a:lnSpc>
              <a:spcBef>
                <a:spcPts val="601"/>
              </a:spcBef>
            </a:pPr>
            <a:endParaRPr lang="en-US" sz="3000" b="0" u="none" strike="noStrike">
              <a:solidFill>
                <a:srgbClr val="000000"/>
              </a:solidFill>
              <a:effectLst/>
              <a:uFillTx/>
              <a:latin typeface="Arial"/>
            </a:endParaRPr>
          </a:p>
        </p:txBody>
      </p:sp>
      <p:sp>
        <p:nvSpPr>
          <p:cNvPr id="120"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B1EFF452-88C9-4A7C-9BD8-CE0492F979A6}"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pic>
        <p:nvPicPr>
          <p:cNvPr id="121" name="Picture 4" descr="5.1 MHCPMS-Context.eps"/>
          <p:cNvPicPr/>
          <p:nvPr/>
        </p:nvPicPr>
        <p:blipFill>
          <a:blip r:embed="rId1"/>
          <a:stretch/>
        </p:blipFill>
        <p:spPr>
          <a:xfrm>
            <a:off x="1352520" y="1663560"/>
            <a:ext cx="6531840" cy="4114440"/>
          </a:xfrm>
          <a:prstGeom prst="rect">
            <a:avLst/>
          </a:prstGeom>
          <a:noFill/>
          <a:ln w="0">
            <a:noFill/>
          </a:ln>
        </p:spPr>
      </p:pic>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F4E8962D-C9BD-4C35-B0AC-67A94AC008BD}"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quy trình</a:t>
            </a:r>
            <a:endParaRPr lang="en-US" sz="4200" b="0" u="none" strike="noStrike">
              <a:solidFill>
                <a:srgbClr val="000000"/>
              </a:solidFill>
              <a:effectLst/>
              <a:uFillTx/>
              <a:latin typeface="Arial"/>
            </a:endParaRPr>
          </a:p>
        </p:txBody>
      </p:sp>
      <p:sp>
        <p:nvSpPr>
          <p:cNvPr id="123"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Thường được dùng để bổ trợ cho mô hình ngữ cảnh</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tả sự tương tác giữa hệ thống với môi trường trong ngữ cảnh quy trình nghiệp vụ</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hoạt động UML có thể được dùng để mô hình hóa quy trình nghiệp vụ</a:t>
            </a:r>
            <a:endParaRPr lang="en-US" sz="3000" b="0" u="none" strike="noStrike">
              <a:solidFill>
                <a:srgbClr val="000000"/>
              </a:solidFill>
              <a:effectLst/>
              <a:uFillTx/>
              <a:latin typeface="Arial"/>
            </a:endParaRPr>
          </a:p>
        </p:txBody>
      </p:sp>
      <p:sp>
        <p:nvSpPr>
          <p:cNvPr id="124"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7B1F0D05-A4B6-4984-A211-7316525780AA}"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9A6BF5F1-D347-4494-9EA1-0CA2401D7E00}"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p:nvPr>
        </p:nvSpPr>
        <p:spPr>
          <a:xfrm>
            <a:off x="133200" y="1434960"/>
            <a:ext cx="5105160" cy="4877280"/>
          </a:xfrm>
          <a:prstGeom prst="rect">
            <a:avLst/>
          </a:prstGeom>
          <a:noFill/>
          <a:ln w="9360">
            <a:noFill/>
          </a:ln>
        </p:spPr>
        <p:txBody>
          <a:bodyPr numCol="1" spcCol="0" lIns="91080" rIns="91080" tIns="45360" bIns="45360" anchor="t">
            <a:noAutofit/>
          </a:bodyPr>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Tạo hành động </a:t>
            </a:r>
            <a:r>
              <a:rPr lang="en-US" sz="2400" b="1" u="none" strike="noStrike">
                <a:solidFill>
                  <a:schemeClr val="dk1"/>
                </a:solidFill>
                <a:effectLst/>
                <a:uFillTx/>
                <a:latin typeface="Calibri"/>
              </a:rPr>
              <a:t>Action</a:t>
            </a:r>
            <a:r>
              <a:rPr lang="en-US" sz="2400" b="0" u="none" strike="noStrike">
                <a:solidFill>
                  <a:schemeClr val="dk1"/>
                </a:solidFill>
                <a:effectLst/>
                <a:uFillTx/>
                <a:latin typeface="Calibri"/>
              </a:rPr>
              <a:t> (1) cho mỗi tác vụ được thực hiện bởi người dùng, hệ thống, hoặc cộng tác cả hai</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Kết nối chuỗi hoạt động bởi các </a:t>
            </a:r>
            <a:r>
              <a:rPr lang="en-US" sz="2400" b="1" u="none" strike="noStrike">
                <a:solidFill>
                  <a:schemeClr val="dk1"/>
                </a:solidFill>
                <a:effectLst/>
                <a:uFillTx/>
                <a:latin typeface="Calibri"/>
              </a:rPr>
              <a:t>Connectors</a:t>
            </a:r>
            <a:r>
              <a:rPr lang="en-US" sz="2400" b="0" u="none" strike="noStrike">
                <a:solidFill>
                  <a:schemeClr val="dk1"/>
                </a:solidFill>
                <a:effectLst/>
                <a:uFillTx/>
                <a:latin typeface="Calibri"/>
              </a:rPr>
              <a:t> (2)</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Sử dụng </a:t>
            </a:r>
            <a:r>
              <a:rPr lang="en-US" sz="2400" b="1" u="none" strike="noStrike">
                <a:solidFill>
                  <a:schemeClr val="dk1"/>
                </a:solidFill>
                <a:effectLst/>
                <a:uFillTx/>
                <a:latin typeface="Calibri"/>
              </a:rPr>
              <a:t>Decision Node</a:t>
            </a:r>
            <a:r>
              <a:rPr lang="en-US" sz="2400" b="0" u="none" strike="noStrike">
                <a:solidFill>
                  <a:schemeClr val="dk1"/>
                </a:solidFill>
                <a:effectLst/>
                <a:uFillTx/>
                <a:latin typeface="Calibri"/>
              </a:rPr>
              <a:t> (3) để quyết định bước tiếp theo.</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Đưa vào các điều kiện </a:t>
            </a:r>
            <a:r>
              <a:rPr lang="en-US" sz="2400" b="1" u="none" strike="noStrike">
                <a:solidFill>
                  <a:schemeClr val="dk1"/>
                </a:solidFill>
                <a:effectLst/>
                <a:uFillTx/>
                <a:latin typeface="Calibri"/>
              </a:rPr>
              <a:t>guards (4)</a:t>
            </a:r>
            <a:r>
              <a:rPr lang="en-US" sz="2400" b="0" u="none" strike="noStrike">
                <a:solidFill>
                  <a:schemeClr val="dk1"/>
                </a:solidFill>
                <a:effectLst/>
                <a:uFillTx/>
                <a:latin typeface="Calibri"/>
              </a:rPr>
              <a:t> để lựa chọn nhánh đi tiếp theo.</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Sử dụng </a:t>
            </a:r>
            <a:r>
              <a:rPr lang="en-US" sz="2400" b="1" u="none" strike="noStrike">
                <a:solidFill>
                  <a:schemeClr val="dk1"/>
                </a:solidFill>
                <a:effectLst/>
                <a:uFillTx/>
                <a:latin typeface="Calibri"/>
              </a:rPr>
              <a:t>Merge Node</a:t>
            </a:r>
            <a:r>
              <a:rPr lang="en-US" sz="2400" b="0" u="none" strike="noStrike">
                <a:solidFill>
                  <a:schemeClr val="dk1"/>
                </a:solidFill>
                <a:effectLst/>
                <a:uFillTx/>
                <a:latin typeface="Calibri"/>
              </a:rPr>
              <a:t> (5) để hợp nhất nhánh phụ với nhánh chính</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Nút khởi đầu </a:t>
            </a:r>
            <a:r>
              <a:rPr lang="en-US" sz="2400" b="1" u="none" strike="noStrike">
                <a:solidFill>
                  <a:schemeClr val="dk1"/>
                </a:solidFill>
                <a:effectLst/>
                <a:uFillTx/>
                <a:latin typeface="Calibri"/>
              </a:rPr>
              <a:t>Initial Node </a:t>
            </a:r>
            <a:r>
              <a:rPr lang="en-US" sz="2400" b="0" u="none" strike="noStrike">
                <a:solidFill>
                  <a:schemeClr val="dk1"/>
                </a:solidFill>
                <a:effectLst/>
                <a:uFillTx/>
                <a:latin typeface="Calibri"/>
              </a:rPr>
              <a:t> (6)</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Sử dụng </a:t>
            </a:r>
            <a:r>
              <a:rPr lang="en-US" sz="2400" b="1" u="none" strike="noStrike">
                <a:solidFill>
                  <a:schemeClr val="dk1"/>
                </a:solidFill>
                <a:effectLst/>
                <a:uFillTx/>
                <a:latin typeface="Calibri"/>
              </a:rPr>
              <a:t>Activity Final Node</a:t>
            </a:r>
            <a:r>
              <a:rPr lang="en-US" sz="2400" b="0" u="none" strike="noStrike">
                <a:solidFill>
                  <a:schemeClr val="dk1"/>
                </a:solidFill>
                <a:effectLst/>
                <a:uFillTx/>
                <a:latin typeface="Calibri"/>
              </a:rPr>
              <a:t> (7) để kết thúc hoạt động</a:t>
            </a:r>
            <a:endParaRPr lang="en-US" sz="2400" b="0" u="none" strike="noStrike">
              <a:solidFill>
                <a:schemeClr val="dk1"/>
              </a:solidFill>
              <a:effectLst/>
              <a:uFillTx/>
              <a:latin typeface="Calibri"/>
            </a:endParaRPr>
          </a:p>
          <a:p>
            <a:pPr indent="0">
              <a:lnSpc>
                <a:spcPct val="100000"/>
              </a:lnSpc>
              <a:spcBef>
                <a:spcPts val="479"/>
              </a:spcBef>
              <a:buNone/>
            </a:pPr>
            <a:endParaRPr lang="en-US" sz="2400" b="0" u="none" strike="noStrike">
              <a:solidFill>
                <a:schemeClr val="dk1"/>
              </a:solidFill>
              <a:effectLst/>
              <a:uFillTx/>
              <a:latin typeface="Calibri"/>
            </a:endParaRPr>
          </a:p>
        </p:txBody>
      </p:sp>
      <p:sp>
        <p:nvSpPr>
          <p:cNvPr id="126" name="PlaceHolder 2"/>
          <p:cNvSpPr>
            <a:spLocks noGrp="1"/>
          </p:cNvSpPr>
          <p:nvPr>
            <p:ph type="sldNum" idx="39"/>
          </p:nvPr>
        </p:nvSpPr>
        <p:spPr>
          <a:xfrm>
            <a:off x="8287560" y="6409080"/>
            <a:ext cx="760680" cy="3596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Arial"/>
              </a:defRPr>
            </a:lvl1pPr>
          </a:lstStyle>
          <a:p>
            <a:pPr indent="0" algn="r" defTabSz="914400">
              <a:lnSpc>
                <a:spcPct val="100000"/>
              </a:lnSpc>
              <a:buNone/>
            </a:pPr>
            <a:fld id="{29D33AF5-B80D-4FAA-B40C-A54B21C46FBC}" type="slidenum">
              <a:rPr lang="en-US" sz="1400" b="0" u="none" strike="noStrike">
                <a:solidFill>
                  <a:schemeClr val="dk1">
                    <a:tint val="75000"/>
                  </a:schemeClr>
                </a:solidFill>
                <a:effectLst/>
                <a:uFillTx/>
                <a:latin typeface="Arial"/>
              </a:rPr>
              <a:t>12</a:t>
            </a:fld>
            <a:endParaRPr lang="en-US" sz="1400" b="0" u="none" strike="noStrike">
              <a:solidFill>
                <a:srgbClr val="000000"/>
              </a:solidFill>
              <a:effectLst/>
              <a:uFillTx/>
              <a:latin typeface="Times New Roman"/>
            </a:endParaRPr>
          </a:p>
        </p:txBody>
      </p:sp>
      <p:pic>
        <p:nvPicPr>
          <p:cNvPr id="127" name="Picture 2"/>
          <p:cNvPicPr/>
          <p:nvPr/>
        </p:nvPicPr>
        <p:blipFill>
          <a:blip r:embed="rId1"/>
          <a:stretch/>
        </p:blipFill>
        <p:spPr>
          <a:xfrm>
            <a:off x="5335920" y="1530000"/>
            <a:ext cx="3712680" cy="4172040"/>
          </a:xfrm>
          <a:prstGeom prst="rect">
            <a:avLst/>
          </a:prstGeom>
          <a:noFill/>
          <a:ln w="0">
            <a:noFill/>
          </a:ln>
        </p:spPr>
      </p:pic>
      <p:sp>
        <p:nvSpPr>
          <p:cNvPr id="128"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Biểu đồ hoạt động</a:t>
            </a:r>
            <a:endParaRPr lang="en-US" sz="4200" b="0" u="none" strike="noStrike">
              <a:solidFill>
                <a:srgbClr val="000000"/>
              </a:solidFill>
              <a:effectLst/>
              <a:uFillTx/>
              <a:latin typeface="Arial"/>
            </a:endParaRPr>
          </a:p>
        </p:txBody>
      </p:sp>
      <p:sp>
        <p:nvSpPr>
          <p:cNvPr id="4" name="PlaceHolder 3"/>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25">
                                            <p:txEl>
                                              <p:pRg st="5" end="5"/>
                                            </p:txEl>
                                          </p:spTgt>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p:nvPr>
        </p:nvSpPr>
        <p:spPr>
          <a:xfrm>
            <a:off x="-72000" y="560160"/>
            <a:ext cx="5466600" cy="5346000"/>
          </a:xfrm>
          <a:prstGeom prst="rect">
            <a:avLst/>
          </a:prstGeom>
          <a:noFill/>
          <a:ln w="9360">
            <a:noFill/>
          </a:ln>
        </p:spPr>
        <p:txBody>
          <a:bodyPr numCol="1" spcCol="0" lIns="91080" rIns="91080" tIns="45360" bIns="45360" anchor="t">
            <a:noAutofit/>
          </a:bodyPr>
          <a:p>
            <a:pPr marL="343080" indent="-343080">
              <a:lnSpc>
                <a:spcPct val="100000"/>
              </a:lnSpc>
              <a:spcBef>
                <a:spcPts val="479"/>
              </a:spcBef>
              <a:buClr>
                <a:srgbClr val="000000"/>
              </a:buClr>
              <a:buFont typeface="Arial"/>
              <a:buChar char="•"/>
            </a:pPr>
            <a:r>
              <a:rPr lang="en-US" sz="2400" b="1" u="none" strike="noStrike">
                <a:solidFill>
                  <a:schemeClr val="dk1"/>
                </a:solidFill>
                <a:effectLst/>
                <a:uFillTx/>
                <a:latin typeface="Calibri"/>
              </a:rPr>
              <a:t>Fork Node</a:t>
            </a:r>
            <a:r>
              <a:rPr lang="en-US" sz="2400" b="0" u="none" strike="noStrike">
                <a:solidFill>
                  <a:schemeClr val="dk1"/>
                </a:solidFill>
                <a:effectLst/>
                <a:uFillTx/>
                <a:latin typeface="Calibri"/>
              </a:rPr>
              <a:t> (1) sẽ chia luồng điều khiển thành hai hay nhiều luồng. Khi hành động trước đó kết thúc, tất cả các hành động tương ứng đầu ra của fork node sẽ được kích hoạt.</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1" u="none" strike="noStrike">
                <a:solidFill>
                  <a:schemeClr val="dk1"/>
                </a:solidFill>
                <a:effectLst/>
                <a:uFillTx/>
                <a:latin typeface="Calibri"/>
              </a:rPr>
              <a:t>Join Node</a:t>
            </a:r>
            <a:r>
              <a:rPr lang="en-US" sz="2400" b="0" u="none" strike="noStrike">
                <a:solidFill>
                  <a:schemeClr val="dk1"/>
                </a:solidFill>
                <a:effectLst/>
                <a:uFillTx/>
                <a:latin typeface="Calibri"/>
              </a:rPr>
              <a:t> (2) sẽ hợp nhất các luồng đồng thời (concurrent threads) với nhau. Hành động sau </a:t>
            </a:r>
            <a:r>
              <a:rPr lang="en-US" sz="2400" b="1" u="none" strike="noStrike">
                <a:solidFill>
                  <a:schemeClr val="dk1"/>
                </a:solidFill>
                <a:effectLst/>
                <a:uFillTx/>
                <a:latin typeface="Calibri"/>
              </a:rPr>
              <a:t>Join Node</a:t>
            </a:r>
            <a:r>
              <a:rPr lang="en-US" sz="2400" b="0" u="none" strike="noStrike">
                <a:solidFill>
                  <a:schemeClr val="dk1"/>
                </a:solidFill>
                <a:effectLst/>
                <a:uFillTx/>
                <a:latin typeface="Calibri"/>
              </a:rPr>
              <a:t> chỉ được bắt khi tất cả các hành động dẫn đến </a:t>
            </a:r>
            <a:r>
              <a:rPr lang="en-US" sz="2400" b="1" u="none" strike="noStrike">
                <a:solidFill>
                  <a:schemeClr val="dk1"/>
                </a:solidFill>
                <a:effectLst/>
                <a:uFillTx/>
                <a:latin typeface="Calibri"/>
              </a:rPr>
              <a:t>Join Node</a:t>
            </a:r>
            <a:r>
              <a:rPr lang="en-US" sz="2400" b="0" u="none" strike="noStrike">
                <a:solidFill>
                  <a:schemeClr val="dk1"/>
                </a:solidFill>
                <a:effectLst/>
                <a:uFillTx/>
                <a:latin typeface="Calibri"/>
              </a:rPr>
              <a:t> đều kết thúc.</a:t>
            </a:r>
            <a:endParaRPr lang="en-US" sz="2400" b="0" u="none" strike="noStrike">
              <a:solidFill>
                <a:schemeClr val="dk1"/>
              </a:solidFill>
              <a:effectLst/>
              <a:uFillTx/>
              <a:latin typeface="Calibri"/>
            </a:endParaRPr>
          </a:p>
          <a:p>
            <a:pPr marL="343080" indent="-343080">
              <a:lnSpc>
                <a:spcPct val="100000"/>
              </a:lnSpc>
              <a:spcBef>
                <a:spcPts val="479"/>
              </a:spcBef>
              <a:buClr>
                <a:srgbClr val="000000"/>
              </a:buClr>
              <a:buFont typeface="Arial"/>
              <a:buChar char="•"/>
            </a:pPr>
            <a:r>
              <a:rPr lang="en-US" sz="2400" b="0" u="none" strike="noStrike">
                <a:solidFill>
                  <a:schemeClr val="dk1"/>
                </a:solidFill>
                <a:effectLst/>
                <a:uFillTx/>
                <a:latin typeface="Calibri"/>
              </a:rPr>
              <a:t>Sử dụng </a:t>
            </a:r>
            <a:r>
              <a:rPr lang="en-US" sz="2400" b="1" u="none" strike="noStrike">
                <a:solidFill>
                  <a:schemeClr val="dk1"/>
                </a:solidFill>
                <a:effectLst/>
                <a:uFillTx/>
                <a:latin typeface="Calibri"/>
              </a:rPr>
              <a:t>Send Signal Action </a:t>
            </a:r>
            <a:r>
              <a:rPr lang="en-US" sz="2400" b="0" u="none" strike="noStrike">
                <a:solidFill>
                  <a:schemeClr val="dk1"/>
                </a:solidFill>
                <a:effectLst/>
                <a:uFillTx/>
                <a:latin typeface="Calibri"/>
              </a:rPr>
              <a:t>(3),  và nhận (4), để chỉ rằng một tín hiệu hoặc thông điệp được gửi tới hoặc nhận từ các hoạt động hay tiến trình khác.</a:t>
            </a:r>
            <a:endParaRPr lang="en-US" sz="2400" b="0" u="none" strike="noStrike">
              <a:solidFill>
                <a:schemeClr val="dk1"/>
              </a:solidFill>
              <a:effectLst/>
              <a:uFillTx/>
              <a:latin typeface="Calibri"/>
            </a:endParaRPr>
          </a:p>
        </p:txBody>
      </p:sp>
      <p:sp>
        <p:nvSpPr>
          <p:cNvPr id="130" name="PlaceHolder 2"/>
          <p:cNvSpPr>
            <a:spLocks noGrp="1"/>
          </p:cNvSpPr>
          <p:nvPr>
            <p:ph type="sldNum" idx="40"/>
          </p:nvPr>
        </p:nvSpPr>
        <p:spPr>
          <a:xfrm>
            <a:off x="8439120" y="6409080"/>
            <a:ext cx="559800" cy="3596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Arial"/>
              </a:defRPr>
            </a:lvl1pPr>
          </a:lstStyle>
          <a:p>
            <a:pPr indent="0" algn="r" defTabSz="914400">
              <a:lnSpc>
                <a:spcPct val="100000"/>
              </a:lnSpc>
              <a:buNone/>
            </a:pPr>
            <a:fld id="{9404DC2B-CCB9-43AD-BA65-140F23A4E271}" type="slidenum">
              <a:rPr lang="en-US" sz="1400" b="0" u="none" strike="noStrike">
                <a:solidFill>
                  <a:schemeClr val="dk1">
                    <a:tint val="75000"/>
                  </a:schemeClr>
                </a:solidFill>
                <a:effectLst/>
                <a:uFillTx/>
                <a:latin typeface="Arial"/>
              </a:rPr>
              <a:t>12</a:t>
            </a:fld>
            <a:endParaRPr lang="en-US" sz="1400" b="0" u="none" strike="noStrike">
              <a:solidFill>
                <a:srgbClr val="000000"/>
              </a:solidFill>
              <a:effectLst/>
              <a:uFillTx/>
              <a:latin typeface="Times New Roman"/>
            </a:endParaRPr>
          </a:p>
        </p:txBody>
      </p:sp>
      <p:pic>
        <p:nvPicPr>
          <p:cNvPr id="131" name="Picture 2"/>
          <p:cNvPicPr/>
          <p:nvPr/>
        </p:nvPicPr>
        <p:blipFill>
          <a:blip r:embed="rId1"/>
          <a:stretch/>
        </p:blipFill>
        <p:spPr>
          <a:xfrm>
            <a:off x="5466960" y="1684440"/>
            <a:ext cx="3505320" cy="4472640"/>
          </a:xfrm>
          <a:prstGeom prst="rect">
            <a:avLst/>
          </a:prstGeom>
          <a:noFill/>
          <a:ln w="0">
            <a:noFill/>
          </a:ln>
        </p:spPr>
      </p:pic>
      <p:sp>
        <p:nvSpPr>
          <p:cNvPr id="132"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Biểu đồ hoạt động (tiếp)</a:t>
            </a:r>
            <a:endParaRPr lang="en-US" sz="4200" b="0" u="none" strike="noStrike">
              <a:solidFill>
                <a:srgbClr val="000000"/>
              </a:solidFill>
              <a:effectLst/>
              <a:uFillTx/>
              <a:latin typeface="Arial"/>
            </a:endParaRPr>
          </a:p>
        </p:txBody>
      </p:sp>
      <p:sp>
        <p:nvSpPr>
          <p:cNvPr id="4" name="PlaceHolder 3"/>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12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12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129">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Ví dụ mô hình quy trình</a:t>
            </a:r>
            <a:endParaRPr lang="en-US" sz="4200" b="0" u="none" strike="noStrike">
              <a:solidFill>
                <a:srgbClr val="000000"/>
              </a:solidFill>
              <a:effectLst/>
              <a:uFillTx/>
              <a:latin typeface="Arial"/>
            </a:endParaRPr>
          </a:p>
        </p:txBody>
      </p:sp>
      <p:sp>
        <p:nvSpPr>
          <p:cNvPr id="134"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defTabSz="914400">
              <a:lnSpc>
                <a:spcPct val="90000"/>
              </a:lnSpc>
              <a:spcBef>
                <a:spcPts val="601"/>
              </a:spcBef>
            </a:pPr>
            <a:endParaRPr lang="en-US" sz="3000" b="0" u="none" strike="noStrike">
              <a:solidFill>
                <a:srgbClr val="000000"/>
              </a:solidFill>
              <a:effectLst/>
              <a:uFillTx/>
              <a:latin typeface="Arial"/>
            </a:endParaRPr>
          </a:p>
        </p:txBody>
      </p:sp>
      <p:sp>
        <p:nvSpPr>
          <p:cNvPr id="135"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AFF66562-98FE-4409-83E2-3C1146201E97}"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pic>
        <p:nvPicPr>
          <p:cNvPr id="136" name="Picture 4" descr="5.2 DetentionProcess.eps"/>
          <p:cNvPicPr/>
          <p:nvPr/>
        </p:nvPicPr>
        <p:blipFill>
          <a:blip r:embed="rId1"/>
          <a:stretch/>
        </p:blipFill>
        <p:spPr>
          <a:xfrm>
            <a:off x="335160" y="1511280"/>
            <a:ext cx="8408520" cy="4336200"/>
          </a:xfrm>
          <a:prstGeom prst="rect">
            <a:avLst/>
          </a:prstGeom>
          <a:noFill/>
          <a:ln w="0">
            <a:noFill/>
          </a:ln>
        </p:spPr>
      </p:pic>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98B8F213-5561-4510-AA86-8FF640A3A2A4}"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tương tác</a:t>
            </a:r>
            <a:endParaRPr lang="en-US" sz="4200" b="0" u="none" strike="noStrike">
              <a:solidFill>
                <a:srgbClr val="000000"/>
              </a:solidFill>
              <a:effectLst/>
              <a:uFillTx/>
              <a:latin typeface="Arial"/>
            </a:endParaRPr>
          </a:p>
        </p:txBody>
      </p:sp>
      <p:sp>
        <p:nvSpPr>
          <p:cNvPr id="138"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fontScale="92500" lnSpcReduction="9999"/>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hóa tương tác người dùng giúp xác định các yêu cầu người dùng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hóa tương tác giữa hệ thống và hệ thống giúp làm rõ các vấn đề về giao tiếp (đặc tả giao thức tương tác)</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hóa tương tác thành phần giúp hiểu cấu trúc của hệ thống và khả năng đáp ứng các yêu cầu phi chức năng (về hiệu năng và tính tin cậy.)</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ca sử dụng và biểu đồ tuần tự thường được dùng để mô hình hóa tương tác</a:t>
            </a: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p:txBody>
      </p:sp>
      <p:sp>
        <p:nvSpPr>
          <p:cNvPr id="139"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65C9C41D-49BC-40DE-A277-0AFEBB0F4FBC}"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AC112684-9163-4A28-A3A3-520450DBD30C}"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ca sử dụng</a:t>
            </a:r>
            <a:endParaRPr lang="en-US" sz="4200" b="0" u="none" strike="noStrike">
              <a:solidFill>
                <a:srgbClr val="000000"/>
              </a:solidFill>
              <a:effectLst/>
              <a:uFillTx/>
              <a:latin typeface="Arial"/>
            </a:endParaRPr>
          </a:p>
        </p:txBody>
      </p:sp>
      <p:sp>
        <p:nvSpPr>
          <p:cNvPr id="141"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vi-VN" sz="2300" b="0" u="none" strike="noStrike">
                <a:solidFill>
                  <a:srgbClr val="000000"/>
                </a:solidFill>
                <a:effectLst/>
                <a:uFillTx/>
                <a:latin typeface="Calibri"/>
                <a:ea typeface="DejaVu Sans"/>
              </a:rPr>
              <a:t>Ca sử dụng được đề xuất để đặc tả và cấu trúc các yêu cầu hệ thống.</a:t>
            </a:r>
            <a:endParaRPr lang="en-US" sz="23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vi-VN" sz="2300" b="0" u="none" strike="noStrike">
                <a:solidFill>
                  <a:srgbClr val="000000"/>
                </a:solidFill>
                <a:effectLst/>
                <a:uFillTx/>
                <a:latin typeface="Calibri"/>
                <a:ea typeface="DejaVu Sans"/>
              </a:rPr>
              <a:t>Mỗi ca sử dụng đại diện cho một tác vụ rời rạc có liên quan đến sự tương tác bên ngoài với một hệ thống.</a:t>
            </a:r>
            <a:endParaRPr lang="en-US" sz="23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vi-VN" sz="2300" b="0" u="none" strike="noStrike">
                <a:solidFill>
                  <a:srgbClr val="000000"/>
                </a:solidFill>
                <a:effectLst/>
                <a:uFillTx/>
                <a:latin typeface="Calibri"/>
                <a:ea typeface="DejaVu Sans"/>
              </a:rPr>
              <a:t>Các tác nhân tham gia ca sử dụng có thể là người hoặc các hệ thống khác.</a:t>
            </a:r>
            <a:endParaRPr lang="en-US" sz="23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vi-VN" sz="2300" b="0" u="none" strike="noStrike">
                <a:solidFill>
                  <a:srgbClr val="000000"/>
                </a:solidFill>
                <a:effectLst/>
                <a:uFillTx/>
                <a:latin typeface="Calibri"/>
                <a:ea typeface="DejaVu Sans"/>
              </a:rPr>
              <a:t>Mô hình ca sử dụng thường ở dạng kết hợp biểu đồ trực quan và các mô tả văn bản chi tiết.</a:t>
            </a:r>
            <a:endParaRPr lang="en-US" sz="2300" b="0" u="none" strike="noStrike">
              <a:solidFill>
                <a:srgbClr val="000000"/>
              </a:solidFill>
              <a:effectLst/>
              <a:uFillTx/>
              <a:latin typeface="Arial"/>
            </a:endParaRPr>
          </a:p>
        </p:txBody>
      </p:sp>
      <p:sp>
        <p:nvSpPr>
          <p:cNvPr id="142" name="CustomShape 3"/>
          <p:cNvSpPr/>
          <p:nvPr/>
        </p:nvSpPr>
        <p:spPr>
          <a:xfrm>
            <a:off x="68497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BDCEDA4F-8881-4478-B1D0-637989D53B23}"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2E6BD1BB-42FB-4964-83E7-C97CBB66DBB9}"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Biểu đồ ca sử dụng</a:t>
            </a:r>
            <a:endParaRPr lang="en-US" sz="4200" b="0" u="none" strike="noStrike">
              <a:solidFill>
                <a:schemeClr val="dk1"/>
              </a:solidFill>
              <a:effectLst/>
              <a:uFillTx/>
              <a:latin typeface="Calibri"/>
            </a:endParaRPr>
          </a:p>
        </p:txBody>
      </p:sp>
      <p:sp>
        <p:nvSpPr>
          <p:cNvPr id="144" name="PlaceHolder 2"/>
          <p:cNvSpPr>
            <a:spLocks noGrp="1"/>
          </p:cNvSpPr>
          <p:nvPr>
            <p:ph/>
          </p:nvPr>
        </p:nvSpPr>
        <p:spPr>
          <a:xfrm>
            <a:off x="0" y="1511280"/>
            <a:ext cx="5635440" cy="5037840"/>
          </a:xfrm>
          <a:prstGeom prst="rect">
            <a:avLst/>
          </a:prstGeom>
          <a:noFill/>
          <a:ln w="9360">
            <a:noFill/>
          </a:ln>
        </p:spPr>
        <p:txBody>
          <a:bodyPr numCol="1" spcCol="0" lIns="91080" rIns="91080" tIns="45360" bIns="45360" anchor="t">
            <a:normAutofit fontScale="92500" lnSpcReduction="9999"/>
          </a:bodyPr>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Tác nhân </a:t>
            </a:r>
            <a:r>
              <a:rPr lang="vi-VN" sz="2000" b="0" u="none" strike="noStrike">
                <a:solidFill>
                  <a:schemeClr val="dk1"/>
                </a:solidFill>
                <a:effectLst/>
                <a:uFillTx/>
                <a:latin typeface="Calibri"/>
              </a:rPr>
              <a:t>(1) là một lớp người, tổ chức, thiết bị hoặc thành phần phần mềm bên ngoài tương tác với hệ thống. </a:t>
            </a:r>
            <a:r>
              <a:rPr lang="en-US" sz="2000" b="0" u="none" strike="noStrike">
                <a:solidFill>
                  <a:schemeClr val="dk1"/>
                </a:solidFill>
                <a:effectLst/>
                <a:uFillTx/>
                <a:latin typeface="Calibri"/>
              </a:rPr>
              <a:t> Trong mô hình ca sử dụng này, các tác nhân bao gồm </a:t>
            </a:r>
            <a:r>
              <a:rPr lang="vi-VN" sz="2000" b="1" u="none" strike="noStrike">
                <a:solidFill>
                  <a:schemeClr val="dk1"/>
                </a:solidFill>
                <a:effectLst/>
                <a:uFillTx/>
                <a:latin typeface="Calibri"/>
              </a:rPr>
              <a:t>Khách hàng</a:t>
            </a:r>
            <a:r>
              <a:rPr lang="en-US" sz="2000" b="1" u="none" strike="noStrike">
                <a:solidFill>
                  <a:schemeClr val="dk1"/>
                </a:solidFill>
                <a:effectLst/>
                <a:uFillTx/>
                <a:latin typeface="Calibri"/>
              </a:rPr>
              <a:t> </a:t>
            </a:r>
            <a:r>
              <a:rPr lang="en-US" sz="2000" b="0" u="none" strike="noStrike">
                <a:solidFill>
                  <a:schemeClr val="dk1"/>
                </a:solidFill>
                <a:effectLst/>
                <a:uFillTx/>
                <a:latin typeface="Calibri"/>
              </a:rPr>
              <a:t>và </a:t>
            </a:r>
            <a:r>
              <a:rPr lang="vi-VN" sz="2000" b="1" u="none" strike="noStrike">
                <a:solidFill>
                  <a:schemeClr val="dk1"/>
                </a:solidFill>
                <a:effectLst/>
                <a:uFillTx/>
                <a:latin typeface="Calibri"/>
              </a:rPr>
              <a:t>Nhà hàng</a:t>
            </a:r>
            <a:r>
              <a:rPr lang="vi-VN" sz="2000" b="0" u="none" strike="noStrike">
                <a:solidFill>
                  <a:schemeClr val="dk1"/>
                </a:solidFill>
                <a:effectLst/>
                <a:uFillTx/>
                <a:latin typeface="Calibri"/>
              </a:rPr>
              <a:t>.</a:t>
            </a:r>
            <a:endParaRPr lang="en-US" sz="2000" b="0" u="none" strike="noStrike">
              <a:solidFill>
                <a:schemeClr val="dk1"/>
              </a:solidFill>
              <a:effectLst/>
              <a:uFillTx/>
              <a:latin typeface="Calibri"/>
            </a:endParaRPr>
          </a:p>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Ca sử </a:t>
            </a:r>
            <a:r>
              <a:rPr lang="vi-VN" sz="2000" b="0" u="none" strike="noStrike">
                <a:solidFill>
                  <a:schemeClr val="dk1"/>
                </a:solidFill>
                <a:effectLst/>
                <a:uFillTx/>
                <a:latin typeface="Calibri"/>
              </a:rPr>
              <a:t>dụng (2) đại diện cho các hành động được thực hiện bởi một hoặc nhiều </a:t>
            </a:r>
            <a:r>
              <a:rPr lang="en-US" sz="2000" b="0" u="none" strike="noStrike">
                <a:solidFill>
                  <a:schemeClr val="dk1"/>
                </a:solidFill>
                <a:effectLst/>
                <a:uFillTx/>
                <a:latin typeface="Calibri"/>
              </a:rPr>
              <a:t>tác nhân</a:t>
            </a:r>
            <a:r>
              <a:rPr lang="vi-VN" sz="2000" b="0" u="none" strike="noStrike">
                <a:solidFill>
                  <a:schemeClr val="dk1"/>
                </a:solidFill>
                <a:effectLst/>
                <a:uFillTx/>
                <a:latin typeface="Calibri"/>
              </a:rPr>
              <a:t> trong việc theo đuổi một mục tiêu cụ thể. Các </a:t>
            </a:r>
            <a:r>
              <a:rPr lang="en-US" sz="2000" b="0" u="none" strike="noStrike">
                <a:solidFill>
                  <a:schemeClr val="dk1"/>
                </a:solidFill>
                <a:effectLst/>
                <a:uFillTx/>
                <a:latin typeface="Calibri"/>
              </a:rPr>
              <a:t> ca </a:t>
            </a:r>
            <a:r>
              <a:rPr lang="vi-VN" sz="2000" b="0" u="none" strike="noStrike">
                <a:solidFill>
                  <a:schemeClr val="dk1"/>
                </a:solidFill>
                <a:effectLst/>
                <a:uFillTx/>
                <a:latin typeface="Calibri"/>
              </a:rPr>
              <a:t>sử dụng </a:t>
            </a:r>
            <a:r>
              <a:rPr lang="en-US" sz="2000" b="0" u="none" strike="noStrike">
                <a:solidFill>
                  <a:schemeClr val="dk1"/>
                </a:solidFill>
                <a:effectLst/>
                <a:uFillTx/>
                <a:latin typeface="Calibri"/>
              </a:rPr>
              <a:t>ở đây bao gồm</a:t>
            </a:r>
            <a:r>
              <a:rPr lang="vi-VN" sz="2000" b="0" u="none" strike="noStrike">
                <a:solidFill>
                  <a:schemeClr val="dk1"/>
                </a:solidFill>
                <a:effectLst/>
                <a:uFillTx/>
                <a:latin typeface="Calibri"/>
              </a:rPr>
              <a:t> là </a:t>
            </a:r>
            <a:r>
              <a:rPr lang="en-US" sz="2000" b="1" u="none" strike="noStrike">
                <a:solidFill>
                  <a:schemeClr val="dk1"/>
                </a:solidFill>
                <a:effectLst/>
                <a:uFillTx/>
                <a:latin typeface="Calibri"/>
              </a:rPr>
              <a:t>Đặt bữa ăn (</a:t>
            </a:r>
            <a:r>
              <a:rPr lang="vi-VN" sz="2000" b="1" u="none" strike="noStrike">
                <a:solidFill>
                  <a:schemeClr val="dk1"/>
                </a:solidFill>
                <a:effectLst/>
                <a:uFillTx/>
                <a:latin typeface="Calibri"/>
              </a:rPr>
              <a:t>Order Meal</a:t>
            </a:r>
            <a:r>
              <a:rPr lang="en-US" sz="2000" b="1" u="none" strike="noStrike">
                <a:solidFill>
                  <a:schemeClr val="dk1"/>
                </a:solidFill>
                <a:effectLst/>
                <a:uFillTx/>
                <a:latin typeface="Calibri"/>
              </a:rPr>
              <a:t>)</a:t>
            </a:r>
            <a:r>
              <a:rPr lang="vi-VN" sz="2000" b="1" u="none" strike="noStrike">
                <a:solidFill>
                  <a:schemeClr val="dk1"/>
                </a:solidFill>
                <a:effectLst/>
                <a:uFillTx/>
                <a:latin typeface="Calibri"/>
              </a:rPr>
              <a:t>, </a:t>
            </a:r>
            <a:r>
              <a:rPr lang="en-US" sz="2000" b="1" u="none" strike="noStrike">
                <a:solidFill>
                  <a:schemeClr val="dk1"/>
                </a:solidFill>
                <a:effectLst/>
                <a:uFillTx/>
                <a:latin typeface="Calibri"/>
              </a:rPr>
              <a:t>Cập nhật thực đơn (</a:t>
            </a:r>
            <a:r>
              <a:rPr lang="vi-VN" sz="2000" b="1" u="none" strike="noStrike">
                <a:solidFill>
                  <a:schemeClr val="dk1"/>
                </a:solidFill>
                <a:effectLst/>
                <a:uFillTx/>
                <a:latin typeface="Calibri"/>
              </a:rPr>
              <a:t>Update Menu</a:t>
            </a:r>
            <a:r>
              <a:rPr lang="en-US" sz="2000" b="1" u="none" strike="noStrike">
                <a:solidFill>
                  <a:schemeClr val="dk1"/>
                </a:solidFill>
                <a:effectLst/>
                <a:uFillTx/>
                <a:latin typeface="Calibri"/>
              </a:rPr>
              <a:t>)</a:t>
            </a:r>
            <a:r>
              <a:rPr lang="vi-VN" sz="2000" b="1" u="none" strike="noStrike">
                <a:solidFill>
                  <a:schemeClr val="dk1"/>
                </a:solidFill>
                <a:effectLst/>
                <a:uFillTx/>
                <a:latin typeface="Calibri"/>
              </a:rPr>
              <a:t>, </a:t>
            </a:r>
            <a:r>
              <a:rPr lang="en-US" sz="2000" b="1" u="none" strike="noStrike">
                <a:solidFill>
                  <a:schemeClr val="dk1"/>
                </a:solidFill>
                <a:effectLst/>
                <a:uFillTx/>
                <a:latin typeface="Calibri"/>
              </a:rPr>
              <a:t>Thanh toán (</a:t>
            </a:r>
            <a:r>
              <a:rPr lang="vi-VN" sz="2000" b="1" u="none" strike="noStrike">
                <a:solidFill>
                  <a:schemeClr val="dk1"/>
                </a:solidFill>
                <a:effectLst/>
                <a:uFillTx/>
                <a:latin typeface="Calibri"/>
              </a:rPr>
              <a:t>Process Payment</a:t>
            </a:r>
            <a:r>
              <a:rPr lang="en-US" sz="2000" b="1" u="none" strike="noStrike">
                <a:solidFill>
                  <a:schemeClr val="dk1"/>
                </a:solidFill>
                <a:effectLst/>
                <a:uFillTx/>
                <a:latin typeface="Calibri"/>
              </a:rPr>
              <a:t>)</a:t>
            </a:r>
            <a:r>
              <a:rPr lang="vi-VN" sz="2000" b="0" u="none" strike="noStrike">
                <a:solidFill>
                  <a:schemeClr val="dk1"/>
                </a:solidFill>
                <a:effectLst/>
                <a:uFillTx/>
                <a:latin typeface="Calibri"/>
              </a:rPr>
              <a:t>.</a:t>
            </a:r>
            <a:endParaRPr lang="en-US" sz="2000" b="0" u="none" strike="noStrike">
              <a:solidFill>
                <a:schemeClr val="dk1"/>
              </a:solidFill>
              <a:effectLst/>
              <a:uFillTx/>
              <a:latin typeface="Calibri"/>
            </a:endParaRPr>
          </a:p>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Trong biểu đồ ca sử dụng, các ca sử dụng được kết gắn (3) với các tác  nhân tham gia ca sử dụng.</a:t>
            </a:r>
            <a:endParaRPr lang="en-US" sz="2000" b="0" u="none" strike="noStrike">
              <a:solidFill>
                <a:schemeClr val="dk1"/>
              </a:solidFill>
              <a:effectLst/>
              <a:uFillTx/>
              <a:latin typeface="Calibri"/>
            </a:endParaRPr>
          </a:p>
          <a:p>
            <a:pPr marL="285840" lvl="1" indent="-285840">
              <a:lnSpc>
                <a:spcPct val="100000"/>
              </a:lnSpc>
              <a:spcBef>
                <a:spcPts val="400"/>
              </a:spcBef>
              <a:buClr>
                <a:srgbClr val="0070c0"/>
              </a:buClr>
              <a:buFont typeface="Arial"/>
              <a:buChar char="•"/>
            </a:pPr>
            <a:r>
              <a:rPr lang="vi-VN" sz="2000" b="0" u="none" strike="noStrike">
                <a:solidFill>
                  <a:srgbClr val="0070c0"/>
                </a:solidFill>
                <a:effectLst/>
                <a:uFillTx/>
                <a:latin typeface="Calibri"/>
              </a:rPr>
              <a:t>Hệ thống (4) là </a:t>
            </a:r>
            <a:r>
              <a:rPr lang="en-US" sz="2000" b="0" u="none" strike="noStrike">
                <a:solidFill>
                  <a:srgbClr val="0070c0"/>
                </a:solidFill>
                <a:effectLst/>
                <a:uFillTx/>
                <a:latin typeface="Calibri"/>
              </a:rPr>
              <a:t> </a:t>
            </a:r>
            <a:r>
              <a:rPr lang="vi-VN" sz="2000" b="0" u="none" strike="noStrike">
                <a:solidFill>
                  <a:srgbClr val="0070c0"/>
                </a:solidFill>
                <a:effectLst/>
                <a:uFillTx/>
                <a:latin typeface="Calibri"/>
              </a:rPr>
              <a:t>một thành phần phần mềm nhỏ, mà các </a:t>
            </a:r>
            <a:r>
              <a:rPr lang="en-US" sz="2000" b="0" u="none" strike="noStrike">
                <a:solidFill>
                  <a:srgbClr val="0070c0"/>
                </a:solidFill>
                <a:effectLst/>
                <a:uFillTx/>
                <a:latin typeface="Calibri"/>
              </a:rPr>
              <a:t>tác nhân </a:t>
            </a:r>
            <a:r>
              <a:rPr lang="vi-VN" sz="2000" b="0" u="none" strike="noStrike">
                <a:solidFill>
                  <a:srgbClr val="0070c0"/>
                </a:solidFill>
                <a:effectLst/>
                <a:uFillTx/>
                <a:latin typeface="Calibri"/>
              </a:rPr>
              <a:t>của nó chỉ là các thành phần phần mềm khác; hoặc nó có thể là một ứng dụng hoàn chỉnh</a:t>
            </a:r>
            <a:r>
              <a:rPr lang="en-US" sz="2000" b="0" u="none" strike="noStrike">
                <a:solidFill>
                  <a:srgbClr val="0070c0"/>
                </a:solidFill>
                <a:effectLst/>
                <a:uFillTx/>
                <a:latin typeface="Calibri"/>
              </a:rPr>
              <a:t>.</a:t>
            </a:r>
            <a:endParaRPr lang="en-US" sz="2000" b="0" u="none" strike="noStrike">
              <a:solidFill>
                <a:schemeClr val="dk1"/>
              </a:solidFill>
              <a:effectLst/>
              <a:uFillTx/>
              <a:latin typeface="Calibri"/>
            </a:endParaRPr>
          </a:p>
        </p:txBody>
      </p:sp>
      <p:sp>
        <p:nvSpPr>
          <p:cNvPr id="145" name="PlaceHolder 3"/>
          <p:cNvSpPr>
            <a:spLocks noGrp="1"/>
          </p:cNvSpPr>
          <p:nvPr>
            <p:ph type="sldNum" idx="41"/>
          </p:nvPr>
        </p:nvSpPr>
        <p:spPr>
          <a:xfrm>
            <a:off x="8210520" y="6421680"/>
            <a:ext cx="793080" cy="499320"/>
          </a:xfrm>
          <a:prstGeom prst="rect">
            <a:avLst/>
          </a:prstGeom>
          <a:noFill/>
          <a:ln w="0">
            <a:noFill/>
          </a:ln>
        </p:spPr>
        <p:txBody>
          <a:bodyPr lIns="91080" rIns="91080" tIns="45360" bIns="4536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60ED441-6C3C-45B1-A812-8333DCF03B5E}" type="slidenum">
              <a:rPr lang="en-US" sz="1200" b="0" u="none" strike="noStrike">
                <a:solidFill>
                  <a:schemeClr val="dk1">
                    <a:tint val="75000"/>
                  </a:schemeClr>
                </a:solidFill>
                <a:effectLst/>
                <a:uFillTx/>
                <a:latin typeface="Calibri"/>
              </a:rPr>
              <a:t>18</a:t>
            </a:fld>
            <a:endParaRPr lang="en-US" sz="1200" b="0" u="none" strike="noStrike">
              <a:solidFill>
                <a:srgbClr val="000000"/>
              </a:solidFill>
              <a:effectLst/>
              <a:uFillTx/>
              <a:latin typeface="Times New Roman"/>
            </a:endParaRPr>
          </a:p>
        </p:txBody>
      </p:sp>
      <p:pic>
        <p:nvPicPr>
          <p:cNvPr id="146" name="Picture 2"/>
          <p:cNvPicPr/>
          <p:nvPr/>
        </p:nvPicPr>
        <p:blipFill>
          <a:blip r:embed="rId1"/>
          <a:stretch/>
        </p:blipFill>
        <p:spPr>
          <a:xfrm>
            <a:off x="5519520" y="1919880"/>
            <a:ext cx="3480840" cy="246708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presetID="1" presetClass="entr" fill="hold" nodeType="clickEffect">
                                  <p:stCondLst>
                                    <p:cond delay="0"/>
                                  </p:stCondLst>
                                  <p:childTnLst>
                                    <p:set>
                                      <p:cBhvr>
                                        <p:cTn id="48"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144">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144">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Biểu đồ ca sử dụng (2)</a:t>
            </a:r>
            <a:endParaRPr lang="en-US" sz="4200" b="0" u="none" strike="noStrike">
              <a:solidFill>
                <a:schemeClr val="dk1"/>
              </a:solidFill>
              <a:effectLst/>
              <a:uFillTx/>
              <a:latin typeface="Calibri"/>
            </a:endParaRPr>
          </a:p>
        </p:txBody>
      </p:sp>
      <p:sp>
        <p:nvSpPr>
          <p:cNvPr id="148" name="PlaceHolder 2"/>
          <p:cNvSpPr>
            <a:spLocks noGrp="1"/>
          </p:cNvSpPr>
          <p:nvPr>
            <p:ph/>
          </p:nvPr>
        </p:nvSpPr>
        <p:spPr>
          <a:xfrm>
            <a:off x="285840" y="1818720"/>
            <a:ext cx="5486040" cy="4877280"/>
          </a:xfrm>
          <a:prstGeom prst="rect">
            <a:avLst/>
          </a:prstGeom>
          <a:noFill/>
          <a:ln w="9360">
            <a:noFill/>
          </a:ln>
        </p:spPr>
        <p:txBody>
          <a:bodyPr numCol="1" spcCol="0" lIns="91080" rIns="91080" tIns="45360" bIns="45360" anchor="t">
            <a:normAutofit/>
          </a:bodyPr>
          <a:p>
            <a:pPr marL="285840" indent="-285840">
              <a:lnSpc>
                <a:spcPct val="100000"/>
              </a:lnSpc>
              <a:spcBef>
                <a:spcPts val="439"/>
              </a:spcBef>
              <a:buClr>
                <a:srgbClr val="000000"/>
              </a:buClr>
              <a:buFont typeface="Arial"/>
              <a:buChar char="•"/>
            </a:pPr>
            <a:r>
              <a:rPr lang="en-US" sz="2200" b="0" u="none" strike="noStrike">
                <a:solidFill>
                  <a:schemeClr val="dk1"/>
                </a:solidFill>
                <a:effectLst/>
                <a:uFillTx/>
                <a:latin typeface="Calibri"/>
              </a:rPr>
              <a:t>Quan hệ thổng quát hóa (</a:t>
            </a:r>
            <a:r>
              <a:rPr lang="en-US" sz="2200" b="1" u="none" strike="noStrike">
                <a:solidFill>
                  <a:schemeClr val="dk1"/>
                </a:solidFill>
                <a:effectLst/>
                <a:uFillTx/>
                <a:latin typeface="Calibri"/>
              </a:rPr>
              <a:t>Generalization</a:t>
            </a:r>
            <a:r>
              <a:rPr lang="en-US" sz="2200" b="0" u="none" strike="noStrike">
                <a:solidFill>
                  <a:schemeClr val="dk1"/>
                </a:solidFill>
                <a:effectLst/>
                <a:uFillTx/>
                <a:latin typeface="Calibri"/>
              </a:rPr>
              <a:t>) giữa các tác nhân. Ví dụ, tác nhân Club Customer  kế thừa tác nhân Customer.</a:t>
            </a:r>
            <a:endParaRPr lang="en-US" sz="2200" b="0" u="none" strike="noStrike">
              <a:solidFill>
                <a:schemeClr val="dk1"/>
              </a:solidFill>
              <a:effectLst/>
              <a:uFillTx/>
              <a:latin typeface="Calibri"/>
            </a:endParaRPr>
          </a:p>
          <a:p>
            <a:pPr indent="0">
              <a:lnSpc>
                <a:spcPct val="100000"/>
              </a:lnSpc>
              <a:spcBef>
                <a:spcPts val="439"/>
              </a:spcBef>
              <a:buNone/>
            </a:pPr>
            <a:endParaRPr lang="en-US" sz="2200" b="0" u="none" strike="noStrike">
              <a:solidFill>
                <a:schemeClr val="dk1"/>
              </a:solidFill>
              <a:effectLst/>
              <a:uFillTx/>
              <a:latin typeface="Calibri"/>
            </a:endParaRPr>
          </a:p>
          <a:p>
            <a:pPr marL="285840" indent="-285840">
              <a:lnSpc>
                <a:spcPct val="100000"/>
              </a:lnSpc>
              <a:spcBef>
                <a:spcPts val="439"/>
              </a:spcBef>
              <a:buClr>
                <a:srgbClr val="000000"/>
              </a:buClr>
              <a:buFont typeface="Arial"/>
              <a:buChar char="•"/>
            </a:pPr>
            <a:r>
              <a:rPr lang="en-US" sz="2200" b="0" u="none" strike="noStrike">
                <a:solidFill>
                  <a:schemeClr val="dk1"/>
                </a:solidFill>
                <a:effectLst/>
                <a:uFillTx/>
                <a:latin typeface="Calibri"/>
              </a:rPr>
              <a:t>Ràng buộc lực lượng giữa tác nhân và ca sử dụng có thể là 1, 1..*, 0..1, hoặc *.</a:t>
            </a:r>
            <a:endParaRPr lang="en-US" sz="2200" b="0" u="none" strike="noStrike">
              <a:solidFill>
                <a:schemeClr val="dk1"/>
              </a:solidFill>
              <a:effectLst/>
              <a:uFillTx/>
              <a:latin typeface="Calibri"/>
            </a:endParaRPr>
          </a:p>
        </p:txBody>
      </p:sp>
      <p:sp>
        <p:nvSpPr>
          <p:cNvPr id="149" name="PlaceHolder 3"/>
          <p:cNvSpPr>
            <a:spLocks noGrp="1"/>
          </p:cNvSpPr>
          <p:nvPr>
            <p:ph type="sldNum" idx="42"/>
          </p:nvPr>
        </p:nvSpPr>
        <p:spPr>
          <a:xfrm>
            <a:off x="6915240" y="640548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Arial"/>
              </a:defRPr>
            </a:lvl1pPr>
          </a:lstStyle>
          <a:p>
            <a:pPr indent="0" algn="r" defTabSz="914400">
              <a:lnSpc>
                <a:spcPct val="100000"/>
              </a:lnSpc>
              <a:buNone/>
            </a:pPr>
            <a:fld id="{206C7DEC-55A9-4104-9F11-B4E8AA8630CB}" type="slidenum">
              <a:rPr lang="en-US" sz="1400" b="0" u="none" strike="noStrike">
                <a:solidFill>
                  <a:schemeClr val="dk1">
                    <a:tint val="75000"/>
                  </a:schemeClr>
                </a:solidFill>
                <a:effectLst/>
                <a:uFillTx/>
                <a:latin typeface="Arial"/>
              </a:rPr>
              <a:t>19</a:t>
            </a:fld>
            <a:endParaRPr lang="en-US" sz="1400" b="0" u="none" strike="noStrike">
              <a:solidFill>
                <a:srgbClr val="000000"/>
              </a:solidFill>
              <a:effectLst/>
              <a:uFillTx/>
              <a:latin typeface="Times New Roman"/>
            </a:endParaRPr>
          </a:p>
        </p:txBody>
      </p:sp>
      <p:pic>
        <p:nvPicPr>
          <p:cNvPr id="150" name="Picture 4"/>
          <p:cNvPicPr/>
          <p:nvPr/>
        </p:nvPicPr>
        <p:blipFill>
          <a:blip r:embed="rId1"/>
          <a:stretch/>
        </p:blipFill>
        <p:spPr>
          <a:xfrm>
            <a:off x="5974200" y="1753920"/>
            <a:ext cx="2513160" cy="1679400"/>
          </a:xfrm>
          <a:prstGeom prst="rect">
            <a:avLst/>
          </a:prstGeom>
          <a:noFill/>
          <a:ln w="0">
            <a:noFill/>
          </a:ln>
        </p:spPr>
      </p:pic>
      <p:pic>
        <p:nvPicPr>
          <p:cNvPr id="151" name="Picture 5"/>
          <p:cNvPicPr/>
          <p:nvPr/>
        </p:nvPicPr>
        <p:blipFill>
          <a:blip r:embed="rId2"/>
          <a:stretch/>
        </p:blipFill>
        <p:spPr>
          <a:xfrm>
            <a:off x="6096960" y="3617280"/>
            <a:ext cx="2547000" cy="1418760"/>
          </a:xfrm>
          <a:prstGeom prst="rect">
            <a:avLst/>
          </a:prstGeom>
          <a:noFill/>
          <a:ln w="0">
            <a:noFill/>
          </a:ln>
        </p:spPr>
      </p:pic>
      <p:pic>
        <p:nvPicPr>
          <p:cNvPr id="152" name="Picture 6"/>
          <p:cNvPicPr/>
          <p:nvPr/>
        </p:nvPicPr>
        <p:blipFill>
          <a:blip r:embed="rId3"/>
          <a:stretch/>
        </p:blipFill>
        <p:spPr>
          <a:xfrm>
            <a:off x="6069240" y="5159160"/>
            <a:ext cx="2674440" cy="130932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fill="hold" nodeType="clickEffect">
                                  <p:stCondLst>
                                    <p:cond delay="0"/>
                                  </p:stCondLst>
                                  <p:childTnLst>
                                    <p:set>
                                      <p:cBhvr>
                                        <p:cTn id="70"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B</a:t>
            </a:r>
            <a:r>
              <a:rPr lang="en-US" sz="4200" b="0" u="none" strike="noStrike">
                <a:solidFill>
                  <a:srgbClr val="0070c0"/>
                </a:solidFill>
                <a:effectLst/>
                <a:uFillTx/>
                <a:latin typeface="Calibri"/>
                <a:ea typeface="DejaVu Sans"/>
              </a:rPr>
              <a:t>i</a:t>
            </a:r>
            <a:r>
              <a:rPr lang="en-US" sz="4200" b="0" u="none" strike="noStrike">
                <a:solidFill>
                  <a:srgbClr val="0070c0"/>
                </a:solidFill>
                <a:effectLst/>
                <a:uFillTx/>
                <a:latin typeface="Calibri"/>
                <a:ea typeface="DejaVu Sans"/>
              </a:rPr>
              <a:t>ể</a:t>
            </a:r>
            <a:r>
              <a:rPr lang="en-US" sz="4200" b="0" u="none" strike="noStrike">
                <a:solidFill>
                  <a:srgbClr val="0070c0"/>
                </a:solidFill>
                <a:effectLst/>
                <a:uFillTx/>
                <a:latin typeface="Calibri"/>
                <a:ea typeface="DejaVu Sans"/>
              </a:rPr>
              <a:t>u </a:t>
            </a:r>
            <a:r>
              <a:rPr lang="en-US" sz="4200" b="0" u="none" strike="noStrike">
                <a:solidFill>
                  <a:srgbClr val="0070c0"/>
                </a:solidFill>
                <a:effectLst/>
                <a:uFillTx/>
                <a:latin typeface="Calibri"/>
                <a:ea typeface="DejaVu Sans"/>
              </a:rPr>
              <a:t>đ</a:t>
            </a:r>
            <a:r>
              <a:rPr lang="en-US" sz="4200" b="0" u="none" strike="noStrike">
                <a:solidFill>
                  <a:srgbClr val="0070c0"/>
                </a:solidFill>
                <a:effectLst/>
                <a:uFillTx/>
                <a:latin typeface="Calibri"/>
                <a:ea typeface="DejaVu Sans"/>
              </a:rPr>
              <a:t>ồ </a:t>
            </a:r>
            <a:r>
              <a:rPr lang="en-US" sz="4200" b="0" u="none" strike="noStrike">
                <a:solidFill>
                  <a:srgbClr val="0070c0"/>
                </a:solidFill>
                <a:effectLst/>
                <a:uFillTx/>
                <a:latin typeface="Calibri"/>
                <a:ea typeface="DejaVu Sans"/>
              </a:rPr>
              <a:t>c</a:t>
            </a:r>
            <a:r>
              <a:rPr lang="en-US" sz="4200" b="0" u="none" strike="noStrike">
                <a:solidFill>
                  <a:srgbClr val="0070c0"/>
                </a:solidFill>
                <a:effectLst/>
                <a:uFillTx/>
                <a:latin typeface="Calibri"/>
                <a:ea typeface="DejaVu Sans"/>
              </a:rPr>
              <a:t>a </a:t>
            </a:r>
            <a:r>
              <a:rPr lang="en-US" sz="4200" b="0" u="none" strike="noStrike">
                <a:solidFill>
                  <a:srgbClr val="0070c0"/>
                </a:solidFill>
                <a:effectLst/>
                <a:uFillTx/>
                <a:latin typeface="Calibri"/>
                <a:ea typeface="DejaVu Sans"/>
              </a:rPr>
              <a:t>s</a:t>
            </a:r>
            <a:r>
              <a:rPr lang="en-US" sz="4200" b="0" u="none" strike="noStrike">
                <a:solidFill>
                  <a:srgbClr val="0070c0"/>
                </a:solidFill>
                <a:effectLst/>
                <a:uFillTx/>
                <a:latin typeface="Calibri"/>
                <a:ea typeface="DejaVu Sans"/>
              </a:rPr>
              <a:t>ử </a:t>
            </a:r>
            <a:r>
              <a:rPr lang="en-US" sz="4200" b="0" u="none" strike="noStrike">
                <a:solidFill>
                  <a:srgbClr val="0070c0"/>
                </a:solidFill>
                <a:effectLst/>
                <a:uFillTx/>
                <a:latin typeface="Calibri"/>
                <a:ea typeface="DejaVu Sans"/>
              </a:rPr>
              <a:t>d</a:t>
            </a:r>
            <a:r>
              <a:rPr lang="en-US" sz="4200" b="0" u="none" strike="noStrike">
                <a:solidFill>
                  <a:srgbClr val="0070c0"/>
                </a:solidFill>
                <a:effectLst/>
                <a:uFillTx/>
                <a:latin typeface="Calibri"/>
                <a:ea typeface="DejaVu Sans"/>
              </a:rPr>
              <a:t>ụ</a:t>
            </a:r>
            <a:r>
              <a:rPr lang="en-US" sz="4200" b="0" u="none" strike="noStrike">
                <a:solidFill>
                  <a:srgbClr val="0070c0"/>
                </a:solidFill>
                <a:effectLst/>
                <a:uFillTx/>
                <a:latin typeface="Calibri"/>
                <a:ea typeface="DejaVu Sans"/>
              </a:rPr>
              <a:t>n</a:t>
            </a:r>
            <a:r>
              <a:rPr lang="en-US" sz="4200" b="0" u="none" strike="noStrike">
                <a:solidFill>
                  <a:srgbClr val="0070c0"/>
                </a:solidFill>
                <a:effectLst/>
                <a:uFillTx/>
                <a:latin typeface="Calibri"/>
                <a:ea typeface="DejaVu Sans"/>
              </a:rPr>
              <a:t>g </a:t>
            </a:r>
            <a:r>
              <a:rPr lang="en-US" sz="4200" b="0" u="none" strike="noStrike">
                <a:solidFill>
                  <a:srgbClr val="0070c0"/>
                </a:solidFill>
                <a:effectLst/>
                <a:uFillTx/>
                <a:latin typeface="Calibri"/>
                <a:ea typeface="DejaVu Sans"/>
              </a:rPr>
              <a:t>(</a:t>
            </a:r>
            <a:r>
              <a:rPr lang="en-US" sz="4200" b="0" u="none" strike="noStrike">
                <a:solidFill>
                  <a:srgbClr val="0070c0"/>
                </a:solidFill>
                <a:effectLst/>
                <a:uFillTx/>
                <a:latin typeface="Calibri"/>
                <a:ea typeface="DejaVu Sans"/>
              </a:rPr>
              <a:t>3</a:t>
            </a:r>
            <a:r>
              <a:rPr lang="en-US" sz="4200" b="0" u="none" strike="noStrike">
                <a:solidFill>
                  <a:srgbClr val="0070c0"/>
                </a:solidFill>
                <a:effectLst/>
                <a:uFillTx/>
                <a:latin typeface="Calibri"/>
                <a:ea typeface="DejaVu Sans"/>
              </a:rPr>
              <a:t>)</a:t>
            </a:r>
            <a:endParaRPr lang="en-US" sz="4200" b="0" u="none" strike="noStrike">
              <a:solidFill>
                <a:schemeClr val="dk1"/>
              </a:solidFill>
              <a:effectLst/>
              <a:uFillTx/>
              <a:latin typeface="Calibri"/>
            </a:endParaRPr>
          </a:p>
        </p:txBody>
      </p:sp>
      <p:sp>
        <p:nvSpPr>
          <p:cNvPr id="154" name="PlaceHolder 2"/>
          <p:cNvSpPr>
            <a:spLocks noGrp="1"/>
          </p:cNvSpPr>
          <p:nvPr>
            <p:ph/>
          </p:nvPr>
        </p:nvSpPr>
        <p:spPr>
          <a:xfrm>
            <a:off x="0" y="1587600"/>
            <a:ext cx="4163040" cy="5105160"/>
          </a:xfrm>
          <a:prstGeom prst="rect">
            <a:avLst/>
          </a:prstGeom>
          <a:noFill/>
          <a:ln w="9360">
            <a:noFill/>
          </a:ln>
        </p:spPr>
        <p:txBody>
          <a:bodyPr numCol="1" spcCol="0" lIns="91080" rIns="91080" tIns="45360" bIns="45360" anchor="t">
            <a:normAutofit fontScale="62500" lnSpcReduction="19999"/>
          </a:bodyPr>
          <a:p>
            <a:pPr marL="285840" indent="-285840">
              <a:lnSpc>
                <a:spcPct val="100000"/>
              </a:lnSpc>
              <a:spcBef>
                <a:spcPts val="601"/>
              </a:spcBef>
              <a:buClr>
                <a:srgbClr val="000000"/>
              </a:buClr>
              <a:buFont typeface="Arial"/>
              <a:buChar char="•"/>
            </a:pPr>
            <a:r>
              <a:rPr lang="en-US" sz="3000" b="0" u="none" strike="noStrike">
                <a:solidFill>
                  <a:schemeClr val="dk1"/>
                </a:solidFill>
                <a:effectLst/>
                <a:uFillTx/>
                <a:latin typeface="Calibri"/>
              </a:rPr>
              <a:t>Quan hệ  bao gộp (</a:t>
            </a:r>
            <a:r>
              <a:rPr lang="en-US" sz="3000" b="1" u="none" strike="noStrike">
                <a:solidFill>
                  <a:schemeClr val="dk1"/>
                </a:solidFill>
                <a:effectLst/>
                <a:uFillTx/>
                <a:latin typeface="Calibri"/>
              </a:rPr>
              <a:t>Include)</a:t>
            </a:r>
            <a:r>
              <a:rPr lang="en-US" sz="3000" b="0" u="none" strike="noStrike">
                <a:solidFill>
                  <a:schemeClr val="dk1"/>
                </a:solidFill>
                <a:effectLst/>
                <a:uFillTx/>
                <a:latin typeface="Calibri"/>
              </a:rPr>
              <a:t>:  một ca sử dụng diễn đạt một vài chi tiết của ca sử dụng khác. Ví dụ,  ca sử dụng </a:t>
            </a:r>
            <a:r>
              <a:rPr lang="en-US" sz="3000" b="1" u="none" strike="noStrike">
                <a:solidFill>
                  <a:schemeClr val="dk1"/>
                </a:solidFill>
                <a:effectLst/>
                <a:uFillTx/>
                <a:latin typeface="Calibri"/>
              </a:rPr>
              <a:t>Đặt bữa ăn </a:t>
            </a:r>
            <a:r>
              <a:rPr lang="en-US" sz="3000" b="0" u="none" strike="noStrike">
                <a:solidFill>
                  <a:schemeClr val="dk1"/>
                </a:solidFill>
                <a:effectLst/>
                <a:uFillTx/>
                <a:latin typeface="Calibri"/>
              </a:rPr>
              <a:t>(</a:t>
            </a:r>
            <a:r>
              <a:rPr lang="en-US" sz="3000" b="1" u="none" strike="noStrike">
                <a:solidFill>
                  <a:schemeClr val="dk1"/>
                </a:solidFill>
                <a:effectLst/>
                <a:uFillTx/>
                <a:latin typeface="Calibri"/>
              </a:rPr>
              <a:t>Order a Meal)</a:t>
            </a:r>
            <a:r>
              <a:rPr lang="en-US" sz="3000" b="0" u="none" strike="noStrike">
                <a:solidFill>
                  <a:schemeClr val="dk1"/>
                </a:solidFill>
                <a:effectLst/>
                <a:uFillTx/>
                <a:latin typeface="Calibri"/>
              </a:rPr>
              <a:t> bao gộp ca sử dụng T</a:t>
            </a:r>
            <a:r>
              <a:rPr lang="en-US" sz="3000" b="1" u="none" strike="noStrike">
                <a:solidFill>
                  <a:schemeClr val="dk1"/>
                </a:solidFill>
                <a:effectLst/>
                <a:uFillTx/>
                <a:latin typeface="Calibri"/>
              </a:rPr>
              <a:t>hanh toán (Pay), Chọn thực đơn (Choose Menu) </a:t>
            </a:r>
            <a:r>
              <a:rPr lang="en-US" sz="3000" b="0" u="none" strike="noStrike">
                <a:solidFill>
                  <a:schemeClr val="dk1"/>
                </a:solidFill>
                <a:effectLst/>
                <a:uFillTx/>
                <a:latin typeface="Calibri"/>
              </a:rPr>
              <a:t>và </a:t>
            </a:r>
            <a:r>
              <a:rPr lang="en-US" sz="3000" b="1" u="none" strike="noStrike">
                <a:solidFill>
                  <a:schemeClr val="dk1"/>
                </a:solidFill>
                <a:effectLst/>
                <a:uFillTx/>
                <a:latin typeface="Calibri"/>
              </a:rPr>
              <a:t>Chọn mọn (Choose Menu Item)</a:t>
            </a:r>
            <a:r>
              <a:rPr lang="en-US" sz="3000" b="0" u="none" strike="noStrike">
                <a:solidFill>
                  <a:schemeClr val="dk1"/>
                </a:solidFill>
                <a:effectLst/>
                <a:uFillTx/>
                <a:latin typeface="Calibri"/>
              </a:rPr>
              <a:t>. </a:t>
            </a:r>
            <a:endParaRPr lang="en-US" sz="3000" b="0" u="none" strike="noStrike">
              <a:solidFill>
                <a:schemeClr val="dk1"/>
              </a:solidFill>
              <a:effectLst/>
              <a:uFillTx/>
              <a:latin typeface="Calibri"/>
            </a:endParaRPr>
          </a:p>
          <a:p>
            <a:pPr indent="0">
              <a:lnSpc>
                <a:spcPct val="100000"/>
              </a:lnSpc>
              <a:spcBef>
                <a:spcPts val="601"/>
              </a:spcBef>
              <a:buNone/>
            </a:pPr>
            <a:endParaRPr lang="en-US" sz="3000" b="0" u="none" strike="noStrike">
              <a:solidFill>
                <a:schemeClr val="dk1"/>
              </a:solidFill>
              <a:effectLst/>
              <a:uFillTx/>
              <a:latin typeface="Calibri"/>
            </a:endParaRPr>
          </a:p>
          <a:p>
            <a:pPr marL="285840" indent="-285840">
              <a:lnSpc>
                <a:spcPct val="100000"/>
              </a:lnSpc>
              <a:spcBef>
                <a:spcPts val="601"/>
              </a:spcBef>
              <a:buClr>
                <a:srgbClr val="000000"/>
              </a:buClr>
              <a:buFont typeface="Arial"/>
              <a:buChar char="•"/>
            </a:pPr>
            <a:r>
              <a:rPr lang="en-US" sz="3000" b="0" u="none" strike="noStrike">
                <a:solidFill>
                  <a:schemeClr val="dk1"/>
                </a:solidFill>
                <a:effectLst/>
                <a:uFillTx/>
                <a:latin typeface="Calibri"/>
              </a:rPr>
              <a:t>Quan hệ mở rộng (</a:t>
            </a:r>
            <a:r>
              <a:rPr lang="en-US" sz="3000" b="1" u="none" strike="noStrike">
                <a:solidFill>
                  <a:schemeClr val="dk1"/>
                </a:solidFill>
                <a:effectLst/>
                <a:uFillTx/>
                <a:latin typeface="Calibri"/>
              </a:rPr>
              <a:t>extend</a:t>
            </a:r>
            <a:r>
              <a:rPr lang="en-US" sz="3000" b="0" u="none" strike="noStrike">
                <a:solidFill>
                  <a:schemeClr val="dk1"/>
                </a:solidFill>
                <a:effectLst/>
                <a:uFillTx/>
                <a:latin typeface="Calibri"/>
              </a:rPr>
              <a:t>): một ca sử dụng có thể thêm chức năng cho ca sử dụng khác trong điều kiện nào đó. Ví dụ, ca sử dụng </a:t>
            </a:r>
            <a:r>
              <a:rPr lang="en-US" sz="3000" b="1" u="none" strike="noStrike">
                <a:solidFill>
                  <a:schemeClr val="dk1"/>
                </a:solidFill>
                <a:effectLst/>
                <a:uFillTx/>
                <a:latin typeface="Calibri"/>
              </a:rPr>
              <a:t>Login </a:t>
            </a:r>
            <a:r>
              <a:rPr lang="en-US" sz="3000" b="0" u="none" strike="noStrike">
                <a:solidFill>
                  <a:schemeClr val="dk1"/>
                </a:solidFill>
                <a:effectLst/>
                <a:uFillTx/>
                <a:latin typeface="Calibri"/>
              </a:rPr>
              <a:t>sẽ mở rộng sang ca sử dụng </a:t>
            </a:r>
            <a:r>
              <a:rPr lang="en-US" sz="3000" b="1" u="none" strike="noStrike">
                <a:solidFill>
                  <a:schemeClr val="dk1"/>
                </a:solidFill>
                <a:effectLst/>
                <a:uFillTx/>
                <a:latin typeface="Calibri"/>
              </a:rPr>
              <a:t>Đăng ký (Register New User) </a:t>
            </a:r>
            <a:r>
              <a:rPr lang="en-US" sz="3000" b="0" u="none" strike="noStrike">
                <a:solidFill>
                  <a:schemeClr val="dk1"/>
                </a:solidFill>
                <a:effectLst/>
                <a:uFillTx/>
                <a:latin typeface="Calibri"/>
              </a:rPr>
              <a:t>khi người dung chưa có tài khoản.</a:t>
            </a:r>
            <a:endParaRPr lang="en-US" sz="3000" b="0" u="none" strike="noStrike">
              <a:solidFill>
                <a:schemeClr val="dk1"/>
              </a:solidFill>
              <a:effectLst/>
              <a:uFillTx/>
              <a:latin typeface="Calibri"/>
            </a:endParaRPr>
          </a:p>
        </p:txBody>
      </p:sp>
      <p:sp>
        <p:nvSpPr>
          <p:cNvPr id="155" name="PlaceHolder 3"/>
          <p:cNvSpPr>
            <a:spLocks noGrp="1"/>
          </p:cNvSpPr>
          <p:nvPr>
            <p:ph type="sldNum" idx="43"/>
          </p:nvPr>
        </p:nvSpPr>
        <p:spPr>
          <a:xfrm>
            <a:off x="6999840" y="640548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600" b="0" u="none" strike="noStrike">
                <a:solidFill>
                  <a:schemeClr val="dk1">
                    <a:tint val="75000"/>
                  </a:schemeClr>
                </a:solidFill>
                <a:effectLst/>
                <a:uFillTx/>
                <a:latin typeface="Arial"/>
              </a:defRPr>
            </a:lvl1pPr>
          </a:lstStyle>
          <a:p>
            <a:pPr indent="0" algn="r" defTabSz="914400">
              <a:lnSpc>
                <a:spcPct val="100000"/>
              </a:lnSpc>
              <a:buNone/>
            </a:pPr>
            <a:fld id="{165FD962-953A-476F-9A45-38D31BCA7CFC}" type="slidenum">
              <a:rPr lang="en-US" sz="1600" b="0" u="none" strike="noStrike">
                <a:solidFill>
                  <a:schemeClr val="dk1">
                    <a:tint val="75000"/>
                  </a:schemeClr>
                </a:solidFill>
                <a:effectLst/>
                <a:uFillTx/>
                <a:latin typeface="Arial"/>
              </a:rPr>
              <a:t>20</a:t>
            </a:fld>
            <a:endParaRPr lang="en-US" sz="1600" b="0" u="none" strike="noStrike">
              <a:solidFill>
                <a:srgbClr val="000000"/>
              </a:solidFill>
              <a:effectLst/>
              <a:uFillTx/>
              <a:latin typeface="Times New Roman"/>
            </a:endParaRPr>
          </a:p>
        </p:txBody>
      </p:sp>
      <p:pic>
        <p:nvPicPr>
          <p:cNvPr id="156" name="Picture 7"/>
          <p:cNvPicPr/>
          <p:nvPr/>
        </p:nvPicPr>
        <p:blipFill>
          <a:blip r:embed="rId1"/>
          <a:stretch/>
        </p:blipFill>
        <p:spPr>
          <a:xfrm>
            <a:off x="4163400" y="1540800"/>
            <a:ext cx="4808520" cy="2789640"/>
          </a:xfrm>
          <a:prstGeom prst="rect">
            <a:avLst/>
          </a:prstGeom>
          <a:noFill/>
          <a:ln w="0">
            <a:noFill/>
          </a:ln>
        </p:spPr>
      </p:pic>
      <p:pic>
        <p:nvPicPr>
          <p:cNvPr id="157" name="Picture 6"/>
          <p:cNvPicPr/>
          <p:nvPr/>
        </p:nvPicPr>
        <p:blipFill>
          <a:blip r:embed="rId2"/>
          <a:stretch/>
        </p:blipFill>
        <p:spPr>
          <a:xfrm>
            <a:off x="5718960" y="4926240"/>
            <a:ext cx="3252960" cy="57852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ca sử dụng</a:t>
            </a:r>
            <a:endParaRPr lang="en-US" sz="4200" b="0" u="none" strike="noStrike">
              <a:solidFill>
                <a:schemeClr val="dk1"/>
              </a:solidFill>
              <a:effectLst/>
              <a:uFillTx/>
              <a:latin typeface="Calibri"/>
            </a:endParaRPr>
          </a:p>
        </p:txBody>
      </p:sp>
      <p:sp>
        <p:nvSpPr>
          <p:cNvPr id="159" name="PlaceHolder 2"/>
          <p:cNvSpPr>
            <a:spLocks noGrp="1"/>
          </p:cNvSpPr>
          <p:nvPr>
            <p:ph/>
          </p:nvPr>
        </p:nvSpPr>
        <p:spPr>
          <a:xfrm>
            <a:off x="455400" y="1594440"/>
            <a:ext cx="8195040" cy="4509000"/>
          </a:xfrm>
          <a:prstGeom prst="rect">
            <a:avLst/>
          </a:prstGeom>
          <a:noFill/>
          <a:ln w="9360">
            <a:noFill/>
          </a:ln>
        </p:spPr>
        <p:txBody>
          <a:bodyPr numCol="1" spcCol="0" lIns="91080" rIns="91080" tIns="45360" bIns="45360" anchor="t">
            <a:normAutofit/>
          </a:bodyPr>
          <a:p>
            <a:pPr marL="326160" indent="-326160">
              <a:lnSpc>
                <a:spcPct val="100000"/>
              </a:lnSpc>
              <a:spcBef>
                <a:spcPts val="561"/>
              </a:spcBef>
              <a:buClr>
                <a:srgbClr val="000000"/>
              </a:buClr>
              <a:buFont typeface="Arial"/>
              <a:buChar char="•"/>
            </a:pPr>
            <a:r>
              <a:rPr lang="en-US" sz="2800" b="0" u="none" strike="noStrike">
                <a:solidFill>
                  <a:schemeClr val="dk1"/>
                </a:solidFill>
                <a:effectLst/>
                <a:uFillTx/>
                <a:latin typeface="Calibri"/>
              </a:rPr>
              <a:t>Ví dụ ca sử dụng truyền dữ liệu trong hệ MHC-PMS</a:t>
            </a:r>
            <a:endParaRPr lang="en-US" sz="2800" b="0" u="none" strike="noStrike">
              <a:solidFill>
                <a:schemeClr val="dk1"/>
              </a:solidFill>
              <a:effectLst/>
              <a:uFillTx/>
              <a:latin typeface="Calibri"/>
            </a:endParaRPr>
          </a:p>
        </p:txBody>
      </p:sp>
      <p:sp>
        <p:nvSpPr>
          <p:cNvPr id="160" name="PlaceHolder 3"/>
          <p:cNvSpPr>
            <a:spLocks noGrp="1"/>
          </p:cNvSpPr>
          <p:nvPr>
            <p:ph type="sldNum" idx="44"/>
          </p:nvPr>
        </p:nvSpPr>
        <p:spPr>
          <a:xfrm>
            <a:off x="6847920" y="6405480"/>
            <a:ext cx="2124360" cy="363240"/>
          </a:xfrm>
          <a:prstGeom prst="rect">
            <a:avLst/>
          </a:prstGeom>
          <a:noFill/>
          <a:ln w="0">
            <a:noFill/>
          </a:ln>
        </p:spPr>
        <p:txBody>
          <a:bodyPr lIns="91080" rIns="91080" tIns="45360" bIns="45360" anchor="ctr">
            <a:noAutofit/>
          </a:bodyPr>
          <a:lstStyle>
            <a:lvl1pPr indent="0" algn="r" defTabSz="914400">
              <a:lnSpc>
                <a:spcPct val="100000"/>
              </a:lnSpc>
              <a:buNone/>
              <a:defRPr lang="en-US" sz="1600" b="0" u="none" strike="noStrike">
                <a:solidFill>
                  <a:schemeClr val="dk1">
                    <a:tint val="75000"/>
                  </a:schemeClr>
                </a:solidFill>
                <a:effectLst/>
                <a:uFillTx/>
                <a:latin typeface="Arial"/>
              </a:defRPr>
            </a:lvl1pPr>
          </a:lstStyle>
          <a:p>
            <a:pPr indent="0" algn="r" defTabSz="914400">
              <a:lnSpc>
                <a:spcPct val="100000"/>
              </a:lnSpc>
              <a:buNone/>
            </a:pPr>
            <a:fld id="{12DC9FC0-4652-4271-9AE7-3782CBB58E72}" type="slidenum">
              <a:rPr lang="en-US" sz="1600" b="0" u="none" strike="noStrike">
                <a:solidFill>
                  <a:schemeClr val="dk1">
                    <a:tint val="75000"/>
                  </a:schemeClr>
                </a:solidFill>
                <a:effectLst/>
                <a:uFillTx/>
                <a:latin typeface="Arial"/>
              </a:rPr>
              <a:t>21</a:t>
            </a:fld>
            <a:endParaRPr lang="en-US" sz="1600" b="0" u="none" strike="noStrike">
              <a:solidFill>
                <a:srgbClr val="000000"/>
              </a:solidFill>
              <a:effectLst/>
              <a:uFillTx/>
              <a:latin typeface="Times New Roman"/>
            </a:endParaRPr>
          </a:p>
        </p:txBody>
      </p:sp>
      <p:pic>
        <p:nvPicPr>
          <p:cNvPr id="161" name="Picture 3" descr="5.3 UseCase.eps"/>
          <p:cNvPicPr/>
          <p:nvPr/>
        </p:nvPicPr>
        <p:blipFill>
          <a:blip r:embed="rId1"/>
          <a:stretch/>
        </p:blipFill>
        <p:spPr>
          <a:xfrm>
            <a:off x="863280" y="3247560"/>
            <a:ext cx="7455240" cy="120996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Mô tả ca sử dụng ở dạng bảng</a:t>
            </a:r>
            <a:endParaRPr lang="en-US" sz="4200" b="0" u="none" strike="noStrike">
              <a:solidFill>
                <a:schemeClr val="dk1"/>
              </a:solidFill>
              <a:effectLst/>
              <a:uFillTx/>
              <a:latin typeface="Calibri"/>
            </a:endParaRPr>
          </a:p>
        </p:txBody>
      </p:sp>
      <p:sp>
        <p:nvSpPr>
          <p:cNvPr id="163" name="PlaceHolder 2"/>
          <p:cNvSpPr>
            <a:spLocks noGrp="1"/>
          </p:cNvSpPr>
          <p:nvPr>
            <p:ph type="sldNum" idx="45"/>
          </p:nvPr>
        </p:nvSpPr>
        <p:spPr>
          <a:xfrm>
            <a:off x="8532360" y="6409080"/>
            <a:ext cx="592200" cy="359640"/>
          </a:xfrm>
          <a:prstGeom prst="rect">
            <a:avLst/>
          </a:prstGeom>
          <a:noFill/>
          <a:ln w="0">
            <a:noFill/>
          </a:ln>
        </p:spPr>
        <p:txBody>
          <a:bodyPr lIns="91080" rIns="91080" tIns="45360" bIns="45360" anchor="ctr">
            <a:noAutofit/>
          </a:bodyPr>
          <a:lstStyle>
            <a:lvl1pPr indent="0" algn="r" defTabSz="914400">
              <a:lnSpc>
                <a:spcPct val="100000"/>
              </a:lnSpc>
              <a:buNone/>
              <a:defRPr lang="en-US" sz="1600" b="0" u="none" strike="noStrike">
                <a:solidFill>
                  <a:schemeClr val="dk1">
                    <a:tint val="75000"/>
                  </a:schemeClr>
                </a:solidFill>
                <a:effectLst/>
                <a:uFillTx/>
                <a:latin typeface="Calibri"/>
              </a:defRPr>
            </a:lvl1pPr>
          </a:lstStyle>
          <a:p>
            <a:pPr indent="0" algn="r" defTabSz="914400">
              <a:lnSpc>
                <a:spcPct val="100000"/>
              </a:lnSpc>
              <a:buNone/>
            </a:pPr>
            <a:fld id="{216D9627-6850-4D8D-B64A-48F1FF6F8AFE}" type="slidenum">
              <a:rPr lang="en-US" sz="1600" b="0" u="none" strike="noStrike">
                <a:solidFill>
                  <a:schemeClr val="dk1">
                    <a:tint val="75000"/>
                  </a:schemeClr>
                </a:solidFill>
                <a:effectLst/>
                <a:uFillTx/>
                <a:latin typeface="Calibri"/>
              </a:rPr>
              <a:t>21</a:t>
            </a:fld>
            <a:endParaRPr lang="en-US" sz="1600" b="0" u="none" strike="noStrike">
              <a:solidFill>
                <a:srgbClr val="000000"/>
              </a:solidFill>
              <a:effectLst/>
              <a:uFillTx/>
              <a:latin typeface="Times New Roman"/>
            </a:endParaRPr>
          </a:p>
        </p:txBody>
      </p:sp>
      <p:graphicFrame>
        <p:nvGraphicFramePr>
          <p:cNvPr id="164" name="Table 2"/>
          <p:cNvGraphicFramePr/>
          <p:nvPr/>
        </p:nvGraphicFramePr>
        <p:xfrm>
          <a:off x="905760" y="1860120"/>
          <a:ext cx="7175160" cy="4044600"/>
        </p:xfrm>
        <a:graphic>
          <a:graphicData uri="http://schemas.openxmlformats.org/drawingml/2006/table">
            <a:tbl>
              <a:tblPr/>
              <a:tblGrid>
                <a:gridCol w="1927080"/>
                <a:gridCol w="5248440"/>
              </a:tblGrid>
              <a:tr h="370080">
                <a:tc gridSpan="2">
                  <a:txBody>
                    <a:bodyPr lIns="68040" rIns="68040" tIns="0" bIns="0" anchor="t">
                      <a:noAutofit/>
                    </a:bodyPr>
                    <a:p>
                      <a:pPr algn="just" defTabSz="457200">
                        <a:lnSpc>
                          <a:spcPct val="100000"/>
                        </a:lnSpc>
                        <a:tabLst>
                          <a:tab algn="l" pos="0"/>
                        </a:tabLst>
                      </a:pPr>
                      <a:r>
                        <a:rPr lang="en-GB" sz="1600" b="1" u="none" strike="noStrike">
                          <a:solidFill>
                            <a:srgbClr val="000000"/>
                          </a:solidFill>
                          <a:effectLst/>
                          <a:uFillTx/>
                          <a:latin typeface="Arial"/>
                          <a:ea typeface="Times New Roman"/>
                        </a:rPr>
                        <a:t>MHC-PMS: Transfer data</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hMerge="1">
                  <a:txBody>
                    <a:bodyPr lIns="90000" rIns="90000" tIns="45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37008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Actors</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8"/>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Medical receptionist, patient records system (PRS)</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8e8"/>
                    </a:solidFill>
                  </a:tcPr>
                </a:tc>
              </a:tr>
              <a:tr h="145728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Description</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r>
              <a:tr h="37008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Data</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8"/>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Patient’s personal information, treatment summary</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8"/>
                    </a:solidFill>
                  </a:tcPr>
                </a:tc>
              </a:tr>
              <a:tr h="37008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Stimulus</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User command issued by medical receptionist</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r>
              <a:tr h="37008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Response</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8"/>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Confirmation that PRS has been updated</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8"/>
                    </a:solidFill>
                  </a:tcPr>
                </a:tc>
              </a:tr>
              <a:tr h="728640">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Comments</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c>
                  <a:txBody>
                    <a:bodyPr lIns="68040" rIns="68040" tIns="0" bIns="0" anchor="t">
                      <a:noAutofit/>
                    </a:bodyPr>
                    <a:p>
                      <a:pPr algn="just" defTabSz="457200">
                        <a:lnSpc>
                          <a:spcPct val="100000"/>
                        </a:lnSpc>
                        <a:tabLst>
                          <a:tab algn="l" pos="0"/>
                        </a:tabLst>
                      </a:pPr>
                      <a:r>
                        <a:rPr lang="en-GB" sz="1600" b="0" u="none" strike="noStrike">
                          <a:solidFill>
                            <a:srgbClr val="000000"/>
                          </a:solidFill>
                          <a:effectLst/>
                          <a:uFillTx/>
                          <a:latin typeface="Arial"/>
                          <a:ea typeface="Times New Roman"/>
                        </a:rPr>
                        <a:t>The receptionist must have appropriate security permissions to access the patient information and the PRS.</a:t>
                      </a:r>
                      <a:endParaRPr lang="en-US" sz="1600" b="0" u="none" strike="noStrike">
                        <a:solidFill>
                          <a:srgbClr val="000000"/>
                        </a:solidFill>
                        <a:effectLst/>
                        <a:uFillTx/>
                        <a:latin typeface="Arial"/>
                      </a:endParaRPr>
                    </a:p>
                  </a:txBody>
                  <a:tcPr anchor="t" marL="68040" marR="6804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df4"/>
                    </a:solidFill>
                  </a:tcPr>
                </a:tc>
              </a:tr>
            </a:tbl>
          </a:graphicData>
        </a:graphic>
      </p:graphicFrame>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mô hình ca sử dụng</a:t>
            </a:r>
            <a:endParaRPr lang="en-US" sz="4200" b="0" u="none" strike="noStrike">
              <a:solidFill>
                <a:schemeClr val="dk1"/>
              </a:solidFill>
              <a:effectLst/>
              <a:uFillTx/>
              <a:latin typeface="Calibri"/>
            </a:endParaRPr>
          </a:p>
        </p:txBody>
      </p:sp>
      <p:sp>
        <p:nvSpPr>
          <p:cNvPr id="166" name="PlaceHolder 2"/>
          <p:cNvSpPr>
            <a:spLocks noGrp="1"/>
          </p:cNvSpPr>
          <p:nvPr>
            <p:ph type="sldNum" idx="46"/>
          </p:nvPr>
        </p:nvSpPr>
        <p:spPr>
          <a:xfrm>
            <a:off x="8151480" y="6430320"/>
            <a:ext cx="820800" cy="186120"/>
          </a:xfrm>
          <a:prstGeom prst="rect">
            <a:avLst/>
          </a:prstGeom>
          <a:noFill/>
          <a:ln w="0">
            <a:noFill/>
          </a:ln>
        </p:spPr>
        <p:txBody>
          <a:bodyPr lIns="91080" rIns="91080" tIns="45360" bIns="45360" anchor="ctr">
            <a:noAutofit/>
          </a:bodyPr>
          <a:lstStyle>
            <a:lvl1pPr indent="0" algn="r" defTabSz="914400">
              <a:lnSpc>
                <a:spcPct val="100000"/>
              </a:lnSpc>
              <a:buNone/>
              <a:defRPr lang="en-US" sz="1600" b="0" u="none" strike="noStrike">
                <a:solidFill>
                  <a:schemeClr val="dk1">
                    <a:tint val="75000"/>
                  </a:schemeClr>
                </a:solidFill>
                <a:effectLst/>
                <a:uFillTx/>
                <a:latin typeface="Calibri"/>
              </a:defRPr>
            </a:lvl1pPr>
          </a:lstStyle>
          <a:p>
            <a:pPr indent="0" algn="r" defTabSz="914400">
              <a:lnSpc>
                <a:spcPct val="100000"/>
              </a:lnSpc>
              <a:buNone/>
            </a:pPr>
            <a:fld id="{1499AE2B-150F-4E7E-90DC-C79BE4801254}" type="slidenum">
              <a:rPr lang="en-US" sz="1600" b="0" u="none" strike="noStrike">
                <a:solidFill>
                  <a:schemeClr val="dk1">
                    <a:tint val="75000"/>
                  </a:schemeClr>
                </a:solidFill>
                <a:effectLst/>
                <a:uFillTx/>
                <a:latin typeface="Calibri"/>
              </a:rPr>
              <a:t>21</a:t>
            </a:fld>
            <a:endParaRPr lang="en-US" sz="1600" b="0" u="none" strike="noStrike">
              <a:solidFill>
                <a:srgbClr val="000000"/>
              </a:solidFill>
              <a:effectLst/>
              <a:uFillTx/>
              <a:latin typeface="Times New Roman"/>
            </a:endParaRPr>
          </a:p>
        </p:txBody>
      </p:sp>
      <p:pic>
        <p:nvPicPr>
          <p:cNvPr id="167" name="Picture 3" descr="5.5 RecepUseCases.eps"/>
          <p:cNvPicPr/>
          <p:nvPr/>
        </p:nvPicPr>
        <p:blipFill>
          <a:blip r:embed="rId1"/>
          <a:stretch/>
        </p:blipFill>
        <p:spPr>
          <a:xfrm>
            <a:off x="2270160" y="1741320"/>
            <a:ext cx="4432320" cy="4777560"/>
          </a:xfrm>
          <a:prstGeom prst="rect">
            <a:avLst/>
          </a:prstGeom>
          <a:noFill/>
          <a:ln w="0">
            <a:noFill/>
          </a:ln>
        </p:spPr>
      </p:pic>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Biểu đồ tuần tự</a:t>
            </a:r>
            <a:endParaRPr lang="en-US" sz="4200" b="0" u="none" strike="noStrike">
              <a:solidFill>
                <a:srgbClr val="000000"/>
              </a:solidFill>
              <a:effectLst/>
              <a:uFillTx/>
              <a:latin typeface="Arial"/>
            </a:endParaRPr>
          </a:p>
        </p:txBody>
      </p:sp>
      <p:sp>
        <p:nvSpPr>
          <p:cNvPr id="169"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Để mô hình hóa tương tác giữa tác nhân và các đối tượng bên trong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Để đặc tả các kịch bản ca sử dụng</a:t>
            </a: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p:txBody>
      </p:sp>
      <p:sp>
        <p:nvSpPr>
          <p:cNvPr id="170" name="CustomShape 3"/>
          <p:cNvSpPr/>
          <p:nvPr/>
        </p:nvSpPr>
        <p:spPr>
          <a:xfrm>
            <a:off x="68389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441BA3B4-FBDE-4458-8350-F81A74F1F7CE}"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B3B2E740-1D80-4AE4-82C5-C52F6820D802}"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Biểu đồ tuần tự (2)</a:t>
            </a:r>
            <a:endParaRPr lang="en-US" sz="4200" b="0" u="none" strike="noStrike">
              <a:solidFill>
                <a:schemeClr val="dk1"/>
              </a:solidFill>
              <a:effectLst/>
              <a:uFillTx/>
              <a:latin typeface="Calibri"/>
            </a:endParaRPr>
          </a:p>
        </p:txBody>
      </p:sp>
      <p:sp>
        <p:nvSpPr>
          <p:cNvPr id="172" name="PlaceHolder 2"/>
          <p:cNvSpPr>
            <a:spLocks noGrp="1"/>
          </p:cNvSpPr>
          <p:nvPr>
            <p:ph/>
          </p:nvPr>
        </p:nvSpPr>
        <p:spPr>
          <a:xfrm>
            <a:off x="285840" y="837720"/>
            <a:ext cx="4435920" cy="4877280"/>
          </a:xfrm>
          <a:prstGeom prst="rect">
            <a:avLst/>
          </a:prstGeom>
          <a:noFill/>
          <a:ln w="9360">
            <a:noFill/>
          </a:ln>
        </p:spPr>
        <p:txBody>
          <a:bodyPr numCol="1" spcCol="0" lIns="91080" rIns="91080" tIns="45360" bIns="45360" anchor="t">
            <a:noAutofit/>
          </a:bodyPr>
          <a:p>
            <a:pPr marL="285840" indent="-285840">
              <a:lnSpc>
                <a:spcPct val="100000"/>
              </a:lnSpc>
              <a:spcBef>
                <a:spcPts val="479"/>
              </a:spcBef>
              <a:buClr>
                <a:srgbClr val="000000"/>
              </a:buClr>
              <a:buFont typeface="Arial"/>
              <a:buChar char="•"/>
            </a:pPr>
            <a:r>
              <a:rPr lang="en-US" sz="2400" b="0" u="none" strike="noStrike">
                <a:solidFill>
                  <a:schemeClr val="dk1"/>
                </a:solidFill>
                <a:effectLst/>
                <a:uFillTx/>
                <a:latin typeface="Calibri"/>
              </a:rPr>
              <a:t>Đường sông (</a:t>
            </a:r>
            <a:r>
              <a:rPr lang="en-US" sz="2400" b="1" u="none" strike="noStrike">
                <a:solidFill>
                  <a:schemeClr val="dk1"/>
                </a:solidFill>
                <a:effectLst/>
                <a:uFillTx/>
                <a:latin typeface="Calibri"/>
              </a:rPr>
              <a:t>Lifelines)</a:t>
            </a:r>
            <a:r>
              <a:rPr lang="en-US" sz="2400" b="0" u="none" strike="noStrike">
                <a:solidFill>
                  <a:schemeClr val="dk1"/>
                </a:solidFill>
                <a:effectLst/>
                <a:uFillTx/>
                <a:latin typeface="Calibri"/>
              </a:rPr>
              <a:t> (1) biểu diễn các thể hiện của lớp, thành phần, tác nhân hay các thiết bị.</a:t>
            </a:r>
            <a:endParaRPr lang="en-US" sz="2400" b="0" u="none" strike="noStrike">
              <a:solidFill>
                <a:schemeClr val="dk1"/>
              </a:solidFill>
              <a:effectLst/>
              <a:uFillTx/>
              <a:latin typeface="Calibri"/>
            </a:endParaRPr>
          </a:p>
          <a:p>
            <a:pPr marL="285840" indent="-285840">
              <a:lnSpc>
                <a:spcPct val="100000"/>
              </a:lnSpc>
              <a:spcBef>
                <a:spcPts val="479"/>
              </a:spcBef>
              <a:buClr>
                <a:srgbClr val="000000"/>
              </a:buClr>
              <a:buFont typeface="Arial"/>
              <a:buChar char="•"/>
            </a:pPr>
            <a:r>
              <a:rPr lang="en-US" sz="2400" b="0" u="none" strike="noStrike">
                <a:solidFill>
                  <a:schemeClr val="dk1"/>
                </a:solidFill>
                <a:effectLst/>
                <a:uFillTx/>
                <a:latin typeface="Calibri"/>
              </a:rPr>
              <a:t>Các thông điệp (3, 4, 6, 7) được gửi từ đối tượng gửi đến đối tượng nhận.</a:t>
            </a:r>
            <a:endParaRPr lang="en-US" sz="2400" b="0" u="none" strike="noStrike">
              <a:solidFill>
                <a:schemeClr val="dk1"/>
              </a:solidFill>
              <a:effectLst/>
              <a:uFillTx/>
              <a:latin typeface="Calibri"/>
            </a:endParaRPr>
          </a:p>
          <a:p>
            <a:pPr marL="285840" indent="-285840">
              <a:lnSpc>
                <a:spcPct val="100000"/>
              </a:lnSpc>
              <a:spcBef>
                <a:spcPts val="479"/>
              </a:spcBef>
              <a:buClr>
                <a:srgbClr val="000000"/>
              </a:buClr>
              <a:buFont typeface="Arial"/>
              <a:buChar char="•"/>
            </a:pPr>
            <a:r>
              <a:rPr lang="en-US" sz="2400" b="0" u="none" strike="noStrike">
                <a:solidFill>
                  <a:schemeClr val="dk1"/>
                </a:solidFill>
                <a:effectLst/>
                <a:uFillTx/>
                <a:latin typeface="Calibri"/>
              </a:rPr>
              <a:t>Một khoảng thực thi (5) xuất hiện ở đối tượng nhận thông điệp.</a:t>
            </a:r>
            <a:endParaRPr lang="en-US" sz="2400" b="0" u="none" strike="noStrike">
              <a:solidFill>
                <a:schemeClr val="dk1"/>
              </a:solidFill>
              <a:effectLst/>
              <a:uFillTx/>
              <a:latin typeface="Calibri"/>
            </a:endParaRPr>
          </a:p>
          <a:p>
            <a:pPr marL="285840" indent="-285840">
              <a:lnSpc>
                <a:spcPct val="100000"/>
              </a:lnSpc>
              <a:spcBef>
                <a:spcPts val="479"/>
              </a:spcBef>
              <a:buClr>
                <a:srgbClr val="000000"/>
              </a:buClr>
              <a:buFont typeface="Arial"/>
              <a:buChar char="•"/>
            </a:pPr>
            <a:r>
              <a:rPr lang="en-US" sz="2400" b="0" u="none" strike="noStrike">
                <a:solidFill>
                  <a:schemeClr val="dk1"/>
                </a:solidFill>
                <a:effectLst/>
                <a:uFillTx/>
                <a:latin typeface="Calibri"/>
              </a:rPr>
              <a:t>Ký pháp (9) để chỉ tình huống một thông điệp được gửi từ nguồn không xác định, và được gửi một cách không đồng bộ.</a:t>
            </a:r>
            <a:endParaRPr lang="en-US" sz="2400" b="0" u="none" strike="noStrike">
              <a:solidFill>
                <a:schemeClr val="dk1"/>
              </a:solidFill>
              <a:effectLst/>
              <a:uFillTx/>
              <a:latin typeface="Calibri"/>
            </a:endParaRPr>
          </a:p>
        </p:txBody>
      </p:sp>
      <p:sp>
        <p:nvSpPr>
          <p:cNvPr id="173" name="PlaceHolder 3"/>
          <p:cNvSpPr>
            <a:spLocks noGrp="1"/>
          </p:cNvSpPr>
          <p:nvPr>
            <p:ph type="sldNum" idx="47"/>
          </p:nvPr>
        </p:nvSpPr>
        <p:spPr>
          <a:xfrm>
            <a:off x="6999840" y="640548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Arial"/>
              </a:defRPr>
            </a:lvl1pPr>
          </a:lstStyle>
          <a:p>
            <a:pPr indent="0" algn="r" defTabSz="914400">
              <a:lnSpc>
                <a:spcPct val="100000"/>
              </a:lnSpc>
              <a:buNone/>
            </a:pPr>
            <a:fld id="{11AE8886-7234-45AE-99B5-4580A34C0FAD}" type="slidenum">
              <a:rPr lang="en-US" sz="1400" b="0" u="none" strike="noStrike">
                <a:solidFill>
                  <a:schemeClr val="dk1">
                    <a:tint val="75000"/>
                  </a:schemeClr>
                </a:solidFill>
                <a:effectLst/>
                <a:uFillTx/>
                <a:latin typeface="Arial"/>
              </a:rPr>
              <a:t>24</a:t>
            </a:fld>
            <a:endParaRPr lang="en-US" sz="1400" b="0" u="none" strike="noStrike">
              <a:solidFill>
                <a:srgbClr val="000000"/>
              </a:solidFill>
              <a:effectLst/>
              <a:uFillTx/>
              <a:latin typeface="Times New Roman"/>
            </a:endParaRPr>
          </a:p>
        </p:txBody>
      </p:sp>
      <p:pic>
        <p:nvPicPr>
          <p:cNvPr id="174" name="Picture 7"/>
          <p:cNvPicPr/>
          <p:nvPr/>
        </p:nvPicPr>
        <p:blipFill>
          <a:blip r:embed="rId1"/>
          <a:stretch/>
        </p:blipFill>
        <p:spPr>
          <a:xfrm>
            <a:off x="4879440" y="1684440"/>
            <a:ext cx="4159800" cy="382968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timing>
    <p:tnLst>
      <p:par>
        <p:cTn id="71" dur="indefinite" restart="never" nodeType="tmRoot">
          <p:childTnLst>
            <p:seq>
              <p:cTn id="72" dur="indefinite" nodeType="mainSeq">
                <p:childTnLst>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172">
                                            <p:txEl>
                                              <p:pRg st="0" end="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fill="hold" nodeType="clickEffect">
                                  <p:stCondLst>
                                    <p:cond delay="0"/>
                                  </p:stCondLst>
                                  <p:childTnLst>
                                    <p:set>
                                      <p:cBhvr>
                                        <p:cTn id="80" dur="1" fill="hold">
                                          <p:stCondLst>
                                            <p:cond delay="0"/>
                                          </p:stCondLst>
                                        </p:cTn>
                                        <p:tgtEl>
                                          <p:spTgt spid="172">
                                            <p:txEl>
                                              <p:pRg st="1" end="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172">
                                            <p:txEl>
                                              <p:pRg st="2" end="2"/>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fill="hold" nodeType="clickEffect">
                                  <p:stCondLst>
                                    <p:cond delay="0"/>
                                  </p:stCondLst>
                                  <p:childTnLst>
                                    <p:set>
                                      <p:cBhvr>
                                        <p:cTn id="88" dur="1" fill="hold">
                                          <p:stCondLst>
                                            <p:cond delay="0"/>
                                          </p:stCondLst>
                                        </p:cTn>
                                        <p:tgtEl>
                                          <p:spTgt spid="172">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Biểu đồ tuần tự (3)</a:t>
            </a:r>
            <a:endParaRPr lang="en-US" sz="4200" b="0" u="none" strike="noStrike">
              <a:solidFill>
                <a:schemeClr val="dk1"/>
              </a:solidFill>
              <a:effectLst/>
              <a:uFillTx/>
              <a:latin typeface="Calibri"/>
            </a:endParaRPr>
          </a:p>
        </p:txBody>
      </p:sp>
      <p:sp>
        <p:nvSpPr>
          <p:cNvPr id="176" name="PlaceHolder 2"/>
          <p:cNvSpPr>
            <a:spLocks noGrp="1"/>
          </p:cNvSpPr>
          <p:nvPr>
            <p:ph/>
          </p:nvPr>
        </p:nvSpPr>
        <p:spPr>
          <a:xfrm>
            <a:off x="57240" y="1470600"/>
            <a:ext cx="4830840" cy="4877280"/>
          </a:xfrm>
          <a:prstGeom prst="rect">
            <a:avLst/>
          </a:prstGeom>
          <a:noFill/>
          <a:ln w="9360">
            <a:noFill/>
          </a:ln>
        </p:spPr>
        <p:txBody>
          <a:bodyPr numCol="1" spcCol="0" lIns="91080" rIns="91080" tIns="45360" bIns="45360" anchor="t">
            <a:normAutofit/>
          </a:bodyPr>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Thông điệp đồng bộ (</a:t>
            </a:r>
            <a:r>
              <a:rPr lang="en-US" sz="2000" b="1" u="none" strike="noStrike">
                <a:solidFill>
                  <a:schemeClr val="dk1"/>
                </a:solidFill>
                <a:effectLst/>
                <a:uFillTx/>
                <a:latin typeface="Calibri"/>
              </a:rPr>
              <a:t>Synchronous) </a:t>
            </a:r>
            <a:r>
              <a:rPr lang="en-US" sz="2000" b="0" u="none" strike="noStrike">
                <a:solidFill>
                  <a:schemeClr val="dk1"/>
                </a:solidFill>
                <a:effectLst/>
                <a:uFillTx/>
                <a:latin typeface="Calibri"/>
              </a:rPr>
              <a:t>(3) mô tả tương tác trong đó đối tượng gửi chờ cho đến khi nhận được phản hồi của đổi tượng nhận.</a:t>
            </a:r>
            <a:endParaRPr lang="en-US" sz="2000" b="0" u="none" strike="noStrike">
              <a:solidFill>
                <a:schemeClr val="dk1"/>
              </a:solidFill>
              <a:effectLst/>
              <a:uFillTx/>
              <a:latin typeface="Calibri"/>
            </a:endParaRPr>
          </a:p>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Mũi tên </a:t>
            </a:r>
            <a:r>
              <a:rPr lang="en-US" sz="2000" b="1" u="none" strike="noStrike">
                <a:solidFill>
                  <a:schemeClr val="dk1"/>
                </a:solidFill>
                <a:effectLst/>
                <a:uFillTx/>
                <a:latin typeface="Calibri"/>
              </a:rPr>
              <a:t>&lt;&lt;return&gt;&gt;</a:t>
            </a:r>
            <a:r>
              <a:rPr lang="en-US" sz="2000" b="0" u="none" strike="noStrike">
                <a:solidFill>
                  <a:schemeClr val="dk1"/>
                </a:solidFill>
                <a:effectLst/>
                <a:uFillTx/>
                <a:latin typeface="Calibri"/>
              </a:rPr>
              <a:t> là tín hiệu từ đối tượng nhận, để kết thúc một thực thi.</a:t>
            </a:r>
            <a:endParaRPr lang="en-US" sz="2000" b="0" u="none" strike="noStrike">
              <a:solidFill>
                <a:schemeClr val="dk1"/>
              </a:solidFill>
              <a:effectLst/>
              <a:uFillTx/>
              <a:latin typeface="Calibri"/>
            </a:endParaRPr>
          </a:p>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Mũi tên bất đồng bộ (</a:t>
            </a:r>
            <a:r>
              <a:rPr lang="en-US" sz="2000" b="1" u="none" strike="noStrike">
                <a:solidFill>
                  <a:schemeClr val="dk1"/>
                </a:solidFill>
                <a:effectLst/>
                <a:uFillTx/>
                <a:latin typeface="Calibri"/>
              </a:rPr>
              <a:t>Asynchronous</a:t>
            </a:r>
            <a:r>
              <a:rPr lang="en-US" sz="2000" b="0" u="none" strike="noStrike">
                <a:solidFill>
                  <a:schemeClr val="dk1"/>
                </a:solidFill>
                <a:effectLst/>
                <a:uFillTx/>
                <a:latin typeface="Calibri"/>
              </a:rPr>
              <a:t>) (4) để chỉ người gửi có thể tiếp tục công việc mà không phải chờ phản hồi từ người nhận.</a:t>
            </a:r>
            <a:endParaRPr lang="en-US" sz="2000" b="0" u="none" strike="noStrike">
              <a:solidFill>
                <a:schemeClr val="dk1"/>
              </a:solidFill>
              <a:effectLst/>
              <a:uFillTx/>
              <a:latin typeface="Calibri"/>
            </a:endParaRPr>
          </a:p>
          <a:p>
            <a:pPr marL="285840" indent="-285840">
              <a:lnSpc>
                <a:spcPct val="100000"/>
              </a:lnSpc>
              <a:spcBef>
                <a:spcPts val="400"/>
              </a:spcBef>
              <a:buClr>
                <a:srgbClr val="000000"/>
              </a:buClr>
              <a:buFont typeface="Arial"/>
              <a:buChar char="•"/>
            </a:pPr>
            <a:r>
              <a:rPr lang="en-US" sz="2000" b="0" u="none" strike="noStrike">
                <a:solidFill>
                  <a:schemeClr val="dk1"/>
                </a:solidFill>
                <a:effectLst/>
                <a:uFillTx/>
                <a:latin typeface="Calibri"/>
              </a:rPr>
              <a:t>Tín hiệu &lt;&lt;</a:t>
            </a:r>
            <a:r>
              <a:rPr lang="en-US" sz="2000" b="1" u="none" strike="noStrike">
                <a:solidFill>
                  <a:schemeClr val="dk1"/>
                </a:solidFill>
                <a:effectLst/>
                <a:uFillTx/>
                <a:latin typeface="Calibri"/>
              </a:rPr>
              <a:t>Create&gt;&gt;</a:t>
            </a:r>
            <a:r>
              <a:rPr lang="en-US" sz="2000" b="0" u="none" strike="noStrike">
                <a:solidFill>
                  <a:schemeClr val="dk1"/>
                </a:solidFill>
                <a:effectLst/>
                <a:uFillTx/>
                <a:latin typeface="Calibri"/>
              </a:rPr>
              <a:t> (8) để mô tả hành động đối tượng gửi tạo đối tượng nhận.</a:t>
            </a:r>
            <a:endParaRPr lang="en-US" sz="2000" b="0" u="none" strike="noStrike">
              <a:solidFill>
                <a:schemeClr val="dk1"/>
              </a:solidFill>
              <a:effectLst/>
              <a:uFillTx/>
              <a:latin typeface="Calibri"/>
            </a:endParaRPr>
          </a:p>
        </p:txBody>
      </p:sp>
      <p:sp>
        <p:nvSpPr>
          <p:cNvPr id="177" name="PlaceHolder 3"/>
          <p:cNvSpPr>
            <a:spLocks noGrp="1"/>
          </p:cNvSpPr>
          <p:nvPr>
            <p:ph type="sldNum" idx="48"/>
          </p:nvPr>
        </p:nvSpPr>
        <p:spPr>
          <a:xfrm>
            <a:off x="6923880" y="633276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Arial"/>
              </a:defRPr>
            </a:lvl1pPr>
          </a:lstStyle>
          <a:p>
            <a:pPr indent="0" algn="r" defTabSz="914400">
              <a:lnSpc>
                <a:spcPct val="100000"/>
              </a:lnSpc>
              <a:buNone/>
            </a:pPr>
            <a:fld id="{73F138B5-F7DA-440E-A4FB-F7390B4A39AA}" type="slidenum">
              <a:rPr lang="en-US" sz="1400" b="0" u="none" strike="noStrike">
                <a:solidFill>
                  <a:schemeClr val="dk1">
                    <a:tint val="75000"/>
                  </a:schemeClr>
                </a:solidFill>
                <a:effectLst/>
                <a:uFillTx/>
                <a:latin typeface="Arial"/>
              </a:rPr>
              <a:t>&lt;number&gt;</a:t>
            </a:fld>
            <a:endParaRPr lang="en-US" sz="1400" b="0" u="none" strike="noStrike">
              <a:solidFill>
                <a:srgbClr val="000000"/>
              </a:solidFill>
              <a:effectLst/>
              <a:uFillTx/>
              <a:latin typeface="Times New Roman"/>
            </a:endParaRPr>
          </a:p>
        </p:txBody>
      </p:sp>
      <p:pic>
        <p:nvPicPr>
          <p:cNvPr id="178" name="Picture 7"/>
          <p:cNvPicPr/>
          <p:nvPr/>
        </p:nvPicPr>
        <p:blipFill>
          <a:blip r:embed="rId1"/>
          <a:stretch/>
        </p:blipFill>
        <p:spPr>
          <a:xfrm>
            <a:off x="4888440" y="1684440"/>
            <a:ext cx="4159800" cy="3829680"/>
          </a:xfrm>
          <a:prstGeom prst="rect">
            <a:avLst/>
          </a:prstGeom>
          <a:noFill/>
          <a:ln w="0">
            <a:noFill/>
          </a:ln>
        </p:spPr>
      </p:pic>
      <p:sp>
        <p:nvSpPr>
          <p:cNvPr id="5" name="PlaceHolder 4"/>
          <p:cNvSpPr>
            <a:spLocks noGrp="1"/>
          </p:cNvSpPr>
          <p:nvPr>
            <p:ph type="ftr" idx="13"/>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biểu đồ tuần tự - truyền dữ liệu</a:t>
            </a:r>
            <a:endParaRPr lang="en-US" sz="4200" b="0" u="none" strike="noStrike">
              <a:solidFill>
                <a:schemeClr val="dk1"/>
              </a:solidFill>
              <a:effectLst/>
              <a:uFillTx/>
              <a:latin typeface="Calibri"/>
            </a:endParaRPr>
          </a:p>
        </p:txBody>
      </p:sp>
      <p:sp>
        <p:nvSpPr>
          <p:cNvPr id="180" name="PlaceHolder 2"/>
          <p:cNvSpPr>
            <a:spLocks noGrp="1"/>
          </p:cNvSpPr>
          <p:nvPr>
            <p:ph type="sldNum" idx="49"/>
          </p:nvPr>
        </p:nvSpPr>
        <p:spPr>
          <a:xfrm>
            <a:off x="6847920" y="6405480"/>
            <a:ext cx="2124360" cy="3632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Calibri"/>
              </a:defRPr>
            </a:lvl1pPr>
          </a:lstStyle>
          <a:p>
            <a:pPr indent="0" algn="r" defTabSz="914400">
              <a:lnSpc>
                <a:spcPct val="100000"/>
              </a:lnSpc>
              <a:buNone/>
            </a:pPr>
            <a:fld id="{5F94D0F6-E4E6-47A0-9927-3606366A540A}" type="slidenum">
              <a:rPr lang="en-US" sz="1400" b="0" u="none" strike="noStrike">
                <a:solidFill>
                  <a:schemeClr val="dk1">
                    <a:tint val="75000"/>
                  </a:schemeClr>
                </a:solidFill>
                <a:effectLst/>
                <a:uFillTx/>
                <a:latin typeface="Calibri"/>
              </a:rPr>
              <a:t>&lt;number&gt;</a:t>
            </a:fld>
            <a:endParaRPr lang="en-US" sz="1400" b="0" u="none" strike="noStrike">
              <a:solidFill>
                <a:srgbClr val="000000"/>
              </a:solidFill>
              <a:effectLst/>
              <a:uFillTx/>
              <a:latin typeface="Times New Roman"/>
            </a:endParaRPr>
          </a:p>
        </p:txBody>
      </p:sp>
      <p:pic>
        <p:nvPicPr>
          <p:cNvPr id="181" name="Picture 3" descr="5.7 TransferData.eps"/>
          <p:cNvPicPr/>
          <p:nvPr/>
        </p:nvPicPr>
        <p:blipFill>
          <a:blip r:embed="rId1"/>
          <a:stretch/>
        </p:blipFill>
        <p:spPr>
          <a:xfrm>
            <a:off x="914400" y="1434960"/>
            <a:ext cx="7009920" cy="5313600"/>
          </a:xfrm>
          <a:prstGeom prst="rect">
            <a:avLst/>
          </a:prstGeom>
          <a:noFill/>
          <a:ln w="0">
            <a:noFill/>
          </a:ln>
        </p:spPr>
      </p:pic>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cấu trúc</a:t>
            </a:r>
            <a:endParaRPr lang="en-US" sz="4200" b="0" u="none" strike="noStrike">
              <a:solidFill>
                <a:srgbClr val="000000"/>
              </a:solidFill>
              <a:effectLst/>
              <a:uFillTx/>
              <a:latin typeface="Arial"/>
            </a:endParaRPr>
          </a:p>
        </p:txBody>
      </p:sp>
      <p:sp>
        <p:nvSpPr>
          <p:cNvPr id="183"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Được dùng để biểu diễn cách tổ chức của hệ thống, chỉ ra quan hệ giữa các thành phần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cấu trúc ở dạng mô hình tĩnh khi mô tả cấu trúc của thiết kế hệ thống hoặc ở dạng mô hình động khi phản ánh cấu trúc hệ thống khi thực thi</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này thường được dùng khi thảo luận và thiết kế kiến trúc hệ thống</a:t>
            </a:r>
            <a:endParaRPr lang="en-US" sz="3000" b="0" u="none" strike="noStrike">
              <a:solidFill>
                <a:srgbClr val="000000"/>
              </a:solidFill>
              <a:effectLst/>
              <a:uFillTx/>
              <a:latin typeface="Arial"/>
            </a:endParaRPr>
          </a:p>
        </p:txBody>
      </p:sp>
      <p:sp>
        <p:nvSpPr>
          <p:cNvPr id="184" name="CustomShape 3"/>
          <p:cNvSpPr/>
          <p:nvPr/>
        </p:nvSpPr>
        <p:spPr>
          <a:xfrm>
            <a:off x="68497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7D703350-4B14-41C7-B113-F2B8BD59BCFC}"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B407276A-2EB1-4981-B1A9-16383CDEEA62}"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Biểu đồ lớp</a:t>
            </a:r>
            <a:endParaRPr lang="en-US" sz="4200" b="0" u="none" strike="noStrike">
              <a:solidFill>
                <a:srgbClr val="000000"/>
              </a:solidFill>
              <a:effectLst/>
              <a:uFillTx/>
              <a:latin typeface="Arial"/>
            </a:endParaRPr>
          </a:p>
        </p:txBody>
      </p:sp>
      <p:sp>
        <p:nvSpPr>
          <p:cNvPr id="186" name="CustomShape 2"/>
          <p:cNvSpPr/>
          <p:nvPr/>
        </p:nvSpPr>
        <p:spPr>
          <a:xfrm>
            <a:off x="285840" y="1594440"/>
            <a:ext cx="4343040" cy="5237640"/>
          </a:xfrm>
          <a:prstGeom prst="rect">
            <a:avLst/>
          </a:prstGeom>
          <a:noFill/>
          <a:ln w="9360">
            <a:noFill/>
          </a:ln>
        </p:spPr>
        <p:style>
          <a:lnRef idx="0"/>
          <a:fillRef idx="0"/>
          <a:effectRef idx="0"/>
          <a:fontRef idx="minor"/>
        </p:style>
        <p:txBody>
          <a:bodyPr lIns="90360" rIns="90360" tIns="44280" bIns="44280" anchor="t">
            <a:normAutofit fontScale="85000" lnSpcReduction="9999"/>
          </a:bodyPr>
          <a:p>
            <a:pPr marL="326160" indent="-324360" defTabSz="914400">
              <a:lnSpc>
                <a:spcPct val="90000"/>
              </a:lnSpc>
              <a:spcBef>
                <a:spcPts val="601"/>
              </a:spcBef>
              <a:buClr>
                <a:srgbClr val="000000"/>
              </a:buClr>
              <a:buFont typeface="Arial"/>
              <a:buChar char="•"/>
            </a:pPr>
            <a:r>
              <a:rPr lang="en-US" sz="2800" b="0" u="none" strike="noStrike">
                <a:solidFill>
                  <a:srgbClr val="000000"/>
                </a:solidFill>
                <a:effectLst/>
                <a:uFillTx/>
                <a:latin typeface="Calibri"/>
                <a:ea typeface="DejaVu Sans"/>
              </a:rPr>
              <a:t>Được dùng để biểu diễn mô hình cấu trúc hệ thống</a:t>
            </a:r>
            <a:endParaRPr lang="en-US" sz="28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2800" b="0" u="none" strike="noStrike">
                <a:solidFill>
                  <a:srgbClr val="000000"/>
                </a:solidFill>
                <a:effectLst/>
                <a:uFillTx/>
                <a:latin typeface="Calibri"/>
                <a:ea typeface="DejaVu Sans"/>
              </a:rPr>
              <a:t>Lớp: tập các đối tượng (thể hiện) cùng đặc điểm, hành vi và ngữ nghĩa</a:t>
            </a:r>
            <a:endParaRPr lang="en-US" sz="28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2800" b="0" u="none" strike="noStrike">
                <a:solidFill>
                  <a:srgbClr val="000000"/>
                </a:solidFill>
                <a:effectLst/>
                <a:uFillTx/>
                <a:latin typeface="Calibri"/>
                <a:ea typeface="DejaVu Sans"/>
              </a:rPr>
              <a:t>Quan hệ kết hợp: quan hệ ngữ nghĩa giữa các lớp  </a:t>
            </a:r>
            <a:endParaRPr lang="en-US" sz="28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2800" b="0" u="none" strike="noStrike">
                <a:solidFill>
                  <a:srgbClr val="000000"/>
                </a:solidFill>
                <a:effectLst/>
                <a:uFillTx/>
                <a:latin typeface="Calibri"/>
                <a:ea typeface="DejaVu Sans"/>
              </a:rPr>
              <a:t>Tổng quát hóa: Lớp con chi tiêt hóa lớp cha</a:t>
            </a:r>
            <a:endParaRPr lang="en-US" sz="28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2800" b="0" u="none" strike="noStrike">
                <a:solidFill>
                  <a:srgbClr val="000000"/>
                </a:solidFill>
                <a:effectLst/>
                <a:uFillTx/>
                <a:latin typeface="Calibri"/>
                <a:ea typeface="DejaVu Sans"/>
              </a:rPr>
              <a:t>Quan hệ tụ hợp (hợp thành): quan hệ giữa tổng thể và bộ phận, có (không có) thành phần chia sẻ.</a:t>
            </a:r>
            <a:endParaRPr lang="en-US" sz="2800" b="0" u="none" strike="noStrike">
              <a:solidFill>
                <a:srgbClr val="000000"/>
              </a:solidFill>
              <a:effectLst/>
              <a:uFillTx/>
              <a:latin typeface="Arial"/>
            </a:endParaRPr>
          </a:p>
        </p:txBody>
      </p:sp>
      <p:sp>
        <p:nvSpPr>
          <p:cNvPr id="187" name="CustomShape 3"/>
          <p:cNvSpPr/>
          <p:nvPr/>
        </p:nvSpPr>
        <p:spPr>
          <a:xfrm>
            <a:off x="68497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C8F582D0-AA3C-43B3-9A56-6A853FC38BE1}"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pic>
        <p:nvPicPr>
          <p:cNvPr id="188" name="Picture 5" descr="5.10 Consultation Class.eps"/>
          <p:cNvPicPr/>
          <p:nvPr/>
        </p:nvPicPr>
        <p:blipFill>
          <a:blip r:embed="rId1"/>
          <a:stretch/>
        </p:blipFill>
        <p:spPr>
          <a:xfrm>
            <a:off x="4650840" y="1511280"/>
            <a:ext cx="1654200" cy="2837520"/>
          </a:xfrm>
          <a:prstGeom prst="rect">
            <a:avLst/>
          </a:prstGeom>
          <a:noFill/>
          <a:ln w="0">
            <a:noFill/>
          </a:ln>
        </p:spPr>
      </p:pic>
      <p:pic>
        <p:nvPicPr>
          <p:cNvPr id="189" name="Picture 6" descr="5.12 GeneralisationDetail.eps"/>
          <p:cNvPicPr/>
          <p:nvPr/>
        </p:nvPicPr>
        <p:blipFill>
          <a:blip r:embed="rId2"/>
          <a:stretch/>
        </p:blipFill>
        <p:spPr>
          <a:xfrm>
            <a:off x="5315040" y="3949560"/>
            <a:ext cx="3578400" cy="2413440"/>
          </a:xfrm>
          <a:prstGeom prst="rect">
            <a:avLst/>
          </a:prstGeom>
          <a:noFill/>
          <a:ln w="0">
            <a:noFill/>
          </a:ln>
        </p:spPr>
      </p:pic>
      <p:pic>
        <p:nvPicPr>
          <p:cNvPr id="190" name="Picture 7" descr="5.13 Aggregation.eps"/>
          <p:cNvPicPr/>
          <p:nvPr/>
        </p:nvPicPr>
        <p:blipFill>
          <a:blip r:embed="rId3"/>
          <a:stretch/>
        </p:blipFill>
        <p:spPr>
          <a:xfrm>
            <a:off x="6458040" y="1968480"/>
            <a:ext cx="2425320" cy="1283760"/>
          </a:xfrm>
          <a:prstGeom prst="rect">
            <a:avLst/>
          </a:prstGeom>
          <a:noFill/>
          <a:ln w="0">
            <a:noFill/>
          </a:ln>
        </p:spPr>
      </p:pic>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C74396E7-7892-4FB5-94F1-900F46A01A3B}"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biểu đồ lớp</a:t>
            </a:r>
            <a:endParaRPr lang="en-US" sz="4200" b="0" u="none" strike="noStrike">
              <a:solidFill>
                <a:schemeClr val="dk1"/>
              </a:solidFill>
              <a:effectLst/>
              <a:uFillTx/>
              <a:latin typeface="Calibri"/>
            </a:endParaRPr>
          </a:p>
        </p:txBody>
      </p:sp>
      <p:sp>
        <p:nvSpPr>
          <p:cNvPr id="192" name="PlaceHolder 2"/>
          <p:cNvSpPr>
            <a:spLocks noGrp="1"/>
          </p:cNvSpPr>
          <p:nvPr>
            <p:ph type="sldNum" idx="50"/>
          </p:nvPr>
        </p:nvSpPr>
        <p:spPr>
          <a:xfrm>
            <a:off x="6915240" y="638820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91FA4D8-1B20-4A94-819A-3EE19D7178F0}" type="slidenum">
              <a:rPr lang="en-US" sz="1200" b="0" u="none" strike="noStrike">
                <a:solidFill>
                  <a:schemeClr val="dk1">
                    <a:tint val="75000"/>
                  </a:schemeClr>
                </a:solidFill>
                <a:effectLst/>
                <a:uFillTx/>
                <a:latin typeface="Calibri"/>
              </a:rPr>
              <a:t>29</a:t>
            </a:fld>
            <a:endParaRPr lang="en-US" sz="1200" b="0" u="none" strike="noStrike">
              <a:solidFill>
                <a:srgbClr val="000000"/>
              </a:solidFill>
              <a:effectLst/>
              <a:uFillTx/>
              <a:latin typeface="Times New Roman"/>
            </a:endParaRPr>
          </a:p>
        </p:txBody>
      </p:sp>
      <p:pic>
        <p:nvPicPr>
          <p:cNvPr id="193" name="Picture 3" descr="5.9 MHCPMS-classes.eps"/>
          <p:cNvPicPr/>
          <p:nvPr/>
        </p:nvPicPr>
        <p:blipFill>
          <a:blip r:embed="rId1"/>
          <a:stretch/>
        </p:blipFill>
        <p:spPr>
          <a:xfrm>
            <a:off x="387360" y="1393560"/>
            <a:ext cx="7330320" cy="4917960"/>
          </a:xfrm>
          <a:prstGeom prst="rect">
            <a:avLst/>
          </a:prstGeom>
          <a:noFill/>
          <a:ln w="0">
            <a:noFill/>
          </a:ln>
        </p:spPr>
      </p:pic>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hành vi</a:t>
            </a:r>
            <a:endParaRPr lang="en-US" sz="4200" b="0" u="none" strike="noStrike">
              <a:solidFill>
                <a:srgbClr val="000000"/>
              </a:solidFill>
              <a:effectLst/>
              <a:uFillTx/>
              <a:latin typeface="Arial"/>
            </a:endParaRPr>
          </a:p>
        </p:txBody>
      </p:sp>
      <p:sp>
        <p:nvSpPr>
          <p:cNvPr id="195" name="CustomShape 2"/>
          <p:cNvSpPr/>
          <p:nvPr/>
        </p:nvSpPr>
        <p:spPr>
          <a:xfrm>
            <a:off x="455400" y="1594440"/>
            <a:ext cx="851688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hành vi mô tả hành vi động của hệ thống khi nó thực hiện, qua đó làm rõ cách thức hệ thống phản hồi các kích thích từ môi trường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Kích thích từ môi trường có 2 dạng: </a:t>
            </a:r>
            <a:endParaRPr lang="en-US" sz="3000" b="0" u="none" strike="noStrike">
              <a:solidFill>
                <a:srgbClr val="000000"/>
              </a:solidFill>
              <a:effectLst/>
              <a:uFillTx/>
              <a:latin typeface="Arial"/>
            </a:endParaRPr>
          </a:p>
          <a:p>
            <a:pPr marL="801720" lvl="1" indent="-457200" defTabSz="914400">
              <a:lnSpc>
                <a:spcPct val="90000"/>
              </a:lnSpc>
              <a:spcBef>
                <a:spcPts val="601"/>
              </a:spcBef>
              <a:buClr>
                <a:srgbClr val="000000"/>
              </a:buClr>
              <a:buFont typeface="OpenSymbol"/>
              <a:buChar char="-"/>
            </a:pPr>
            <a:r>
              <a:rPr lang="en-US" sz="3000" b="0" u="none" strike="noStrike">
                <a:solidFill>
                  <a:srgbClr val="000000"/>
                </a:solidFill>
                <a:effectLst/>
                <a:uFillTx/>
                <a:latin typeface="Calibri"/>
                <a:ea typeface="DejaVu Sans"/>
              </a:rPr>
              <a:t>Dữ liệu: được gửi đến và được hệ thống xử lý</a:t>
            </a:r>
            <a:endParaRPr lang="en-US" sz="3000" b="0" u="none" strike="noStrike">
              <a:solidFill>
                <a:srgbClr val="000000"/>
              </a:solidFill>
              <a:effectLst/>
              <a:uFillTx/>
              <a:latin typeface="Arial"/>
            </a:endParaRPr>
          </a:p>
          <a:p>
            <a:pPr marL="801720" lvl="1" indent="-457200" defTabSz="914400">
              <a:lnSpc>
                <a:spcPct val="90000"/>
              </a:lnSpc>
              <a:spcBef>
                <a:spcPts val="601"/>
              </a:spcBef>
              <a:buClr>
                <a:srgbClr val="000000"/>
              </a:buClr>
              <a:buFont typeface="OpenSymbol"/>
              <a:buChar char="-"/>
            </a:pPr>
            <a:r>
              <a:rPr lang="en-US" sz="3000" b="0" u="none" strike="noStrike">
                <a:solidFill>
                  <a:srgbClr val="000000"/>
                </a:solidFill>
                <a:effectLst/>
                <a:uFillTx/>
                <a:latin typeface="Calibri"/>
                <a:ea typeface="DejaVu Sans"/>
              </a:rPr>
              <a:t>Sự kiện: kích hoạt các xử lý của hệ thống</a:t>
            </a:r>
            <a:endParaRPr lang="en-US" sz="3000" b="0" u="none" strike="noStrike">
              <a:solidFill>
                <a:srgbClr val="000000"/>
              </a:solidFill>
              <a:effectLst/>
              <a:uFillTx/>
              <a:latin typeface="Arial"/>
            </a:endParaRPr>
          </a:p>
        </p:txBody>
      </p:sp>
      <p:sp>
        <p:nvSpPr>
          <p:cNvPr id="196" name="CustomShape 3"/>
          <p:cNvSpPr/>
          <p:nvPr/>
        </p:nvSpPr>
        <p:spPr>
          <a:xfrm>
            <a:off x="6838920" y="640728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E7D83805-36A7-4C59-A0A7-6391C9A788D6}"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A78758EB-4BE1-4213-A14D-DC0BD39DD1D6}"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hóa hướng dữ liệu</a:t>
            </a:r>
            <a:endParaRPr lang="en-US" sz="4200" b="0" u="none" strike="noStrike">
              <a:solidFill>
                <a:srgbClr val="000000"/>
              </a:solidFill>
              <a:effectLst/>
              <a:uFillTx/>
              <a:latin typeface="Arial"/>
            </a:endParaRPr>
          </a:p>
        </p:txBody>
      </p:sp>
      <p:sp>
        <p:nvSpPr>
          <p:cNvPr id="198"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Thường dùng cho các hệ thống nghiệp vụ (business system)</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hướng dữ liệu (data-driven models) biểu diễn chuỗi hoạt động xử lý các dữ liệu đầu vào và kết xuất dữ liệu đầu ra tương ứng.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Được hỗ trợ bởi biểu đồ hoạt động UML 2.0 hoặc biểu đồ tuần tự (ở dạng không tường minh)</a:t>
            </a:r>
            <a:endParaRPr lang="en-US" sz="3000" b="0" u="none" strike="noStrike">
              <a:solidFill>
                <a:srgbClr val="000000"/>
              </a:solidFill>
              <a:effectLst/>
              <a:uFillTx/>
              <a:latin typeface="Arial"/>
            </a:endParaRPr>
          </a:p>
        </p:txBody>
      </p:sp>
      <p:sp>
        <p:nvSpPr>
          <p:cNvPr id="199" name="CustomShape 3"/>
          <p:cNvSpPr/>
          <p:nvPr/>
        </p:nvSpPr>
        <p:spPr>
          <a:xfrm>
            <a:off x="684972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259C42DE-FB4E-4DE5-8386-CF4CA33ED613}"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FDD6C8AA-209C-473C-B911-0FCBF029AD5E}"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55040" y="272520"/>
            <a:ext cx="8650440" cy="11401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mô hình hóa hướng dữ liệu</a:t>
            </a:r>
            <a:endParaRPr lang="en-US" sz="4200" b="0" u="none" strike="noStrike">
              <a:solidFill>
                <a:schemeClr val="dk1"/>
              </a:solidFill>
              <a:effectLst/>
              <a:uFillTx/>
              <a:latin typeface="Calibri"/>
            </a:endParaRPr>
          </a:p>
        </p:txBody>
      </p:sp>
      <p:sp>
        <p:nvSpPr>
          <p:cNvPr id="201" name="PlaceHolder 2"/>
          <p:cNvSpPr>
            <a:spLocks noGrp="1"/>
          </p:cNvSpPr>
          <p:nvPr>
            <p:ph type="sldNum" idx="51"/>
          </p:nvPr>
        </p:nvSpPr>
        <p:spPr>
          <a:xfrm>
            <a:off x="6999840" y="648144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400" b="0" u="none" strike="noStrike">
                <a:solidFill>
                  <a:schemeClr val="dk1">
                    <a:tint val="75000"/>
                  </a:schemeClr>
                </a:solidFill>
                <a:effectLst/>
                <a:uFillTx/>
                <a:latin typeface="Calibri"/>
              </a:defRPr>
            </a:lvl1pPr>
          </a:lstStyle>
          <a:p>
            <a:pPr indent="0" algn="r" defTabSz="914400">
              <a:lnSpc>
                <a:spcPct val="100000"/>
              </a:lnSpc>
              <a:buNone/>
            </a:pPr>
            <a:fld id="{45EB4488-621C-4A4D-B7BF-EAB6737F9353}" type="slidenum">
              <a:rPr lang="en-US" sz="1400" b="0" u="none" strike="noStrike">
                <a:solidFill>
                  <a:schemeClr val="dk1">
                    <a:tint val="75000"/>
                  </a:schemeClr>
                </a:solidFill>
                <a:effectLst/>
                <a:uFillTx/>
                <a:latin typeface="Calibri"/>
              </a:rPr>
              <a:t>32</a:t>
            </a:fld>
            <a:endParaRPr lang="en-US" sz="1400" b="0" u="none" strike="noStrike">
              <a:solidFill>
                <a:srgbClr val="000000"/>
              </a:solidFill>
              <a:effectLst/>
              <a:uFillTx/>
              <a:latin typeface="Times New Roman"/>
            </a:endParaRPr>
          </a:p>
        </p:txBody>
      </p:sp>
      <p:pic>
        <p:nvPicPr>
          <p:cNvPr id="202" name="Picture 3" descr="5.14 PumpDFD.eps"/>
          <p:cNvPicPr/>
          <p:nvPr/>
        </p:nvPicPr>
        <p:blipFill>
          <a:blip r:embed="rId1"/>
          <a:stretch/>
        </p:blipFill>
        <p:spPr>
          <a:xfrm>
            <a:off x="175320" y="2654280"/>
            <a:ext cx="8720640" cy="2971440"/>
          </a:xfrm>
          <a:prstGeom prst="rect">
            <a:avLst/>
          </a:prstGeom>
          <a:noFill/>
          <a:ln w="0">
            <a:noFill/>
          </a:ln>
        </p:spPr>
      </p:pic>
      <p:sp>
        <p:nvSpPr>
          <p:cNvPr id="203" name="Rectangle 1"/>
          <p:cNvSpPr/>
          <p:nvPr/>
        </p:nvSpPr>
        <p:spPr>
          <a:xfrm>
            <a:off x="285840" y="1587600"/>
            <a:ext cx="7875720" cy="5227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en-US" sz="2800" b="0" u="none" strike="noStrike">
                <a:solidFill>
                  <a:srgbClr val="0070c0"/>
                </a:solidFill>
                <a:effectLst/>
                <a:uFillTx/>
                <a:latin typeface="Calibri"/>
              </a:rPr>
              <a:t>Biểu đồ luồng dữ liệu (DFD) cho thao tác tiêm Insulin</a:t>
            </a:r>
            <a:endParaRPr lang="en-US" sz="2800" b="0" u="none" strike="noStrike">
              <a:solidFill>
                <a:srgbClr val="000000"/>
              </a:solidFill>
              <a:effectLst/>
              <a:uFillTx/>
              <a:latin typeface="Arial"/>
            </a:endParaRPr>
          </a:p>
        </p:txBody>
      </p:sp>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hóa hướng sự kiện</a:t>
            </a:r>
            <a:endParaRPr lang="en-US" sz="4200" b="0" u="none" strike="noStrike">
              <a:solidFill>
                <a:srgbClr val="000000"/>
              </a:solidFill>
              <a:effectLst/>
              <a:uFillTx/>
              <a:latin typeface="Arial"/>
            </a:endParaRPr>
          </a:p>
        </p:txBody>
      </p:sp>
      <p:sp>
        <p:nvSpPr>
          <p:cNvPr id="205"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hướng sự kiện (event-driven models) biểu diễn cách mà hệ thống phản hồi các sự kiện từ bên ngoài và bên trong.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Dựa vào giả định cơ bản: Hệ thống có một tập hữu hạn trạng thái và các sự kiện sẽ kích hoạt các chuyển từ trạng thái này sang trạng thái kế tiếp.</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Thường dùng cho các hệ thống thời gian thực (real-time system)</a:t>
            </a:r>
            <a:endParaRPr lang="en-US" sz="3000" b="0" u="none" strike="noStrike">
              <a:solidFill>
                <a:srgbClr val="000000"/>
              </a:solidFill>
              <a:effectLst/>
              <a:uFillTx/>
              <a:latin typeface="Arial"/>
            </a:endParaRPr>
          </a:p>
          <a:p>
            <a:pPr marL="1800" defTabSz="914400">
              <a:lnSpc>
                <a:spcPct val="90000"/>
              </a:lnSpc>
              <a:spcBef>
                <a:spcPts val="601"/>
              </a:spcBef>
            </a:pPr>
            <a:endParaRPr lang="en-US" sz="3000" b="0" u="none" strike="noStrike">
              <a:solidFill>
                <a:srgbClr val="000000"/>
              </a:solidFill>
              <a:effectLst/>
              <a:uFillTx/>
              <a:latin typeface="Arial"/>
            </a:endParaRPr>
          </a:p>
        </p:txBody>
      </p:sp>
      <p:sp>
        <p:nvSpPr>
          <p:cNvPr id="206"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4C5CF70C-95CA-40D0-A142-ED93B9F665D9}" type="slidenum">
              <a:rPr lang="en-US" sz="1200" b="0" u="none" strike="noStrike">
                <a:solidFill>
                  <a:srgbClr val="8b8b8b"/>
                </a:solidFill>
                <a:effectLst/>
                <a:uFillTx/>
                <a:latin typeface="Calibri"/>
                <a:ea typeface="DejaVu Sans"/>
              </a:rPr>
              <a:t>&lt;number&gt;</a:t>
            </a:fld>
            <a:endParaRPr lang="en-US" sz="12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82104F2B-BD18-45C1-87A7-E9CE6A87BED6}"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Mô hình máy trạng thái</a:t>
            </a:r>
            <a:endParaRPr lang="en-US" sz="4200" b="0" u="none" strike="noStrike">
              <a:solidFill>
                <a:srgbClr val="000000"/>
              </a:solidFill>
              <a:effectLst/>
              <a:uFillTx/>
              <a:latin typeface="Arial"/>
            </a:endParaRPr>
          </a:p>
        </p:txBody>
      </p:sp>
      <p:sp>
        <p:nvSpPr>
          <p:cNvPr id="208"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Được dùng để mô hình hóa hành vi hệ thống. Biểu diễn cách mà hệ thống phản hồi các sự kiện từ bên ngoài và bên trong.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Mô hình máy trạng thái (trạng thái hệ thống, các sự kiện, các chuyển)</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Biểu đồ trạng thái UML (statecharts) được dùng để biểu diễn các mô hình máy trạng thái.</a:t>
            </a:r>
            <a:endParaRPr lang="en-US" sz="3000" b="0" u="none" strike="noStrike">
              <a:solidFill>
                <a:srgbClr val="000000"/>
              </a:solidFill>
              <a:effectLst/>
              <a:uFillTx/>
              <a:latin typeface="Arial"/>
            </a:endParaRPr>
          </a:p>
        </p:txBody>
      </p:sp>
      <p:sp>
        <p:nvSpPr>
          <p:cNvPr id="209" name="CustomShape 3"/>
          <p:cNvSpPr/>
          <p:nvPr/>
        </p:nvSpPr>
        <p:spPr>
          <a:xfrm>
            <a:off x="6925680" y="640728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4F8E7128-6608-4FDE-9ECE-AD7F0CBDC9B0}"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69F8B6DE-F732-4B92-A573-559A49B1294D}"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mô hình máy trạng thái</a:t>
            </a:r>
            <a:endParaRPr lang="en-US" sz="4200" b="0" u="none" strike="noStrike">
              <a:solidFill>
                <a:schemeClr val="dk1"/>
              </a:solidFill>
              <a:effectLst/>
              <a:uFillTx/>
              <a:latin typeface="Calibri"/>
            </a:endParaRPr>
          </a:p>
        </p:txBody>
      </p:sp>
      <p:sp>
        <p:nvSpPr>
          <p:cNvPr id="211" name="PlaceHolder 2"/>
          <p:cNvSpPr>
            <a:spLocks noGrp="1"/>
          </p:cNvSpPr>
          <p:nvPr>
            <p:ph type="sldNum" idx="52"/>
          </p:nvPr>
        </p:nvSpPr>
        <p:spPr>
          <a:xfrm>
            <a:off x="6999840" y="648144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8A0FB2E3-5EB7-4F14-9A0F-A772722BED07}" type="slidenum">
              <a:rPr lang="en-US" sz="1200" b="0" u="none" strike="noStrike">
                <a:solidFill>
                  <a:schemeClr val="dk1">
                    <a:tint val="75000"/>
                  </a:schemeClr>
                </a:solidFill>
                <a:effectLst/>
                <a:uFillTx/>
                <a:latin typeface="Calibri"/>
              </a:rPr>
              <a:t>35</a:t>
            </a:fld>
            <a:endParaRPr lang="en-US" sz="1200" b="0" u="none" strike="noStrike">
              <a:solidFill>
                <a:srgbClr val="000000"/>
              </a:solidFill>
              <a:effectLst/>
              <a:uFillTx/>
              <a:latin typeface="Times New Roman"/>
            </a:endParaRPr>
          </a:p>
        </p:txBody>
      </p:sp>
      <p:pic>
        <p:nvPicPr>
          <p:cNvPr id="212" name="Picture 3" descr="5.16 MWOvenStateDiag.eps"/>
          <p:cNvPicPr/>
          <p:nvPr/>
        </p:nvPicPr>
        <p:blipFill>
          <a:blip r:embed="rId1"/>
          <a:stretch/>
        </p:blipFill>
        <p:spPr>
          <a:xfrm>
            <a:off x="1047600" y="1494720"/>
            <a:ext cx="7548840" cy="4588200"/>
          </a:xfrm>
          <a:prstGeom prst="rect">
            <a:avLst/>
          </a:prstGeom>
          <a:noFill/>
          <a:ln w="0">
            <a:noFill/>
          </a:ln>
        </p:spPr>
      </p:pic>
      <p:sp>
        <p:nvSpPr>
          <p:cNvPr id="213" name="Rectangle 1"/>
          <p:cNvSpPr/>
          <p:nvPr/>
        </p:nvSpPr>
        <p:spPr>
          <a:xfrm>
            <a:off x="2647800" y="6154920"/>
            <a:ext cx="4326840" cy="46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en-US" sz="2400" b="0" u="none" strike="noStrike">
                <a:solidFill>
                  <a:schemeClr val="dk1"/>
                </a:solidFill>
                <a:effectLst/>
                <a:uFillTx/>
                <a:latin typeface="Calibri"/>
              </a:rPr>
              <a:t>Mô hình hoạt động của lò vi sóng</a:t>
            </a:r>
            <a:endParaRPr lang="en-US" sz="2400" b="0" u="none" strike="noStrike">
              <a:solidFill>
                <a:srgbClr val="000000"/>
              </a:solidFill>
              <a:effectLst/>
              <a:uFillTx/>
              <a:latin typeface="Arial"/>
            </a:endParaRPr>
          </a:p>
        </p:txBody>
      </p:sp>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455400" y="21600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ea typeface="DejaVu Sans"/>
              </a:rPr>
              <a:t>Ví dụ mô hình máy trạng thái (2)</a:t>
            </a:r>
            <a:endParaRPr lang="en-US" sz="4200" b="0" u="none" strike="noStrike">
              <a:solidFill>
                <a:schemeClr val="dk1"/>
              </a:solidFill>
              <a:effectLst/>
              <a:uFillTx/>
              <a:latin typeface="Calibri"/>
            </a:endParaRPr>
          </a:p>
        </p:txBody>
      </p:sp>
      <p:sp>
        <p:nvSpPr>
          <p:cNvPr id="215" name="PlaceHolder 2"/>
          <p:cNvSpPr>
            <a:spLocks noGrp="1"/>
          </p:cNvSpPr>
          <p:nvPr>
            <p:ph type="sldNum" idx="53"/>
          </p:nvPr>
        </p:nvSpPr>
        <p:spPr>
          <a:xfrm>
            <a:off x="6999840" y="6481440"/>
            <a:ext cx="2048400" cy="363240"/>
          </a:xfrm>
          <a:prstGeom prst="rect">
            <a:avLst/>
          </a:prstGeom>
          <a:noFill/>
          <a:ln w="0">
            <a:noFill/>
          </a:ln>
        </p:spPr>
        <p:txBody>
          <a:bodyPr lIns="91080" rIns="91080" tIns="45360" bIns="4536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5FDB54E8-7F05-4AD5-A716-6A4691094076}" type="slidenum">
              <a:rPr lang="en-US" sz="1200" b="0" u="none" strike="noStrike">
                <a:solidFill>
                  <a:schemeClr val="dk1">
                    <a:tint val="75000"/>
                  </a:schemeClr>
                </a:solidFill>
                <a:effectLst/>
                <a:uFillTx/>
                <a:latin typeface="Calibri"/>
              </a:rPr>
              <a:t>35</a:t>
            </a:fld>
            <a:endParaRPr lang="en-US" sz="1200" b="0" u="none" strike="noStrike">
              <a:solidFill>
                <a:srgbClr val="000000"/>
              </a:solidFill>
              <a:effectLst/>
              <a:uFillTx/>
              <a:latin typeface="Times New Roman"/>
            </a:endParaRPr>
          </a:p>
        </p:txBody>
      </p:sp>
      <p:pic>
        <p:nvPicPr>
          <p:cNvPr id="216" name="Picture 3" descr="5.18 Operate-state-mc.eps"/>
          <p:cNvPicPr/>
          <p:nvPr/>
        </p:nvPicPr>
        <p:blipFill>
          <a:blip r:embed="rId1"/>
          <a:stretch/>
        </p:blipFill>
        <p:spPr>
          <a:xfrm>
            <a:off x="2219400" y="1739880"/>
            <a:ext cx="5026680" cy="4042440"/>
          </a:xfrm>
          <a:prstGeom prst="rect">
            <a:avLst/>
          </a:prstGeom>
          <a:noFill/>
          <a:ln w="0">
            <a:noFill/>
          </a:ln>
        </p:spPr>
      </p:pic>
      <p:sp>
        <p:nvSpPr>
          <p:cNvPr id="4" name="PlaceHolder 3"/>
          <p:cNvSpPr>
            <a:spLocks noGrp="1"/>
          </p:cNvSpPr>
          <p:nvPr>
            <p:ph type="ftr" idx="25"/>
          </p:nvPr>
        </p:nvSpPr>
        <p:spPr/>
        <p:txBody>
          <a:bodyPr/>
          <a:p>
            <a:r>
              <a:t>Bộ môn Công nghệ phần mềm - Khoa CNTT - Trường ĐHCN - ĐHQGHN</a:t>
            </a: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Kỹ nghệ hướng mô hình</a:t>
            </a:r>
            <a:endParaRPr lang="en-US" sz="4200" b="0" u="none" strike="noStrike">
              <a:solidFill>
                <a:srgbClr val="000000"/>
              </a:solidFill>
              <a:effectLst/>
              <a:uFillTx/>
              <a:latin typeface="Arial"/>
            </a:endParaRPr>
          </a:p>
        </p:txBody>
      </p:sp>
      <p:sp>
        <p:nvSpPr>
          <p:cNvPr id="218"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fontScale="85000" lnSpcReduction="9999"/>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Kỹ nghệ hướng mô hình là phương pháp phát triển phần mềm trong đó các mô hình được xem là các chế tác đầu ra cơ bản của quy trình phát triển (chương trình là một dạng mô hình đầu ra)</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Các chương trình tương ứng với nên tảng thực thi nào đó thường được sinh tự động từ các mô hình bởi các chuyển đổi mô hình.</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Hướng tiếp cận này cho phép các kỹ sư làm việc ở cấp độ trừu tượng cao =&gt; dễ giao tiếp với chuyên gia miền, giảm nỗ lực ánh xạ thiết kế sang các diễn đạt chi tiết ở cấp độ ngôn ngữ lập trình.</a:t>
            </a:r>
            <a:endParaRPr lang="en-US" sz="3000" b="0" u="none" strike="noStrike">
              <a:solidFill>
                <a:srgbClr val="000000"/>
              </a:solidFill>
              <a:effectLst/>
              <a:uFillTx/>
              <a:latin typeface="Arial"/>
            </a:endParaRPr>
          </a:p>
          <a:p>
            <a:pPr defTabSz="914400">
              <a:lnSpc>
                <a:spcPct val="90000"/>
              </a:lnSpc>
              <a:spcBef>
                <a:spcPts val="601"/>
              </a:spcBef>
            </a:pPr>
            <a:endParaRPr lang="en-US" sz="3000" b="0" u="none" strike="noStrike">
              <a:solidFill>
                <a:srgbClr val="000000"/>
              </a:solidFill>
              <a:effectLst/>
              <a:uFillTx/>
              <a:latin typeface="Arial"/>
            </a:endParaRPr>
          </a:p>
        </p:txBody>
      </p:sp>
      <p:sp>
        <p:nvSpPr>
          <p:cNvPr id="219" name="CustomShape 3"/>
          <p:cNvSpPr/>
          <p:nvPr/>
        </p:nvSpPr>
        <p:spPr>
          <a:xfrm>
            <a:off x="6925680" y="640728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42EFBDAE-A41C-4414-8030-45040C5619C6}"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86983FCC-FF89-4255-A99A-C95767852EA2}"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CustomShape 1"/>
          <p:cNvSpPr/>
          <p:nvPr/>
        </p:nvSpPr>
        <p:spPr>
          <a:xfrm>
            <a:off x="426960" y="213480"/>
            <a:ext cx="8193240" cy="1136520"/>
          </a:xfrm>
          <a:prstGeom prst="rect">
            <a:avLst/>
          </a:prstGeom>
          <a:noFill/>
          <a:ln w="9360">
            <a:noFill/>
          </a:ln>
        </p:spPr>
        <p:style>
          <a:lnRef idx="0"/>
          <a:fillRef idx="0"/>
          <a:effectRef idx="0"/>
          <a:fontRef idx="minor"/>
        </p:style>
        <p:txBody>
          <a:bodyPr lIns="90360" rIns="90360" tIns="44280" bIns="44280" anchor="ctr">
            <a:noAutofit/>
          </a:bodyPr>
          <a:p>
            <a:pPr algn="ctr" defTabSz="914400">
              <a:lnSpc>
                <a:spcPct val="100000"/>
              </a:lnSpc>
            </a:pPr>
            <a:r>
              <a:rPr lang="en-US" sz="4200" b="0" u="none" strike="noStrike">
                <a:solidFill>
                  <a:srgbClr val="0070c0"/>
                </a:solidFill>
                <a:effectLst/>
                <a:uFillTx/>
                <a:latin typeface="Calibri"/>
                <a:ea typeface="DejaVu Sans"/>
              </a:rPr>
              <a:t>Đặc điểm kỹ nghệ hướng mô hình</a:t>
            </a:r>
            <a:endParaRPr lang="en-US" sz="4200" b="0" u="none" strike="noStrike">
              <a:solidFill>
                <a:srgbClr val="000000"/>
              </a:solidFill>
              <a:effectLst/>
              <a:uFillTx/>
              <a:latin typeface="Arial"/>
            </a:endParaRPr>
          </a:p>
        </p:txBody>
      </p:sp>
      <p:sp>
        <p:nvSpPr>
          <p:cNvPr id="221" name="CustomShape 2"/>
          <p:cNvSpPr/>
          <p:nvPr/>
        </p:nvSpPr>
        <p:spPr>
          <a:xfrm>
            <a:off x="455400" y="1594440"/>
            <a:ext cx="8193240" cy="4507200"/>
          </a:xfrm>
          <a:prstGeom prst="rect">
            <a:avLst/>
          </a:prstGeom>
          <a:noFill/>
          <a:ln w="9360">
            <a:noFill/>
          </a:ln>
        </p:spPr>
        <p:style>
          <a:lnRef idx="0"/>
          <a:fillRef idx="0"/>
          <a:effectRef idx="0"/>
          <a:fontRef idx="minor"/>
        </p:style>
        <p:txBody>
          <a:bodyPr lIns="90360" rIns="90360" tIns="44280" bIns="4428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Ưu điểm</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xem xét hệ thống ở cấp độ trừu tượng cao</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sinh mã tự động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Nhược điểm</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Sai khác giữa các trừu tượng mức mô hình và mức cài đặt</a:t>
            </a:r>
            <a:endParaRPr lang="en-US" sz="3000" b="0" u="none" strike="noStrike">
              <a:solidFill>
                <a:srgbClr val="000000"/>
              </a:solidFill>
              <a:effectLst/>
              <a:uFillTx/>
              <a:latin typeface="Arial"/>
            </a:endParaRPr>
          </a:p>
          <a:p>
            <a:pPr marL="432000" lvl="1" indent="-215640" defTabSz="914400">
              <a:lnSpc>
                <a:spcPct val="90000"/>
              </a:lnSpc>
              <a:spcBef>
                <a:spcPts val="601"/>
              </a:spcBef>
              <a:buClr>
                <a:srgbClr val="000000"/>
              </a:buClr>
              <a:buSzPct val="60000"/>
              <a:buFont typeface="Cantarell"/>
              <a:buChar char="-"/>
            </a:pPr>
            <a:r>
              <a:rPr lang="en-US" sz="3000" b="0" u="none" strike="noStrike">
                <a:solidFill>
                  <a:srgbClr val="000000"/>
                </a:solidFill>
                <a:effectLst/>
                <a:uFillTx/>
                <a:latin typeface="Calibri"/>
                <a:ea typeface="DejaVu Sans"/>
              </a:rPr>
              <a:t>chi phí để tạo ra các bộ chuyển đổi mô hình cũng như các bộ sinh mã tự động</a:t>
            </a:r>
            <a:endParaRPr lang="en-US" sz="3000" b="0" u="none" strike="noStrike">
              <a:solidFill>
                <a:srgbClr val="000000"/>
              </a:solidFill>
              <a:effectLst/>
              <a:uFillTx/>
              <a:latin typeface="Arial"/>
            </a:endParaRPr>
          </a:p>
        </p:txBody>
      </p:sp>
      <p:sp>
        <p:nvSpPr>
          <p:cNvPr id="222" name="CustomShape 3"/>
          <p:cNvSpPr/>
          <p:nvPr/>
        </p:nvSpPr>
        <p:spPr>
          <a:xfrm>
            <a:off x="6925680" y="63327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EAE7D311-03C1-4F9D-A148-4C4DD1B2CB95}"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37C83C61-9DE1-43B4-A2E3-A40CE909FC14}"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Bài tập thực hành</a:t>
            </a:r>
            <a:endParaRPr lang="en-US" sz="4200" b="0" u="none" strike="noStrike">
              <a:solidFill>
                <a:schemeClr val="dk1"/>
              </a:solidFill>
              <a:effectLst/>
              <a:uFillTx/>
              <a:latin typeface="Calibri"/>
            </a:endParaRPr>
          </a:p>
        </p:txBody>
      </p:sp>
      <p:sp>
        <p:nvSpPr>
          <p:cNvPr id="224" name="PlaceHolder 2"/>
          <p:cNvSpPr>
            <a:spLocks noGrp="1"/>
          </p:cNvSpPr>
          <p:nvPr>
            <p:ph/>
          </p:nvPr>
        </p:nvSpPr>
        <p:spPr>
          <a:xfrm>
            <a:off x="455400" y="1594440"/>
            <a:ext cx="8195040" cy="45090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Cài đặt StarUML hay công cụ UML khác</a:t>
            </a:r>
            <a:endParaRPr lang="en-US" sz="3000" b="0" u="none" strike="noStrike">
              <a:solidFill>
                <a:schemeClr val="dk1"/>
              </a:solidFill>
              <a:effectLst/>
              <a:uFillTx/>
              <a:latin typeface="Calibri"/>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Vẽ biểu đồ sequence, biểu đồ tương tác của 1 ca sử dụng được lựa chọn.</a:t>
            </a:r>
            <a:endParaRPr lang="en-US" sz="3000" b="0" u="none" strike="noStrike">
              <a:solidFill>
                <a:schemeClr val="dk1"/>
              </a:solidFill>
              <a:effectLst/>
              <a:uFillTx/>
              <a:latin typeface="Calibri"/>
            </a:endParaRPr>
          </a:p>
        </p:txBody>
      </p:sp>
      <p:sp>
        <p:nvSpPr>
          <p:cNvPr id="4" name="PlaceHolder 3"/>
          <p:cNvSpPr>
            <a:spLocks noGrp="1"/>
          </p:cNvSpPr>
          <p:nvPr>
            <p:ph type="ftr" idx="13"/>
          </p:nvPr>
        </p:nvSpPr>
        <p:spPr/>
        <p:txBody>
          <a:bodyPr/>
          <a:p>
            <a:r>
              <a:t>Bộ môn Công nghệ phần mềm - Khoa CNTT - Trường ĐHCN - ĐHQGHN</a:t>
            </a:r>
          </a:p>
        </p:txBody>
      </p:sp>
      <p:sp>
        <p:nvSpPr>
          <p:cNvPr id="5" name="PlaceHolder 4"/>
          <p:cNvSpPr>
            <a:spLocks noGrp="1"/>
          </p:cNvSpPr>
          <p:nvPr>
            <p:ph type="sldNum" idx="14"/>
          </p:nvPr>
        </p:nvSpPr>
        <p:spPr/>
        <p:txBody>
          <a:bodyPr/>
          <a:p>
            <a:fld id="{B423B488-66A8-4237-BF67-8472E824AE92}"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26960" y="213480"/>
            <a:ext cx="8195040" cy="1138320"/>
          </a:xfrm>
          <a:prstGeom prst="rect">
            <a:avLst/>
          </a:prstGeom>
          <a:noFill/>
          <a:ln w="9360">
            <a:noFill/>
          </a:ln>
        </p:spPr>
        <p:txBody>
          <a:bodyPr numCol="1" spcCol="0" lIns="86760" rIns="86760" tIns="43560" bIns="43560" anchor="ctr">
            <a:noAutofit/>
          </a:bodyPr>
          <a:p>
            <a:pPr indent="0" algn="ctr">
              <a:lnSpc>
                <a:spcPct val="100000"/>
              </a:lnSpc>
              <a:buNone/>
            </a:pPr>
            <a:r>
              <a:rPr lang="en-US" sz="4200" b="0" u="none" strike="noStrike">
                <a:solidFill>
                  <a:srgbClr val="0070c0"/>
                </a:solidFill>
                <a:effectLst/>
                <a:uFillTx/>
                <a:latin typeface="Calibri"/>
              </a:rPr>
              <a:t>Bài tập về nhà</a:t>
            </a:r>
            <a:endParaRPr lang="en-US" sz="4200" b="0" u="none" strike="noStrike">
              <a:solidFill>
                <a:schemeClr val="dk1"/>
              </a:solidFill>
              <a:effectLst/>
              <a:uFillTx/>
              <a:latin typeface="Calibri"/>
            </a:endParaRPr>
          </a:p>
        </p:txBody>
      </p:sp>
      <p:sp>
        <p:nvSpPr>
          <p:cNvPr id="226" name="PlaceHolder 2"/>
          <p:cNvSpPr>
            <a:spLocks noGrp="1"/>
          </p:cNvSpPr>
          <p:nvPr>
            <p:ph/>
          </p:nvPr>
        </p:nvSpPr>
        <p:spPr>
          <a:xfrm>
            <a:off x="455400" y="1594440"/>
            <a:ext cx="8195040" cy="45090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Lựa chọn, tìm hiểu và lập trình một mẫu kiến trúc mà em biết (tham khảo nội dung bài sau).</a:t>
            </a:r>
            <a:endParaRPr lang="en-US" sz="3000" b="0" u="none" strike="noStrike">
              <a:solidFill>
                <a:schemeClr val="dk1"/>
              </a:solidFill>
              <a:effectLst/>
              <a:uFillTx/>
              <a:latin typeface="Calibri"/>
            </a:endParaRPr>
          </a:p>
        </p:txBody>
      </p:sp>
      <p:sp>
        <p:nvSpPr>
          <p:cNvPr id="227" name="PlaceHolder 3"/>
          <p:cNvSpPr>
            <a:spLocks noGrp="1"/>
          </p:cNvSpPr>
          <p:nvPr>
            <p:ph type="ftr" idx="54"/>
          </p:nvPr>
        </p:nvSpPr>
        <p:spPr>
          <a:xfrm>
            <a:off x="2266920" y="6332760"/>
            <a:ext cx="4419360" cy="363240"/>
          </a:xfrm>
          <a:prstGeom prst="rect">
            <a:avLst/>
          </a:prstGeom>
          <a:noFill/>
          <a:ln w="0">
            <a:noFill/>
          </a:ln>
        </p:spPr>
        <p:txBody>
          <a:bodyPr lIns="86760" rIns="86760" tIns="43560" bIns="43560" anchor="ctr">
            <a:noAutofit/>
          </a:bodyPr>
          <a:lstStyle>
            <a:lvl1pPr indent="0" algn="ctr" defTabSz="914400">
              <a:lnSpc>
                <a:spcPct val="100000"/>
              </a:lnSpc>
              <a:buNone/>
              <a:defRPr lang="vi-VN" sz="1100" b="0" u="none" strike="noStrike">
                <a:solidFill>
                  <a:schemeClr val="dk1">
                    <a:tint val="75000"/>
                  </a:schemeClr>
                </a:solidFill>
                <a:effectLst/>
                <a:uFillTx/>
                <a:latin typeface="Calibri"/>
              </a:defRPr>
            </a:lvl1pPr>
          </a:lstStyle>
          <a:p>
            <a:pPr indent="0" algn="ctr" defTabSz="914400">
              <a:lnSpc>
                <a:spcPct val="100000"/>
              </a:lnSpc>
              <a:buNone/>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28" name="PlaceHolder 4"/>
          <p:cNvSpPr>
            <a:spLocks noGrp="1"/>
          </p:cNvSpPr>
          <p:nvPr>
            <p:ph type="sldNum" idx="55"/>
          </p:nvPr>
        </p:nvSpPr>
        <p:spPr>
          <a:xfrm>
            <a:off x="6525720" y="6332760"/>
            <a:ext cx="2124360" cy="363240"/>
          </a:xfrm>
          <a:prstGeom prst="rect">
            <a:avLst/>
          </a:prstGeom>
          <a:noFill/>
          <a:ln w="0">
            <a:noFill/>
          </a:ln>
        </p:spPr>
        <p:txBody>
          <a:bodyPr lIns="86760" rIns="86760" tIns="43560" bIns="43560" anchor="ctr">
            <a:noAutofit/>
          </a:bodyPr>
          <a:lstStyle>
            <a:lvl1pPr indent="0" algn="r" defTabSz="914400">
              <a:lnSpc>
                <a:spcPct val="100000"/>
              </a:lnSpc>
              <a:buNone/>
              <a:defRPr lang="en-US" sz="1100" b="0" u="none" strike="noStrike">
                <a:solidFill>
                  <a:schemeClr val="dk1">
                    <a:tint val="75000"/>
                  </a:schemeClr>
                </a:solidFill>
                <a:effectLst/>
                <a:uFillTx/>
                <a:latin typeface="Arial"/>
              </a:defRPr>
            </a:lvl1pPr>
          </a:lstStyle>
          <a:p>
            <a:pPr indent="0" algn="r" defTabSz="914400">
              <a:lnSpc>
                <a:spcPct val="100000"/>
              </a:lnSpc>
              <a:buNone/>
            </a:pPr>
            <a:fld id="{D25E1D7B-4BF9-4A61-A544-F049271F0B79}"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CustomShape 1"/>
          <p:cNvSpPr/>
          <p:nvPr/>
        </p:nvSpPr>
        <p:spPr>
          <a:xfrm>
            <a:off x="426960" y="213480"/>
            <a:ext cx="8193240" cy="1136520"/>
          </a:xfrm>
          <a:prstGeom prst="rect">
            <a:avLst/>
          </a:prstGeom>
          <a:noFill/>
          <a:ln w="9360">
            <a:noFill/>
          </a:ln>
        </p:spPr>
        <p:style>
          <a:lnRef idx="0"/>
          <a:fillRef idx="0"/>
          <a:effectRef idx="0"/>
          <a:fontRef idx="minor"/>
        </p:style>
        <p:txBody>
          <a:bodyPr lIns="86760" rIns="86760" tIns="43560" bIns="43560" anchor="ctr">
            <a:noAutofit/>
          </a:bodyPr>
          <a:p>
            <a:pPr algn="ctr" defTabSz="914400">
              <a:lnSpc>
                <a:spcPct val="100000"/>
              </a:lnSpc>
            </a:pPr>
            <a:r>
              <a:rPr lang="en-US" sz="4200" b="0" u="none" strike="noStrike">
                <a:solidFill>
                  <a:srgbClr val="0070c0"/>
                </a:solidFill>
                <a:effectLst/>
                <a:uFillTx/>
                <a:latin typeface="Calibri"/>
                <a:ea typeface="DejaVu Sans"/>
              </a:rPr>
              <a:t>Tổng kết</a:t>
            </a:r>
            <a:endParaRPr lang="en-US" sz="4200" b="0" u="none" strike="noStrike">
              <a:solidFill>
                <a:srgbClr val="000000"/>
              </a:solidFill>
              <a:effectLst/>
              <a:uFillTx/>
              <a:latin typeface="Arial"/>
            </a:endParaRPr>
          </a:p>
        </p:txBody>
      </p:sp>
      <p:sp>
        <p:nvSpPr>
          <p:cNvPr id="230" name="CustomShape 2"/>
          <p:cNvSpPr/>
          <p:nvPr/>
        </p:nvSpPr>
        <p:spPr>
          <a:xfrm>
            <a:off x="455400" y="1594440"/>
            <a:ext cx="8193240" cy="4507200"/>
          </a:xfrm>
          <a:prstGeom prst="rect">
            <a:avLst/>
          </a:prstGeom>
          <a:noFill/>
          <a:ln w="9360">
            <a:noFill/>
          </a:ln>
        </p:spPr>
        <p:style>
          <a:lnRef idx="0"/>
          <a:fillRef idx="0"/>
          <a:effectRef idx="0"/>
          <a:fontRef idx="minor"/>
        </p:style>
        <p:txBody>
          <a:bodyPr lIns="86760" rIns="86760" tIns="43560" bIns="43560" anchor="t">
            <a:normAutofit/>
          </a:bodyPr>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Khái niệm mô hình hóa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Ngôn ngữ mô hình hóa UML</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Các góc nhìn hệ thống phần mềm</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Một số loại mô hình hệ thống</a:t>
            </a:r>
            <a:endParaRPr lang="en-US" sz="3000" b="0" u="none" strike="noStrike">
              <a:solidFill>
                <a:srgbClr val="000000"/>
              </a:solidFill>
              <a:effectLst/>
              <a:uFillTx/>
              <a:latin typeface="Arial"/>
            </a:endParaRPr>
          </a:p>
          <a:p>
            <a:pPr marL="326160" indent="-324360" defTabSz="914400">
              <a:lnSpc>
                <a:spcPct val="90000"/>
              </a:lnSpc>
              <a:spcBef>
                <a:spcPts val="601"/>
              </a:spcBef>
              <a:buClr>
                <a:srgbClr val="000000"/>
              </a:buClr>
              <a:buFont typeface="Arial"/>
              <a:buChar char="•"/>
            </a:pPr>
            <a:r>
              <a:rPr lang="en-US" sz="3000" b="0" u="none" strike="noStrike">
                <a:solidFill>
                  <a:srgbClr val="000000"/>
                </a:solidFill>
                <a:effectLst/>
                <a:uFillTx/>
                <a:latin typeface="Calibri"/>
                <a:ea typeface="DejaVu Sans"/>
              </a:rPr>
              <a:t>Kỹ nghệ hướng mô hình</a:t>
            </a:r>
            <a:endParaRPr lang="en-US" sz="3000" b="0" u="none" strike="noStrike">
              <a:solidFill>
                <a:srgbClr val="000000"/>
              </a:solidFill>
              <a:effectLst/>
              <a:uFillTx/>
              <a:latin typeface="Arial"/>
            </a:endParaRPr>
          </a:p>
        </p:txBody>
      </p:sp>
      <p:sp>
        <p:nvSpPr>
          <p:cNvPr id="231" name="CustomShape 3"/>
          <p:cNvSpPr/>
          <p:nvPr/>
        </p:nvSpPr>
        <p:spPr>
          <a:xfrm>
            <a:off x="6925680" y="6464160"/>
            <a:ext cx="2122560" cy="361440"/>
          </a:xfrm>
          <a:prstGeom prst="rect">
            <a:avLst/>
          </a:prstGeom>
          <a:noFill/>
          <a:ln w="0">
            <a:noFill/>
          </a:ln>
        </p:spPr>
        <p:style>
          <a:lnRef idx="0"/>
          <a:fillRef idx="0"/>
          <a:effectRef idx="0"/>
          <a:fontRef idx="minor"/>
        </p:style>
        <p:txBody>
          <a:bodyPr lIns="86760" rIns="86760" tIns="43560" bIns="43560" anchor="ctr">
            <a:noAutofit/>
          </a:bodyPr>
          <a:p>
            <a:pPr algn="r" defTabSz="914400">
              <a:lnSpc>
                <a:spcPct val="100000"/>
              </a:lnSpc>
            </a:pPr>
            <a:fld id="{238A131D-F0B3-4B74-9F4E-8197D6752BBD}" type="slidenum">
              <a:rPr lang="en-US" sz="1100" b="0" u="none" strike="noStrike">
                <a:solidFill>
                  <a:srgbClr val="8b8b8b"/>
                </a:solidFill>
                <a:effectLst/>
                <a:uFillTx/>
                <a:latin typeface="Calibri"/>
                <a:ea typeface="DejaVu Sans"/>
              </a:rPr>
              <a:t>&lt;number&gt;</a:t>
            </a:fld>
            <a:endParaRPr lang="en-US" sz="1100" b="0" u="none" strike="noStrike">
              <a:solidFill>
                <a:srgbClr val="000000"/>
              </a:solidFill>
              <a:effectLst/>
              <a:uFillTx/>
              <a:latin typeface="Arial"/>
            </a:endParaRPr>
          </a:p>
        </p:txBody>
      </p:sp>
      <p:sp>
        <p:nvSpPr>
          <p:cNvPr id="2" name="PlaceHolder 1"/>
          <p:cNvSpPr>
            <a:spLocks noGrp="1"/>
          </p:cNvSpPr>
          <p:nvPr>
            <p:ph type="ftr" idx="10"/>
          </p:nvPr>
        </p:nvSpPr>
        <p:spPr/>
        <p:txBody>
          <a:bodyPr/>
          <a:p>
            <a:r>
              <a:t>Bộ môn Công nghệ phần mềm - Khoa CNTT - Trường ĐHCN - ĐHQGHN</a:t>
            </a:r>
          </a:p>
        </p:txBody>
      </p:sp>
      <p:sp>
        <p:nvSpPr>
          <p:cNvPr id="3" name="PlaceHolder 2"/>
          <p:cNvSpPr>
            <a:spLocks noGrp="1"/>
          </p:cNvSpPr>
          <p:nvPr>
            <p:ph type="sldNum" idx="11"/>
          </p:nvPr>
        </p:nvSpPr>
        <p:spPr/>
        <p:txBody>
          <a:bodyPr/>
          <a:p>
            <a:fld id="{2BBB6821-44CF-4CB8-8928-C7F6EDC1F26F}" type="slidenum">
              <a:t>42</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SE">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4234</TotalTime>
  <Application>LibreOffice/25.8.7.3$Linux_X86_64 LibreOffice_project/580$Build-3</Application>
  <AppVersion>15.0000</AppVersion>
  <Pages>42</Pages>
  <Words>11320</Words>
  <Paragraphs>485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2000-04-28T08:06:41Z</dcterms:created>
  <dc:creator>Ian Sommerville</dc:creator>
  <dc:description/>
  <dc:language>en-US</dc:language>
  <cp:lastModifiedBy/>
  <cp:lastPrinted>2004-04-23T15:45:57Z</cp:lastPrinted>
  <dcterms:modified xsi:type="dcterms:W3CDTF">2026-06-13T13:06:01Z</dcterms:modified>
  <cp:revision>547</cp:revision>
  <dc:subject/>
  <dc:title>Software Processes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40</vt:i4>
  </property>
  <property fmtid="{D5CDD505-2E9C-101B-9397-08002B2CF9AE}" pid="7" name="PresentationFormat">
    <vt:lpwstr>Custom</vt:lpwstr>
  </property>
  <property fmtid="{D5CDD505-2E9C-101B-9397-08002B2CF9AE}" pid="8" name="ScaleCrop">
    <vt:bool>0</vt:bool>
  </property>
  <property fmtid="{D5CDD505-2E9C-101B-9397-08002B2CF9AE}" pid="9" name="ShareDoc">
    <vt:bool>0</vt:bool>
  </property>
  <property fmtid="{D5CDD505-2E9C-101B-9397-08002B2CF9AE}" pid="10" name="Slides">
    <vt:i4>42</vt:i4>
  </property>
</Properties>
</file>