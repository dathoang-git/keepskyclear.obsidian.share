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1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7" r:id="rId3"/>
    <p:sldId id="265" r:id="rId4"/>
    <p:sldId id="270" r:id="rId5"/>
    <p:sldId id="271" r:id="rId6"/>
    <p:sldId id="308" r:id="rId7"/>
    <p:sldId id="273" r:id="rId8"/>
    <p:sldId id="274" r:id="rId9"/>
    <p:sldId id="275" r:id="rId10"/>
    <p:sldId id="346" r:id="rId11"/>
    <p:sldId id="362" r:id="rId12"/>
    <p:sldId id="361" r:id="rId13"/>
    <p:sldId id="347" r:id="rId14"/>
    <p:sldId id="363" r:id="rId15"/>
    <p:sldId id="385" r:id="rId16"/>
    <p:sldId id="386" r:id="rId17"/>
    <p:sldId id="387" r:id="rId18"/>
    <p:sldId id="388" r:id="rId19"/>
    <p:sldId id="377" r:id="rId20"/>
    <p:sldId id="389" r:id="rId21"/>
    <p:sldId id="379" r:id="rId22"/>
    <p:sldId id="380" r:id="rId23"/>
    <p:sldId id="381" r:id="rId24"/>
    <p:sldId id="382" r:id="rId25"/>
    <p:sldId id="383" r:id="rId26"/>
    <p:sldId id="384" r:id="rId27"/>
    <p:sldId id="390" r:id="rId28"/>
    <p:sldId id="391" r:id="rId29"/>
    <p:sldId id="352" r:id="rId30"/>
  </p:sldIdLst>
  <p:sldSz cx="9105900" cy="6832600"/>
  <p:notesSz cx="6858000" cy="97663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>
          <p15:clr>
            <a:srgbClr val="A4A3A4"/>
          </p15:clr>
        </p15:guide>
        <p15:guide id="2" pos="28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76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FF00FF"/>
    <a:srgbClr val="00FFFF"/>
    <a:srgbClr val="0000FF"/>
    <a:srgbClr val="00FF00"/>
    <a:srgbClr val="FF0000"/>
    <a:srgbClr val="FFFFFF"/>
    <a:srgbClr val="653A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61" autoAdjust="0"/>
    <p:restoredTop sz="82899" autoAdjust="0"/>
  </p:normalViewPr>
  <p:slideViewPr>
    <p:cSldViewPr>
      <p:cViewPr varScale="1">
        <p:scale>
          <a:sx n="68" d="100"/>
          <a:sy n="68" d="100"/>
        </p:scale>
        <p:origin x="1598" y="72"/>
      </p:cViewPr>
      <p:guideLst>
        <p:guide orient="horz" pos="2152"/>
        <p:guide pos="28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-1696" y="-104"/>
      </p:cViewPr>
      <p:guideLst>
        <p:guide orient="horz" pos="3076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3295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4185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notes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2525" y="854075"/>
            <a:ext cx="455295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21319417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71625" y="833438"/>
            <a:ext cx="3689350" cy="2768600"/>
          </a:xfrm>
          <a:ln cap="flat"/>
        </p:spPr>
      </p:sp>
    </p:spTree>
    <p:extLst>
      <p:ext uri="{BB962C8B-B14F-4D97-AF65-F5344CB8AC3E}">
        <p14:creationId xmlns:p14="http://schemas.microsoft.com/office/powerpoint/2010/main" val="2971029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211661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843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3241824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662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1204695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867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2423644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277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23176283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4198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4283247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2943" y="2122536"/>
            <a:ext cx="7740015" cy="1464580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5885" y="3871807"/>
            <a:ext cx="6374130" cy="1746109"/>
          </a:xfrm>
        </p:spPr>
        <p:txBody>
          <a:bodyPr/>
          <a:lstStyle>
            <a:lvl1pPr marL="0" indent="0" algn="ctr">
              <a:buNone/>
              <a:defRPr b="1">
                <a:solidFill>
                  <a:srgbClr val="C00000"/>
                </a:solidFill>
                <a:effectLst/>
              </a:defRPr>
            </a:lvl1pPr>
            <a:lvl2pPr marL="434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69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03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3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73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07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042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47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2FFAEC-6C58-414C-9CBE-0941ACFCCDA9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0" y="6332809"/>
            <a:ext cx="4343399" cy="36377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 dirty="0"/>
              <a:t>Bộ môn Công nghệ phần mềm - Khoa CNTT - Trường ĐHCN - ĐHQGHN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9886A4-4ACE-4E07-8C07-313BEFE829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426840" y="1352286"/>
            <a:ext cx="818108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810" y="213496"/>
            <a:ext cx="8195310" cy="1138767"/>
          </a:xfrm>
        </p:spPr>
        <p:txBody>
          <a:bodyPr>
            <a:normAutofit/>
          </a:bodyPr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2pPr>
              <a:defRPr>
                <a:solidFill>
                  <a:srgbClr val="0070C0"/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7BEB66-FACA-45EE-B054-CD4857DC6868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0" y="6332809"/>
            <a:ext cx="4343400" cy="36377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A27918-AF68-41BB-82C7-522D23BA7C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304" y="4390580"/>
            <a:ext cx="7740015" cy="1357030"/>
          </a:xfrm>
        </p:spPr>
        <p:txBody>
          <a:bodyPr anchor="t"/>
          <a:lstStyle>
            <a:lvl1pPr algn="l">
              <a:defRPr sz="38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304" y="2895948"/>
            <a:ext cx="7740015" cy="1494631"/>
          </a:xfrm>
        </p:spPr>
        <p:txBody>
          <a:bodyPr anchor="b"/>
          <a:lstStyle>
            <a:lvl1pPr marL="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1pPr>
            <a:lvl2pPr marL="43466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86932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30398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73864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1733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60796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304262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47728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EA234C-543D-4224-8AB0-FABA53D77110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7F873-6AAF-4FAD-930F-0A383F3CB8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26840" y="1352286"/>
            <a:ext cx="818108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295" y="1594275"/>
            <a:ext cx="4021773" cy="4509200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8832" y="1594275"/>
            <a:ext cx="4021773" cy="4509200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F0938E-6189-4426-8104-D2755CAB1937}" type="datetime1">
              <a:rPr lang="en-US" smtClean="0"/>
              <a:t>2/13/2026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66950" y="6332809"/>
            <a:ext cx="4419599" cy="36377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05E3E2-4364-4633-A996-4ACFBEBDB5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426840" y="1352286"/>
            <a:ext cx="818108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295" y="1529427"/>
            <a:ext cx="4023354" cy="637393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4660" indent="0">
              <a:buNone/>
              <a:defRPr sz="1900" b="1"/>
            </a:lvl2pPr>
            <a:lvl3pPr marL="869320" indent="0">
              <a:buNone/>
              <a:defRPr sz="1700" b="1"/>
            </a:lvl3pPr>
            <a:lvl4pPr marL="1303980" indent="0">
              <a:buNone/>
              <a:defRPr sz="1500" b="1"/>
            </a:lvl4pPr>
            <a:lvl5pPr marL="1738640" indent="0">
              <a:buNone/>
              <a:defRPr sz="1500" b="1"/>
            </a:lvl5pPr>
            <a:lvl6pPr marL="2173300" indent="0">
              <a:buNone/>
              <a:defRPr sz="1500" b="1"/>
            </a:lvl6pPr>
            <a:lvl7pPr marL="2607960" indent="0">
              <a:buNone/>
              <a:defRPr sz="1500" b="1"/>
            </a:lvl7pPr>
            <a:lvl8pPr marL="3042620" indent="0">
              <a:buNone/>
              <a:defRPr sz="1500" b="1"/>
            </a:lvl8pPr>
            <a:lvl9pPr marL="3477280" indent="0"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295" y="2166820"/>
            <a:ext cx="4023354" cy="3936654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5671" y="1529427"/>
            <a:ext cx="4024935" cy="637393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4660" indent="0">
              <a:buNone/>
              <a:defRPr sz="1900" b="1"/>
            </a:lvl2pPr>
            <a:lvl3pPr marL="869320" indent="0">
              <a:buNone/>
              <a:defRPr sz="1700" b="1"/>
            </a:lvl3pPr>
            <a:lvl4pPr marL="1303980" indent="0">
              <a:buNone/>
              <a:defRPr sz="1500" b="1"/>
            </a:lvl4pPr>
            <a:lvl5pPr marL="1738640" indent="0">
              <a:buNone/>
              <a:defRPr sz="1500" b="1"/>
            </a:lvl5pPr>
            <a:lvl6pPr marL="2173300" indent="0">
              <a:buNone/>
              <a:defRPr sz="1500" b="1"/>
            </a:lvl6pPr>
            <a:lvl7pPr marL="2607960" indent="0">
              <a:buNone/>
              <a:defRPr sz="1500" b="1"/>
            </a:lvl7pPr>
            <a:lvl8pPr marL="3042620" indent="0">
              <a:buNone/>
              <a:defRPr sz="1500" b="1"/>
            </a:lvl8pPr>
            <a:lvl9pPr marL="3477280" indent="0"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5671" y="2166820"/>
            <a:ext cx="4024935" cy="3936654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A959A1-39DF-4925-9DA2-599FBE2BD1BC}" type="datetime1">
              <a:rPr lang="en-US" smtClean="0"/>
              <a:t>2/13/2026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266950" y="6332809"/>
            <a:ext cx="4419599" cy="36377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A978B3-9D9A-4ED8-888E-FD7CF5FBB1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426840" y="1352286"/>
            <a:ext cx="818108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95804-AC74-4467-9031-0F889AFC2091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4AC4C-135F-4522-8940-2B69BB186A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321D70-D39B-4C79-BE31-B9C1B779B7F6}" type="datetime1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031BC6-5C94-4CD4-B195-0CCA50D364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295" y="272039"/>
            <a:ext cx="2995779" cy="1157746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0155" y="272040"/>
            <a:ext cx="5090451" cy="5831435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5295" y="1429786"/>
            <a:ext cx="2995779" cy="4673689"/>
          </a:xfrm>
        </p:spPr>
        <p:txBody>
          <a:bodyPr/>
          <a:lstStyle>
            <a:lvl1pPr marL="0" indent="0">
              <a:buNone/>
              <a:defRPr sz="1300"/>
            </a:lvl1pPr>
            <a:lvl2pPr marL="434660" indent="0">
              <a:buNone/>
              <a:defRPr sz="1100"/>
            </a:lvl2pPr>
            <a:lvl3pPr marL="869320" indent="0">
              <a:buNone/>
              <a:defRPr sz="1000"/>
            </a:lvl3pPr>
            <a:lvl4pPr marL="1303980" indent="0">
              <a:buNone/>
              <a:defRPr sz="900"/>
            </a:lvl4pPr>
            <a:lvl5pPr marL="1738640" indent="0">
              <a:buNone/>
              <a:defRPr sz="900"/>
            </a:lvl5pPr>
            <a:lvl6pPr marL="2173300" indent="0">
              <a:buNone/>
              <a:defRPr sz="900"/>
            </a:lvl6pPr>
            <a:lvl7pPr marL="2607960" indent="0">
              <a:buNone/>
              <a:defRPr sz="900"/>
            </a:lvl7pPr>
            <a:lvl8pPr marL="3042620" indent="0">
              <a:buNone/>
              <a:defRPr sz="900"/>
            </a:lvl8pPr>
            <a:lvl9pPr marL="347728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E5FCA-E8EB-4B44-A7B4-F43B01FBD248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F41CBC-9904-4263-9153-B1006F3BD4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4820" y="4782820"/>
            <a:ext cx="5463540" cy="564639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84820" y="610505"/>
            <a:ext cx="5463540" cy="4099560"/>
          </a:xfrm>
        </p:spPr>
        <p:txBody>
          <a:bodyPr rtlCol="0">
            <a:normAutofit/>
          </a:bodyPr>
          <a:lstStyle>
            <a:lvl1pPr marL="0" indent="0">
              <a:buNone/>
              <a:defRPr sz="3000"/>
            </a:lvl1pPr>
            <a:lvl2pPr marL="434660" indent="0">
              <a:buNone/>
              <a:defRPr sz="2700"/>
            </a:lvl2pPr>
            <a:lvl3pPr marL="869320" indent="0">
              <a:buNone/>
              <a:defRPr sz="2300"/>
            </a:lvl3pPr>
            <a:lvl4pPr marL="1303980" indent="0">
              <a:buNone/>
              <a:defRPr sz="1900"/>
            </a:lvl4pPr>
            <a:lvl5pPr marL="1738640" indent="0">
              <a:buNone/>
              <a:defRPr sz="1900"/>
            </a:lvl5pPr>
            <a:lvl6pPr marL="2173300" indent="0">
              <a:buNone/>
              <a:defRPr sz="1900"/>
            </a:lvl6pPr>
            <a:lvl7pPr marL="2607960" indent="0">
              <a:buNone/>
              <a:defRPr sz="1900"/>
            </a:lvl7pPr>
            <a:lvl8pPr marL="3042620" indent="0">
              <a:buNone/>
              <a:defRPr sz="1900"/>
            </a:lvl8pPr>
            <a:lvl9pPr marL="3477280" indent="0">
              <a:buNone/>
              <a:defRPr sz="19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84820" y="5347459"/>
            <a:ext cx="5463540" cy="801881"/>
          </a:xfrm>
        </p:spPr>
        <p:txBody>
          <a:bodyPr/>
          <a:lstStyle>
            <a:lvl1pPr marL="0" indent="0">
              <a:buNone/>
              <a:defRPr sz="1300"/>
            </a:lvl1pPr>
            <a:lvl2pPr marL="434660" indent="0">
              <a:buNone/>
              <a:defRPr sz="1100"/>
            </a:lvl2pPr>
            <a:lvl3pPr marL="869320" indent="0">
              <a:buNone/>
              <a:defRPr sz="1000"/>
            </a:lvl3pPr>
            <a:lvl4pPr marL="1303980" indent="0">
              <a:buNone/>
              <a:defRPr sz="900"/>
            </a:lvl4pPr>
            <a:lvl5pPr marL="1738640" indent="0">
              <a:buNone/>
              <a:defRPr sz="900"/>
            </a:lvl5pPr>
            <a:lvl6pPr marL="2173300" indent="0">
              <a:buNone/>
              <a:defRPr sz="900"/>
            </a:lvl6pPr>
            <a:lvl7pPr marL="2607960" indent="0">
              <a:buNone/>
              <a:defRPr sz="900"/>
            </a:lvl7pPr>
            <a:lvl8pPr marL="3042620" indent="0">
              <a:buNone/>
              <a:defRPr sz="900"/>
            </a:lvl8pPr>
            <a:lvl9pPr marL="347728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AA6D4C-34B5-447A-86A3-473A0BC3E16F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9F4961-C020-4071-8C36-0E057DC90E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AD36F-3D78-41C6-B234-63F6ABFCC1ED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BE2097-9A97-4296-A839-7902B94E44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01777" y="273622"/>
            <a:ext cx="2048828" cy="58298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295" y="273622"/>
            <a:ext cx="5994718" cy="5829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0F7020-13D6-43DD-B965-5B6793C09A49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9E2E0B-A0B9-4072-B062-59BFD7EFAF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134" y="305255"/>
            <a:ext cx="7771633" cy="9141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86473" y="1670193"/>
            <a:ext cx="3809934" cy="41153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8171" y="1670193"/>
            <a:ext cx="3809934" cy="41153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5295" y="273621"/>
            <a:ext cx="8195310" cy="1138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6932" tIns="43466" rIns="86932" bIns="4346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5295" y="1594275"/>
            <a:ext cx="8195310" cy="4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6932" tIns="43466" rIns="86932" bIns="434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5295" y="6332809"/>
            <a:ext cx="2124710" cy="363773"/>
          </a:xfrm>
          <a:prstGeom prst="rect">
            <a:avLst/>
          </a:prstGeom>
        </p:spPr>
        <p:txBody>
          <a:bodyPr vert="horz" lIns="86932" tIns="43466" rIns="86932" bIns="43466" rtlCol="0" anchor="ctr"/>
          <a:lstStyle>
            <a:lvl1pPr algn="l">
              <a:defRPr sz="110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44AAF03-9EB0-4B2C-AC89-B706B513E832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11183" y="6332809"/>
            <a:ext cx="2883535" cy="363773"/>
          </a:xfrm>
          <a:prstGeom prst="rect">
            <a:avLst/>
          </a:prstGeom>
        </p:spPr>
        <p:txBody>
          <a:bodyPr vert="horz" lIns="86932" tIns="43466" rIns="86932" bIns="43466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25895" y="6332809"/>
            <a:ext cx="2124710" cy="363773"/>
          </a:xfrm>
          <a:prstGeom prst="rect">
            <a:avLst/>
          </a:prstGeom>
        </p:spPr>
        <p:txBody>
          <a:bodyPr vert="horz" lIns="86932" tIns="43466" rIns="86932" bIns="43466" rtlCol="0" anchor="ctr"/>
          <a:lstStyle>
            <a:lvl1pPr algn="r">
              <a:defRPr sz="110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B8533C3-56C4-45CF-801B-3778A560EF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200" kern="1200">
          <a:solidFill>
            <a:srgbClr val="0070C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200">
          <a:solidFill>
            <a:srgbClr val="B0105C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200">
          <a:solidFill>
            <a:srgbClr val="B0105C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200">
          <a:solidFill>
            <a:srgbClr val="B0105C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200">
          <a:solidFill>
            <a:srgbClr val="B0105C"/>
          </a:solidFill>
          <a:latin typeface="Calibri" pitchFamily="34" charset="0"/>
        </a:defRPr>
      </a:lvl5pPr>
      <a:lvl6pPr marL="434660" algn="ctr" rtl="0" eaLnBrk="1" fontAlgn="base" hangingPunct="1">
        <a:spcBef>
          <a:spcPct val="0"/>
        </a:spcBef>
        <a:spcAft>
          <a:spcPct val="0"/>
        </a:spcAft>
        <a:defRPr sz="4200">
          <a:solidFill>
            <a:srgbClr val="B0105C"/>
          </a:solidFill>
          <a:latin typeface="Calibri" pitchFamily="34" charset="0"/>
        </a:defRPr>
      </a:lvl6pPr>
      <a:lvl7pPr marL="869320" algn="ctr" rtl="0" eaLnBrk="1" fontAlgn="base" hangingPunct="1">
        <a:spcBef>
          <a:spcPct val="0"/>
        </a:spcBef>
        <a:spcAft>
          <a:spcPct val="0"/>
        </a:spcAft>
        <a:defRPr sz="4200">
          <a:solidFill>
            <a:srgbClr val="B0105C"/>
          </a:solidFill>
          <a:latin typeface="Calibri" pitchFamily="34" charset="0"/>
        </a:defRPr>
      </a:lvl7pPr>
      <a:lvl8pPr marL="1303980" algn="ctr" rtl="0" eaLnBrk="1" fontAlgn="base" hangingPunct="1">
        <a:spcBef>
          <a:spcPct val="0"/>
        </a:spcBef>
        <a:spcAft>
          <a:spcPct val="0"/>
        </a:spcAft>
        <a:defRPr sz="4200">
          <a:solidFill>
            <a:srgbClr val="B0105C"/>
          </a:solidFill>
          <a:latin typeface="Calibri" pitchFamily="34" charset="0"/>
        </a:defRPr>
      </a:lvl8pPr>
      <a:lvl9pPr marL="1738640" algn="ctr" rtl="0" eaLnBrk="1" fontAlgn="base" hangingPunct="1">
        <a:spcBef>
          <a:spcPct val="0"/>
        </a:spcBef>
        <a:spcAft>
          <a:spcPct val="0"/>
        </a:spcAft>
        <a:defRPr sz="4200">
          <a:solidFill>
            <a:srgbClr val="B0105C"/>
          </a:solidFill>
          <a:latin typeface="Calibri" pitchFamily="34" charset="0"/>
        </a:defRPr>
      </a:lvl9pPr>
    </p:titleStyle>
    <p:bodyStyle>
      <a:lvl1pPr marL="325995" indent="-32599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06323" indent="-27166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7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2pPr>
      <a:lvl3pPr marL="1086650" indent="-21733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521310" indent="-21733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55970" indent="-21733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0630" indent="-217330" algn="l" defTabSz="86932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25290" indent="-217330" algn="l" defTabSz="86932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59950" indent="-217330" algn="l" defTabSz="86932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94610" indent="-217330" algn="l" defTabSz="86932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466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932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398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3864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7330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0796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4262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7728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Công nghệ phần mềm</a:t>
            </a:r>
            <a:endParaRPr lang="en-GB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666750" y="3871807"/>
            <a:ext cx="7543799" cy="1746109"/>
          </a:xfrm>
        </p:spPr>
        <p:txBody>
          <a:bodyPr/>
          <a:lstStyle/>
          <a:p>
            <a:r>
              <a:rPr lang="en-GB" dirty="0" err="1"/>
              <a:t>Tiến</a:t>
            </a:r>
            <a:r>
              <a:rPr lang="en-GB" dirty="0"/>
              <a:t> </a:t>
            </a:r>
            <a:r>
              <a:rPr lang="en-GB" dirty="0" err="1"/>
              <a:t>trình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mô</a:t>
            </a:r>
            <a:r>
              <a:rPr lang="en-GB" dirty="0"/>
              <a:t> </a:t>
            </a:r>
            <a:r>
              <a:rPr lang="en-GB" dirty="0" err="1"/>
              <a:t>hình</a:t>
            </a:r>
            <a:r>
              <a:rPr lang="en-GB" dirty="0"/>
              <a:t> </a:t>
            </a:r>
            <a:r>
              <a:rPr lang="en-GB" dirty="0" err="1"/>
              <a:t>tiến</a:t>
            </a:r>
            <a:r>
              <a:rPr lang="en-GB" dirty="0"/>
              <a:t> </a:t>
            </a:r>
            <a:r>
              <a:rPr lang="en-GB" dirty="0" err="1"/>
              <a:t>trình</a:t>
            </a:r>
            <a:r>
              <a:rPr lang="en-GB" dirty="0"/>
              <a:t>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mềm</a:t>
            </a:r>
            <a:endParaRPr lang="en-GB" dirty="0"/>
          </a:p>
        </p:txBody>
      </p:sp>
      <p:pic>
        <p:nvPicPr>
          <p:cNvPr id="4" name="Picture 4" descr="C:\Users\hoangta\AppData\Local\Microsoft\Windows\Temporary Internet Files\Content.IE5\E9MDPTKA\MCBD06929_0000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0" y="5192368"/>
            <a:ext cx="3795713" cy="109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/>
              <a:t>Nội dung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 err="1"/>
              <a:t>Định</a:t>
            </a:r>
            <a:r>
              <a:rPr lang="en-GB" dirty="0"/>
              <a:t> </a:t>
            </a:r>
            <a:r>
              <a:rPr lang="en-GB" dirty="0" err="1"/>
              <a:t>nghĩa</a:t>
            </a:r>
            <a:r>
              <a:rPr lang="en-GB" dirty="0"/>
              <a:t> </a:t>
            </a:r>
            <a:r>
              <a:rPr lang="en-GB" dirty="0" err="1"/>
              <a:t>tiến</a:t>
            </a:r>
            <a:r>
              <a:rPr lang="en-GB" dirty="0"/>
              <a:t> </a:t>
            </a:r>
            <a:r>
              <a:rPr lang="en-GB" dirty="0" err="1"/>
              <a:t>trình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mô</a:t>
            </a:r>
            <a:r>
              <a:rPr lang="en-GB" dirty="0"/>
              <a:t> </a:t>
            </a:r>
            <a:r>
              <a:rPr lang="en-GB" dirty="0" err="1"/>
              <a:t>hình</a:t>
            </a:r>
            <a:r>
              <a:rPr lang="en-GB" dirty="0"/>
              <a:t> </a:t>
            </a:r>
            <a:r>
              <a:rPr lang="en-GB" dirty="0" err="1"/>
              <a:t>tiến</a:t>
            </a:r>
            <a:r>
              <a:rPr lang="en-GB" dirty="0"/>
              <a:t> </a:t>
            </a:r>
            <a:r>
              <a:rPr lang="en-GB" dirty="0" err="1"/>
              <a:t>trình</a:t>
            </a:r>
            <a:endParaRPr lang="en-GB" dirty="0"/>
          </a:p>
          <a:p>
            <a:pPr>
              <a:lnSpc>
                <a:spcPct val="90000"/>
              </a:lnSpc>
            </a:pP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GB" dirty="0" err="1"/>
              <a:t>Mô</a:t>
            </a:r>
            <a:r>
              <a:rPr lang="en-GB" dirty="0"/>
              <a:t> </a:t>
            </a:r>
            <a:r>
              <a:rPr lang="en-GB" dirty="0" err="1"/>
              <a:t>tả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mô</a:t>
            </a:r>
            <a:r>
              <a:rPr lang="en-GB" dirty="0"/>
              <a:t> </a:t>
            </a:r>
            <a:r>
              <a:rPr lang="en-GB" dirty="0" err="1"/>
              <a:t>hình</a:t>
            </a:r>
            <a:r>
              <a:rPr lang="en-GB" dirty="0"/>
              <a:t> </a:t>
            </a:r>
            <a:r>
              <a:rPr lang="en-GB" dirty="0" err="1"/>
              <a:t>tiến</a:t>
            </a:r>
            <a:r>
              <a:rPr lang="en-GB" dirty="0"/>
              <a:t> </a:t>
            </a:r>
            <a:r>
              <a:rPr lang="en-GB" dirty="0" err="1"/>
              <a:t>trình</a:t>
            </a:r>
            <a:endParaRPr lang="en-GB" dirty="0"/>
          </a:p>
          <a:p>
            <a:pPr lvl="1">
              <a:lnSpc>
                <a:spcPct val="90000"/>
              </a:lnSpc>
            </a:pPr>
            <a:r>
              <a:rPr lang="en-US" dirty="0" err="1"/>
              <a:t>Thác</a:t>
            </a:r>
            <a:r>
              <a:rPr lang="en-US" dirty="0"/>
              <a:t> </a:t>
            </a:r>
            <a:r>
              <a:rPr lang="en-US" dirty="0" err="1"/>
              <a:t>nước</a:t>
            </a:r>
            <a:r>
              <a:rPr lang="en-US" dirty="0"/>
              <a:t>,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,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endParaRPr lang="en-US" dirty="0"/>
          </a:p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</a:p>
          <a:p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phó</a:t>
            </a:r>
            <a:r>
              <a:rPr lang="en-US" dirty="0"/>
              <a:t>,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soát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khái</a:t>
            </a:r>
            <a:r>
              <a:rPr lang="en-GB" dirty="0"/>
              <a:t> </a:t>
            </a:r>
            <a:r>
              <a:rPr lang="en-GB" dirty="0" err="1"/>
              <a:t>niệm</a:t>
            </a:r>
            <a:endParaRPr lang="en-GB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GB" dirty="0" err="1"/>
              <a:t>Tiến</a:t>
            </a:r>
            <a:r>
              <a:rPr lang="en-GB" dirty="0"/>
              <a:t> </a:t>
            </a:r>
            <a:r>
              <a:rPr lang="en-GB" dirty="0" err="1"/>
              <a:t>trình</a:t>
            </a:r>
            <a:r>
              <a:rPr lang="en-GB" dirty="0"/>
              <a:t> (software process):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tập</a:t>
            </a:r>
            <a:r>
              <a:rPr lang="en-GB" dirty="0"/>
              <a:t> </a:t>
            </a:r>
            <a:r>
              <a:rPr lang="en-GB" dirty="0" err="1"/>
              <a:t>hợp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hoạt</a:t>
            </a:r>
            <a:r>
              <a:rPr lang="en-GB" dirty="0"/>
              <a:t> </a:t>
            </a:r>
            <a:r>
              <a:rPr lang="en-GB" dirty="0" err="1"/>
              <a:t>động</a:t>
            </a:r>
            <a:r>
              <a:rPr lang="en-GB" dirty="0"/>
              <a:t> </a:t>
            </a:r>
            <a:r>
              <a:rPr lang="en-GB" dirty="0" err="1"/>
              <a:t>để</a:t>
            </a:r>
            <a:r>
              <a:rPr lang="en-GB" dirty="0"/>
              <a:t> </a:t>
            </a:r>
            <a:r>
              <a:rPr lang="en-GB" dirty="0" err="1"/>
              <a:t>tạo</a:t>
            </a:r>
            <a:r>
              <a:rPr lang="en-GB" dirty="0"/>
              <a:t> </a:t>
            </a:r>
            <a:r>
              <a:rPr lang="en-GB" dirty="0" err="1"/>
              <a:t>ra</a:t>
            </a:r>
            <a:r>
              <a:rPr lang="en-GB" dirty="0"/>
              <a:t>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mềm</a:t>
            </a:r>
            <a:endParaRPr lang="en-GB" dirty="0"/>
          </a:p>
          <a:p>
            <a:pPr lvl="1"/>
            <a:r>
              <a:rPr lang="en-GB" dirty="0" err="1"/>
              <a:t>Đặc</a:t>
            </a:r>
            <a:r>
              <a:rPr lang="en-GB" dirty="0"/>
              <a:t> </a:t>
            </a:r>
            <a:r>
              <a:rPr lang="en-GB" dirty="0" err="1"/>
              <a:t>tả</a:t>
            </a:r>
            <a:r>
              <a:rPr lang="en-GB" dirty="0"/>
              <a:t> - Specification;</a:t>
            </a:r>
          </a:p>
          <a:p>
            <a:pPr lvl="1"/>
            <a:r>
              <a:rPr lang="en-GB" dirty="0" err="1"/>
              <a:t>Thiết</a:t>
            </a:r>
            <a:r>
              <a:rPr lang="en-GB" dirty="0"/>
              <a:t> </a:t>
            </a:r>
            <a:r>
              <a:rPr lang="en-GB" dirty="0" err="1"/>
              <a:t>kế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cài</a:t>
            </a:r>
            <a:r>
              <a:rPr lang="en-GB" dirty="0"/>
              <a:t> </a:t>
            </a:r>
            <a:r>
              <a:rPr lang="en-GB" dirty="0" err="1"/>
              <a:t>đặt</a:t>
            </a:r>
            <a:r>
              <a:rPr lang="en-GB" dirty="0"/>
              <a:t> – Design and Implementation;</a:t>
            </a:r>
          </a:p>
          <a:p>
            <a:pPr lvl="1"/>
            <a:r>
              <a:rPr lang="en-GB" dirty="0" err="1"/>
              <a:t>Kiểm</a:t>
            </a:r>
            <a:r>
              <a:rPr lang="en-GB" dirty="0"/>
              <a:t> </a:t>
            </a:r>
            <a:r>
              <a:rPr lang="en-GB" dirty="0" err="1"/>
              <a:t>định</a:t>
            </a:r>
            <a:r>
              <a:rPr lang="en-GB" dirty="0"/>
              <a:t> - Validation;</a:t>
            </a:r>
          </a:p>
          <a:p>
            <a:pPr lvl="1"/>
            <a:r>
              <a:rPr lang="en-GB" dirty="0" err="1"/>
              <a:t>Cải</a:t>
            </a:r>
            <a:r>
              <a:rPr lang="en-GB" dirty="0"/>
              <a:t> </a:t>
            </a:r>
            <a:r>
              <a:rPr lang="en-GB" dirty="0" err="1"/>
              <a:t>tiến</a:t>
            </a:r>
            <a:r>
              <a:rPr lang="en-GB" dirty="0"/>
              <a:t> - Evolution.</a:t>
            </a:r>
          </a:p>
          <a:p>
            <a:pPr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GB" dirty="0" err="1"/>
              <a:t>Mô</a:t>
            </a:r>
            <a:r>
              <a:rPr lang="en-GB" dirty="0"/>
              <a:t> </a:t>
            </a:r>
            <a:r>
              <a:rPr lang="en-GB" dirty="0" err="1"/>
              <a:t>hình</a:t>
            </a:r>
            <a:r>
              <a:rPr lang="en-GB" dirty="0"/>
              <a:t> </a:t>
            </a:r>
            <a:r>
              <a:rPr lang="en-GB" dirty="0" err="1"/>
              <a:t>tiến</a:t>
            </a:r>
            <a:r>
              <a:rPr lang="en-GB" dirty="0"/>
              <a:t> </a:t>
            </a:r>
            <a:r>
              <a:rPr lang="en-GB" dirty="0" err="1"/>
              <a:t>trình</a:t>
            </a:r>
            <a:r>
              <a:rPr lang="en-GB" dirty="0"/>
              <a:t> (process model)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thể</a:t>
            </a:r>
            <a:r>
              <a:rPr lang="en-GB" dirty="0"/>
              <a:t> </a:t>
            </a:r>
            <a:r>
              <a:rPr lang="en-GB" dirty="0" err="1"/>
              <a:t>hiện</a:t>
            </a:r>
            <a:r>
              <a:rPr lang="en-GB" dirty="0"/>
              <a:t> </a:t>
            </a:r>
            <a:r>
              <a:rPr lang="en-GB" dirty="0" err="1"/>
              <a:t>trừu</a:t>
            </a:r>
            <a:r>
              <a:rPr lang="en-GB" dirty="0"/>
              <a:t> </a:t>
            </a:r>
            <a:r>
              <a:rPr lang="en-GB" dirty="0" err="1"/>
              <a:t>tượng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</a:t>
            </a:r>
            <a:r>
              <a:rPr lang="en-GB" dirty="0" err="1"/>
              <a:t>tiến</a:t>
            </a:r>
            <a:r>
              <a:rPr lang="en-GB" dirty="0"/>
              <a:t> </a:t>
            </a:r>
            <a:r>
              <a:rPr lang="en-GB" dirty="0" err="1"/>
              <a:t>trình</a:t>
            </a:r>
            <a:r>
              <a:rPr lang="en-GB" dirty="0"/>
              <a:t>. </a:t>
            </a:r>
          </a:p>
          <a:p>
            <a:pPr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GB" dirty="0" err="1"/>
              <a:t>Lặp</a:t>
            </a:r>
            <a:r>
              <a:rPr lang="en-GB" dirty="0"/>
              <a:t> </a:t>
            </a:r>
            <a:r>
              <a:rPr lang="en-GB" dirty="0" err="1"/>
              <a:t>tiến</a:t>
            </a:r>
            <a:r>
              <a:rPr lang="en-GB" dirty="0"/>
              <a:t> </a:t>
            </a:r>
            <a:r>
              <a:rPr lang="en-GB" dirty="0" err="1"/>
              <a:t>trình</a:t>
            </a:r>
            <a:r>
              <a:rPr lang="en-GB" dirty="0"/>
              <a:t> (iteration): </a:t>
            </a:r>
            <a:r>
              <a:rPr lang="en-GB" dirty="0" err="1"/>
              <a:t>lặp</a:t>
            </a:r>
            <a:r>
              <a:rPr lang="en-GB" dirty="0"/>
              <a:t> </a:t>
            </a:r>
            <a:r>
              <a:rPr lang="en-GB" dirty="0" err="1"/>
              <a:t>lại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tiến</a:t>
            </a:r>
            <a:r>
              <a:rPr lang="en-GB" dirty="0"/>
              <a:t> </a:t>
            </a:r>
            <a:r>
              <a:rPr lang="en-GB" dirty="0" err="1"/>
              <a:t>trình</a:t>
            </a:r>
            <a:r>
              <a:rPr lang="en-GB" dirty="0"/>
              <a:t> </a:t>
            </a:r>
            <a:r>
              <a:rPr lang="en-GB" dirty="0" err="1"/>
              <a:t>để</a:t>
            </a:r>
            <a:r>
              <a:rPr lang="en-GB" dirty="0"/>
              <a:t> </a:t>
            </a:r>
            <a:r>
              <a:rPr lang="en-GB" dirty="0" err="1"/>
              <a:t>đạt</a:t>
            </a:r>
            <a:r>
              <a:rPr lang="en-GB" dirty="0"/>
              <a:t> </a:t>
            </a:r>
            <a:r>
              <a:rPr lang="en-GB" dirty="0" err="1"/>
              <a:t>tới</a:t>
            </a:r>
            <a:r>
              <a:rPr lang="en-GB" dirty="0"/>
              <a:t> </a:t>
            </a:r>
            <a:r>
              <a:rPr lang="en-GB" dirty="0" err="1"/>
              <a:t>mục</a:t>
            </a:r>
            <a:r>
              <a:rPr lang="en-GB" dirty="0"/>
              <a:t> </a:t>
            </a:r>
            <a:r>
              <a:rPr lang="en-GB" dirty="0" err="1"/>
              <a:t>tiêu</a:t>
            </a:r>
            <a:r>
              <a:rPr lang="en-GB" dirty="0"/>
              <a:t> mong </a:t>
            </a:r>
            <a:r>
              <a:rPr lang="en-GB" dirty="0" err="1"/>
              <a:t>đợi</a:t>
            </a:r>
            <a:r>
              <a:rPr lang="en-GB" dirty="0"/>
              <a:t> </a:t>
            </a:r>
          </a:p>
          <a:p>
            <a:pPr lvl="1"/>
            <a:r>
              <a:rPr lang="en-GB" dirty="0" err="1"/>
              <a:t>Kết</a:t>
            </a:r>
            <a:r>
              <a:rPr lang="en-GB" dirty="0"/>
              <a:t> </a:t>
            </a:r>
            <a:r>
              <a:rPr lang="en-GB" dirty="0" err="1"/>
              <a:t>quả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lần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</a:t>
            </a:r>
            <a:r>
              <a:rPr lang="en-GB" dirty="0" err="1"/>
              <a:t>được</a:t>
            </a:r>
            <a:r>
              <a:rPr lang="en-GB" dirty="0"/>
              <a:t> </a:t>
            </a:r>
            <a:r>
              <a:rPr lang="en-GB" dirty="0" err="1"/>
              <a:t>sử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như</a:t>
            </a:r>
            <a:r>
              <a:rPr lang="en-GB" dirty="0"/>
              <a:t> </a:t>
            </a:r>
            <a:r>
              <a:rPr lang="en-GB" dirty="0" err="1"/>
              <a:t>điểm</a:t>
            </a:r>
            <a:r>
              <a:rPr lang="en-GB" dirty="0"/>
              <a:t> </a:t>
            </a:r>
            <a:r>
              <a:rPr lang="en-GB" dirty="0" err="1"/>
              <a:t>bắt</a:t>
            </a:r>
            <a:r>
              <a:rPr lang="en-GB" dirty="0"/>
              <a:t> </a:t>
            </a:r>
            <a:r>
              <a:rPr lang="en-GB" dirty="0" err="1"/>
              <a:t>đầu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</a:t>
            </a:r>
            <a:r>
              <a:rPr lang="en-GB" dirty="0" err="1"/>
              <a:t>lần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</a:t>
            </a:r>
            <a:r>
              <a:rPr lang="en-GB" dirty="0" err="1"/>
              <a:t>tiếp</a:t>
            </a:r>
            <a:r>
              <a:rPr lang="en-GB" dirty="0"/>
              <a:t> </a:t>
            </a:r>
            <a:r>
              <a:rPr lang="en-GB" dirty="0" err="1"/>
              <a:t>theo.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Các mô hình tiến trình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GB" sz="2800" dirty="0" err="1"/>
              <a:t>Mô</a:t>
            </a:r>
            <a:r>
              <a:rPr lang="en-GB" sz="2800" dirty="0"/>
              <a:t> </a:t>
            </a:r>
            <a:r>
              <a:rPr lang="en-GB" sz="2800" dirty="0" err="1"/>
              <a:t>hình</a:t>
            </a:r>
            <a:r>
              <a:rPr lang="en-GB" sz="2800" dirty="0"/>
              <a:t> </a:t>
            </a:r>
            <a:r>
              <a:rPr lang="en-GB" sz="2800" dirty="0" err="1"/>
              <a:t>thác</a:t>
            </a:r>
            <a:r>
              <a:rPr lang="en-GB" sz="2800" dirty="0"/>
              <a:t> </a:t>
            </a:r>
            <a:r>
              <a:rPr lang="en-GB" sz="2800" dirty="0" err="1"/>
              <a:t>nước</a:t>
            </a:r>
            <a:r>
              <a:rPr lang="en-GB" sz="2800" dirty="0"/>
              <a:t> – Waterfall</a:t>
            </a:r>
          </a:p>
          <a:p>
            <a:pPr lvl="1"/>
            <a:r>
              <a:rPr lang="en-GB" dirty="0" err="1">
                <a:solidFill>
                  <a:srgbClr val="FF0000"/>
                </a:solidFill>
              </a:rPr>
              <a:t>Phân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tách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giai</a:t>
            </a:r>
            <a:r>
              <a:rPr lang="en-GB" dirty="0"/>
              <a:t> </a:t>
            </a:r>
            <a:r>
              <a:rPr lang="en-GB" dirty="0" err="1"/>
              <a:t>đoạn</a:t>
            </a:r>
            <a:r>
              <a:rPr lang="en-GB" dirty="0"/>
              <a:t> </a:t>
            </a:r>
            <a:r>
              <a:rPr lang="en-GB" dirty="0" err="1"/>
              <a:t>đặc</a:t>
            </a:r>
            <a:r>
              <a:rPr lang="en-GB" dirty="0"/>
              <a:t> </a:t>
            </a:r>
            <a:r>
              <a:rPr lang="en-GB" dirty="0" err="1"/>
              <a:t>tả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phát</a:t>
            </a:r>
            <a:r>
              <a:rPr lang="en-GB" dirty="0"/>
              <a:t> </a:t>
            </a:r>
            <a:r>
              <a:rPr lang="en-GB" dirty="0" err="1"/>
              <a:t>triển</a:t>
            </a:r>
            <a:r>
              <a:rPr lang="en-GB" dirty="0"/>
              <a:t>.</a:t>
            </a:r>
          </a:p>
          <a:p>
            <a:pPr>
              <a:lnSpc>
                <a:spcPct val="8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GB" sz="2800" dirty="0" err="1"/>
              <a:t>Tiến</a:t>
            </a:r>
            <a:r>
              <a:rPr lang="en-GB" sz="2800" dirty="0"/>
              <a:t> </a:t>
            </a:r>
            <a:r>
              <a:rPr lang="en-GB" sz="2800" dirty="0" err="1"/>
              <a:t>hóa</a:t>
            </a:r>
            <a:r>
              <a:rPr lang="en-GB" sz="2800" dirty="0"/>
              <a:t> - Evolutionary development</a:t>
            </a:r>
          </a:p>
          <a:p>
            <a:pPr lvl="1"/>
            <a:r>
              <a:rPr lang="en-GB" dirty="0" err="1"/>
              <a:t>Đặc</a:t>
            </a:r>
            <a:r>
              <a:rPr lang="en-GB" dirty="0"/>
              <a:t> </a:t>
            </a:r>
            <a:r>
              <a:rPr lang="en-GB" dirty="0" err="1"/>
              <a:t>tả</a:t>
            </a:r>
            <a:r>
              <a:rPr lang="en-GB" dirty="0"/>
              <a:t>, </a:t>
            </a:r>
            <a:r>
              <a:rPr lang="en-GB" dirty="0" err="1"/>
              <a:t>phát</a:t>
            </a:r>
            <a:r>
              <a:rPr lang="en-GB" dirty="0"/>
              <a:t> </a:t>
            </a:r>
            <a:r>
              <a:rPr lang="en-GB" dirty="0" err="1"/>
              <a:t>triển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kiểm</a:t>
            </a:r>
            <a:r>
              <a:rPr lang="en-GB" dirty="0"/>
              <a:t> </a:t>
            </a:r>
            <a:r>
              <a:rPr lang="en-GB" dirty="0" err="1"/>
              <a:t>định</a:t>
            </a:r>
            <a:r>
              <a:rPr lang="en-GB" dirty="0"/>
              <a:t> </a:t>
            </a:r>
            <a:r>
              <a:rPr lang="en-GB" dirty="0" err="1"/>
              <a:t>được</a:t>
            </a:r>
            <a:r>
              <a:rPr lang="en-GB" dirty="0"/>
              <a:t> </a:t>
            </a:r>
            <a:r>
              <a:rPr lang="en-GB" dirty="0" err="1"/>
              <a:t>thực</a:t>
            </a:r>
            <a:r>
              <a:rPr lang="en-GB" dirty="0"/>
              <a:t> </a:t>
            </a:r>
            <a:r>
              <a:rPr lang="en-GB" dirty="0" err="1"/>
              <a:t>hiện</a:t>
            </a:r>
            <a:r>
              <a:rPr lang="en-GB" dirty="0"/>
              <a:t> </a:t>
            </a:r>
            <a:r>
              <a:rPr lang="en-GB" dirty="0" err="1">
                <a:solidFill>
                  <a:srgbClr val="00B050"/>
                </a:solidFill>
              </a:rPr>
              <a:t>xen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 err="1">
                <a:solidFill>
                  <a:srgbClr val="00B050"/>
                </a:solidFill>
              </a:rPr>
              <a:t>kẽ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 err="1">
                <a:solidFill>
                  <a:srgbClr val="00B050"/>
                </a:solidFill>
              </a:rPr>
              <a:t>nhau</a:t>
            </a:r>
            <a:r>
              <a:rPr lang="en-GB" dirty="0"/>
              <a:t>.</a:t>
            </a:r>
          </a:p>
          <a:p>
            <a:pPr>
              <a:lnSpc>
                <a:spcPct val="8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GB" sz="2800" dirty="0"/>
              <a:t>Component-based software engineering</a:t>
            </a:r>
          </a:p>
          <a:p>
            <a:pPr lvl="1"/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thống</a:t>
            </a:r>
            <a:r>
              <a:rPr lang="en-GB" dirty="0"/>
              <a:t> </a:t>
            </a:r>
            <a:r>
              <a:rPr lang="en-GB" dirty="0" err="1"/>
              <a:t>được</a:t>
            </a:r>
            <a:r>
              <a:rPr lang="en-GB" dirty="0"/>
              <a:t> </a:t>
            </a:r>
            <a:r>
              <a:rPr lang="en-GB" dirty="0" err="1">
                <a:solidFill>
                  <a:srgbClr val="7030A0"/>
                </a:solidFill>
              </a:rPr>
              <a:t>kết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hợp</a:t>
            </a:r>
            <a:r>
              <a:rPr lang="en-GB" dirty="0"/>
              <a:t> </a:t>
            </a:r>
            <a:r>
              <a:rPr lang="en-GB" dirty="0" err="1"/>
              <a:t>từ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thành</a:t>
            </a:r>
            <a:r>
              <a:rPr lang="en-GB" dirty="0"/>
              <a:t>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sẵn</a:t>
            </a:r>
            <a:r>
              <a:rPr lang="en-GB" dirty="0"/>
              <a:t>.</a:t>
            </a:r>
          </a:p>
          <a:p>
            <a:pPr>
              <a:lnSpc>
                <a:spcPct val="8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GB" sz="2800" dirty="0" err="1"/>
              <a:t>Có</a:t>
            </a:r>
            <a:r>
              <a:rPr lang="en-GB" sz="2800" dirty="0"/>
              <a:t> </a:t>
            </a:r>
            <a:r>
              <a:rPr lang="en-GB" sz="2800" dirty="0" err="1"/>
              <a:t>nhiều</a:t>
            </a:r>
            <a:r>
              <a:rPr lang="en-GB" sz="2800" dirty="0"/>
              <a:t> </a:t>
            </a:r>
            <a:r>
              <a:rPr lang="en-GB" sz="2800" dirty="0" err="1"/>
              <a:t>biến</a:t>
            </a:r>
            <a:r>
              <a:rPr lang="en-GB" sz="2800" dirty="0"/>
              <a:t> </a:t>
            </a:r>
            <a:r>
              <a:rPr lang="en-GB" sz="2800" dirty="0" err="1"/>
              <a:t>thể</a:t>
            </a:r>
            <a:r>
              <a:rPr lang="en-GB" sz="2800" dirty="0"/>
              <a:t> </a:t>
            </a:r>
            <a:r>
              <a:rPr lang="en-GB" sz="2800" dirty="0" err="1"/>
              <a:t>của</a:t>
            </a:r>
            <a:r>
              <a:rPr lang="en-GB" sz="2800" dirty="0"/>
              <a:t> </a:t>
            </a:r>
            <a:r>
              <a:rPr lang="en-GB" sz="2800" dirty="0" err="1"/>
              <a:t>các</a:t>
            </a:r>
            <a:r>
              <a:rPr lang="en-GB" sz="2800" dirty="0"/>
              <a:t> </a:t>
            </a:r>
            <a:r>
              <a:rPr lang="en-GB" sz="2800" dirty="0" err="1"/>
              <a:t>mô</a:t>
            </a:r>
            <a:r>
              <a:rPr lang="en-GB" sz="2800" dirty="0"/>
              <a:t> </a:t>
            </a:r>
            <a:r>
              <a:rPr lang="en-GB" sz="2800" dirty="0" err="1"/>
              <a:t>hình</a:t>
            </a:r>
            <a:r>
              <a:rPr lang="en-GB" sz="2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 dirty="0"/>
              <a:t>Waterfall model</a:t>
            </a:r>
          </a:p>
        </p:txBody>
      </p:sp>
      <p:sp>
        <p:nvSpPr>
          <p:cNvPr id="5" name="Oval 160"/>
          <p:cNvSpPr>
            <a:spLocks noChangeArrowheads="1"/>
          </p:cNvSpPr>
          <p:nvPr/>
        </p:nvSpPr>
        <p:spPr bwMode="auto">
          <a:xfrm>
            <a:off x="890566" y="1558913"/>
            <a:ext cx="1866894" cy="1143007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Định</a:t>
            </a:r>
            <a:r>
              <a:rPr 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nghĩa</a:t>
            </a:r>
            <a:r>
              <a:rPr 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yêu</a:t>
            </a:r>
            <a:r>
              <a:rPr 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cầu</a:t>
            </a:r>
            <a:endParaRPr lang="en-US" sz="1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algn="ctr">
              <a:defRPr/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Requirements definition</a:t>
            </a:r>
            <a:endParaRPr lang="vi-VN" sz="1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Oval 161"/>
          <p:cNvSpPr>
            <a:spLocks noChangeArrowheads="1"/>
          </p:cNvSpPr>
          <p:nvPr/>
        </p:nvSpPr>
        <p:spPr bwMode="auto">
          <a:xfrm>
            <a:off x="2319326" y="2344730"/>
            <a:ext cx="1866894" cy="1210234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Thiết</a:t>
            </a:r>
            <a:r>
              <a:rPr 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kế</a:t>
            </a:r>
            <a:endParaRPr lang="en-US" sz="1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algn="ctr">
              <a:defRPr/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System and software design</a:t>
            </a:r>
            <a:endParaRPr lang="vi-VN" sz="1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Oval 162"/>
          <p:cNvSpPr>
            <a:spLocks noChangeArrowheads="1"/>
          </p:cNvSpPr>
          <p:nvPr/>
        </p:nvSpPr>
        <p:spPr bwMode="auto">
          <a:xfrm>
            <a:off x="3638550" y="3272866"/>
            <a:ext cx="2252664" cy="1210234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Triển</a:t>
            </a:r>
            <a:r>
              <a:rPr 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khai</a:t>
            </a:r>
            <a:r>
              <a:rPr 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và</a:t>
            </a:r>
            <a:r>
              <a:rPr 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kiểm</a:t>
            </a:r>
            <a:r>
              <a:rPr 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thử</a:t>
            </a:r>
            <a:r>
              <a:rPr 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đơn</a:t>
            </a:r>
            <a:r>
              <a:rPr 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vị</a:t>
            </a:r>
            <a:endParaRPr lang="en-US" sz="1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algn="ctr">
              <a:defRPr/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Implementation and unit testing</a:t>
            </a:r>
            <a:endParaRPr lang="vi-VN" sz="1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Oval 163"/>
          <p:cNvSpPr>
            <a:spLocks noChangeArrowheads="1"/>
          </p:cNvSpPr>
          <p:nvPr/>
        </p:nvSpPr>
        <p:spPr bwMode="auto">
          <a:xfrm>
            <a:off x="5162550" y="4337424"/>
            <a:ext cx="1866894" cy="1210234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Tích</a:t>
            </a:r>
            <a:r>
              <a:rPr 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hợp</a:t>
            </a:r>
            <a:r>
              <a:rPr 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và</a:t>
            </a:r>
            <a:r>
              <a:rPr 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kiểm</a:t>
            </a:r>
            <a:r>
              <a:rPr 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thử</a:t>
            </a:r>
            <a:r>
              <a:rPr 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hệ</a:t>
            </a:r>
            <a:r>
              <a:rPr 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thống</a:t>
            </a:r>
            <a:endParaRPr lang="en-US" sz="1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algn="ctr">
              <a:defRPr/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Integration and system testing</a:t>
            </a:r>
            <a:endParaRPr lang="vi-VN" sz="1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Oval 164"/>
          <p:cNvSpPr>
            <a:spLocks noChangeArrowheads="1"/>
          </p:cNvSpPr>
          <p:nvPr/>
        </p:nvSpPr>
        <p:spPr bwMode="auto">
          <a:xfrm>
            <a:off x="6686550" y="5177866"/>
            <a:ext cx="2019294" cy="1210234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16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Vận</a:t>
            </a:r>
            <a:r>
              <a:rPr lang="en-US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hành</a:t>
            </a:r>
            <a:r>
              <a:rPr lang="en-US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và</a:t>
            </a:r>
            <a:r>
              <a:rPr lang="en-US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bảo</a:t>
            </a:r>
            <a:r>
              <a:rPr lang="en-US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trì</a:t>
            </a:r>
            <a:endParaRPr 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Operation and maintenance</a:t>
            </a:r>
            <a:endParaRPr lang="vi-VN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0" name="Elbow Connector 166"/>
          <p:cNvCxnSpPr>
            <a:cxnSpLocks noChangeShapeType="1"/>
            <a:stCxn id="5" idx="6"/>
            <a:endCxn id="6" idx="0"/>
          </p:cNvCxnSpPr>
          <p:nvPr/>
        </p:nvCxnSpPr>
        <p:spPr bwMode="auto">
          <a:xfrm>
            <a:off x="2757460" y="2130417"/>
            <a:ext cx="495313" cy="214313"/>
          </a:xfrm>
          <a:prstGeom prst="bentConnector2">
            <a:avLst/>
          </a:prstGeom>
          <a:ln>
            <a:headEnd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hape 169"/>
          <p:cNvCxnSpPr>
            <a:cxnSpLocks noChangeShapeType="1"/>
            <a:endCxn id="5" idx="4"/>
          </p:cNvCxnSpPr>
          <p:nvPr/>
        </p:nvCxnSpPr>
        <p:spPr bwMode="auto">
          <a:xfrm rot="10800000">
            <a:off x="1824013" y="2701921"/>
            <a:ext cx="495326" cy="247669"/>
          </a:xfrm>
          <a:prstGeom prst="bentConnector2">
            <a:avLst/>
          </a:prstGeom>
          <a:ln>
            <a:headEnd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hape 171"/>
          <p:cNvCxnSpPr>
            <a:cxnSpLocks noChangeShapeType="1"/>
            <a:stCxn id="6" idx="6"/>
            <a:endCxn id="7" idx="0"/>
          </p:cNvCxnSpPr>
          <p:nvPr/>
        </p:nvCxnSpPr>
        <p:spPr bwMode="auto">
          <a:xfrm>
            <a:off x="4186220" y="2949847"/>
            <a:ext cx="578662" cy="323019"/>
          </a:xfrm>
          <a:prstGeom prst="bentConnector2">
            <a:avLst/>
          </a:prstGeom>
          <a:ln>
            <a:headEnd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hape 177"/>
          <p:cNvCxnSpPr>
            <a:cxnSpLocks noChangeShapeType="1"/>
            <a:stCxn id="7" idx="6"/>
            <a:endCxn id="8" idx="0"/>
          </p:cNvCxnSpPr>
          <p:nvPr/>
        </p:nvCxnSpPr>
        <p:spPr bwMode="auto">
          <a:xfrm>
            <a:off x="5891214" y="3877983"/>
            <a:ext cx="204783" cy="459441"/>
          </a:xfrm>
          <a:prstGeom prst="bentConnector2">
            <a:avLst/>
          </a:prstGeom>
          <a:ln>
            <a:headEnd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hape 179"/>
          <p:cNvCxnSpPr>
            <a:cxnSpLocks noChangeShapeType="1"/>
            <a:stCxn id="8" idx="6"/>
            <a:endCxn id="9" idx="0"/>
          </p:cNvCxnSpPr>
          <p:nvPr/>
        </p:nvCxnSpPr>
        <p:spPr bwMode="auto">
          <a:xfrm>
            <a:off x="7029444" y="4942541"/>
            <a:ext cx="666753" cy="235325"/>
          </a:xfrm>
          <a:prstGeom prst="bentConnector2">
            <a:avLst/>
          </a:prstGeom>
          <a:ln>
            <a:headEnd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hape 181"/>
          <p:cNvCxnSpPr>
            <a:cxnSpLocks noChangeShapeType="1"/>
            <a:stCxn id="9" idx="2"/>
            <a:endCxn id="8" idx="4"/>
          </p:cNvCxnSpPr>
          <p:nvPr/>
        </p:nvCxnSpPr>
        <p:spPr bwMode="auto">
          <a:xfrm rot="10800000">
            <a:off x="6095998" y="5547659"/>
            <a:ext cx="590553" cy="235325"/>
          </a:xfrm>
          <a:prstGeom prst="bentConnector2">
            <a:avLst/>
          </a:prstGeom>
          <a:ln>
            <a:headEnd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hape 183"/>
          <p:cNvCxnSpPr>
            <a:cxnSpLocks noChangeShapeType="1"/>
            <a:stCxn id="8" idx="2"/>
            <a:endCxn id="7" idx="4"/>
          </p:cNvCxnSpPr>
          <p:nvPr/>
        </p:nvCxnSpPr>
        <p:spPr bwMode="auto">
          <a:xfrm rot="10800000">
            <a:off x="4764882" y="4483101"/>
            <a:ext cx="397668" cy="459441"/>
          </a:xfrm>
          <a:prstGeom prst="bentConnector2">
            <a:avLst/>
          </a:prstGeom>
          <a:ln>
            <a:headEnd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hape 185"/>
          <p:cNvCxnSpPr>
            <a:cxnSpLocks noChangeShapeType="1"/>
            <a:stCxn id="7" idx="2"/>
            <a:endCxn id="6" idx="4"/>
          </p:cNvCxnSpPr>
          <p:nvPr/>
        </p:nvCxnSpPr>
        <p:spPr bwMode="auto">
          <a:xfrm rot="10800000">
            <a:off x="3252774" y="3554965"/>
            <a:ext cx="385777" cy="323019"/>
          </a:xfrm>
          <a:prstGeom prst="bentConnector2">
            <a:avLst/>
          </a:prstGeom>
          <a:ln>
            <a:headEnd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rot="16200000" flipH="1">
            <a:off x="-1538287" y="4105275"/>
            <a:ext cx="47148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819151" y="6462712"/>
            <a:ext cx="815339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661" name="Slide Number Placeholder 2766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20" name="Picture 2" descr="http://www.noupe.com/wp-content/uploads/2010/04/Waterfall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8613" y="1305252"/>
            <a:ext cx="2905833" cy="2022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/>
              <a:t>Ưu</a:t>
            </a:r>
            <a:r>
              <a:rPr lang="en-GB" dirty="0"/>
              <a:t>, </a:t>
            </a:r>
            <a:r>
              <a:rPr lang="en-GB" dirty="0" err="1"/>
              <a:t>nhược</a:t>
            </a:r>
            <a:r>
              <a:rPr lang="en-GB" dirty="0"/>
              <a:t> </a:t>
            </a:r>
            <a:r>
              <a:rPr lang="en-GB" dirty="0" err="1"/>
              <a:t>điểm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</a:t>
            </a:r>
            <a:r>
              <a:rPr lang="en-GB" dirty="0" err="1"/>
              <a:t>mô</a:t>
            </a:r>
            <a:r>
              <a:rPr lang="en-GB" dirty="0"/>
              <a:t> </a:t>
            </a:r>
            <a:r>
              <a:rPr lang="en-GB" dirty="0" err="1"/>
              <a:t>hình</a:t>
            </a:r>
            <a:r>
              <a:rPr lang="en-GB" dirty="0"/>
              <a:t> </a:t>
            </a:r>
            <a:r>
              <a:rPr lang="en-GB" dirty="0" err="1"/>
              <a:t>thác</a:t>
            </a:r>
            <a:r>
              <a:rPr lang="en-GB" dirty="0"/>
              <a:t> </a:t>
            </a:r>
            <a:r>
              <a:rPr lang="en-GB" dirty="0" err="1"/>
              <a:t>nước</a:t>
            </a:r>
            <a:endParaRPr lang="en-GB" dirty="0"/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/>
              <a:t>Khó đáp ứng khi khách hàng thay đổi yêu cầu</a:t>
            </a:r>
            <a:r>
              <a:rPr lang="en-GB"/>
              <a:t>.</a:t>
            </a:r>
            <a:endParaRPr lang="en-GB" dirty="0"/>
          </a:p>
          <a:p>
            <a:pPr lvl="1"/>
            <a:r>
              <a:rPr lang="en-GB"/>
              <a:t>Ít hệ thống có yêu cầu cố định.</a:t>
            </a:r>
          </a:p>
          <a:p>
            <a:r>
              <a:rPr lang="en-GB"/>
              <a:t>Chậm có phiên bản thực hiện được</a:t>
            </a:r>
          </a:p>
          <a:p>
            <a:pPr lvl="1"/>
            <a:r>
              <a:rPr lang="en-GB"/>
              <a:t>Sai sót phát hiện muộn gây tổn thất lớn</a:t>
            </a:r>
            <a:endParaRPr lang="en-GB" dirty="0"/>
          </a:p>
          <a:p>
            <a:r>
              <a:rPr lang="en-GB"/>
              <a:t>Chỉ phù hợp khi yêu cầu được hiểu rõ</a:t>
            </a:r>
          </a:p>
          <a:p>
            <a:r>
              <a:rPr lang="en-GB"/>
              <a:t>Bảo trì thuận lợi </a:t>
            </a:r>
          </a:p>
          <a:p>
            <a:pPr lvl="1"/>
            <a:r>
              <a:rPr lang="en-GB"/>
              <a:t>Tài liệu được làm tốt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/>
              <a:t>Evolutionary development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552450" y="3594894"/>
            <a:ext cx="1500188" cy="107156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</a:rPr>
              <a:t>Outline description</a:t>
            </a:r>
            <a:endParaRPr lang="vi-VN" sz="2000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2552700" y="2344738"/>
            <a:ext cx="2428875" cy="35718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377" tIns="45686" rIns="91377" bIns="45686"/>
          <a:lstStyle/>
          <a:p>
            <a:pPr>
              <a:defRPr/>
            </a:pPr>
            <a:endParaRPr lang="vi-VN" sz="2000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2767000" y="2630482"/>
            <a:ext cx="2071702" cy="642942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2000" dirty="0">
                <a:latin typeface="Calibri" pitchFamily="34" charset="0"/>
              </a:rPr>
              <a:t>Specification</a:t>
            </a:r>
            <a:endParaRPr lang="vi-VN" sz="2000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8" name="Rounded Rectangle 7"/>
          <p:cNvSpPr/>
          <p:nvPr/>
        </p:nvSpPr>
        <p:spPr bwMode="auto">
          <a:xfrm>
            <a:off x="2767000" y="3844928"/>
            <a:ext cx="2071702" cy="642942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2000" dirty="0">
                <a:latin typeface="Calibri" pitchFamily="34" charset="0"/>
              </a:rPr>
              <a:t>Development</a:t>
            </a:r>
            <a:endParaRPr lang="vi-VN" sz="2000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2767000" y="5059374"/>
            <a:ext cx="2071702" cy="642942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2000" dirty="0">
                <a:latin typeface="Calibri" pitchFamily="34" charset="0"/>
              </a:rPr>
              <a:t>Validation</a:t>
            </a:r>
            <a:endParaRPr lang="vi-VN" sz="2000" dirty="0">
              <a:solidFill>
                <a:schemeClr val="tx1"/>
              </a:solidFill>
              <a:latin typeface="Calibri" pitchFamily="34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 bwMode="auto">
          <a:xfrm rot="5400000">
            <a:off x="2979738" y="3559175"/>
            <a:ext cx="573088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 bwMode="auto">
          <a:xfrm rot="5400000">
            <a:off x="2982119" y="4772819"/>
            <a:ext cx="571500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 bwMode="auto">
          <a:xfrm rot="5400000" flipH="1" flipV="1">
            <a:off x="3908425" y="3559175"/>
            <a:ext cx="573088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 bwMode="auto">
          <a:xfrm rot="5400000" flipH="1" flipV="1">
            <a:off x="3910807" y="4772819"/>
            <a:ext cx="571500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 bwMode="auto">
          <a:xfrm>
            <a:off x="6124574" y="2344738"/>
            <a:ext cx="2390775" cy="35718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377" tIns="45686" rIns="91377" bIns="45686"/>
          <a:lstStyle/>
          <a:p>
            <a:pPr>
              <a:defRPr/>
            </a:pPr>
            <a:endParaRPr lang="vi-VN" sz="2000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6410338" y="2559044"/>
            <a:ext cx="1714512" cy="64294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2000" dirty="0">
                <a:latin typeface="Calibri" pitchFamily="34" charset="0"/>
              </a:rPr>
              <a:t>Initial version</a:t>
            </a:r>
            <a:endParaRPr lang="vi-VN" sz="2000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6410338" y="3773490"/>
            <a:ext cx="1714512" cy="64294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2000" dirty="0">
                <a:latin typeface="Calibri" pitchFamily="34" charset="0"/>
              </a:rPr>
              <a:t>Intermediate version</a:t>
            </a:r>
            <a:endParaRPr lang="vi-VN" sz="2000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6410338" y="4916498"/>
            <a:ext cx="1714512" cy="64294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2000" dirty="0">
                <a:latin typeface="Calibri" pitchFamily="34" charset="0"/>
              </a:rPr>
              <a:t>Final version</a:t>
            </a:r>
            <a:endParaRPr lang="vi-VN" sz="2000" dirty="0">
              <a:solidFill>
                <a:schemeClr val="tx1"/>
              </a:solidFill>
              <a:latin typeface="Calibri" pitchFamily="34" charset="0"/>
            </a:endParaRPr>
          </a:p>
        </p:txBody>
      </p:sp>
      <p:cxnSp>
        <p:nvCxnSpPr>
          <p:cNvPr id="18" name="Straight Arrow Connector 17"/>
          <p:cNvCxnSpPr/>
          <p:nvPr/>
        </p:nvCxnSpPr>
        <p:spPr bwMode="auto">
          <a:xfrm>
            <a:off x="4981575" y="2773363"/>
            <a:ext cx="1143000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 bwMode="auto">
          <a:xfrm rot="10800000">
            <a:off x="4981575" y="3059113"/>
            <a:ext cx="1143000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 bwMode="auto">
          <a:xfrm>
            <a:off x="4981575" y="3987800"/>
            <a:ext cx="1143000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 bwMode="auto">
          <a:xfrm rot="10800000">
            <a:off x="4981575" y="4273550"/>
            <a:ext cx="1143000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 bwMode="auto">
          <a:xfrm>
            <a:off x="4981575" y="5130800"/>
            <a:ext cx="1143000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32"/>
          <p:cNvSpPr txBox="1">
            <a:spLocks noChangeArrowheads="1"/>
          </p:cNvSpPr>
          <p:nvPr/>
        </p:nvSpPr>
        <p:spPr bwMode="auto">
          <a:xfrm>
            <a:off x="2909112" y="1487488"/>
            <a:ext cx="1611276" cy="830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377" tIns="45686" rIns="91377" bIns="45686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/>
            <a:r>
              <a:rPr lang="en-US" b="1" dirty="0">
                <a:latin typeface="Calibri" pitchFamily="34" charset="0"/>
              </a:rPr>
              <a:t>Concurrent</a:t>
            </a:r>
          </a:p>
          <a:p>
            <a:pPr algn="ctr"/>
            <a:r>
              <a:rPr lang="en-US" dirty="0">
                <a:latin typeface="Calibri" pitchFamily="34" charset="0"/>
              </a:rPr>
              <a:t>activities</a:t>
            </a:r>
            <a:endParaRPr lang="vi-VN" dirty="0">
              <a:latin typeface="Calibri" pitchFamily="34" charset="0"/>
            </a:endParaRPr>
          </a:p>
        </p:txBody>
      </p:sp>
      <p:cxnSp>
        <p:nvCxnSpPr>
          <p:cNvPr id="3" name="Straight Arrow Connector 2"/>
          <p:cNvCxnSpPr>
            <a:stCxn id="5" idx="3"/>
            <a:endCxn id="6" idx="1"/>
          </p:cNvCxnSpPr>
          <p:nvPr/>
        </p:nvCxnSpPr>
        <p:spPr>
          <a:xfrm>
            <a:off x="2052638" y="4130675"/>
            <a:ext cx="500062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 bwMode="auto">
          <a:xfrm>
            <a:off x="6534150" y="3873500"/>
            <a:ext cx="1714512" cy="64294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2000" dirty="0">
                <a:latin typeface="Calibri" pitchFamily="34" charset="0"/>
              </a:rPr>
              <a:t>Intermediate version</a:t>
            </a:r>
            <a:endParaRPr lang="vi-VN" sz="2000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6648438" y="3992558"/>
            <a:ext cx="1714512" cy="64294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2000" dirty="0">
                <a:latin typeface="Calibri" pitchFamily="34" charset="0"/>
              </a:rPr>
              <a:t>Intermediate version</a:t>
            </a:r>
            <a:endParaRPr lang="vi-VN" sz="2000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 dirty="0"/>
              <a:t>Evolutionary development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>
            <a:normAutofit/>
          </a:bodyPr>
          <a:lstStyle/>
          <a:p>
            <a:r>
              <a:rPr lang="en-GB"/>
              <a:t>Phát triển thăm dò - Exploratory </a:t>
            </a:r>
            <a:r>
              <a:rPr lang="en-GB" dirty="0"/>
              <a:t>development </a:t>
            </a:r>
          </a:p>
          <a:p>
            <a:pPr lvl="1"/>
            <a:r>
              <a:rPr lang="en-GB" sz="2400"/>
              <a:t>Làm việc với khách hàng và cải tiến hệ thống từng bước</a:t>
            </a:r>
          </a:p>
          <a:p>
            <a:pPr lvl="2"/>
            <a:r>
              <a:rPr lang="en-GB" sz="2000"/>
              <a:t>Bắt đầu với những yêu cầu chưa đầy đủ</a:t>
            </a:r>
          </a:p>
          <a:p>
            <a:pPr lvl="2"/>
            <a:r>
              <a:rPr lang="en-GB" sz="2000"/>
              <a:t>Thêm những tính năng mới như khách hàng yêu cầu</a:t>
            </a:r>
          </a:p>
          <a:p>
            <a:pPr lvl="2"/>
            <a:r>
              <a:rPr lang="en-GB" sz="2000"/>
              <a:t>Lặp lại các bước cho đến khi có phiên bản cuối cùng</a:t>
            </a:r>
          </a:p>
          <a:p>
            <a:r>
              <a:rPr lang="en-GB"/>
              <a:t>Bản mẫu - Throw-away </a:t>
            </a:r>
            <a:r>
              <a:rPr lang="en-GB" dirty="0"/>
              <a:t>prototyping</a:t>
            </a:r>
          </a:p>
          <a:p>
            <a:pPr lvl="1"/>
            <a:r>
              <a:rPr lang="en-GB" sz="2400"/>
              <a:t>Mục tiêu là để hiểu yêu cầu khách hàng </a:t>
            </a:r>
            <a:endParaRPr lang="en-GB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79413" y="261938"/>
            <a:ext cx="8516937" cy="1104900"/>
          </a:xfrm>
          <a:noFill/>
          <a:ln/>
        </p:spPr>
        <p:txBody>
          <a:bodyPr lIns="90487" tIns="44450" rIns="90487" bIns="44450"/>
          <a:lstStyle/>
          <a:p>
            <a:r>
              <a:rPr lang="en-GB"/>
              <a:t>Evolutionary development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>
            <a:normAutofit/>
          </a:bodyPr>
          <a:lstStyle/>
          <a:p>
            <a:r>
              <a:rPr lang="en-GB"/>
              <a:t>Hạn chế</a:t>
            </a:r>
            <a:endParaRPr lang="en-GB" dirty="0"/>
          </a:p>
          <a:p>
            <a:pPr lvl="1"/>
            <a:r>
              <a:rPr lang="en-GB"/>
              <a:t>Thiếu trực quan</a:t>
            </a:r>
            <a:endParaRPr lang="en-GB" dirty="0"/>
          </a:p>
          <a:p>
            <a:pPr lvl="1"/>
            <a:r>
              <a:rPr lang="en-GB"/>
              <a:t>Hệ thống thường có cấu trúc nghèo nàn</a:t>
            </a:r>
            <a:endParaRPr lang="en-GB" dirty="0"/>
          </a:p>
          <a:p>
            <a:pPr lvl="1"/>
            <a:r>
              <a:rPr lang="en-GB"/>
              <a:t>Đòi hỏi kỹ năng đặc tả</a:t>
            </a:r>
            <a:endParaRPr lang="en-GB" dirty="0"/>
          </a:p>
          <a:p>
            <a:pPr lvl="2"/>
            <a:r>
              <a:rPr lang="en-GB" dirty="0" err="1"/>
              <a:t>Eg</a:t>
            </a:r>
            <a:r>
              <a:rPr lang="en-GB" dirty="0"/>
              <a:t>. Rapid prototyping language</a:t>
            </a:r>
          </a:p>
          <a:p>
            <a:r>
              <a:rPr lang="en-GB"/>
              <a:t>Khả năng ứng dụng</a:t>
            </a:r>
            <a:endParaRPr lang="en-GB" dirty="0"/>
          </a:p>
          <a:p>
            <a:pPr lvl="1"/>
            <a:r>
              <a:rPr lang="en-GB"/>
              <a:t>Hệ thống có nhiều tương tác, nhỏ và vừa</a:t>
            </a:r>
            <a:endParaRPr lang="en-GB" dirty="0"/>
          </a:p>
          <a:p>
            <a:pPr lvl="1"/>
            <a:r>
              <a:rPr lang="en-GB"/>
              <a:t>Cho các phần của hệ lớn </a:t>
            </a:r>
            <a:r>
              <a:rPr lang="en-GB" dirty="0"/>
              <a:t>(e.g. the user interface)</a:t>
            </a:r>
          </a:p>
          <a:p>
            <a:pPr lvl="1"/>
            <a:r>
              <a:rPr lang="en-GB"/>
              <a:t>Cho các hệ có vòng đời ngắn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Component-based software engineering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 err="1"/>
              <a:t>Thành</a:t>
            </a:r>
            <a:r>
              <a:rPr lang="en-GB" sz="2800" dirty="0"/>
              <a:t> </a:t>
            </a:r>
            <a:r>
              <a:rPr lang="en-GB" sz="2800" dirty="0" err="1"/>
              <a:t>phần</a:t>
            </a:r>
            <a:r>
              <a:rPr lang="en-GB" sz="2800" dirty="0"/>
              <a:t> </a:t>
            </a:r>
            <a:r>
              <a:rPr lang="en-GB" sz="2800" dirty="0" err="1"/>
              <a:t>phần</a:t>
            </a:r>
            <a:r>
              <a:rPr lang="en-GB" sz="2800" dirty="0"/>
              <a:t> </a:t>
            </a:r>
            <a:r>
              <a:rPr lang="en-GB" sz="2800" dirty="0" err="1"/>
              <a:t>mềm</a:t>
            </a:r>
            <a:r>
              <a:rPr lang="en-GB" sz="2800" dirty="0"/>
              <a:t> (software components)</a:t>
            </a:r>
          </a:p>
          <a:p>
            <a:pPr lvl="1"/>
            <a:r>
              <a:rPr lang="en-US" sz="2400" b="1" dirty="0" err="1"/>
              <a:t>Thành</a:t>
            </a:r>
            <a:r>
              <a:rPr lang="en-US" sz="2400" b="1" dirty="0"/>
              <a:t> </a:t>
            </a:r>
            <a:r>
              <a:rPr lang="en-US" sz="2400" b="1" dirty="0" err="1"/>
              <a:t>phần</a:t>
            </a:r>
            <a:r>
              <a:rPr lang="en-US" sz="2400" b="1" dirty="0"/>
              <a:t> </a:t>
            </a:r>
            <a:r>
              <a:rPr lang="en-US" sz="2400" b="1" dirty="0" err="1"/>
              <a:t>là</a:t>
            </a:r>
            <a:r>
              <a:rPr lang="en-US" sz="2400" b="1" dirty="0"/>
              <a:t> </a:t>
            </a:r>
            <a:r>
              <a:rPr lang="en-US" sz="2400" b="1" dirty="0" err="1"/>
              <a:t>một</a:t>
            </a:r>
            <a:r>
              <a:rPr lang="en-US" sz="2400" b="1" dirty="0"/>
              <a:t> </a:t>
            </a:r>
            <a:r>
              <a:rPr lang="en-US" sz="2400" b="1" dirty="0" err="1"/>
              <a:t>đơn</a:t>
            </a:r>
            <a:r>
              <a:rPr lang="en-US" sz="2400" b="1" dirty="0"/>
              <a:t> </a:t>
            </a:r>
            <a:r>
              <a:rPr lang="en-US" sz="2400" b="1" dirty="0" err="1"/>
              <a:t>vị</a:t>
            </a:r>
            <a:r>
              <a:rPr lang="en-US" sz="2400" b="1" dirty="0"/>
              <a:t> </a:t>
            </a:r>
            <a:r>
              <a:rPr lang="en-US" sz="2400" b="1" dirty="0" err="1"/>
              <a:t>phần</a:t>
            </a:r>
            <a:r>
              <a:rPr lang="en-US" sz="2400" b="1" dirty="0"/>
              <a:t> </a:t>
            </a:r>
            <a:r>
              <a:rPr lang="en-US" sz="2400" b="1" dirty="0" err="1"/>
              <a:t>mềm</a:t>
            </a:r>
            <a:r>
              <a:rPr lang="en-US" sz="2400" b="1" dirty="0"/>
              <a:t> (</a:t>
            </a:r>
            <a:r>
              <a:rPr lang="en-US" sz="2400" b="1" dirty="0" err="1"/>
              <a:t>gói</a:t>
            </a:r>
            <a:r>
              <a:rPr lang="en-US" sz="2400" b="1" dirty="0"/>
              <a:t> – package </a:t>
            </a:r>
            <a:r>
              <a:rPr lang="en-US" sz="2400" b="1" dirty="0" err="1"/>
              <a:t>hoặc</a:t>
            </a:r>
            <a:r>
              <a:rPr lang="en-US" sz="2400" b="1" dirty="0"/>
              <a:t> </a:t>
            </a:r>
            <a:r>
              <a:rPr lang="en-US" sz="2400" b="1" dirty="0" err="1"/>
              <a:t>mô</a:t>
            </a:r>
            <a:r>
              <a:rPr lang="en-US" sz="2400" b="1" dirty="0"/>
              <a:t> </a:t>
            </a:r>
            <a:r>
              <a:rPr lang="en-US" sz="2400" b="1" dirty="0" err="1"/>
              <a:t>đun</a:t>
            </a:r>
            <a:r>
              <a:rPr lang="en-US" sz="2400" b="1" dirty="0"/>
              <a:t> – module) </a:t>
            </a:r>
            <a:r>
              <a:rPr lang="en-US" sz="2400" b="1" dirty="0" err="1"/>
              <a:t>đóng</a:t>
            </a:r>
            <a:r>
              <a:rPr lang="en-US" sz="2400" b="1" dirty="0"/>
              <a:t> </a:t>
            </a:r>
            <a:r>
              <a:rPr lang="en-US" sz="2400" b="1" dirty="0" err="1"/>
              <a:t>gói</a:t>
            </a:r>
            <a:r>
              <a:rPr lang="en-US" sz="2400" b="1" dirty="0"/>
              <a:t> </a:t>
            </a:r>
            <a:r>
              <a:rPr lang="en-US" sz="2400" b="1" dirty="0" err="1"/>
              <a:t>một</a:t>
            </a:r>
            <a:r>
              <a:rPr lang="en-US" sz="2400" b="1" dirty="0"/>
              <a:t> </a:t>
            </a:r>
            <a:r>
              <a:rPr lang="en-US" sz="2400" b="1" dirty="0" err="1"/>
              <a:t>tập</a:t>
            </a:r>
            <a:r>
              <a:rPr lang="en-US" sz="2400" b="1" dirty="0"/>
              <a:t> </a:t>
            </a:r>
            <a:r>
              <a:rPr lang="en-US" sz="2400" b="1" dirty="0" err="1"/>
              <a:t>các</a:t>
            </a:r>
            <a:r>
              <a:rPr lang="en-US" sz="2400" b="1" dirty="0"/>
              <a:t> </a:t>
            </a:r>
            <a:r>
              <a:rPr lang="en-US" sz="2400" b="1" dirty="0" err="1"/>
              <a:t>dịch</a:t>
            </a:r>
            <a:r>
              <a:rPr lang="en-US" sz="2400" b="1" dirty="0"/>
              <a:t> </a:t>
            </a:r>
            <a:r>
              <a:rPr lang="en-US" sz="2400" b="1" dirty="0" err="1"/>
              <a:t>vụ</a:t>
            </a:r>
            <a:r>
              <a:rPr lang="en-US" sz="2400" b="1" dirty="0"/>
              <a:t> </a:t>
            </a:r>
            <a:r>
              <a:rPr lang="en-US" sz="2400" b="1" dirty="0" err="1"/>
              <a:t>có</a:t>
            </a:r>
            <a:r>
              <a:rPr lang="en-US" sz="2400" b="1" dirty="0"/>
              <a:t> </a:t>
            </a:r>
            <a:r>
              <a:rPr lang="en-US" sz="2400" b="1" dirty="0" err="1"/>
              <a:t>liên</a:t>
            </a:r>
            <a:r>
              <a:rPr lang="en-US" sz="2400" b="1" dirty="0"/>
              <a:t> </a:t>
            </a:r>
            <a:r>
              <a:rPr lang="en-US" sz="2400" b="1" dirty="0" err="1"/>
              <a:t>quan</a:t>
            </a:r>
            <a:r>
              <a:rPr lang="en-US" sz="2400" b="1" dirty="0"/>
              <a:t> </a:t>
            </a:r>
            <a:r>
              <a:rPr lang="en-US" sz="2400" b="1" dirty="0" err="1"/>
              <a:t>đến</a:t>
            </a:r>
            <a:r>
              <a:rPr lang="en-US" sz="2400" b="1" dirty="0"/>
              <a:t> </a:t>
            </a:r>
            <a:r>
              <a:rPr lang="en-US" sz="2400" b="1" dirty="0" err="1"/>
              <a:t>nhau</a:t>
            </a:r>
            <a:r>
              <a:rPr lang="en-US" sz="2400" b="1" dirty="0"/>
              <a:t>.</a:t>
            </a:r>
          </a:p>
          <a:p>
            <a:pPr lvl="1"/>
            <a:r>
              <a:rPr lang="en-US" sz="2400" b="1" dirty="0" err="1"/>
              <a:t>Mỗi</a:t>
            </a:r>
            <a:r>
              <a:rPr lang="en-US" sz="2400" b="1" dirty="0"/>
              <a:t> </a:t>
            </a:r>
            <a:r>
              <a:rPr lang="en-US" sz="2400" b="1" dirty="0" err="1"/>
              <a:t>thành</a:t>
            </a:r>
            <a:r>
              <a:rPr lang="en-US" sz="2400" b="1" dirty="0"/>
              <a:t> </a:t>
            </a:r>
            <a:r>
              <a:rPr lang="en-US" sz="2400" b="1" dirty="0" err="1"/>
              <a:t>phần</a:t>
            </a:r>
            <a:r>
              <a:rPr lang="en-US" sz="2400" b="1" dirty="0"/>
              <a:t> </a:t>
            </a:r>
            <a:r>
              <a:rPr lang="en-US" sz="2400" b="1" dirty="0" err="1"/>
              <a:t>đều</a:t>
            </a:r>
            <a:r>
              <a:rPr lang="en-US" sz="2400" b="1" dirty="0"/>
              <a:t> </a:t>
            </a:r>
            <a:r>
              <a:rPr lang="en-US" sz="2400" b="1" dirty="0" err="1"/>
              <a:t>có</a:t>
            </a:r>
            <a:r>
              <a:rPr lang="en-US" sz="2400" b="1" dirty="0"/>
              <a:t> </a:t>
            </a:r>
            <a:r>
              <a:rPr lang="en-US" sz="2400" b="1" dirty="0" err="1"/>
              <a:t>tên</a:t>
            </a:r>
            <a:r>
              <a:rPr lang="en-US" sz="2400" b="1" dirty="0"/>
              <a:t> (name), </a:t>
            </a:r>
            <a:r>
              <a:rPr lang="en-US" sz="2400" b="1" dirty="0" err="1"/>
              <a:t>giao</a:t>
            </a:r>
            <a:r>
              <a:rPr lang="en-US" sz="2400" b="1" dirty="0"/>
              <a:t> </a:t>
            </a:r>
            <a:r>
              <a:rPr lang="en-US" sz="2400" b="1" dirty="0" err="1"/>
              <a:t>diện</a:t>
            </a:r>
            <a:r>
              <a:rPr lang="en-US" sz="2400" b="1" dirty="0"/>
              <a:t> (interface) </a:t>
            </a:r>
            <a:r>
              <a:rPr lang="en-US" sz="2400" b="1" dirty="0" err="1"/>
              <a:t>và</a:t>
            </a:r>
            <a:r>
              <a:rPr lang="en-US" sz="2400" b="1" dirty="0"/>
              <a:t> </a:t>
            </a:r>
            <a:r>
              <a:rPr lang="en-US" sz="2400" b="1" dirty="0" err="1"/>
              <a:t>mã</a:t>
            </a:r>
            <a:r>
              <a:rPr lang="en-US" sz="2400" b="1" dirty="0"/>
              <a:t> (code).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27918-AF68-41BB-82C7-522D23BA7CE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52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Component-based software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295" y="1594275"/>
            <a:ext cx="8195310" cy="52383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Component-based software: </a:t>
            </a:r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thống</a:t>
            </a:r>
            <a:r>
              <a:rPr lang="en-GB" dirty="0"/>
              <a:t> </a:t>
            </a:r>
            <a:r>
              <a:rPr lang="en-GB" dirty="0" err="1"/>
              <a:t>được</a:t>
            </a:r>
            <a:r>
              <a:rPr lang="en-GB" dirty="0"/>
              <a:t> </a:t>
            </a:r>
            <a:r>
              <a:rPr lang="en-GB" dirty="0" err="1">
                <a:solidFill>
                  <a:srgbClr val="7030A0"/>
                </a:solidFill>
              </a:rPr>
              <a:t>kết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hợp</a:t>
            </a:r>
            <a:r>
              <a:rPr lang="en-GB" dirty="0"/>
              <a:t> </a:t>
            </a:r>
            <a:r>
              <a:rPr lang="en-GB" dirty="0" err="1"/>
              <a:t>từ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thành</a:t>
            </a:r>
            <a:r>
              <a:rPr lang="en-GB" dirty="0"/>
              <a:t>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sẵn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Reusability</a:t>
            </a:r>
          </a:p>
          <a:p>
            <a:pPr lvl="1"/>
            <a:r>
              <a:rPr lang="en-US" dirty="0"/>
              <a:t>Replacing component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2050" name="Picture 2" descr="https://upload.wikimedia.org/wikipedia/commons/8/83/Component-based-Software-Engineering-example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50" y="2635250"/>
            <a:ext cx="5981700" cy="29908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790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Component-based software engineering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 err="1"/>
              <a:t>Dựa</a:t>
            </a:r>
            <a:r>
              <a:rPr lang="en-GB" sz="2800" dirty="0"/>
              <a:t> </a:t>
            </a:r>
            <a:r>
              <a:rPr lang="en-GB" sz="2800" dirty="0" err="1"/>
              <a:t>trên</a:t>
            </a:r>
            <a:r>
              <a:rPr lang="en-GB" sz="2800" dirty="0"/>
              <a:t> </a:t>
            </a:r>
            <a:r>
              <a:rPr lang="en-GB" sz="2800" dirty="0" err="1"/>
              <a:t>việc</a:t>
            </a:r>
            <a:r>
              <a:rPr lang="en-GB" sz="2800" dirty="0"/>
              <a:t> </a:t>
            </a:r>
            <a:r>
              <a:rPr lang="en-GB" sz="2800" dirty="0" err="1"/>
              <a:t>sử</a:t>
            </a:r>
            <a:r>
              <a:rPr lang="en-GB" sz="2800" dirty="0"/>
              <a:t> </a:t>
            </a:r>
            <a:r>
              <a:rPr lang="en-GB" sz="2800" dirty="0" err="1"/>
              <a:t>dụng</a:t>
            </a:r>
            <a:r>
              <a:rPr lang="en-GB" sz="2800" dirty="0"/>
              <a:t> </a:t>
            </a:r>
            <a:r>
              <a:rPr lang="en-GB" sz="2800" dirty="0" err="1"/>
              <a:t>lại</a:t>
            </a:r>
            <a:r>
              <a:rPr lang="en-GB" sz="2800" dirty="0"/>
              <a:t> </a:t>
            </a:r>
            <a:r>
              <a:rPr lang="en-GB" sz="2800" dirty="0" err="1"/>
              <a:t>một</a:t>
            </a:r>
            <a:r>
              <a:rPr lang="en-GB" sz="2800" dirty="0"/>
              <a:t> </a:t>
            </a:r>
            <a:r>
              <a:rPr lang="en-GB" sz="2800" dirty="0" err="1"/>
              <a:t>cách</a:t>
            </a:r>
            <a:r>
              <a:rPr lang="en-GB" sz="2800" dirty="0"/>
              <a:t> </a:t>
            </a:r>
            <a:r>
              <a:rPr lang="en-GB" sz="2800" dirty="0" err="1"/>
              <a:t>có</a:t>
            </a:r>
            <a:r>
              <a:rPr lang="en-GB" sz="2800" dirty="0"/>
              <a:t> </a:t>
            </a:r>
            <a:r>
              <a:rPr lang="en-GB" sz="2800" dirty="0" err="1"/>
              <a:t>hệ</a:t>
            </a:r>
            <a:r>
              <a:rPr lang="en-GB" sz="2800" dirty="0"/>
              <a:t> </a:t>
            </a:r>
            <a:r>
              <a:rPr lang="en-GB" sz="2800" dirty="0" err="1"/>
              <a:t>thống</a:t>
            </a:r>
            <a:r>
              <a:rPr lang="en-GB" sz="2800" i="1" dirty="0"/>
              <a:t> </a:t>
            </a:r>
          </a:p>
          <a:p>
            <a:pPr lvl="1"/>
            <a:r>
              <a:rPr lang="en-GB" sz="2400" dirty="0" err="1"/>
              <a:t>Hệ</a:t>
            </a:r>
            <a:r>
              <a:rPr lang="en-GB" sz="2400" dirty="0"/>
              <a:t> </a:t>
            </a:r>
            <a:r>
              <a:rPr lang="en-GB" sz="2400" dirty="0" err="1"/>
              <a:t>thống</a:t>
            </a:r>
            <a:r>
              <a:rPr lang="en-GB" sz="2400" dirty="0"/>
              <a:t> </a:t>
            </a:r>
            <a:r>
              <a:rPr lang="en-GB" sz="2400" dirty="0" err="1"/>
              <a:t>được</a:t>
            </a:r>
            <a:r>
              <a:rPr lang="en-GB" sz="2400" dirty="0"/>
              <a:t> </a:t>
            </a:r>
            <a:r>
              <a:rPr lang="en-GB" sz="2400" dirty="0" err="1"/>
              <a:t>tích</a:t>
            </a:r>
            <a:r>
              <a:rPr lang="en-GB" sz="2400" dirty="0"/>
              <a:t> </a:t>
            </a:r>
            <a:r>
              <a:rPr lang="en-GB" sz="2400" dirty="0" err="1"/>
              <a:t>hợp</a:t>
            </a:r>
            <a:r>
              <a:rPr lang="en-GB" sz="2400" dirty="0"/>
              <a:t> </a:t>
            </a:r>
            <a:r>
              <a:rPr lang="en-GB" sz="2400" dirty="0" err="1"/>
              <a:t>từ</a:t>
            </a:r>
            <a:r>
              <a:rPr lang="en-GB" sz="2400" dirty="0"/>
              <a:t> </a:t>
            </a:r>
            <a:r>
              <a:rPr lang="en-GB" sz="2400" dirty="0" err="1"/>
              <a:t>những</a:t>
            </a:r>
            <a:r>
              <a:rPr lang="en-GB" sz="2400" dirty="0"/>
              <a:t> </a:t>
            </a:r>
            <a:r>
              <a:rPr lang="en-GB" sz="2400" dirty="0" err="1"/>
              <a:t>thành</a:t>
            </a:r>
            <a:r>
              <a:rPr lang="en-GB" sz="2400" dirty="0"/>
              <a:t> </a:t>
            </a:r>
            <a:r>
              <a:rPr lang="en-GB" sz="2400" dirty="0" err="1"/>
              <a:t>phần</a:t>
            </a:r>
            <a:r>
              <a:rPr lang="en-GB" sz="2400" dirty="0"/>
              <a:t> </a:t>
            </a:r>
            <a:r>
              <a:rPr lang="en-GB" sz="2400" dirty="0" err="1"/>
              <a:t>có</a:t>
            </a:r>
            <a:r>
              <a:rPr lang="en-GB" sz="2400" dirty="0"/>
              <a:t> </a:t>
            </a:r>
            <a:r>
              <a:rPr lang="en-GB" sz="2400" dirty="0" err="1"/>
              <a:t>sẵn</a:t>
            </a:r>
            <a:r>
              <a:rPr lang="en-GB" sz="2400" dirty="0"/>
              <a:t>.</a:t>
            </a:r>
          </a:p>
          <a:p>
            <a:r>
              <a:rPr lang="en-GB" sz="2800" dirty="0" err="1"/>
              <a:t>Các</a:t>
            </a:r>
            <a:r>
              <a:rPr lang="en-GB" sz="2800" dirty="0"/>
              <a:t> </a:t>
            </a:r>
            <a:r>
              <a:rPr lang="en-GB" sz="2800" dirty="0" err="1"/>
              <a:t>bước</a:t>
            </a:r>
            <a:endParaRPr lang="en-GB" sz="2800" dirty="0"/>
          </a:p>
          <a:p>
            <a:pPr lvl="1"/>
            <a:r>
              <a:rPr lang="en-GB" sz="2400" dirty="0" err="1"/>
              <a:t>Đặc</a:t>
            </a:r>
            <a:r>
              <a:rPr lang="en-GB" sz="2400" dirty="0"/>
              <a:t> </a:t>
            </a:r>
            <a:r>
              <a:rPr lang="en-GB" sz="2400" dirty="0" err="1"/>
              <a:t>tả</a:t>
            </a:r>
            <a:r>
              <a:rPr lang="en-GB" sz="2400" dirty="0"/>
              <a:t> </a:t>
            </a:r>
            <a:r>
              <a:rPr lang="en-GB" sz="2400" dirty="0" err="1"/>
              <a:t>yêu</a:t>
            </a:r>
            <a:r>
              <a:rPr lang="en-GB" sz="2400" dirty="0"/>
              <a:t> </a:t>
            </a:r>
            <a:r>
              <a:rPr lang="en-GB" sz="2400" dirty="0" err="1"/>
              <a:t>cầu</a:t>
            </a:r>
            <a:endParaRPr lang="en-GB" sz="2400" dirty="0"/>
          </a:p>
          <a:p>
            <a:pPr lvl="1"/>
            <a:r>
              <a:rPr lang="en-GB" sz="2400" dirty="0" err="1"/>
              <a:t>Phân</a:t>
            </a:r>
            <a:r>
              <a:rPr lang="en-GB" sz="2400" dirty="0"/>
              <a:t> </a:t>
            </a:r>
            <a:r>
              <a:rPr lang="en-GB" sz="2400" dirty="0" err="1"/>
              <a:t>tích</a:t>
            </a:r>
            <a:r>
              <a:rPr lang="en-GB" sz="2400" dirty="0"/>
              <a:t> </a:t>
            </a:r>
            <a:r>
              <a:rPr lang="en-GB" sz="2400" dirty="0" err="1"/>
              <a:t>thành</a:t>
            </a:r>
            <a:r>
              <a:rPr lang="en-GB" sz="2400" dirty="0"/>
              <a:t> </a:t>
            </a:r>
            <a:r>
              <a:rPr lang="en-GB" sz="2400" dirty="0" err="1"/>
              <a:t>phần</a:t>
            </a:r>
            <a:endParaRPr lang="en-GB" sz="2400" dirty="0"/>
          </a:p>
          <a:p>
            <a:pPr lvl="1"/>
            <a:r>
              <a:rPr lang="en-GB" sz="2400" dirty="0" err="1"/>
              <a:t>Sửa</a:t>
            </a:r>
            <a:r>
              <a:rPr lang="en-GB" sz="2400" dirty="0"/>
              <a:t> </a:t>
            </a:r>
            <a:r>
              <a:rPr lang="en-GB" sz="2400" dirty="0" err="1"/>
              <a:t>đổi</a:t>
            </a:r>
            <a:r>
              <a:rPr lang="en-GB" sz="2400" dirty="0"/>
              <a:t> </a:t>
            </a:r>
            <a:r>
              <a:rPr lang="en-GB" sz="2400" dirty="0" err="1"/>
              <a:t>yêu</a:t>
            </a:r>
            <a:r>
              <a:rPr lang="en-GB" sz="2400" dirty="0"/>
              <a:t> </a:t>
            </a:r>
            <a:r>
              <a:rPr lang="en-GB" sz="2400" dirty="0" err="1"/>
              <a:t>cầu</a:t>
            </a:r>
            <a:endParaRPr lang="en-GB" sz="2400" dirty="0"/>
          </a:p>
          <a:p>
            <a:pPr lvl="1"/>
            <a:r>
              <a:rPr lang="en-GB" sz="2400" dirty="0" err="1"/>
              <a:t>Thiết</a:t>
            </a:r>
            <a:r>
              <a:rPr lang="en-GB" sz="2400" dirty="0"/>
              <a:t> </a:t>
            </a:r>
            <a:r>
              <a:rPr lang="en-GB" sz="2400" dirty="0" err="1"/>
              <a:t>kế</a:t>
            </a:r>
            <a:r>
              <a:rPr lang="en-GB" sz="2400" dirty="0"/>
              <a:t> </a:t>
            </a:r>
            <a:r>
              <a:rPr lang="en-GB" sz="2400" dirty="0" err="1"/>
              <a:t>hệ</a:t>
            </a:r>
            <a:r>
              <a:rPr lang="en-GB" sz="2400" dirty="0"/>
              <a:t> </a:t>
            </a:r>
            <a:r>
              <a:rPr lang="en-GB" sz="2400" dirty="0" err="1"/>
              <a:t>thống</a:t>
            </a:r>
            <a:r>
              <a:rPr lang="en-GB" sz="2400" dirty="0"/>
              <a:t> </a:t>
            </a:r>
            <a:r>
              <a:rPr lang="en-GB" sz="2400" dirty="0" err="1"/>
              <a:t>với</a:t>
            </a:r>
            <a:r>
              <a:rPr lang="en-GB" sz="2400" dirty="0"/>
              <a:t> </a:t>
            </a:r>
            <a:r>
              <a:rPr lang="en-GB" sz="2400" dirty="0" err="1"/>
              <a:t>sử</a:t>
            </a:r>
            <a:r>
              <a:rPr lang="en-GB" sz="2400" dirty="0"/>
              <a:t> </a:t>
            </a:r>
            <a:r>
              <a:rPr lang="en-GB" sz="2400" dirty="0" err="1"/>
              <a:t>dụng</a:t>
            </a:r>
            <a:r>
              <a:rPr lang="en-GB" sz="2400" dirty="0"/>
              <a:t> </a:t>
            </a:r>
            <a:r>
              <a:rPr lang="en-GB" sz="2400" dirty="0" err="1"/>
              <a:t>lại</a:t>
            </a:r>
            <a:endParaRPr lang="en-GB" sz="2400" dirty="0"/>
          </a:p>
          <a:p>
            <a:pPr lvl="1"/>
            <a:r>
              <a:rPr lang="en-GB" sz="2400" dirty="0" err="1"/>
              <a:t>Phát</a:t>
            </a:r>
            <a:r>
              <a:rPr lang="en-GB" sz="2400" dirty="0"/>
              <a:t> </a:t>
            </a:r>
            <a:r>
              <a:rPr lang="en-GB" sz="2400" dirty="0" err="1"/>
              <a:t>triển</a:t>
            </a:r>
            <a:r>
              <a:rPr lang="en-GB" sz="2400" dirty="0"/>
              <a:t> </a:t>
            </a:r>
            <a:r>
              <a:rPr lang="en-GB" sz="2400" dirty="0" err="1"/>
              <a:t>và</a:t>
            </a:r>
            <a:r>
              <a:rPr lang="en-GB" sz="2400" dirty="0"/>
              <a:t> </a:t>
            </a:r>
            <a:r>
              <a:rPr lang="en-GB" sz="2400" dirty="0" err="1"/>
              <a:t>tích</a:t>
            </a:r>
            <a:r>
              <a:rPr lang="en-GB" sz="2400" dirty="0"/>
              <a:t> </a:t>
            </a:r>
            <a:r>
              <a:rPr lang="en-GB" sz="2400" dirty="0" err="1"/>
              <a:t>hợp</a:t>
            </a:r>
            <a:endParaRPr lang="en-GB" sz="2400" dirty="0"/>
          </a:p>
          <a:p>
            <a:pPr lvl="1"/>
            <a:r>
              <a:rPr lang="en-GB" sz="2400" dirty="0" err="1"/>
              <a:t>Thẩm</a:t>
            </a:r>
            <a:r>
              <a:rPr lang="en-GB" sz="2400" dirty="0"/>
              <a:t> </a:t>
            </a:r>
            <a:r>
              <a:rPr lang="en-GB" sz="2400" dirty="0" err="1"/>
              <a:t>định</a:t>
            </a:r>
            <a:r>
              <a:rPr lang="en-GB" sz="2400" dirty="0"/>
              <a:t> </a:t>
            </a:r>
            <a:r>
              <a:rPr lang="en-GB" sz="2400" dirty="0" err="1"/>
              <a:t>sản</a:t>
            </a:r>
            <a:r>
              <a:rPr lang="en-GB" sz="2400" dirty="0"/>
              <a:t> </a:t>
            </a:r>
            <a:r>
              <a:rPr lang="en-GB" sz="2400" dirty="0" err="1"/>
              <a:t>phẩm</a:t>
            </a: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27918-AF68-41BB-82C7-522D23BA7CE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35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Reuse-oriented development</a:t>
            </a:r>
          </a:p>
        </p:txBody>
      </p:sp>
      <p:sp>
        <p:nvSpPr>
          <p:cNvPr id="5" name="Rounded Rectangle 4"/>
          <p:cNvSpPr/>
          <p:nvPr/>
        </p:nvSpPr>
        <p:spPr bwMode="auto">
          <a:xfrm>
            <a:off x="623860" y="2297094"/>
            <a:ext cx="1571636" cy="7143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</a:rPr>
              <a:t>Requirement specification</a:t>
            </a:r>
            <a:endParaRPr lang="vi-VN" sz="1800" dirty="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2624124" y="2297094"/>
            <a:ext cx="1643074" cy="7143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</a:rPr>
              <a:t>Component analysis</a:t>
            </a:r>
            <a:endParaRPr lang="vi-VN" sz="1800" dirty="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4700588" y="2297094"/>
            <a:ext cx="1681162" cy="7143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</a:rPr>
              <a:t>Requirement modification</a:t>
            </a:r>
            <a:endParaRPr lang="vi-VN" sz="1800" dirty="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8" name="Rounded Rectangle 7"/>
          <p:cNvSpPr/>
          <p:nvPr/>
        </p:nvSpPr>
        <p:spPr bwMode="auto">
          <a:xfrm>
            <a:off x="2624124" y="4225914"/>
            <a:ext cx="1643074" cy="7143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</a:rPr>
              <a:t>System design with reuse</a:t>
            </a:r>
            <a:endParaRPr lang="vi-VN" sz="1800" dirty="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4705350" y="4225920"/>
            <a:ext cx="1752600" cy="7143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</a:rPr>
              <a:t>Development and integration</a:t>
            </a:r>
            <a:endParaRPr lang="vi-VN" sz="1800" dirty="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6910404" y="4225920"/>
            <a:ext cx="1571636" cy="7143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</a:rPr>
              <a:t>System validation</a:t>
            </a:r>
            <a:endParaRPr lang="vi-VN" sz="1800" dirty="0">
              <a:solidFill>
                <a:srgbClr val="FFFFFF"/>
              </a:solidFill>
              <a:latin typeface="Calibri" pitchFamily="34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 bwMode="auto">
          <a:xfrm>
            <a:off x="2195513" y="2654292"/>
            <a:ext cx="42862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7" idx="1"/>
          </p:cNvCxnSpPr>
          <p:nvPr/>
        </p:nvCxnSpPr>
        <p:spPr bwMode="auto">
          <a:xfrm flipV="1">
            <a:off x="4267200" y="2654284"/>
            <a:ext cx="433388" cy="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/>
          <p:cNvCxnSpPr/>
          <p:nvPr/>
        </p:nvCxnSpPr>
        <p:spPr bwMode="auto">
          <a:xfrm rot="5400000">
            <a:off x="3927475" y="2743192"/>
            <a:ext cx="1214438" cy="1751012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3"/>
            <a:endCxn id="9" idx="1"/>
          </p:cNvCxnSpPr>
          <p:nvPr/>
        </p:nvCxnSpPr>
        <p:spPr bwMode="auto">
          <a:xfrm>
            <a:off x="4267198" y="4583104"/>
            <a:ext cx="438152" cy="6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9" idx="3"/>
            <a:endCxn id="10" idx="1"/>
          </p:cNvCxnSpPr>
          <p:nvPr/>
        </p:nvCxnSpPr>
        <p:spPr bwMode="auto">
          <a:xfrm>
            <a:off x="6457950" y="4583110"/>
            <a:ext cx="452454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757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idx="1"/>
          </p:nvPr>
        </p:nvSpPr>
        <p:spPr>
          <a:xfrm>
            <a:off x="455294" y="1594275"/>
            <a:ext cx="8650606" cy="4509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3200" dirty="0"/>
          </a:p>
          <a:p>
            <a:pPr marL="742950" indent="-742950">
              <a:buFont typeface="+mj-lt"/>
              <a:buAutoNum type="arabicPeriod"/>
            </a:pPr>
            <a:r>
              <a:rPr lang="en-US" sz="3200" dirty="0" err="1"/>
              <a:t>Đặc</a:t>
            </a:r>
            <a:r>
              <a:rPr lang="en-US" sz="3200" dirty="0"/>
              <a:t> </a:t>
            </a:r>
            <a:r>
              <a:rPr lang="en-US" sz="3200" dirty="0" err="1"/>
              <a:t>tả</a:t>
            </a:r>
            <a:r>
              <a:rPr lang="en-US" sz="3200" dirty="0"/>
              <a:t> </a:t>
            </a:r>
            <a:r>
              <a:rPr lang="en-US" sz="3200" dirty="0" err="1"/>
              <a:t>yêu</a:t>
            </a:r>
            <a:r>
              <a:rPr lang="en-US" sz="3200" dirty="0"/>
              <a:t> </a:t>
            </a:r>
            <a:r>
              <a:rPr lang="en-US" sz="3200" dirty="0" err="1"/>
              <a:t>cầu</a:t>
            </a:r>
            <a:r>
              <a:rPr lang="en-US" sz="3200" dirty="0"/>
              <a:t> – Specification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200" dirty="0" err="1"/>
              <a:t>Thiết</a:t>
            </a:r>
            <a:r>
              <a:rPr lang="en-US" sz="3200" dirty="0"/>
              <a:t> </a:t>
            </a:r>
            <a:r>
              <a:rPr lang="en-US" sz="3200" dirty="0" err="1"/>
              <a:t>kế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cài</a:t>
            </a:r>
            <a:r>
              <a:rPr lang="en-US" sz="3200" dirty="0"/>
              <a:t> </a:t>
            </a:r>
            <a:r>
              <a:rPr lang="en-US" sz="3200" dirty="0" err="1"/>
              <a:t>đặt</a:t>
            </a:r>
            <a:r>
              <a:rPr lang="en-US" sz="3200" dirty="0"/>
              <a:t> - Design and implementation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200" dirty="0" err="1"/>
              <a:t>Thẩm</a:t>
            </a:r>
            <a:r>
              <a:rPr lang="en-US" sz="3200" dirty="0"/>
              <a:t> </a:t>
            </a:r>
            <a:r>
              <a:rPr lang="en-US" sz="3200" dirty="0" err="1"/>
              <a:t>định</a:t>
            </a:r>
            <a:r>
              <a:rPr lang="en-US" sz="3200" dirty="0"/>
              <a:t> - Validation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200" dirty="0" err="1"/>
              <a:t>Tiến</a:t>
            </a:r>
            <a:r>
              <a:rPr lang="en-US" sz="3200" dirty="0"/>
              <a:t> </a:t>
            </a:r>
            <a:r>
              <a:rPr lang="en-US" sz="3200" dirty="0" err="1"/>
              <a:t>hóa</a:t>
            </a:r>
            <a:r>
              <a:rPr lang="en-US" sz="3200" dirty="0"/>
              <a:t> - Evolution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5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idx="1"/>
          </p:nvPr>
        </p:nvSpPr>
        <p:spPr>
          <a:xfrm>
            <a:off x="455294" y="1594275"/>
            <a:ext cx="8650606" cy="4509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3200" dirty="0"/>
          </a:p>
          <a:p>
            <a:pPr marL="463550" indent="-463550">
              <a:buFont typeface="+mj-lt"/>
              <a:buAutoNum type="arabicPeriod"/>
            </a:pPr>
            <a:r>
              <a:rPr lang="en-US" sz="3200" dirty="0" err="1"/>
              <a:t>Đặc</a:t>
            </a:r>
            <a:r>
              <a:rPr lang="en-US" sz="3200" dirty="0"/>
              <a:t> </a:t>
            </a:r>
            <a:r>
              <a:rPr lang="en-US" sz="3200" dirty="0" err="1"/>
              <a:t>tả</a:t>
            </a:r>
            <a:r>
              <a:rPr lang="en-US" sz="3200" dirty="0"/>
              <a:t> </a:t>
            </a:r>
            <a:r>
              <a:rPr lang="en-US" sz="3200" dirty="0" err="1"/>
              <a:t>yêu</a:t>
            </a:r>
            <a:r>
              <a:rPr lang="en-US" sz="3200" dirty="0"/>
              <a:t> </a:t>
            </a:r>
            <a:r>
              <a:rPr lang="en-US" sz="3200" dirty="0" err="1"/>
              <a:t>cầu</a:t>
            </a:r>
            <a:r>
              <a:rPr lang="en-US" sz="3200" dirty="0"/>
              <a:t> – Specification</a:t>
            </a:r>
          </a:p>
          <a:p>
            <a:pPr marL="1122363" lvl="1" indent="-385763">
              <a:buFont typeface="Arial" pitchFamily="34" charset="0"/>
              <a:buChar char="•"/>
            </a:pPr>
            <a:r>
              <a:rPr lang="en-GB" sz="3200" dirty="0" err="1"/>
              <a:t>Định</a:t>
            </a:r>
            <a:r>
              <a:rPr lang="en-GB" sz="3200" dirty="0"/>
              <a:t> </a:t>
            </a:r>
            <a:r>
              <a:rPr lang="en-GB" sz="3200" dirty="0" err="1"/>
              <a:t>nghĩa</a:t>
            </a:r>
            <a:r>
              <a:rPr lang="en-GB" sz="3200" dirty="0"/>
              <a:t> </a:t>
            </a:r>
            <a:r>
              <a:rPr lang="en-GB" sz="3200" dirty="0" err="1"/>
              <a:t>các</a:t>
            </a:r>
            <a:r>
              <a:rPr lang="en-GB" sz="3200" dirty="0"/>
              <a:t> </a:t>
            </a:r>
            <a:r>
              <a:rPr lang="en-GB" sz="3200" dirty="0" err="1"/>
              <a:t>dịch</a:t>
            </a:r>
            <a:r>
              <a:rPr lang="en-GB" sz="3200" dirty="0"/>
              <a:t> </a:t>
            </a:r>
            <a:r>
              <a:rPr lang="en-GB" sz="3200" dirty="0" err="1"/>
              <a:t>vụ</a:t>
            </a:r>
            <a:r>
              <a:rPr lang="en-GB" sz="3200" dirty="0"/>
              <a:t> </a:t>
            </a:r>
            <a:r>
              <a:rPr lang="en-GB" sz="3200" dirty="0" err="1"/>
              <a:t>và</a:t>
            </a:r>
            <a:r>
              <a:rPr lang="en-GB" sz="3200" dirty="0"/>
              <a:t> </a:t>
            </a:r>
            <a:r>
              <a:rPr lang="en-GB" sz="3200" dirty="0" err="1"/>
              <a:t>các</a:t>
            </a:r>
            <a:r>
              <a:rPr lang="en-GB" sz="3200" dirty="0"/>
              <a:t> </a:t>
            </a:r>
            <a:r>
              <a:rPr lang="en-GB" sz="3200" dirty="0" err="1"/>
              <a:t>ràng</a:t>
            </a:r>
            <a:r>
              <a:rPr lang="en-GB" sz="3200" dirty="0"/>
              <a:t> </a:t>
            </a:r>
            <a:r>
              <a:rPr lang="en-GB" sz="3200" dirty="0" err="1"/>
              <a:t>buộc</a:t>
            </a:r>
            <a:r>
              <a:rPr lang="en-GB" sz="3200" dirty="0"/>
              <a:t> </a:t>
            </a:r>
            <a:r>
              <a:rPr lang="en-GB" sz="3200" dirty="0" err="1"/>
              <a:t>cho</a:t>
            </a:r>
            <a:r>
              <a:rPr lang="en-GB" sz="3200" dirty="0"/>
              <a:t> </a:t>
            </a:r>
            <a:r>
              <a:rPr lang="en-GB" sz="3200" dirty="0" err="1"/>
              <a:t>phần</a:t>
            </a:r>
            <a:r>
              <a:rPr lang="en-GB" sz="3200" dirty="0"/>
              <a:t> </a:t>
            </a:r>
            <a:r>
              <a:rPr lang="en-GB" sz="3200" dirty="0" err="1"/>
              <a:t>mềm</a:t>
            </a:r>
            <a:r>
              <a:rPr lang="en-GB" sz="3200" dirty="0"/>
              <a:t>.</a:t>
            </a:r>
            <a:endParaRPr lang="en-US" sz="2900" dirty="0"/>
          </a:p>
          <a:p>
            <a:pPr marL="463550" indent="-463550">
              <a:buFont typeface="+mj-lt"/>
              <a:buAutoNum type="arabicPeriod"/>
            </a:pPr>
            <a:r>
              <a:rPr lang="en-US" sz="3200" dirty="0" err="1"/>
              <a:t>Thiết</a:t>
            </a:r>
            <a:r>
              <a:rPr lang="en-US" sz="3200" dirty="0"/>
              <a:t> </a:t>
            </a:r>
            <a:r>
              <a:rPr lang="en-US" sz="3200" dirty="0" err="1"/>
              <a:t>kế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cài</a:t>
            </a:r>
            <a:r>
              <a:rPr lang="en-US" sz="3200" dirty="0"/>
              <a:t> </a:t>
            </a:r>
            <a:r>
              <a:rPr lang="en-US" sz="3200" dirty="0" err="1"/>
              <a:t>đặt</a:t>
            </a:r>
            <a:r>
              <a:rPr lang="en-US" sz="3200" dirty="0"/>
              <a:t> - Design and implementation</a:t>
            </a:r>
          </a:p>
          <a:p>
            <a:pPr marL="463550" indent="-463550">
              <a:buFont typeface="+mj-lt"/>
              <a:buAutoNum type="arabicPeriod"/>
            </a:pPr>
            <a:r>
              <a:rPr lang="en-US" sz="3200" dirty="0" err="1"/>
              <a:t>Thẩm</a:t>
            </a:r>
            <a:r>
              <a:rPr lang="en-US" sz="3200" dirty="0"/>
              <a:t> </a:t>
            </a:r>
            <a:r>
              <a:rPr lang="en-US" sz="3200" dirty="0" err="1"/>
              <a:t>định</a:t>
            </a:r>
            <a:r>
              <a:rPr lang="en-US" sz="3200" dirty="0"/>
              <a:t> - Validation</a:t>
            </a:r>
          </a:p>
          <a:p>
            <a:pPr marL="463550" indent="-463550">
              <a:buFont typeface="+mj-lt"/>
              <a:buAutoNum type="arabicPeriod"/>
            </a:pPr>
            <a:r>
              <a:rPr lang="en-US" sz="3200" dirty="0" err="1"/>
              <a:t>Tiến</a:t>
            </a:r>
            <a:r>
              <a:rPr lang="en-US" sz="3200" dirty="0"/>
              <a:t> </a:t>
            </a:r>
            <a:r>
              <a:rPr lang="en-US" sz="3200" dirty="0" err="1"/>
              <a:t>hóa</a:t>
            </a:r>
            <a:r>
              <a:rPr lang="en-US" sz="3200" dirty="0"/>
              <a:t> - Evolution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86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idx="1"/>
          </p:nvPr>
        </p:nvSpPr>
        <p:spPr>
          <a:xfrm>
            <a:off x="455294" y="1594275"/>
            <a:ext cx="8650606" cy="450920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en-US" sz="3200" dirty="0"/>
          </a:p>
          <a:p>
            <a:pPr marL="463550" indent="-463550">
              <a:buFont typeface="+mj-lt"/>
              <a:buAutoNum type="arabicPeriod"/>
            </a:pPr>
            <a:r>
              <a:rPr lang="en-US" sz="3200" dirty="0" err="1"/>
              <a:t>Đặc</a:t>
            </a:r>
            <a:r>
              <a:rPr lang="en-US" sz="3200" dirty="0"/>
              <a:t> </a:t>
            </a:r>
            <a:r>
              <a:rPr lang="en-US" sz="3200" dirty="0" err="1"/>
              <a:t>tả</a:t>
            </a:r>
            <a:r>
              <a:rPr lang="en-US" sz="3200" dirty="0"/>
              <a:t> </a:t>
            </a:r>
            <a:r>
              <a:rPr lang="en-US" sz="3200" dirty="0" err="1"/>
              <a:t>yêu</a:t>
            </a:r>
            <a:r>
              <a:rPr lang="en-US" sz="3200" dirty="0"/>
              <a:t> </a:t>
            </a:r>
            <a:r>
              <a:rPr lang="en-US" sz="3200" dirty="0" err="1"/>
              <a:t>cầu</a:t>
            </a:r>
            <a:r>
              <a:rPr lang="en-US" sz="3200" dirty="0"/>
              <a:t> – Specification</a:t>
            </a:r>
          </a:p>
          <a:p>
            <a:pPr marL="463550" indent="-463550">
              <a:buFont typeface="+mj-lt"/>
              <a:buAutoNum type="arabicPeriod"/>
            </a:pPr>
            <a:r>
              <a:rPr lang="en-US" sz="3200" dirty="0" err="1"/>
              <a:t>Thiết</a:t>
            </a:r>
            <a:r>
              <a:rPr lang="en-US" sz="3200" dirty="0"/>
              <a:t> </a:t>
            </a:r>
            <a:r>
              <a:rPr lang="en-US" sz="3200" dirty="0" err="1"/>
              <a:t>kế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cài</a:t>
            </a:r>
            <a:r>
              <a:rPr lang="en-US" sz="3200" dirty="0"/>
              <a:t> </a:t>
            </a:r>
            <a:r>
              <a:rPr lang="en-US" sz="3200" dirty="0" err="1"/>
              <a:t>đặt</a:t>
            </a:r>
            <a:r>
              <a:rPr lang="en-US" sz="3200" dirty="0"/>
              <a:t> - Design and implementation</a:t>
            </a:r>
          </a:p>
          <a:p>
            <a:pPr marL="1092200" lvl="2" indent="-355600">
              <a:buFont typeface="Arial" pitchFamily="34" charset="0"/>
              <a:buChar char="•"/>
            </a:pPr>
            <a:r>
              <a:rPr lang="en-GB" sz="3200" dirty="0" err="1">
                <a:solidFill>
                  <a:srgbClr val="0070C0"/>
                </a:solidFill>
              </a:rPr>
              <a:t>Thiết</a:t>
            </a:r>
            <a:r>
              <a:rPr lang="en-GB" sz="3200" dirty="0">
                <a:solidFill>
                  <a:srgbClr val="0070C0"/>
                </a:solidFill>
              </a:rPr>
              <a:t> </a:t>
            </a:r>
            <a:r>
              <a:rPr lang="en-GB" sz="3200" dirty="0" err="1">
                <a:solidFill>
                  <a:srgbClr val="0070C0"/>
                </a:solidFill>
              </a:rPr>
              <a:t>kế</a:t>
            </a:r>
            <a:r>
              <a:rPr lang="en-GB" sz="3200" dirty="0">
                <a:solidFill>
                  <a:srgbClr val="0070C0"/>
                </a:solidFill>
              </a:rPr>
              <a:t> </a:t>
            </a:r>
            <a:r>
              <a:rPr lang="en-GB" sz="3200" dirty="0" err="1">
                <a:solidFill>
                  <a:srgbClr val="0070C0"/>
                </a:solidFill>
              </a:rPr>
              <a:t>cấu</a:t>
            </a:r>
            <a:r>
              <a:rPr lang="en-GB" sz="3200" dirty="0">
                <a:solidFill>
                  <a:srgbClr val="0070C0"/>
                </a:solidFill>
              </a:rPr>
              <a:t> </a:t>
            </a:r>
            <a:r>
              <a:rPr lang="en-GB" sz="3200" dirty="0" err="1">
                <a:solidFill>
                  <a:srgbClr val="0070C0"/>
                </a:solidFill>
              </a:rPr>
              <a:t>trúc</a:t>
            </a:r>
            <a:r>
              <a:rPr lang="en-GB" sz="3200" dirty="0">
                <a:solidFill>
                  <a:srgbClr val="0070C0"/>
                </a:solidFill>
              </a:rPr>
              <a:t> </a:t>
            </a:r>
            <a:r>
              <a:rPr lang="en-GB" sz="3200" dirty="0" err="1">
                <a:solidFill>
                  <a:srgbClr val="0070C0"/>
                </a:solidFill>
              </a:rPr>
              <a:t>phần</a:t>
            </a:r>
            <a:r>
              <a:rPr lang="en-GB" sz="3200" dirty="0">
                <a:solidFill>
                  <a:srgbClr val="0070C0"/>
                </a:solidFill>
              </a:rPr>
              <a:t> </a:t>
            </a:r>
            <a:r>
              <a:rPr lang="en-GB" sz="3200" dirty="0" err="1">
                <a:solidFill>
                  <a:srgbClr val="0070C0"/>
                </a:solidFill>
              </a:rPr>
              <a:t>mềm</a:t>
            </a:r>
            <a:endParaRPr lang="en-GB" sz="3200" dirty="0">
              <a:solidFill>
                <a:srgbClr val="0070C0"/>
              </a:solidFill>
            </a:endParaRPr>
          </a:p>
          <a:p>
            <a:pPr marL="1092200" lvl="2" indent="-355600">
              <a:buFont typeface="Arial" pitchFamily="34" charset="0"/>
              <a:buChar char="•"/>
            </a:pPr>
            <a:r>
              <a:rPr lang="en-GB" sz="3200" dirty="0" err="1">
                <a:solidFill>
                  <a:srgbClr val="0070C0"/>
                </a:solidFill>
              </a:rPr>
              <a:t>Chuyển</a:t>
            </a:r>
            <a:r>
              <a:rPr lang="en-GB" sz="3200" dirty="0">
                <a:solidFill>
                  <a:srgbClr val="0070C0"/>
                </a:solidFill>
              </a:rPr>
              <a:t> </a:t>
            </a:r>
            <a:r>
              <a:rPr lang="en-GB" sz="3200" dirty="0" err="1">
                <a:solidFill>
                  <a:srgbClr val="0070C0"/>
                </a:solidFill>
              </a:rPr>
              <a:t>cấu</a:t>
            </a:r>
            <a:r>
              <a:rPr lang="en-GB" sz="3200" dirty="0">
                <a:solidFill>
                  <a:srgbClr val="0070C0"/>
                </a:solidFill>
              </a:rPr>
              <a:t> </a:t>
            </a:r>
            <a:r>
              <a:rPr lang="en-GB" sz="3200" dirty="0" err="1">
                <a:solidFill>
                  <a:srgbClr val="0070C0"/>
                </a:solidFill>
              </a:rPr>
              <a:t>trúc</a:t>
            </a:r>
            <a:r>
              <a:rPr lang="en-GB" sz="3200" dirty="0">
                <a:solidFill>
                  <a:srgbClr val="0070C0"/>
                </a:solidFill>
              </a:rPr>
              <a:t> </a:t>
            </a:r>
            <a:r>
              <a:rPr lang="en-GB" sz="3200" dirty="0" err="1">
                <a:solidFill>
                  <a:srgbClr val="0070C0"/>
                </a:solidFill>
              </a:rPr>
              <a:t>phần</a:t>
            </a:r>
            <a:r>
              <a:rPr lang="en-GB" sz="3200" dirty="0">
                <a:solidFill>
                  <a:srgbClr val="0070C0"/>
                </a:solidFill>
              </a:rPr>
              <a:t> </a:t>
            </a:r>
            <a:r>
              <a:rPr lang="en-GB" sz="3200" dirty="0" err="1">
                <a:solidFill>
                  <a:srgbClr val="0070C0"/>
                </a:solidFill>
              </a:rPr>
              <a:t>mềm</a:t>
            </a:r>
            <a:r>
              <a:rPr lang="en-GB" sz="3200" dirty="0">
                <a:solidFill>
                  <a:srgbClr val="0070C0"/>
                </a:solidFill>
              </a:rPr>
              <a:t> </a:t>
            </a:r>
            <a:r>
              <a:rPr lang="en-GB" sz="3200" dirty="0" err="1">
                <a:solidFill>
                  <a:srgbClr val="0070C0"/>
                </a:solidFill>
              </a:rPr>
              <a:t>thành</a:t>
            </a:r>
            <a:r>
              <a:rPr lang="en-GB" sz="3200" dirty="0">
                <a:solidFill>
                  <a:srgbClr val="0070C0"/>
                </a:solidFill>
              </a:rPr>
              <a:t> </a:t>
            </a:r>
            <a:r>
              <a:rPr lang="en-GB" sz="3200" dirty="0" err="1">
                <a:solidFill>
                  <a:srgbClr val="0070C0"/>
                </a:solidFill>
              </a:rPr>
              <a:t>chương</a:t>
            </a:r>
            <a:r>
              <a:rPr lang="en-GB" sz="3200" dirty="0">
                <a:solidFill>
                  <a:srgbClr val="0070C0"/>
                </a:solidFill>
              </a:rPr>
              <a:t> </a:t>
            </a:r>
            <a:r>
              <a:rPr lang="en-GB" sz="3200" dirty="0" err="1">
                <a:solidFill>
                  <a:srgbClr val="0070C0"/>
                </a:solidFill>
              </a:rPr>
              <a:t>trình</a:t>
            </a:r>
            <a:r>
              <a:rPr lang="en-GB" sz="3200" dirty="0">
                <a:solidFill>
                  <a:srgbClr val="0070C0"/>
                </a:solidFill>
              </a:rPr>
              <a:t> </a:t>
            </a:r>
            <a:r>
              <a:rPr lang="en-GB" sz="3200" dirty="0" err="1">
                <a:solidFill>
                  <a:srgbClr val="0070C0"/>
                </a:solidFill>
              </a:rPr>
              <a:t>thực</a:t>
            </a:r>
            <a:r>
              <a:rPr lang="en-GB" sz="3200" dirty="0">
                <a:solidFill>
                  <a:srgbClr val="0070C0"/>
                </a:solidFill>
              </a:rPr>
              <a:t> </a:t>
            </a:r>
            <a:r>
              <a:rPr lang="en-GB" sz="3200" dirty="0" err="1">
                <a:solidFill>
                  <a:srgbClr val="0070C0"/>
                </a:solidFill>
              </a:rPr>
              <a:t>thi</a:t>
            </a:r>
            <a:r>
              <a:rPr lang="en-GB" sz="3200" dirty="0">
                <a:solidFill>
                  <a:srgbClr val="0070C0"/>
                </a:solidFill>
              </a:rPr>
              <a:t> </a:t>
            </a:r>
            <a:r>
              <a:rPr lang="en-GB" sz="3200" dirty="0" err="1">
                <a:solidFill>
                  <a:srgbClr val="0070C0"/>
                </a:solidFill>
              </a:rPr>
              <a:t>được</a:t>
            </a:r>
            <a:r>
              <a:rPr lang="en-GB" sz="3200" dirty="0">
                <a:solidFill>
                  <a:srgbClr val="0070C0"/>
                </a:solidFill>
              </a:rPr>
              <a:t>.</a:t>
            </a:r>
            <a:endParaRPr lang="en-US" sz="3200" dirty="0">
              <a:solidFill>
                <a:srgbClr val="0070C0"/>
              </a:solidFill>
            </a:endParaRPr>
          </a:p>
          <a:p>
            <a:pPr marL="463550" indent="-463550">
              <a:buFont typeface="+mj-lt"/>
              <a:buAutoNum type="arabicPeriod"/>
            </a:pPr>
            <a:r>
              <a:rPr lang="en-US" sz="3200" dirty="0" err="1"/>
              <a:t>Thẩm</a:t>
            </a:r>
            <a:r>
              <a:rPr lang="en-US" sz="3200" dirty="0"/>
              <a:t> </a:t>
            </a:r>
            <a:r>
              <a:rPr lang="en-US" sz="3200" dirty="0" err="1"/>
              <a:t>định</a:t>
            </a:r>
            <a:r>
              <a:rPr lang="en-US" sz="3200" dirty="0"/>
              <a:t> - Validation</a:t>
            </a:r>
          </a:p>
          <a:p>
            <a:pPr marL="463550" indent="-463550">
              <a:buFont typeface="+mj-lt"/>
              <a:buAutoNum type="arabicPeriod"/>
            </a:pPr>
            <a:r>
              <a:rPr lang="en-US" sz="3200" dirty="0" err="1"/>
              <a:t>Tiến</a:t>
            </a:r>
            <a:r>
              <a:rPr lang="en-US" sz="3200" dirty="0"/>
              <a:t> </a:t>
            </a:r>
            <a:r>
              <a:rPr lang="en-US" sz="3200" dirty="0" err="1"/>
              <a:t>hóa</a:t>
            </a:r>
            <a:r>
              <a:rPr lang="en-US" sz="3200" dirty="0"/>
              <a:t> - Evolution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548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idx="1"/>
          </p:nvPr>
        </p:nvSpPr>
        <p:spPr>
          <a:xfrm>
            <a:off x="455294" y="1594275"/>
            <a:ext cx="8650606" cy="4509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3200" dirty="0"/>
          </a:p>
          <a:p>
            <a:pPr marL="463550" indent="-463550">
              <a:buFont typeface="+mj-lt"/>
              <a:buAutoNum type="arabicPeriod"/>
            </a:pPr>
            <a:r>
              <a:rPr lang="en-US" sz="3200" dirty="0" err="1"/>
              <a:t>Đặc</a:t>
            </a:r>
            <a:r>
              <a:rPr lang="en-US" sz="3200" dirty="0"/>
              <a:t> </a:t>
            </a:r>
            <a:r>
              <a:rPr lang="en-US" sz="3200" dirty="0" err="1"/>
              <a:t>tả</a:t>
            </a:r>
            <a:r>
              <a:rPr lang="en-US" sz="3200" dirty="0"/>
              <a:t> </a:t>
            </a:r>
            <a:r>
              <a:rPr lang="en-US" sz="3200" dirty="0" err="1"/>
              <a:t>yêu</a:t>
            </a:r>
            <a:r>
              <a:rPr lang="en-US" sz="3200" dirty="0"/>
              <a:t> </a:t>
            </a:r>
            <a:r>
              <a:rPr lang="en-US" sz="3200" dirty="0" err="1"/>
              <a:t>cầu</a:t>
            </a:r>
            <a:r>
              <a:rPr lang="en-US" sz="3200" dirty="0"/>
              <a:t> – Specification</a:t>
            </a:r>
          </a:p>
          <a:p>
            <a:pPr marL="463550" indent="-463550">
              <a:buFont typeface="+mj-lt"/>
              <a:buAutoNum type="arabicPeriod"/>
            </a:pPr>
            <a:r>
              <a:rPr lang="en-US" sz="3200" dirty="0" err="1"/>
              <a:t>Thiết</a:t>
            </a:r>
            <a:r>
              <a:rPr lang="en-US" sz="3200" dirty="0"/>
              <a:t> </a:t>
            </a:r>
            <a:r>
              <a:rPr lang="en-US" sz="3200" dirty="0" err="1"/>
              <a:t>kế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cài</a:t>
            </a:r>
            <a:r>
              <a:rPr lang="en-US" sz="3200" dirty="0"/>
              <a:t> </a:t>
            </a:r>
            <a:r>
              <a:rPr lang="en-US" sz="3200" dirty="0" err="1"/>
              <a:t>đặt</a:t>
            </a:r>
            <a:r>
              <a:rPr lang="en-US" sz="3200" dirty="0"/>
              <a:t> - Design and implementation</a:t>
            </a:r>
          </a:p>
          <a:p>
            <a:pPr marL="463550" indent="-463550">
              <a:buFont typeface="+mj-lt"/>
              <a:buAutoNum type="arabicPeriod"/>
            </a:pPr>
            <a:r>
              <a:rPr lang="en-US" sz="3200" dirty="0" err="1"/>
              <a:t>Thẩm</a:t>
            </a:r>
            <a:r>
              <a:rPr lang="en-US" sz="3200" dirty="0"/>
              <a:t> </a:t>
            </a:r>
            <a:r>
              <a:rPr lang="en-US" sz="3200" dirty="0" err="1"/>
              <a:t>định</a:t>
            </a:r>
            <a:r>
              <a:rPr lang="en-US" sz="3200" dirty="0"/>
              <a:t> – Validation</a:t>
            </a:r>
          </a:p>
          <a:p>
            <a:pPr marL="1092200" lvl="2" indent="-355600">
              <a:buFont typeface="Arial" pitchFamily="34" charset="0"/>
              <a:buChar char="•"/>
            </a:pPr>
            <a:r>
              <a:rPr lang="en-US" sz="3200" dirty="0" err="1">
                <a:solidFill>
                  <a:srgbClr val="0070C0"/>
                </a:solidFill>
              </a:rPr>
              <a:t>Chỉ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ra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rằng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hệ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thống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thỏa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mãn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yêu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cầu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khách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hàng</a:t>
            </a:r>
            <a:endParaRPr lang="en-US" sz="3200" dirty="0">
              <a:solidFill>
                <a:srgbClr val="0070C0"/>
              </a:solidFill>
            </a:endParaRPr>
          </a:p>
          <a:p>
            <a:pPr marL="463550" indent="-463550">
              <a:buFont typeface="+mj-lt"/>
              <a:buAutoNum type="arabicPeriod"/>
            </a:pPr>
            <a:r>
              <a:rPr lang="en-US" sz="3200" dirty="0" err="1"/>
              <a:t>Tiến</a:t>
            </a:r>
            <a:r>
              <a:rPr lang="en-US" sz="3200" dirty="0"/>
              <a:t> </a:t>
            </a:r>
            <a:r>
              <a:rPr lang="en-US" sz="3200" dirty="0" err="1"/>
              <a:t>hóa</a:t>
            </a:r>
            <a:r>
              <a:rPr lang="en-US" sz="3200" dirty="0"/>
              <a:t> - Evolution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709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idx="1"/>
          </p:nvPr>
        </p:nvSpPr>
        <p:spPr>
          <a:xfrm>
            <a:off x="455294" y="1594275"/>
            <a:ext cx="8650606" cy="4509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3200" dirty="0"/>
          </a:p>
          <a:p>
            <a:pPr marL="463550" indent="-463550">
              <a:buFont typeface="+mj-lt"/>
              <a:buAutoNum type="arabicPeriod"/>
            </a:pPr>
            <a:r>
              <a:rPr lang="en-US" sz="3200" dirty="0" err="1"/>
              <a:t>Đặc</a:t>
            </a:r>
            <a:r>
              <a:rPr lang="en-US" sz="3200" dirty="0"/>
              <a:t> </a:t>
            </a:r>
            <a:r>
              <a:rPr lang="en-US" sz="3200" dirty="0" err="1"/>
              <a:t>tả</a:t>
            </a:r>
            <a:r>
              <a:rPr lang="en-US" sz="3200" dirty="0"/>
              <a:t> </a:t>
            </a:r>
            <a:r>
              <a:rPr lang="en-US" sz="3200" dirty="0" err="1"/>
              <a:t>yêu</a:t>
            </a:r>
            <a:r>
              <a:rPr lang="en-US" sz="3200" dirty="0"/>
              <a:t> </a:t>
            </a:r>
            <a:r>
              <a:rPr lang="en-US" sz="3200" dirty="0" err="1"/>
              <a:t>cầu</a:t>
            </a:r>
            <a:r>
              <a:rPr lang="en-US" sz="3200" dirty="0"/>
              <a:t> – Specification</a:t>
            </a:r>
          </a:p>
          <a:p>
            <a:pPr marL="463550" indent="-463550">
              <a:buFont typeface="+mj-lt"/>
              <a:buAutoNum type="arabicPeriod"/>
            </a:pPr>
            <a:r>
              <a:rPr lang="en-US" sz="3200" dirty="0" err="1"/>
              <a:t>Thiết</a:t>
            </a:r>
            <a:r>
              <a:rPr lang="en-US" sz="3200" dirty="0"/>
              <a:t> </a:t>
            </a:r>
            <a:r>
              <a:rPr lang="en-US" sz="3200" dirty="0" err="1"/>
              <a:t>kế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cài</a:t>
            </a:r>
            <a:r>
              <a:rPr lang="en-US" sz="3200" dirty="0"/>
              <a:t> </a:t>
            </a:r>
            <a:r>
              <a:rPr lang="en-US" sz="3200" dirty="0" err="1"/>
              <a:t>đặt</a:t>
            </a:r>
            <a:r>
              <a:rPr lang="en-US" sz="3200" dirty="0"/>
              <a:t> - Design and implementation</a:t>
            </a:r>
          </a:p>
          <a:p>
            <a:pPr marL="463550" indent="-463550">
              <a:buFont typeface="+mj-lt"/>
              <a:buAutoNum type="arabicPeriod"/>
            </a:pPr>
            <a:r>
              <a:rPr lang="en-US" sz="3200" dirty="0" err="1"/>
              <a:t>Thẩm</a:t>
            </a:r>
            <a:r>
              <a:rPr lang="en-US" sz="3200" dirty="0"/>
              <a:t> </a:t>
            </a:r>
            <a:r>
              <a:rPr lang="en-US" sz="3200" dirty="0" err="1"/>
              <a:t>định</a:t>
            </a:r>
            <a:r>
              <a:rPr lang="en-US" sz="3200" dirty="0"/>
              <a:t> – Validation</a:t>
            </a:r>
          </a:p>
          <a:p>
            <a:pPr marL="463550" indent="-463550">
              <a:buFont typeface="+mj-lt"/>
              <a:buAutoNum type="arabicPeriod"/>
            </a:pPr>
            <a:r>
              <a:rPr lang="en-US" sz="3200" dirty="0" err="1"/>
              <a:t>Tiến</a:t>
            </a:r>
            <a:r>
              <a:rPr lang="en-US" sz="3200" dirty="0"/>
              <a:t> </a:t>
            </a:r>
            <a:r>
              <a:rPr lang="en-US" sz="3200" dirty="0" err="1"/>
              <a:t>hóa</a:t>
            </a:r>
            <a:r>
              <a:rPr lang="en-US" sz="3200" dirty="0"/>
              <a:t> – Evolution</a:t>
            </a:r>
          </a:p>
          <a:p>
            <a:pPr marL="1092200" lvl="2" indent="-355600">
              <a:buFont typeface="Arial" pitchFamily="34" charset="0"/>
              <a:buChar char="•"/>
            </a:pPr>
            <a:r>
              <a:rPr lang="en-US" sz="3200" dirty="0" err="1">
                <a:solidFill>
                  <a:srgbClr val="0070C0"/>
                </a:solidFill>
              </a:rPr>
              <a:t>Làm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thích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nghi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hệ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thống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với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nghiệp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vụ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mới</a:t>
            </a:r>
            <a:r>
              <a:rPr lang="en-US" sz="3200" dirty="0">
                <a:solidFill>
                  <a:srgbClr val="0070C0"/>
                </a:solidFill>
              </a:rPr>
              <a:t>, </a:t>
            </a:r>
            <a:r>
              <a:rPr lang="en-US" sz="3200" dirty="0" err="1">
                <a:solidFill>
                  <a:srgbClr val="0070C0"/>
                </a:solidFill>
              </a:rPr>
              <a:t>môi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trường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vận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hành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mới</a:t>
            </a:r>
            <a:r>
              <a:rPr lang="en-US" sz="3200" dirty="0">
                <a:solidFill>
                  <a:srgbClr val="0070C0"/>
                </a:solidFill>
              </a:rPr>
              <a:t>, …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94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phó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295" y="1899075"/>
            <a:ext cx="8195310" cy="3727025"/>
          </a:xfrm>
        </p:spPr>
        <p:txBody>
          <a:bodyPr>
            <a:normAutofit lnSpcReduction="10000"/>
          </a:bodyPr>
          <a:lstStyle/>
          <a:p>
            <a:pPr>
              <a:buClr>
                <a:schemeClr val="bg2">
                  <a:lumMod val="10000"/>
                </a:schemeClr>
              </a:buClr>
              <a:buFont typeface="Wingdings" pitchFamily="2" charset="2"/>
              <a:buChar char="§"/>
            </a:pP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chắc</a:t>
            </a:r>
            <a:r>
              <a:rPr lang="en-US" dirty="0"/>
              <a:t> </a:t>
            </a:r>
            <a:r>
              <a:rPr lang="en-US" dirty="0" err="1"/>
              <a:t>chắn</a:t>
            </a:r>
            <a:r>
              <a:rPr lang="en-US" dirty="0"/>
              <a:t> </a:t>
            </a:r>
            <a:r>
              <a:rPr lang="en-US" dirty="0" err="1"/>
              <a:t>xảy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</a:p>
          <a:p>
            <a:pPr lvl="1">
              <a:buClr>
                <a:schemeClr val="bg2">
                  <a:lumMod val="10000"/>
                </a:schemeClr>
              </a:buClr>
              <a:buFont typeface="Arial" pitchFamily="34" charset="0"/>
              <a:buChar char="•"/>
            </a:pPr>
            <a:r>
              <a:rPr lang="en-US" dirty="0" err="1"/>
              <a:t>Tốn</a:t>
            </a:r>
            <a:r>
              <a:rPr lang="en-US" dirty="0"/>
              <a:t> chi </a:t>
            </a:r>
            <a:r>
              <a:rPr lang="en-US" dirty="0" err="1"/>
              <a:t>phí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(cost of rework)</a:t>
            </a:r>
          </a:p>
          <a:p>
            <a:pPr>
              <a:buClr>
                <a:schemeClr val="bg2">
                  <a:lumMod val="10000"/>
                </a:schemeClr>
              </a:buClr>
              <a:buFont typeface="Wingdings" pitchFamily="2" charset="2"/>
              <a:buChar char="§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cận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chi </a:t>
            </a:r>
            <a:r>
              <a:rPr lang="en-US" dirty="0" err="1"/>
              <a:t>phí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:</a:t>
            </a:r>
          </a:p>
          <a:p>
            <a:pPr lvl="1">
              <a:buClr>
                <a:schemeClr val="bg2">
                  <a:lumMod val="10000"/>
                </a:schemeClr>
              </a:buClr>
              <a:buFont typeface="Arial" pitchFamily="34" charset="0"/>
              <a:buChar char="•"/>
            </a:pP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endParaRPr lang="en-US" dirty="0"/>
          </a:p>
          <a:p>
            <a:pPr lvl="1">
              <a:buClr>
                <a:schemeClr val="bg2">
                  <a:lumMod val="10000"/>
                </a:schemeClr>
              </a:buClr>
              <a:buFont typeface="Arial" pitchFamily="34" charset="0"/>
              <a:buChar char="•"/>
            </a:pPr>
            <a:r>
              <a:rPr lang="en-US" dirty="0" err="1"/>
              <a:t>Chấp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endParaRPr lang="en-US" dirty="0"/>
          </a:p>
          <a:p>
            <a:pPr lvl="1">
              <a:buClr>
                <a:schemeClr val="bg2">
                  <a:lumMod val="10000"/>
                </a:schemeClr>
              </a:buClr>
              <a:buFont typeface="Arial" pitchFamily="34" charset="0"/>
              <a:buChar char="•"/>
            </a:pP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xoắn</a:t>
            </a:r>
            <a:r>
              <a:rPr lang="en-US" dirty="0"/>
              <a:t> </a:t>
            </a:r>
            <a:r>
              <a:rPr lang="en-US" dirty="0" err="1"/>
              <a:t>ốc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036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25995" lvl="2" indent="-325995"/>
            <a:r>
              <a:rPr lang="en-US" sz="3600" dirty="0" err="1"/>
              <a:t>Làm</a:t>
            </a:r>
            <a:r>
              <a:rPr lang="en-US" sz="3600" dirty="0"/>
              <a:t> </a:t>
            </a:r>
            <a:r>
              <a:rPr lang="en-US" sz="3600" dirty="0" err="1"/>
              <a:t>bản</a:t>
            </a:r>
            <a:r>
              <a:rPr lang="en-US" sz="3600" dirty="0"/>
              <a:t> </a:t>
            </a:r>
            <a:r>
              <a:rPr lang="en-US" sz="3600" dirty="0" err="1"/>
              <a:t>mẫu</a:t>
            </a:r>
            <a:r>
              <a:rPr lang="en-US" sz="3600" dirty="0"/>
              <a:t> </a:t>
            </a:r>
            <a:r>
              <a:rPr lang="en-US" sz="3600" dirty="0" err="1"/>
              <a:t>để</a:t>
            </a:r>
            <a:r>
              <a:rPr lang="en-US" sz="3600" dirty="0"/>
              <a:t> </a:t>
            </a:r>
            <a:r>
              <a:rPr lang="en-US" sz="3600" dirty="0" err="1"/>
              <a:t>xác</a:t>
            </a:r>
            <a:r>
              <a:rPr lang="en-US" sz="3600" dirty="0"/>
              <a:t> </a:t>
            </a:r>
            <a:r>
              <a:rPr lang="en-US" sz="3600" dirty="0" err="1"/>
              <a:t>nhận</a:t>
            </a:r>
            <a:r>
              <a:rPr lang="en-US" sz="3600" dirty="0"/>
              <a:t> </a:t>
            </a:r>
            <a:r>
              <a:rPr lang="en-US" sz="3600" dirty="0" err="1"/>
              <a:t>và</a:t>
            </a:r>
            <a:r>
              <a:rPr lang="en-US" sz="3600" dirty="0"/>
              <a:t> </a:t>
            </a:r>
            <a:r>
              <a:rPr lang="en-US" sz="3600" dirty="0" err="1"/>
              <a:t>làm</a:t>
            </a:r>
            <a:r>
              <a:rPr lang="en-US" sz="3600" dirty="0"/>
              <a:t> </a:t>
            </a:r>
            <a:r>
              <a:rPr lang="en-US" sz="3600" dirty="0" err="1"/>
              <a:t>mịn</a:t>
            </a:r>
            <a:r>
              <a:rPr lang="en-US" sz="3600" dirty="0"/>
              <a:t> </a:t>
            </a:r>
            <a:r>
              <a:rPr lang="en-US" sz="3600" dirty="0" err="1"/>
              <a:t>yêu</a:t>
            </a:r>
            <a:r>
              <a:rPr lang="en-US" sz="3600" dirty="0"/>
              <a:t> </a:t>
            </a:r>
            <a:r>
              <a:rPr lang="en-US" sz="3600" dirty="0" err="1"/>
              <a:t>cầu</a:t>
            </a:r>
            <a:r>
              <a:rPr lang="en-US" sz="3600" dirty="0"/>
              <a:t>.</a:t>
            </a:r>
          </a:p>
          <a:p>
            <a:pPr marL="760655" lvl="3" indent="-325995"/>
            <a:r>
              <a:rPr lang="en-US" sz="3200" dirty="0"/>
              <a:t>Throw away prototype</a:t>
            </a:r>
          </a:p>
          <a:p>
            <a:pPr marL="760655" lvl="3" indent="-325995"/>
            <a:r>
              <a:rPr lang="en-US" sz="3200" dirty="0" err="1"/>
              <a:t>Phần</a:t>
            </a:r>
            <a:r>
              <a:rPr lang="en-US" sz="3200" dirty="0"/>
              <a:t> </a:t>
            </a:r>
            <a:r>
              <a:rPr lang="en-US" sz="3200" dirty="0" err="1"/>
              <a:t>mềm</a:t>
            </a:r>
            <a:r>
              <a:rPr lang="en-US" sz="3200" dirty="0"/>
              <a:t> </a:t>
            </a:r>
            <a:r>
              <a:rPr lang="en-US" sz="3200" dirty="0" err="1"/>
              <a:t>vận</a:t>
            </a:r>
            <a:r>
              <a:rPr lang="en-US" sz="3200" dirty="0"/>
              <a:t> </a:t>
            </a:r>
            <a:r>
              <a:rPr lang="en-US" sz="3200" dirty="0" err="1"/>
              <a:t>hành</a:t>
            </a:r>
            <a:r>
              <a:rPr lang="en-US" sz="3200" dirty="0"/>
              <a:t> </a:t>
            </a:r>
            <a:r>
              <a:rPr lang="en-US" sz="3200" dirty="0" err="1"/>
              <a:t>được</a:t>
            </a:r>
            <a:endParaRPr lang="en-US" sz="3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032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Chấp</a:t>
            </a:r>
            <a:r>
              <a:rPr lang="en-GB" dirty="0"/>
              <a:t> </a:t>
            </a:r>
            <a:r>
              <a:rPr lang="en-GB" dirty="0" err="1"/>
              <a:t>nhận</a:t>
            </a:r>
            <a:r>
              <a:rPr lang="en-GB" dirty="0"/>
              <a:t> </a:t>
            </a:r>
            <a:r>
              <a:rPr lang="en-GB" dirty="0" err="1"/>
              <a:t>thay</a:t>
            </a:r>
            <a:r>
              <a:rPr lang="en-GB" dirty="0"/>
              <a:t> </a:t>
            </a:r>
            <a:r>
              <a:rPr lang="en-GB" dirty="0" err="1"/>
              <a:t>đổi</a:t>
            </a:r>
            <a:endParaRPr lang="en-GB" dirty="0"/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Chuyển</a:t>
            </a:r>
            <a:r>
              <a:rPr lang="en-GB" dirty="0"/>
              <a:t> </a:t>
            </a:r>
            <a:r>
              <a:rPr lang="en-GB" dirty="0" err="1"/>
              <a:t>giao</a:t>
            </a:r>
            <a:r>
              <a:rPr lang="en-GB" dirty="0"/>
              <a:t> </a:t>
            </a:r>
            <a:r>
              <a:rPr lang="en-GB" dirty="0" err="1"/>
              <a:t>dần</a:t>
            </a:r>
            <a:r>
              <a:rPr lang="en-GB" dirty="0"/>
              <a:t> </a:t>
            </a:r>
            <a:r>
              <a:rPr lang="en-GB" dirty="0" err="1"/>
              <a:t>từng</a:t>
            </a:r>
            <a:r>
              <a:rPr lang="en-GB" dirty="0"/>
              <a:t>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</a:t>
            </a:r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thống</a:t>
            </a:r>
            <a:r>
              <a:rPr lang="en-GB" dirty="0"/>
              <a:t> - Incremental delivery</a:t>
            </a:r>
          </a:p>
          <a:p>
            <a:pPr lvl="1"/>
            <a:r>
              <a:rPr lang="en-GB" dirty="0" err="1"/>
              <a:t>Sản</a:t>
            </a:r>
            <a:r>
              <a:rPr lang="en-GB" dirty="0"/>
              <a:t> </a:t>
            </a:r>
            <a:r>
              <a:rPr lang="en-GB" dirty="0" err="1"/>
              <a:t>phẩm</a:t>
            </a:r>
            <a:r>
              <a:rPr lang="en-GB" dirty="0"/>
              <a:t> chia </a:t>
            </a:r>
            <a:r>
              <a:rPr lang="en-GB" dirty="0" err="1"/>
              <a:t>thành</a:t>
            </a:r>
            <a:r>
              <a:rPr lang="en-GB" dirty="0"/>
              <a:t> </a:t>
            </a:r>
            <a:r>
              <a:rPr lang="en-GB" dirty="0" err="1"/>
              <a:t>từng</a:t>
            </a:r>
            <a:r>
              <a:rPr lang="en-GB" dirty="0"/>
              <a:t>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tăng</a:t>
            </a:r>
            <a:r>
              <a:rPr lang="en-GB" dirty="0"/>
              <a:t> (</a:t>
            </a:r>
            <a:r>
              <a:rPr lang="en-GB" dirty="0" err="1"/>
              <a:t>phiên</a:t>
            </a:r>
            <a:r>
              <a:rPr lang="en-GB" dirty="0"/>
              <a:t> </a:t>
            </a:r>
            <a:r>
              <a:rPr lang="en-GB" dirty="0" err="1"/>
              <a:t>bản</a:t>
            </a:r>
            <a:r>
              <a:rPr lang="en-GB" dirty="0"/>
              <a:t> ở </a:t>
            </a:r>
            <a:r>
              <a:rPr lang="en-GB" dirty="0" err="1"/>
              <a:t>mỗi</a:t>
            </a:r>
            <a:r>
              <a:rPr lang="en-GB" dirty="0"/>
              <a:t> </a:t>
            </a:r>
            <a:r>
              <a:rPr lang="en-GB" dirty="0" err="1"/>
              <a:t>lần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</a:t>
            </a:r>
            <a:r>
              <a:rPr lang="en-GB" dirty="0" err="1"/>
              <a:t>tiến</a:t>
            </a:r>
            <a:r>
              <a:rPr lang="en-GB" dirty="0"/>
              <a:t> </a:t>
            </a:r>
            <a:r>
              <a:rPr lang="en-GB" dirty="0" err="1"/>
              <a:t>trình</a:t>
            </a:r>
            <a:r>
              <a:rPr lang="en-GB" dirty="0"/>
              <a:t>) </a:t>
            </a:r>
            <a:r>
              <a:rPr lang="en-GB" dirty="0" err="1"/>
              <a:t>theo</a:t>
            </a:r>
            <a:r>
              <a:rPr lang="en-GB" dirty="0"/>
              <a:t> </a:t>
            </a:r>
            <a:r>
              <a:rPr lang="en-GB" dirty="0" err="1"/>
              <a:t>yêu</a:t>
            </a:r>
            <a:r>
              <a:rPr lang="en-GB" dirty="0"/>
              <a:t> </a:t>
            </a:r>
            <a:r>
              <a:rPr lang="en-GB" dirty="0" err="1"/>
              <a:t>cầu</a:t>
            </a:r>
            <a:r>
              <a:rPr lang="en-GB" dirty="0"/>
              <a:t> </a:t>
            </a:r>
            <a:r>
              <a:rPr lang="en-GB" dirty="0" err="1"/>
              <a:t>chức</a:t>
            </a:r>
            <a:r>
              <a:rPr lang="en-GB" dirty="0"/>
              <a:t> </a:t>
            </a:r>
            <a:r>
              <a:rPr lang="en-GB" dirty="0" err="1"/>
              <a:t>năng</a:t>
            </a:r>
            <a:endParaRPr lang="en-GB" dirty="0"/>
          </a:p>
          <a:p>
            <a:pPr lvl="1"/>
            <a:r>
              <a:rPr lang="en-GB" dirty="0" err="1"/>
              <a:t>Yêu</a:t>
            </a:r>
            <a:r>
              <a:rPr lang="en-GB" dirty="0"/>
              <a:t> </a:t>
            </a:r>
            <a:r>
              <a:rPr lang="en-GB" dirty="0" err="1"/>
              <a:t>cầu</a:t>
            </a:r>
            <a:r>
              <a:rPr lang="en-GB" dirty="0"/>
              <a:t> </a:t>
            </a:r>
            <a:r>
              <a:rPr lang="en-GB" dirty="0" err="1"/>
              <a:t>người</a:t>
            </a:r>
            <a:r>
              <a:rPr lang="en-GB" dirty="0"/>
              <a:t> </a:t>
            </a:r>
            <a:r>
              <a:rPr lang="en-GB" dirty="0" err="1"/>
              <a:t>dùng</a:t>
            </a:r>
            <a:r>
              <a:rPr lang="en-GB" dirty="0"/>
              <a:t> </a:t>
            </a:r>
            <a:r>
              <a:rPr lang="en-GB" dirty="0" err="1"/>
              <a:t>được</a:t>
            </a:r>
            <a:r>
              <a:rPr lang="en-GB" dirty="0"/>
              <a:t> </a:t>
            </a:r>
            <a:r>
              <a:rPr lang="en-GB" dirty="0" err="1"/>
              <a:t>xếp</a:t>
            </a:r>
            <a:r>
              <a:rPr lang="en-GB" dirty="0"/>
              <a:t> </a:t>
            </a:r>
            <a:r>
              <a:rPr lang="en-GB" dirty="0" err="1"/>
              <a:t>ưu</a:t>
            </a:r>
            <a:r>
              <a:rPr lang="en-GB" dirty="0"/>
              <a:t> </a:t>
            </a:r>
            <a:r>
              <a:rPr lang="en-GB" dirty="0" err="1"/>
              <a:t>tiên</a:t>
            </a:r>
            <a:r>
              <a:rPr lang="en-GB" dirty="0"/>
              <a:t> </a:t>
            </a:r>
            <a:r>
              <a:rPr lang="en-GB" dirty="0" err="1"/>
              <a:t>theo</a:t>
            </a:r>
            <a:r>
              <a:rPr lang="en-GB" dirty="0"/>
              <a:t> </a:t>
            </a:r>
            <a:r>
              <a:rPr lang="en-GB" dirty="0" err="1"/>
              <a:t>thứ</a:t>
            </a:r>
            <a:r>
              <a:rPr lang="en-GB" dirty="0"/>
              <a:t> </a:t>
            </a:r>
            <a:r>
              <a:rPr lang="en-GB" dirty="0" err="1"/>
              <a:t>tự</a:t>
            </a:r>
            <a:r>
              <a:rPr lang="en-GB" dirty="0"/>
              <a:t>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tăng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81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delivery</a:t>
            </a:r>
            <a:endParaRPr lang="vi-VN" dirty="0">
              <a:latin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2050" name="Picture 2" descr="spotify_mvp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538" y="1658144"/>
            <a:ext cx="6600825" cy="43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125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Incremental development</a:t>
            </a:r>
          </a:p>
        </p:txBody>
      </p:sp>
      <p:sp>
        <p:nvSpPr>
          <p:cNvPr id="5" name="Rounded Rectangle 4"/>
          <p:cNvSpPr/>
          <p:nvPr/>
        </p:nvSpPr>
        <p:spPr bwMode="auto">
          <a:xfrm>
            <a:off x="757194" y="2044700"/>
            <a:ext cx="1643074" cy="9429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1800">
                <a:solidFill>
                  <a:schemeClr val="tx1"/>
                </a:solidFill>
                <a:latin typeface="Calibri" pitchFamily="34" charset="0"/>
              </a:rPr>
              <a:t>Định nghĩa yêu cầu</a:t>
            </a:r>
            <a:endParaRPr lang="vi-VN" sz="1800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2828892" y="2044700"/>
            <a:ext cx="1714512" cy="9429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1800">
                <a:solidFill>
                  <a:schemeClr val="tx1"/>
                </a:solidFill>
                <a:latin typeface="Calibri" pitchFamily="34" charset="0"/>
              </a:rPr>
              <a:t>Chia yêu cầu cho từng phần tăng</a:t>
            </a:r>
            <a:endParaRPr lang="vi-VN" sz="1800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4829162" y="2044700"/>
            <a:ext cx="1857388" cy="9429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1800">
                <a:solidFill>
                  <a:schemeClr val="tx1"/>
                </a:solidFill>
                <a:latin typeface="Calibri" pitchFamily="34" charset="0"/>
              </a:rPr>
              <a:t>Thiết kế kiến trúc hệ thống</a:t>
            </a:r>
            <a:endParaRPr lang="vi-VN" sz="1800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8" name="Rounded Rectangle 7"/>
          <p:cNvSpPr/>
          <p:nvPr/>
        </p:nvSpPr>
        <p:spPr bwMode="auto">
          <a:xfrm>
            <a:off x="800108" y="3797300"/>
            <a:ext cx="1643074" cy="9429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1800">
                <a:solidFill>
                  <a:schemeClr val="tx1"/>
                </a:solidFill>
                <a:latin typeface="Calibri" pitchFamily="34" charset="0"/>
              </a:rPr>
              <a:t>Phát triển phần tăng</a:t>
            </a:r>
            <a:endParaRPr lang="vi-VN" sz="1800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2728928" y="3797300"/>
            <a:ext cx="1643074" cy="9429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1800">
                <a:solidFill>
                  <a:schemeClr val="tx1"/>
                </a:solidFill>
                <a:latin typeface="Calibri" pitchFamily="34" charset="0"/>
              </a:rPr>
              <a:t>Kiểm định phần tăng</a:t>
            </a:r>
            <a:endParaRPr lang="vi-VN" sz="1800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4657754" y="3797300"/>
            <a:ext cx="1571636" cy="9429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1800">
                <a:solidFill>
                  <a:schemeClr val="tx1"/>
                </a:solidFill>
                <a:latin typeface="Calibri" pitchFamily="34" charset="0"/>
              </a:rPr>
              <a:t>Tích hợp</a:t>
            </a:r>
            <a:endParaRPr lang="vi-VN" sz="1800" dirty="0">
              <a:solidFill>
                <a:schemeClr val="tx1"/>
              </a:solidFill>
              <a:latin typeface="Calibri" pitchFamily="34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 bwMode="auto">
          <a:xfrm>
            <a:off x="2400284" y="2593924"/>
            <a:ext cx="42862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 bwMode="auto">
          <a:xfrm>
            <a:off x="4543409" y="2593924"/>
            <a:ext cx="285750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 bwMode="auto">
          <a:xfrm>
            <a:off x="2443190" y="4348097"/>
            <a:ext cx="285750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 bwMode="auto">
          <a:xfrm>
            <a:off x="4372002" y="4348097"/>
            <a:ext cx="285750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 bwMode="auto">
          <a:xfrm>
            <a:off x="6515142" y="3797300"/>
            <a:ext cx="1571636" cy="9429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377" tIns="45686" rIns="91377" bIns="45686" anchor="ctr"/>
          <a:lstStyle/>
          <a:p>
            <a:pPr algn="ctr">
              <a:defRPr/>
            </a:pPr>
            <a:r>
              <a:rPr lang="en-US" sz="1800">
                <a:solidFill>
                  <a:schemeClr val="tx1"/>
                </a:solidFill>
                <a:latin typeface="Calibri" pitchFamily="34" charset="0"/>
              </a:rPr>
              <a:t>Kiểm định hệ thống</a:t>
            </a:r>
            <a:endParaRPr lang="vi-VN" sz="1800" dirty="0">
              <a:solidFill>
                <a:schemeClr val="tx1"/>
              </a:solidFill>
              <a:latin typeface="Calibri" pitchFamily="34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 bwMode="auto">
          <a:xfrm>
            <a:off x="6229377" y="4348097"/>
            <a:ext cx="285750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Elbow Connector 28"/>
          <p:cNvCxnSpPr>
            <a:cxnSpLocks noChangeShapeType="1"/>
          </p:cNvCxnSpPr>
          <p:nvPr/>
        </p:nvCxnSpPr>
        <p:spPr bwMode="auto">
          <a:xfrm rot="5400000">
            <a:off x="4461696" y="1900965"/>
            <a:ext cx="1588" cy="5680075"/>
          </a:xfrm>
          <a:prstGeom prst="bentConnector3">
            <a:avLst>
              <a:gd name="adj1" fmla="val 14395468"/>
            </a:avLst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29"/>
          <p:cNvSpPr txBox="1">
            <a:spLocks noChangeArrowheads="1"/>
          </p:cNvSpPr>
          <p:nvPr/>
        </p:nvSpPr>
        <p:spPr bwMode="auto">
          <a:xfrm>
            <a:off x="7146131" y="5397500"/>
            <a:ext cx="1214438" cy="1015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77" tIns="45686" rIns="91377" bIns="45686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/>
            <a:r>
              <a:rPr lang="en-US" sz="2000">
                <a:latin typeface="Calibri" pitchFamily="34" charset="0"/>
                <a:cs typeface="Rod" pitchFamily="49" charset="-79"/>
              </a:rPr>
              <a:t>Hệ thống hoàn chỉnh</a:t>
            </a:r>
            <a:endParaRPr lang="vi-VN" sz="2000" dirty="0">
              <a:latin typeface="Calibri" pitchFamily="34" charset="0"/>
              <a:cs typeface="Rod" pitchFamily="49" charset="-79"/>
            </a:endParaRPr>
          </a:p>
        </p:txBody>
      </p:sp>
      <p:cxnSp>
        <p:nvCxnSpPr>
          <p:cNvPr id="19" name="Shape 31"/>
          <p:cNvCxnSpPr>
            <a:cxnSpLocks noChangeShapeType="1"/>
            <a:stCxn id="15" idx="3"/>
          </p:cNvCxnSpPr>
          <p:nvPr/>
        </p:nvCxnSpPr>
        <p:spPr bwMode="auto">
          <a:xfrm flipH="1">
            <a:off x="7753350" y="4268760"/>
            <a:ext cx="333428" cy="1128740"/>
          </a:xfrm>
          <a:prstGeom prst="bentConnector4">
            <a:avLst>
              <a:gd name="adj1" fmla="val -68561"/>
              <a:gd name="adj2" fmla="val 70884"/>
            </a:avLst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7" idx="2"/>
            <a:endCxn id="8" idx="0"/>
          </p:cNvCxnSpPr>
          <p:nvPr/>
        </p:nvCxnSpPr>
        <p:spPr>
          <a:xfrm rot="5400000">
            <a:off x="3284911" y="1324355"/>
            <a:ext cx="809680" cy="4136211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9"/>
          <p:cNvSpPr txBox="1">
            <a:spLocks noChangeArrowheads="1"/>
          </p:cNvSpPr>
          <p:nvPr/>
        </p:nvSpPr>
        <p:spPr bwMode="auto">
          <a:xfrm>
            <a:off x="3229002" y="4965193"/>
            <a:ext cx="2286000" cy="64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377" tIns="45686" rIns="91377" bIns="45686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/>
            <a:r>
              <a:rPr lang="en-US" sz="1800">
                <a:latin typeface="Calibri" pitchFamily="34" charset="0"/>
                <a:cs typeface="Rod" pitchFamily="49" charset="-79"/>
              </a:rPr>
              <a:t>Hệ thống chưa hoàn chỉnh</a:t>
            </a:r>
            <a:endParaRPr lang="vi-VN" sz="1800" dirty="0">
              <a:latin typeface="Calibri" pitchFamily="34" charset="0"/>
              <a:cs typeface="Rod" pitchFamily="49" charset="-79"/>
            </a:endParaRP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79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Ưu điểm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>
                <a:solidFill>
                  <a:schemeClr val="accent2"/>
                </a:solidFill>
              </a:rPr>
              <a:t>Người dùng có sản phẩm dùng sớm</a:t>
            </a:r>
            <a:endParaRPr lang="en-GB" dirty="0"/>
          </a:p>
          <a:p>
            <a:r>
              <a:rPr lang="en-GB"/>
              <a:t>Các phiên bản sớm đóng vai trò như bản mẫu để giúp thu thập yêu cầu mới cho phiên bản kế tiếp.</a:t>
            </a:r>
            <a:endParaRPr lang="en-GB" dirty="0"/>
          </a:p>
          <a:p>
            <a:r>
              <a:rPr lang="en-GB"/>
              <a:t>Các yêu cầu có độ ưu tiên cao được kiểm thử nhiều lần.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27918-AF68-41BB-82C7-522D23BA7CE7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9092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79413" y="261938"/>
            <a:ext cx="8440737" cy="1104900"/>
          </a:xfrm>
          <a:noFill/>
          <a:ln/>
        </p:spPr>
        <p:txBody>
          <a:bodyPr lIns="90487" tIns="44450" rIns="90487" bIns="44450">
            <a:normAutofit fontScale="90000"/>
          </a:bodyPr>
          <a:lstStyle/>
          <a:p>
            <a:r>
              <a:rPr lang="en-GB" dirty="0" err="1"/>
              <a:t>Mô</a:t>
            </a:r>
            <a:r>
              <a:rPr lang="en-GB" dirty="0"/>
              <a:t> </a:t>
            </a:r>
            <a:r>
              <a:rPr lang="en-GB" dirty="0" err="1"/>
              <a:t>hình</a:t>
            </a:r>
            <a:r>
              <a:rPr lang="en-GB" dirty="0"/>
              <a:t> </a:t>
            </a:r>
            <a:r>
              <a:rPr lang="en-GB" dirty="0" err="1"/>
              <a:t>phát</a:t>
            </a:r>
            <a:r>
              <a:rPr lang="en-GB" dirty="0"/>
              <a:t> </a:t>
            </a:r>
            <a:r>
              <a:rPr lang="en-GB" dirty="0" err="1"/>
              <a:t>triển</a:t>
            </a:r>
            <a:r>
              <a:rPr lang="en-GB" dirty="0"/>
              <a:t> </a:t>
            </a:r>
            <a:r>
              <a:rPr lang="en-GB" dirty="0" err="1"/>
              <a:t>xoắn</a:t>
            </a:r>
            <a:r>
              <a:rPr lang="en-GB" dirty="0"/>
              <a:t> </a:t>
            </a:r>
            <a:r>
              <a:rPr lang="en-GB" dirty="0" err="1"/>
              <a:t>ốc</a:t>
            </a:r>
            <a:br>
              <a:rPr lang="en-GB" dirty="0"/>
            </a:br>
            <a:r>
              <a:rPr lang="en-GB" dirty="0"/>
              <a:t>Spiral model of the software process</a:t>
            </a:r>
          </a:p>
        </p:txBody>
      </p:sp>
      <p:sp>
        <p:nvSpPr>
          <p:cNvPr id="5" name="Line 9"/>
          <p:cNvSpPr>
            <a:spLocks noChangeShapeType="1"/>
          </p:cNvSpPr>
          <p:nvPr/>
        </p:nvSpPr>
        <p:spPr bwMode="auto">
          <a:xfrm>
            <a:off x="4207668" y="4230057"/>
            <a:ext cx="3207544" cy="739613"/>
          </a:xfrm>
          <a:prstGeom prst="line">
            <a:avLst/>
          </a:prstGeom>
          <a:noFill/>
          <a:ln w="10">
            <a:solidFill>
              <a:srgbClr val="0083D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en-GB" dirty="0">
              <a:latin typeface="Calibri" panose="020F0502020204030204" pitchFamily="34" charset="0"/>
            </a:endParaRPr>
          </a:p>
        </p:txBody>
      </p:sp>
      <p:sp>
        <p:nvSpPr>
          <p:cNvPr id="6" name="Freeform 10"/>
          <p:cNvSpPr>
            <a:spLocks/>
          </p:cNvSpPr>
          <p:nvPr/>
        </p:nvSpPr>
        <p:spPr bwMode="auto">
          <a:xfrm>
            <a:off x="4712493" y="2874900"/>
            <a:ext cx="1846916" cy="1412145"/>
          </a:xfrm>
          <a:custGeom>
            <a:avLst/>
            <a:gdLst>
              <a:gd name="T0" fmla="*/ 0 w 1128"/>
              <a:gd name="T1" fmla="*/ 2147483647 h 821"/>
              <a:gd name="T2" fmla="*/ 0 w 1128"/>
              <a:gd name="T3" fmla="*/ 2147483647 h 821"/>
              <a:gd name="T4" fmla="*/ 2147483647 w 1128"/>
              <a:gd name="T5" fmla="*/ 0 h 821"/>
              <a:gd name="T6" fmla="*/ 0 60000 65536"/>
              <a:gd name="T7" fmla="*/ 0 60000 65536"/>
              <a:gd name="T8" fmla="*/ 0 60000 65536"/>
              <a:gd name="T9" fmla="*/ 0 w 1128"/>
              <a:gd name="T10" fmla="*/ 0 h 821"/>
              <a:gd name="T11" fmla="*/ 1128 w 1128"/>
              <a:gd name="T12" fmla="*/ 821 h 82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28" h="821">
                <a:moveTo>
                  <a:pt x="0" y="821"/>
                </a:moveTo>
                <a:lnTo>
                  <a:pt x="0" y="462"/>
                </a:lnTo>
                <a:lnTo>
                  <a:pt x="1128" y="0"/>
                </a:lnTo>
              </a:path>
            </a:pathLst>
          </a:custGeom>
          <a:noFill/>
          <a:ln w="10">
            <a:solidFill>
              <a:srgbClr val="0083D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vi-VN" dirty="0">
              <a:latin typeface="Calibri" panose="020F0502020204030204" pitchFamily="34" charset="0"/>
            </a:endParaRPr>
          </a:p>
        </p:txBody>
      </p:sp>
      <p:sp>
        <p:nvSpPr>
          <p:cNvPr id="7" name="Freeform 11"/>
          <p:cNvSpPr>
            <a:spLocks/>
          </p:cNvSpPr>
          <p:nvPr/>
        </p:nvSpPr>
        <p:spPr bwMode="auto">
          <a:xfrm>
            <a:off x="1097756" y="1950147"/>
            <a:ext cx="6415087" cy="4533998"/>
          </a:xfrm>
          <a:custGeom>
            <a:avLst/>
            <a:gdLst/>
            <a:ahLst/>
            <a:cxnLst>
              <a:cxn ang="0">
                <a:pos x="1353" y="1088"/>
              </a:cxn>
              <a:cxn ang="0">
                <a:pos x="1589" y="913"/>
              </a:cxn>
              <a:cxn ang="0">
                <a:pos x="2215" y="872"/>
              </a:cxn>
              <a:cxn ang="0">
                <a:pos x="2554" y="1088"/>
              </a:cxn>
              <a:cxn ang="0">
                <a:pos x="2595" y="1354"/>
              </a:cxn>
              <a:cxn ang="0">
                <a:pos x="2359" y="1631"/>
              </a:cxn>
              <a:cxn ang="0">
                <a:pos x="2082" y="1744"/>
              </a:cxn>
              <a:cxn ang="0">
                <a:pos x="1569" y="1785"/>
              </a:cxn>
              <a:cxn ang="0">
                <a:pos x="1015" y="1549"/>
              </a:cxn>
              <a:cxn ang="0">
                <a:pos x="871" y="1252"/>
              </a:cxn>
              <a:cxn ang="0">
                <a:pos x="1056" y="862"/>
              </a:cxn>
              <a:cxn ang="0">
                <a:pos x="1538" y="605"/>
              </a:cxn>
              <a:cxn ang="0">
                <a:pos x="2174" y="564"/>
              </a:cxn>
              <a:cxn ang="0">
                <a:pos x="2728" y="759"/>
              </a:cxn>
              <a:cxn ang="0">
                <a:pos x="2995" y="1046"/>
              </a:cxn>
              <a:cxn ang="0">
                <a:pos x="3015" y="1416"/>
              </a:cxn>
              <a:cxn ang="0">
                <a:pos x="2820" y="1713"/>
              </a:cxn>
              <a:cxn ang="0">
                <a:pos x="2246" y="2021"/>
              </a:cxn>
              <a:cxn ang="0">
                <a:pos x="1477" y="2072"/>
              </a:cxn>
              <a:cxn ang="0">
                <a:pos x="820" y="1836"/>
              </a:cxn>
              <a:cxn ang="0">
                <a:pos x="543" y="1570"/>
              </a:cxn>
              <a:cxn ang="0">
                <a:pos x="441" y="1252"/>
              </a:cxn>
              <a:cxn ang="0">
                <a:pos x="615" y="790"/>
              </a:cxn>
              <a:cxn ang="0">
                <a:pos x="882" y="564"/>
              </a:cxn>
              <a:cxn ang="0">
                <a:pos x="1364" y="349"/>
              </a:cxn>
              <a:cxn ang="0">
                <a:pos x="2266" y="288"/>
              </a:cxn>
              <a:cxn ang="0">
                <a:pos x="2687" y="390"/>
              </a:cxn>
              <a:cxn ang="0">
                <a:pos x="3036" y="564"/>
              </a:cxn>
              <a:cxn ang="0">
                <a:pos x="3364" y="872"/>
              </a:cxn>
              <a:cxn ang="0">
                <a:pos x="3477" y="1252"/>
              </a:cxn>
              <a:cxn ang="0">
                <a:pos x="3343" y="1672"/>
              </a:cxn>
              <a:cxn ang="0">
                <a:pos x="3087" y="1949"/>
              </a:cxn>
              <a:cxn ang="0">
                <a:pos x="2420" y="2277"/>
              </a:cxn>
              <a:cxn ang="0">
                <a:pos x="1395" y="2339"/>
              </a:cxn>
              <a:cxn ang="0">
                <a:pos x="769" y="2175"/>
              </a:cxn>
              <a:cxn ang="0">
                <a:pos x="297" y="1867"/>
              </a:cxn>
              <a:cxn ang="0">
                <a:pos x="41" y="1467"/>
              </a:cxn>
              <a:cxn ang="0">
                <a:pos x="41" y="1005"/>
              </a:cxn>
              <a:cxn ang="0">
                <a:pos x="451" y="462"/>
              </a:cxn>
              <a:cxn ang="0">
                <a:pos x="861" y="216"/>
              </a:cxn>
              <a:cxn ang="0">
                <a:pos x="1559" y="21"/>
              </a:cxn>
              <a:cxn ang="0">
                <a:pos x="2718" y="93"/>
              </a:cxn>
              <a:cxn ang="0">
                <a:pos x="3343" y="370"/>
              </a:cxn>
              <a:cxn ang="0">
                <a:pos x="3764" y="770"/>
              </a:cxn>
              <a:cxn ang="0">
                <a:pos x="3907" y="1129"/>
              </a:cxn>
              <a:cxn ang="0">
                <a:pos x="3877" y="1498"/>
              </a:cxn>
              <a:cxn ang="0">
                <a:pos x="3682" y="1867"/>
              </a:cxn>
              <a:cxn ang="0">
                <a:pos x="3056" y="2380"/>
              </a:cxn>
              <a:cxn ang="0">
                <a:pos x="2348" y="2605"/>
              </a:cxn>
            </a:cxnLst>
            <a:rect l="0" t="0" r="r" b="b"/>
            <a:pathLst>
              <a:path w="3918" h="2636">
                <a:moveTo>
                  <a:pt x="1302" y="1252"/>
                </a:moveTo>
                <a:lnTo>
                  <a:pt x="1323" y="1170"/>
                </a:lnTo>
                <a:lnTo>
                  <a:pt x="1353" y="1088"/>
                </a:lnTo>
                <a:lnTo>
                  <a:pt x="1415" y="1026"/>
                </a:lnTo>
                <a:lnTo>
                  <a:pt x="1497" y="964"/>
                </a:lnTo>
                <a:lnTo>
                  <a:pt x="1589" y="913"/>
                </a:lnTo>
                <a:lnTo>
                  <a:pt x="1702" y="872"/>
                </a:lnTo>
                <a:lnTo>
                  <a:pt x="1959" y="841"/>
                </a:lnTo>
                <a:lnTo>
                  <a:pt x="2215" y="872"/>
                </a:lnTo>
                <a:lnTo>
                  <a:pt x="2420" y="964"/>
                </a:lnTo>
                <a:lnTo>
                  <a:pt x="2502" y="1026"/>
                </a:lnTo>
                <a:lnTo>
                  <a:pt x="2554" y="1088"/>
                </a:lnTo>
                <a:lnTo>
                  <a:pt x="2595" y="1170"/>
                </a:lnTo>
                <a:lnTo>
                  <a:pt x="2605" y="1252"/>
                </a:lnTo>
                <a:lnTo>
                  <a:pt x="2595" y="1354"/>
                </a:lnTo>
                <a:lnTo>
                  <a:pt x="2543" y="1457"/>
                </a:lnTo>
                <a:lnTo>
                  <a:pt x="2461" y="1549"/>
                </a:lnTo>
                <a:lnTo>
                  <a:pt x="2359" y="1631"/>
                </a:lnTo>
                <a:lnTo>
                  <a:pt x="2297" y="1672"/>
                </a:lnTo>
                <a:lnTo>
                  <a:pt x="2225" y="1703"/>
                </a:lnTo>
                <a:lnTo>
                  <a:pt x="2082" y="1744"/>
                </a:lnTo>
                <a:lnTo>
                  <a:pt x="1918" y="1785"/>
                </a:lnTo>
                <a:lnTo>
                  <a:pt x="1743" y="1795"/>
                </a:lnTo>
                <a:lnTo>
                  <a:pt x="1569" y="1785"/>
                </a:lnTo>
                <a:lnTo>
                  <a:pt x="1405" y="1744"/>
                </a:lnTo>
                <a:lnTo>
                  <a:pt x="1128" y="1631"/>
                </a:lnTo>
                <a:lnTo>
                  <a:pt x="1015" y="1549"/>
                </a:lnTo>
                <a:lnTo>
                  <a:pt x="943" y="1457"/>
                </a:lnTo>
                <a:lnTo>
                  <a:pt x="892" y="1354"/>
                </a:lnTo>
                <a:lnTo>
                  <a:pt x="871" y="1252"/>
                </a:lnTo>
                <a:lnTo>
                  <a:pt x="892" y="1108"/>
                </a:lnTo>
                <a:lnTo>
                  <a:pt x="953" y="985"/>
                </a:lnTo>
                <a:lnTo>
                  <a:pt x="1056" y="862"/>
                </a:lnTo>
                <a:lnTo>
                  <a:pt x="1189" y="759"/>
                </a:lnTo>
                <a:lnTo>
                  <a:pt x="1353" y="667"/>
                </a:lnTo>
                <a:lnTo>
                  <a:pt x="1538" y="605"/>
                </a:lnTo>
                <a:lnTo>
                  <a:pt x="1743" y="564"/>
                </a:lnTo>
                <a:lnTo>
                  <a:pt x="1959" y="544"/>
                </a:lnTo>
                <a:lnTo>
                  <a:pt x="2174" y="564"/>
                </a:lnTo>
                <a:lnTo>
                  <a:pt x="2379" y="605"/>
                </a:lnTo>
                <a:lnTo>
                  <a:pt x="2564" y="667"/>
                </a:lnTo>
                <a:lnTo>
                  <a:pt x="2728" y="759"/>
                </a:lnTo>
                <a:lnTo>
                  <a:pt x="2861" y="862"/>
                </a:lnTo>
                <a:lnTo>
                  <a:pt x="2964" y="985"/>
                </a:lnTo>
                <a:lnTo>
                  <a:pt x="2995" y="1046"/>
                </a:lnTo>
                <a:lnTo>
                  <a:pt x="3025" y="1108"/>
                </a:lnTo>
                <a:lnTo>
                  <a:pt x="3046" y="1252"/>
                </a:lnTo>
                <a:lnTo>
                  <a:pt x="3015" y="1416"/>
                </a:lnTo>
                <a:lnTo>
                  <a:pt x="2943" y="1570"/>
                </a:lnTo>
                <a:lnTo>
                  <a:pt x="2892" y="1641"/>
                </a:lnTo>
                <a:lnTo>
                  <a:pt x="2820" y="1713"/>
                </a:lnTo>
                <a:lnTo>
                  <a:pt x="2666" y="1836"/>
                </a:lnTo>
                <a:lnTo>
                  <a:pt x="2471" y="1939"/>
                </a:lnTo>
                <a:lnTo>
                  <a:pt x="2246" y="2021"/>
                </a:lnTo>
                <a:lnTo>
                  <a:pt x="2000" y="2072"/>
                </a:lnTo>
                <a:lnTo>
                  <a:pt x="1743" y="2093"/>
                </a:lnTo>
                <a:lnTo>
                  <a:pt x="1477" y="2072"/>
                </a:lnTo>
                <a:lnTo>
                  <a:pt x="1230" y="2021"/>
                </a:lnTo>
                <a:lnTo>
                  <a:pt x="1015" y="1939"/>
                </a:lnTo>
                <a:lnTo>
                  <a:pt x="820" y="1836"/>
                </a:lnTo>
                <a:lnTo>
                  <a:pt x="656" y="1713"/>
                </a:lnTo>
                <a:lnTo>
                  <a:pt x="595" y="1641"/>
                </a:lnTo>
                <a:lnTo>
                  <a:pt x="543" y="1570"/>
                </a:lnTo>
                <a:lnTo>
                  <a:pt x="492" y="1498"/>
                </a:lnTo>
                <a:lnTo>
                  <a:pt x="461" y="1416"/>
                </a:lnTo>
                <a:lnTo>
                  <a:pt x="441" y="1252"/>
                </a:lnTo>
                <a:lnTo>
                  <a:pt x="471" y="1057"/>
                </a:lnTo>
                <a:lnTo>
                  <a:pt x="553" y="872"/>
                </a:lnTo>
                <a:lnTo>
                  <a:pt x="615" y="790"/>
                </a:lnTo>
                <a:lnTo>
                  <a:pt x="697" y="708"/>
                </a:lnTo>
                <a:lnTo>
                  <a:pt x="779" y="636"/>
                </a:lnTo>
                <a:lnTo>
                  <a:pt x="882" y="564"/>
                </a:lnTo>
                <a:lnTo>
                  <a:pt x="1107" y="441"/>
                </a:lnTo>
                <a:lnTo>
                  <a:pt x="1230" y="390"/>
                </a:lnTo>
                <a:lnTo>
                  <a:pt x="1364" y="349"/>
                </a:lnTo>
                <a:lnTo>
                  <a:pt x="1651" y="288"/>
                </a:lnTo>
                <a:lnTo>
                  <a:pt x="1959" y="267"/>
                </a:lnTo>
                <a:lnTo>
                  <a:pt x="2266" y="288"/>
                </a:lnTo>
                <a:lnTo>
                  <a:pt x="2410" y="318"/>
                </a:lnTo>
                <a:lnTo>
                  <a:pt x="2554" y="349"/>
                </a:lnTo>
                <a:lnTo>
                  <a:pt x="2687" y="390"/>
                </a:lnTo>
                <a:lnTo>
                  <a:pt x="2810" y="441"/>
                </a:lnTo>
                <a:lnTo>
                  <a:pt x="2923" y="503"/>
                </a:lnTo>
                <a:lnTo>
                  <a:pt x="3036" y="564"/>
                </a:lnTo>
                <a:lnTo>
                  <a:pt x="3128" y="636"/>
                </a:lnTo>
                <a:lnTo>
                  <a:pt x="3220" y="708"/>
                </a:lnTo>
                <a:lnTo>
                  <a:pt x="3364" y="872"/>
                </a:lnTo>
                <a:lnTo>
                  <a:pt x="3446" y="1057"/>
                </a:lnTo>
                <a:lnTo>
                  <a:pt x="3466" y="1149"/>
                </a:lnTo>
                <a:lnTo>
                  <a:pt x="3477" y="1252"/>
                </a:lnTo>
                <a:lnTo>
                  <a:pt x="3446" y="1467"/>
                </a:lnTo>
                <a:lnTo>
                  <a:pt x="3405" y="1570"/>
                </a:lnTo>
                <a:lnTo>
                  <a:pt x="3343" y="1672"/>
                </a:lnTo>
                <a:lnTo>
                  <a:pt x="3271" y="1775"/>
                </a:lnTo>
                <a:lnTo>
                  <a:pt x="3179" y="1867"/>
                </a:lnTo>
                <a:lnTo>
                  <a:pt x="3087" y="1949"/>
                </a:lnTo>
                <a:lnTo>
                  <a:pt x="2974" y="2031"/>
                </a:lnTo>
                <a:lnTo>
                  <a:pt x="2707" y="2175"/>
                </a:lnTo>
                <a:lnTo>
                  <a:pt x="2420" y="2277"/>
                </a:lnTo>
                <a:lnTo>
                  <a:pt x="2092" y="2339"/>
                </a:lnTo>
                <a:lnTo>
                  <a:pt x="1743" y="2370"/>
                </a:lnTo>
                <a:lnTo>
                  <a:pt x="1395" y="2339"/>
                </a:lnTo>
                <a:lnTo>
                  <a:pt x="1220" y="2308"/>
                </a:lnTo>
                <a:lnTo>
                  <a:pt x="1066" y="2277"/>
                </a:lnTo>
                <a:lnTo>
                  <a:pt x="769" y="2175"/>
                </a:lnTo>
                <a:lnTo>
                  <a:pt x="512" y="2031"/>
                </a:lnTo>
                <a:lnTo>
                  <a:pt x="400" y="1949"/>
                </a:lnTo>
                <a:lnTo>
                  <a:pt x="297" y="1867"/>
                </a:lnTo>
                <a:lnTo>
                  <a:pt x="133" y="1672"/>
                </a:lnTo>
                <a:lnTo>
                  <a:pt x="82" y="1570"/>
                </a:lnTo>
                <a:lnTo>
                  <a:pt x="41" y="1467"/>
                </a:lnTo>
                <a:lnTo>
                  <a:pt x="0" y="1252"/>
                </a:lnTo>
                <a:lnTo>
                  <a:pt x="10" y="1129"/>
                </a:lnTo>
                <a:lnTo>
                  <a:pt x="41" y="1005"/>
                </a:lnTo>
                <a:lnTo>
                  <a:pt x="153" y="770"/>
                </a:lnTo>
                <a:lnTo>
                  <a:pt x="338" y="554"/>
                </a:lnTo>
                <a:lnTo>
                  <a:pt x="451" y="462"/>
                </a:lnTo>
                <a:lnTo>
                  <a:pt x="574" y="370"/>
                </a:lnTo>
                <a:lnTo>
                  <a:pt x="718" y="288"/>
                </a:lnTo>
                <a:lnTo>
                  <a:pt x="861" y="216"/>
                </a:lnTo>
                <a:lnTo>
                  <a:pt x="1200" y="93"/>
                </a:lnTo>
                <a:lnTo>
                  <a:pt x="1374" y="52"/>
                </a:lnTo>
                <a:lnTo>
                  <a:pt x="1559" y="21"/>
                </a:lnTo>
                <a:lnTo>
                  <a:pt x="1959" y="0"/>
                </a:lnTo>
                <a:lnTo>
                  <a:pt x="2348" y="21"/>
                </a:lnTo>
                <a:lnTo>
                  <a:pt x="2718" y="93"/>
                </a:lnTo>
                <a:lnTo>
                  <a:pt x="3056" y="216"/>
                </a:lnTo>
                <a:lnTo>
                  <a:pt x="3200" y="288"/>
                </a:lnTo>
                <a:lnTo>
                  <a:pt x="3343" y="370"/>
                </a:lnTo>
                <a:lnTo>
                  <a:pt x="3579" y="554"/>
                </a:lnTo>
                <a:lnTo>
                  <a:pt x="3682" y="657"/>
                </a:lnTo>
                <a:lnTo>
                  <a:pt x="3764" y="770"/>
                </a:lnTo>
                <a:lnTo>
                  <a:pt x="3825" y="882"/>
                </a:lnTo>
                <a:lnTo>
                  <a:pt x="3877" y="1005"/>
                </a:lnTo>
                <a:lnTo>
                  <a:pt x="3907" y="1129"/>
                </a:lnTo>
                <a:lnTo>
                  <a:pt x="3918" y="1252"/>
                </a:lnTo>
                <a:lnTo>
                  <a:pt x="3907" y="1375"/>
                </a:lnTo>
                <a:lnTo>
                  <a:pt x="3877" y="1498"/>
                </a:lnTo>
                <a:lnTo>
                  <a:pt x="3825" y="1631"/>
                </a:lnTo>
                <a:lnTo>
                  <a:pt x="3764" y="1754"/>
                </a:lnTo>
                <a:lnTo>
                  <a:pt x="3682" y="1867"/>
                </a:lnTo>
                <a:lnTo>
                  <a:pt x="3579" y="1990"/>
                </a:lnTo>
                <a:lnTo>
                  <a:pt x="3343" y="2195"/>
                </a:lnTo>
                <a:lnTo>
                  <a:pt x="3056" y="2380"/>
                </a:lnTo>
                <a:lnTo>
                  <a:pt x="2718" y="2513"/>
                </a:lnTo>
                <a:lnTo>
                  <a:pt x="2543" y="2564"/>
                </a:lnTo>
                <a:lnTo>
                  <a:pt x="2348" y="2605"/>
                </a:lnTo>
                <a:lnTo>
                  <a:pt x="1959" y="2636"/>
                </a:lnTo>
              </a:path>
            </a:pathLst>
          </a:cu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>
              <a:defRPr/>
            </a:pPr>
            <a:endParaRPr lang="vi-VN" sz="2800" b="1" dirty="0">
              <a:latin typeface="Calibri" pitchFamily="34" charset="0"/>
            </a:endParaRPr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auto">
          <a:xfrm>
            <a:off x="742950" y="4252781"/>
            <a:ext cx="6903013" cy="1719"/>
          </a:xfrm>
          <a:prstGeom prst="line">
            <a:avLst/>
          </a:prstGeom>
          <a:noFill/>
          <a:ln w="1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en-GB" dirty="0">
              <a:latin typeface="Calibri" panose="020F0502020204030204" pitchFamily="34" charset="0"/>
            </a:endParaRPr>
          </a:p>
        </p:txBody>
      </p:sp>
      <p:sp>
        <p:nvSpPr>
          <p:cNvPr id="9" name="Line 13"/>
          <p:cNvSpPr>
            <a:spLocks noChangeShapeType="1"/>
          </p:cNvSpPr>
          <p:nvPr/>
        </p:nvSpPr>
        <p:spPr bwMode="auto">
          <a:xfrm flipV="1">
            <a:off x="4207668" y="1730366"/>
            <a:ext cx="1638" cy="4852204"/>
          </a:xfrm>
          <a:prstGeom prst="line">
            <a:avLst/>
          </a:prstGeom>
          <a:noFill/>
          <a:ln w="1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en-GB" dirty="0">
              <a:latin typeface="Calibri" panose="020F0502020204030204" pitchFamily="34" charset="0"/>
            </a:endParaRPr>
          </a:p>
        </p:txBody>
      </p:sp>
      <p:pic>
        <p:nvPicPr>
          <p:cNvPr id="10" name="Picture 1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206" y="2064398"/>
            <a:ext cx="53320" cy="104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reeform 15"/>
          <p:cNvSpPr>
            <a:spLocks/>
          </p:cNvSpPr>
          <p:nvPr/>
        </p:nvSpPr>
        <p:spPr bwMode="auto">
          <a:xfrm>
            <a:off x="4174331" y="2047197"/>
            <a:ext cx="67130" cy="122123"/>
          </a:xfrm>
          <a:custGeom>
            <a:avLst/>
            <a:gdLst>
              <a:gd name="T0" fmla="*/ 2147483647 w 41"/>
              <a:gd name="T1" fmla="*/ 0 h 71"/>
              <a:gd name="T2" fmla="*/ 0 w 41"/>
              <a:gd name="T3" fmla="*/ 2147483647 h 71"/>
              <a:gd name="T4" fmla="*/ 2147483647 w 41"/>
              <a:gd name="T5" fmla="*/ 2147483647 h 71"/>
              <a:gd name="T6" fmla="*/ 2147483647 w 41"/>
              <a:gd name="T7" fmla="*/ 2147483647 h 71"/>
              <a:gd name="T8" fmla="*/ 2147483647 w 41"/>
              <a:gd name="T9" fmla="*/ 0 h 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"/>
              <a:gd name="T16" fmla="*/ 0 h 71"/>
              <a:gd name="T17" fmla="*/ 41 w 41"/>
              <a:gd name="T18" fmla="*/ 71 h 7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" h="71">
                <a:moveTo>
                  <a:pt x="21" y="0"/>
                </a:moveTo>
                <a:lnTo>
                  <a:pt x="0" y="71"/>
                </a:lnTo>
                <a:lnTo>
                  <a:pt x="21" y="61"/>
                </a:lnTo>
                <a:lnTo>
                  <a:pt x="41" y="71"/>
                </a:lnTo>
                <a:lnTo>
                  <a:pt x="21" y="0"/>
                </a:lnTo>
                <a:close/>
              </a:path>
            </a:pathLst>
          </a:custGeom>
          <a:noFill/>
          <a:ln w="1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vi-VN" dirty="0">
              <a:latin typeface="Calibri" panose="020F0502020204030204" pitchFamily="34" charset="0"/>
            </a:endParaRPr>
          </a:p>
        </p:txBody>
      </p:sp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5573535" y="2385525"/>
            <a:ext cx="51749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Risk</a:t>
            </a:r>
          </a:p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analysis</a:t>
            </a:r>
            <a:endParaRPr lang="vi-VN" sz="2800" b="1" dirty="0">
              <a:latin typeface="Calibri" panose="020F0502020204030204" pitchFamily="34" charset="0"/>
            </a:endParaRPr>
          </a:p>
        </p:txBody>
      </p:sp>
      <p:sp>
        <p:nvSpPr>
          <p:cNvPr id="13" name="Rectangle 28"/>
          <p:cNvSpPr>
            <a:spLocks noChangeArrowheads="1"/>
          </p:cNvSpPr>
          <p:nvPr/>
        </p:nvSpPr>
        <p:spPr bwMode="auto">
          <a:xfrm>
            <a:off x="4728368" y="4019853"/>
            <a:ext cx="725811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Prototype 1</a:t>
            </a:r>
            <a:endParaRPr lang="vi-VN" sz="2800" b="1" dirty="0">
              <a:latin typeface="Calibri" panose="020F0502020204030204" pitchFamily="34" charset="0"/>
            </a:endParaRPr>
          </a:p>
        </p:txBody>
      </p:sp>
      <p:sp>
        <p:nvSpPr>
          <p:cNvPr id="14" name="Rectangle 41"/>
          <p:cNvSpPr>
            <a:spLocks noChangeArrowheads="1"/>
          </p:cNvSpPr>
          <p:nvPr/>
        </p:nvSpPr>
        <p:spPr bwMode="auto">
          <a:xfrm>
            <a:off x="4239418" y="4488363"/>
            <a:ext cx="69109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Concept of</a:t>
            </a:r>
          </a:p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Operation</a:t>
            </a:r>
            <a:endParaRPr lang="vi-VN" sz="2800" b="1" dirty="0">
              <a:latin typeface="Calibri" panose="020F0502020204030204" pitchFamily="34" charset="0"/>
            </a:endParaRPr>
          </a:p>
        </p:txBody>
      </p:sp>
      <p:sp>
        <p:nvSpPr>
          <p:cNvPr id="15" name="Rectangle 47"/>
          <p:cNvSpPr>
            <a:spLocks noChangeArrowheads="1"/>
          </p:cNvSpPr>
          <p:nvPr/>
        </p:nvSpPr>
        <p:spPr bwMode="auto">
          <a:xfrm>
            <a:off x="5298280" y="4337698"/>
            <a:ext cx="20567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Simulation, models, benchmarks</a:t>
            </a:r>
            <a:endParaRPr lang="vi-VN" sz="2800" b="1" dirty="0">
              <a:latin typeface="Calibri" panose="020F0502020204030204" pitchFamily="34" charset="0"/>
            </a:endParaRPr>
          </a:p>
        </p:txBody>
      </p:sp>
      <p:sp>
        <p:nvSpPr>
          <p:cNvPr id="16" name="Rectangle 53"/>
          <p:cNvSpPr>
            <a:spLocks noChangeArrowheads="1"/>
          </p:cNvSpPr>
          <p:nvPr/>
        </p:nvSpPr>
        <p:spPr bwMode="auto">
          <a:xfrm>
            <a:off x="4857750" y="4699501"/>
            <a:ext cx="83493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W/S </a:t>
            </a:r>
          </a:p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requirements</a:t>
            </a:r>
            <a:endParaRPr lang="vi-VN" sz="2800" b="1" dirty="0">
              <a:latin typeface="Calibri" panose="020F0502020204030204" pitchFamily="34" charset="0"/>
            </a:endParaRPr>
          </a:p>
        </p:txBody>
      </p:sp>
      <p:sp>
        <p:nvSpPr>
          <p:cNvPr id="17" name="Rectangle 57"/>
          <p:cNvSpPr>
            <a:spLocks noChangeArrowheads="1"/>
          </p:cNvSpPr>
          <p:nvPr/>
        </p:nvSpPr>
        <p:spPr bwMode="auto">
          <a:xfrm>
            <a:off x="4255292" y="5139222"/>
            <a:ext cx="83598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Requirement validation</a:t>
            </a:r>
            <a:endParaRPr lang="vi-VN" sz="2800" b="1" dirty="0">
              <a:latin typeface="Calibri" panose="020F0502020204030204" pitchFamily="34" charset="0"/>
            </a:endParaRPr>
          </a:p>
        </p:txBody>
      </p:sp>
      <p:sp>
        <p:nvSpPr>
          <p:cNvPr id="18" name="Rectangle 63"/>
          <p:cNvSpPr>
            <a:spLocks noChangeArrowheads="1"/>
          </p:cNvSpPr>
          <p:nvPr/>
        </p:nvSpPr>
        <p:spPr bwMode="auto">
          <a:xfrm>
            <a:off x="4385468" y="5473700"/>
            <a:ext cx="10904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Test </a:t>
            </a:r>
          </a:p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design</a:t>
            </a:r>
            <a:endParaRPr lang="vi-VN" sz="2800" b="1" dirty="0">
              <a:latin typeface="Calibri" panose="020F0502020204030204" pitchFamily="34" charset="0"/>
            </a:endParaRPr>
          </a:p>
        </p:txBody>
      </p:sp>
      <p:sp>
        <p:nvSpPr>
          <p:cNvPr id="19" name="Rectangle 67"/>
          <p:cNvSpPr>
            <a:spLocks noChangeArrowheads="1"/>
          </p:cNvSpPr>
          <p:nvPr/>
        </p:nvSpPr>
        <p:spPr bwMode="auto">
          <a:xfrm>
            <a:off x="5733256" y="4926513"/>
            <a:ext cx="53567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Product </a:t>
            </a:r>
          </a:p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design</a:t>
            </a:r>
            <a:endParaRPr lang="vi-VN" sz="2800" b="1" dirty="0">
              <a:latin typeface="Calibri" panose="020F0502020204030204" pitchFamily="34" charset="0"/>
            </a:endParaRPr>
          </a:p>
        </p:txBody>
      </p:sp>
      <p:sp>
        <p:nvSpPr>
          <p:cNvPr id="20" name="Rectangle 68"/>
          <p:cNvSpPr>
            <a:spLocks noChangeArrowheads="1"/>
          </p:cNvSpPr>
          <p:nvPr/>
        </p:nvSpPr>
        <p:spPr bwMode="auto">
          <a:xfrm>
            <a:off x="6469856" y="4943976"/>
            <a:ext cx="5489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Detailed </a:t>
            </a:r>
          </a:p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design</a:t>
            </a:r>
            <a:endParaRPr lang="vi-VN" sz="2800" b="1" dirty="0">
              <a:latin typeface="Calibri" panose="020F0502020204030204" pitchFamily="34" charset="0"/>
            </a:endParaRPr>
          </a:p>
        </p:txBody>
      </p:sp>
      <p:sp>
        <p:nvSpPr>
          <p:cNvPr id="21" name="Rectangle 70"/>
          <p:cNvSpPr>
            <a:spLocks noChangeArrowheads="1"/>
          </p:cNvSpPr>
          <p:nvPr/>
        </p:nvSpPr>
        <p:spPr bwMode="auto">
          <a:xfrm>
            <a:off x="6258718" y="5347348"/>
            <a:ext cx="33066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Code</a:t>
            </a:r>
            <a:endParaRPr lang="vi-VN" sz="2800" b="1" dirty="0">
              <a:latin typeface="Calibri" panose="020F0502020204030204" pitchFamily="34" charset="0"/>
            </a:endParaRPr>
          </a:p>
        </p:txBody>
      </p:sp>
      <p:sp>
        <p:nvSpPr>
          <p:cNvPr id="22" name="Rectangle 71"/>
          <p:cNvSpPr>
            <a:spLocks noChangeArrowheads="1"/>
          </p:cNvSpPr>
          <p:nvPr/>
        </p:nvSpPr>
        <p:spPr bwMode="auto">
          <a:xfrm>
            <a:off x="5852318" y="5542610"/>
            <a:ext cx="52906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Unit test</a:t>
            </a:r>
            <a:endParaRPr lang="vi-VN" sz="2800" b="1" dirty="0">
              <a:latin typeface="Calibri" panose="020F0502020204030204" pitchFamily="34" charset="0"/>
            </a:endParaRPr>
          </a:p>
        </p:txBody>
      </p:sp>
      <p:sp>
        <p:nvSpPr>
          <p:cNvPr id="23" name="Rectangle 72"/>
          <p:cNvSpPr>
            <a:spLocks noChangeArrowheads="1"/>
          </p:cNvSpPr>
          <p:nvPr/>
        </p:nvSpPr>
        <p:spPr bwMode="auto">
          <a:xfrm>
            <a:off x="5376068" y="5783763"/>
            <a:ext cx="6828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Integration</a:t>
            </a:r>
          </a:p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test</a:t>
            </a:r>
            <a:endParaRPr lang="vi-VN" sz="2800" b="1" dirty="0">
              <a:latin typeface="Calibri" panose="020F0502020204030204" pitchFamily="34" charset="0"/>
            </a:endParaRPr>
          </a:p>
        </p:txBody>
      </p:sp>
      <p:sp>
        <p:nvSpPr>
          <p:cNvPr id="24" name="Rectangle 77"/>
          <p:cNvSpPr>
            <a:spLocks noChangeArrowheads="1"/>
          </p:cNvSpPr>
          <p:nvPr/>
        </p:nvSpPr>
        <p:spPr bwMode="auto">
          <a:xfrm>
            <a:off x="4777581" y="5969501"/>
            <a:ext cx="7754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Acceptance </a:t>
            </a:r>
          </a:p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test</a:t>
            </a:r>
            <a:endParaRPr lang="vi-VN" sz="2800" b="1" dirty="0">
              <a:latin typeface="Calibri" panose="020F0502020204030204" pitchFamily="34" charset="0"/>
            </a:endParaRPr>
          </a:p>
        </p:txBody>
      </p:sp>
      <p:sp>
        <p:nvSpPr>
          <p:cNvPr id="25" name="Rectangle 79"/>
          <p:cNvSpPr>
            <a:spLocks noChangeArrowheads="1"/>
          </p:cNvSpPr>
          <p:nvPr/>
        </p:nvSpPr>
        <p:spPr bwMode="auto">
          <a:xfrm>
            <a:off x="4272756" y="6193485"/>
            <a:ext cx="466238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Service</a:t>
            </a:r>
            <a:endParaRPr lang="vi-VN" sz="2800" b="1" dirty="0">
              <a:latin typeface="Calibri" panose="020F0502020204030204" pitchFamily="34" charset="0"/>
            </a:endParaRPr>
          </a:p>
        </p:txBody>
      </p:sp>
      <p:sp>
        <p:nvSpPr>
          <p:cNvPr id="26" name="Rectangle 112"/>
          <p:cNvSpPr>
            <a:spLocks noChangeArrowheads="1"/>
          </p:cNvSpPr>
          <p:nvPr/>
        </p:nvSpPr>
        <p:spPr bwMode="auto">
          <a:xfrm>
            <a:off x="3018631" y="5640888"/>
            <a:ext cx="95397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Integration and</a:t>
            </a:r>
          </a:p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Test plan</a:t>
            </a:r>
            <a:endParaRPr lang="vi-VN" sz="2800" b="1" dirty="0">
              <a:latin typeface="Calibri" panose="020F0502020204030204" pitchFamily="34" charset="0"/>
            </a:endParaRPr>
          </a:p>
        </p:txBody>
      </p:sp>
      <p:sp>
        <p:nvSpPr>
          <p:cNvPr id="27" name="Rectangle 117"/>
          <p:cNvSpPr>
            <a:spLocks noChangeArrowheads="1"/>
          </p:cNvSpPr>
          <p:nvPr/>
        </p:nvSpPr>
        <p:spPr bwMode="auto">
          <a:xfrm>
            <a:off x="3229768" y="5172576"/>
            <a:ext cx="86469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Development </a:t>
            </a:r>
          </a:p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plan</a:t>
            </a:r>
            <a:endParaRPr lang="vi-VN" sz="2800" b="1" dirty="0">
              <a:latin typeface="Calibri" panose="020F0502020204030204" pitchFamily="34" charset="0"/>
            </a:endParaRPr>
          </a:p>
        </p:txBody>
      </p:sp>
      <p:sp>
        <p:nvSpPr>
          <p:cNvPr id="28" name="Rectangle 121"/>
          <p:cNvSpPr>
            <a:spLocks noChangeArrowheads="1"/>
          </p:cNvSpPr>
          <p:nvPr/>
        </p:nvSpPr>
        <p:spPr bwMode="auto">
          <a:xfrm>
            <a:off x="2759064" y="4355013"/>
            <a:ext cx="118708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Requirements plan</a:t>
            </a:r>
          </a:p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Life-</a:t>
            </a:r>
            <a:r>
              <a:rPr lang="en-US" sz="1000" b="1" dirty="0" err="1">
                <a:solidFill>
                  <a:srgbClr val="000000"/>
                </a:solidFill>
                <a:latin typeface="Formata Regular"/>
              </a:rPr>
              <a:t>sycle</a:t>
            </a:r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 plan</a:t>
            </a:r>
            <a:endParaRPr lang="vi-VN" sz="2800" b="1" dirty="0">
              <a:latin typeface="Calibri" panose="020F0502020204030204" pitchFamily="34" charset="0"/>
            </a:endParaRPr>
          </a:p>
        </p:txBody>
      </p:sp>
      <p:sp>
        <p:nvSpPr>
          <p:cNvPr id="29" name="Rectangle 126"/>
          <p:cNvSpPr>
            <a:spLocks noChangeArrowheads="1"/>
          </p:cNvSpPr>
          <p:nvPr/>
        </p:nvSpPr>
        <p:spPr bwMode="auto">
          <a:xfrm>
            <a:off x="3490118" y="4061473"/>
            <a:ext cx="520798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REVIEW</a:t>
            </a:r>
            <a:endParaRPr lang="vi-VN" sz="2800" b="1" dirty="0">
              <a:latin typeface="Calibri" panose="020F0502020204030204" pitchFamily="34" charset="0"/>
            </a:endParaRPr>
          </a:p>
        </p:txBody>
      </p:sp>
      <p:sp>
        <p:nvSpPr>
          <p:cNvPr id="30" name="TextBox 128"/>
          <p:cNvSpPr txBox="1">
            <a:spLocks noChangeArrowheads="1"/>
          </p:cNvSpPr>
          <p:nvPr/>
        </p:nvSpPr>
        <p:spPr bwMode="auto">
          <a:xfrm>
            <a:off x="556076" y="1772010"/>
            <a:ext cx="246255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/>
            <a:r>
              <a:rPr lang="en-US" sz="1600" b="1" dirty="0">
                <a:latin typeface="Calibri" pitchFamily="34" charset="0"/>
                <a:cs typeface="Calibri" pitchFamily="34" charset="0"/>
              </a:rPr>
              <a:t>Determine objective, alternative and constraints</a:t>
            </a:r>
            <a:endParaRPr lang="vi-VN" sz="1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1" name="TextBox 129"/>
          <p:cNvSpPr txBox="1">
            <a:spLocks noChangeArrowheads="1"/>
          </p:cNvSpPr>
          <p:nvPr/>
        </p:nvSpPr>
        <p:spPr bwMode="auto">
          <a:xfrm>
            <a:off x="6185693" y="1901329"/>
            <a:ext cx="21653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/>
            <a:r>
              <a:rPr lang="en-US" sz="1600" b="1" dirty="0">
                <a:latin typeface="Calibri" pitchFamily="34" charset="0"/>
                <a:cs typeface="Calibri" pitchFamily="34" charset="0"/>
              </a:rPr>
              <a:t>Evaluate alternatives, identify, resolve risks</a:t>
            </a:r>
            <a:endParaRPr lang="vi-VN" sz="1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2" name="TextBox 130"/>
          <p:cNvSpPr txBox="1">
            <a:spLocks noChangeArrowheads="1"/>
          </p:cNvSpPr>
          <p:nvPr/>
        </p:nvSpPr>
        <p:spPr bwMode="auto">
          <a:xfrm>
            <a:off x="6199980" y="5865126"/>
            <a:ext cx="234876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/>
            <a:r>
              <a:rPr lang="en-US" sz="1600" b="1" dirty="0">
                <a:latin typeface="Calibri" pitchFamily="34" charset="0"/>
                <a:cs typeface="Calibri" pitchFamily="34" charset="0"/>
              </a:rPr>
              <a:t>Develop, verify next-level product</a:t>
            </a:r>
            <a:endParaRPr lang="vi-VN" sz="1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3" name="TextBox 131"/>
          <p:cNvSpPr txBox="1">
            <a:spLocks noChangeArrowheads="1"/>
          </p:cNvSpPr>
          <p:nvPr/>
        </p:nvSpPr>
        <p:spPr bwMode="auto">
          <a:xfrm>
            <a:off x="1089817" y="6138381"/>
            <a:ext cx="157760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/>
            <a:r>
              <a:rPr lang="en-US" sz="1600" b="1" dirty="0">
                <a:latin typeface="Calibri" pitchFamily="34" charset="0"/>
                <a:cs typeface="Calibri" pitchFamily="34" charset="0"/>
              </a:rPr>
              <a:t>Plan next phase</a:t>
            </a:r>
            <a:endParaRPr lang="vi-VN" sz="1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4" name="Rectangle 28"/>
          <p:cNvSpPr>
            <a:spLocks noChangeArrowheads="1"/>
          </p:cNvSpPr>
          <p:nvPr/>
        </p:nvSpPr>
        <p:spPr bwMode="auto">
          <a:xfrm>
            <a:off x="5298280" y="3719416"/>
            <a:ext cx="725811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Prototype 2</a:t>
            </a:r>
            <a:endParaRPr lang="vi-VN" sz="2800" b="1" dirty="0">
              <a:latin typeface="Calibri" panose="020F0502020204030204" pitchFamily="34" charset="0"/>
            </a:endParaRPr>
          </a:p>
        </p:txBody>
      </p:sp>
      <p:sp>
        <p:nvSpPr>
          <p:cNvPr id="35" name="Rectangle 28"/>
          <p:cNvSpPr>
            <a:spLocks noChangeArrowheads="1"/>
          </p:cNvSpPr>
          <p:nvPr/>
        </p:nvSpPr>
        <p:spPr bwMode="auto">
          <a:xfrm>
            <a:off x="5849604" y="3486702"/>
            <a:ext cx="725811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Prototype 3</a:t>
            </a:r>
            <a:endParaRPr lang="vi-VN" sz="2800" b="1" dirty="0">
              <a:latin typeface="Calibri" panose="020F0502020204030204" pitchFamily="34" charset="0"/>
            </a:endParaRPr>
          </a:p>
        </p:txBody>
      </p:sp>
      <p:sp>
        <p:nvSpPr>
          <p:cNvPr id="36" name="Rectangle 28"/>
          <p:cNvSpPr>
            <a:spLocks noChangeArrowheads="1"/>
          </p:cNvSpPr>
          <p:nvPr/>
        </p:nvSpPr>
        <p:spPr bwMode="auto">
          <a:xfrm>
            <a:off x="6494092" y="3200999"/>
            <a:ext cx="76879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Operational </a:t>
            </a:r>
          </a:p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prototype</a:t>
            </a:r>
            <a:endParaRPr lang="vi-VN" sz="2800" b="1" dirty="0">
              <a:latin typeface="Calibri" panose="020F0502020204030204" pitchFamily="34" charset="0"/>
            </a:endParaRPr>
          </a:p>
        </p:txBody>
      </p:sp>
      <p:sp>
        <p:nvSpPr>
          <p:cNvPr id="37" name="Rectangle 16"/>
          <p:cNvSpPr>
            <a:spLocks noChangeArrowheads="1"/>
          </p:cNvSpPr>
          <p:nvPr/>
        </p:nvSpPr>
        <p:spPr bwMode="auto">
          <a:xfrm>
            <a:off x="5056045" y="2721011"/>
            <a:ext cx="51749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Risk</a:t>
            </a:r>
          </a:p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analysis</a:t>
            </a:r>
            <a:endParaRPr lang="vi-VN" sz="2800" b="1" dirty="0">
              <a:latin typeface="Calibri" panose="020F0502020204030204" pitchFamily="34" charset="0"/>
            </a:endParaRPr>
          </a:p>
        </p:txBody>
      </p:sp>
      <p:sp>
        <p:nvSpPr>
          <p:cNvPr id="38" name="Rectangle 16"/>
          <p:cNvSpPr>
            <a:spLocks noChangeArrowheads="1"/>
          </p:cNvSpPr>
          <p:nvPr/>
        </p:nvSpPr>
        <p:spPr bwMode="auto">
          <a:xfrm>
            <a:off x="4599004" y="3126888"/>
            <a:ext cx="51749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Risk</a:t>
            </a:r>
          </a:p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analysis</a:t>
            </a:r>
            <a:endParaRPr lang="vi-VN" sz="2800" b="1" dirty="0">
              <a:latin typeface="Calibri" panose="020F0502020204030204" pitchFamily="34" charset="0"/>
            </a:endParaRPr>
          </a:p>
        </p:txBody>
      </p:sp>
      <p:sp>
        <p:nvSpPr>
          <p:cNvPr id="39" name="Rectangle 16"/>
          <p:cNvSpPr>
            <a:spLocks noChangeArrowheads="1"/>
          </p:cNvSpPr>
          <p:nvPr/>
        </p:nvSpPr>
        <p:spPr bwMode="auto">
          <a:xfrm>
            <a:off x="4266313" y="3712076"/>
            <a:ext cx="51749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Risk</a:t>
            </a:r>
          </a:p>
          <a:p>
            <a:pPr algn="ctr"/>
            <a:r>
              <a:rPr lang="en-US" sz="1000" b="1" dirty="0">
                <a:solidFill>
                  <a:srgbClr val="000000"/>
                </a:solidFill>
                <a:latin typeface="Formata Regular"/>
              </a:rPr>
              <a:t>analysis</a:t>
            </a:r>
            <a:endParaRPr lang="vi-VN" sz="2800" b="1" dirty="0">
              <a:latin typeface="Calibri" panose="020F05020202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136220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Spiral development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err="1">
                <a:solidFill>
                  <a:srgbClr val="7030A0"/>
                </a:solidFill>
              </a:rPr>
              <a:t>Mỗi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vòng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lặp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thể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hiện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một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pha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của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tiến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trình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phát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triển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phần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mềm</a:t>
            </a:r>
            <a:endParaRPr lang="en-GB" dirty="0">
              <a:solidFill>
                <a:srgbClr val="7030A0"/>
              </a:solidFill>
            </a:endParaRPr>
          </a:p>
          <a:p>
            <a:pPr lvl="1"/>
            <a:r>
              <a:rPr lang="en-GB" dirty="0" err="1">
                <a:solidFill>
                  <a:srgbClr val="7030A0"/>
                </a:solidFill>
              </a:rPr>
              <a:t>Nghiên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cứu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khả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thi</a:t>
            </a:r>
            <a:endParaRPr lang="en-GB" dirty="0">
              <a:solidFill>
                <a:srgbClr val="7030A0"/>
              </a:solidFill>
            </a:endParaRPr>
          </a:p>
          <a:p>
            <a:pPr lvl="1"/>
            <a:r>
              <a:rPr lang="en-GB" dirty="0" err="1">
                <a:solidFill>
                  <a:srgbClr val="7030A0"/>
                </a:solidFill>
              </a:rPr>
              <a:t>Yêu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cầu</a:t>
            </a:r>
            <a:endParaRPr lang="en-GB" dirty="0">
              <a:solidFill>
                <a:srgbClr val="7030A0"/>
              </a:solidFill>
            </a:endParaRPr>
          </a:p>
          <a:p>
            <a:pPr lvl="1"/>
            <a:r>
              <a:rPr lang="en-GB" dirty="0" err="1">
                <a:solidFill>
                  <a:srgbClr val="7030A0"/>
                </a:solidFill>
              </a:rPr>
              <a:t>Thiết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kế</a:t>
            </a:r>
            <a:endParaRPr lang="en-GB" dirty="0">
              <a:solidFill>
                <a:srgbClr val="7030A0"/>
              </a:solidFill>
            </a:endParaRPr>
          </a:p>
          <a:p>
            <a:pPr lvl="1"/>
            <a:r>
              <a:rPr lang="en-GB" dirty="0" err="1">
                <a:solidFill>
                  <a:srgbClr val="7030A0"/>
                </a:solidFill>
              </a:rPr>
              <a:t>Phát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triển</a:t>
            </a:r>
            <a:r>
              <a:rPr lang="en-GB" dirty="0">
                <a:solidFill>
                  <a:srgbClr val="7030A0"/>
                </a:solidFill>
              </a:rPr>
              <a:t> ...</a:t>
            </a:r>
          </a:p>
          <a:p>
            <a:r>
              <a:rPr lang="en-GB" dirty="0" err="1">
                <a:solidFill>
                  <a:srgbClr val="7030A0"/>
                </a:solidFill>
              </a:rPr>
              <a:t>Kết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hợp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cả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tránh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sự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thay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đổi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và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chấp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nhận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sự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thay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đổi</a:t>
            </a:r>
            <a:endParaRPr lang="en-GB" dirty="0">
              <a:solidFill>
                <a:srgbClr val="7030A0"/>
              </a:solidFill>
            </a:endParaRPr>
          </a:p>
          <a:p>
            <a:r>
              <a:rPr lang="en-GB" dirty="0" err="1">
                <a:solidFill>
                  <a:srgbClr val="7030A0"/>
                </a:solidFill>
              </a:rPr>
              <a:t>Rủi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ro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được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đánh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giá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và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được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giải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quyết</a:t>
            </a:r>
            <a:r>
              <a:rPr lang="en-GB" dirty="0">
                <a:solidFill>
                  <a:srgbClr val="7030A0"/>
                </a:solidFill>
              </a:rPr>
              <a:t> ở </a:t>
            </a:r>
            <a:r>
              <a:rPr lang="en-GB" dirty="0" err="1">
                <a:solidFill>
                  <a:srgbClr val="7030A0"/>
                </a:solidFill>
              </a:rPr>
              <a:t>mỗi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lần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lặp</a:t>
            </a:r>
            <a:endParaRPr lang="en-GB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5691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701A9-8F8E-9C32-C3C2-5E9D03F44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thực hành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A672D-0658-8A34-DBD9-C228FC0CF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Các mô hình CBSD, SOA, RUP,  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4660F-BED2-3625-2363-005D58C24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0F697-BF85-15F7-F037-EFD0E7747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2133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3850B-6CED-37CC-8BFA-49E61823C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về nhà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FF3EF-FD53-A924-8E30-7CFBB1A6C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Tìm hiểu, làm slide trình bày về một công cụ quản lý dự án theo mô hình Scrum.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A7CD01-7191-49CC-462D-CAFC20D45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4D623C-B2EC-8F48-C1EF-72D9C8982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0635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- process</a:t>
            </a:r>
          </a:p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– process models</a:t>
            </a:r>
          </a:p>
          <a:p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– process iteration</a:t>
            </a:r>
          </a:p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thác</a:t>
            </a:r>
            <a:r>
              <a:rPr lang="en-US" dirty="0"/>
              <a:t> </a:t>
            </a:r>
            <a:r>
              <a:rPr lang="en-US" dirty="0" err="1"/>
              <a:t>nước</a:t>
            </a:r>
            <a:endParaRPr lang="en-US" dirty="0"/>
          </a:p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hóa</a:t>
            </a:r>
            <a:endParaRPr lang="en-US" dirty="0"/>
          </a:p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endParaRPr lang="en-US" dirty="0"/>
          </a:p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  <a:p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phó</a:t>
            </a:r>
            <a:r>
              <a:rPr lang="en-US" dirty="0"/>
              <a:t>,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soát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237829"/>
      </p:ext>
    </p:extLst>
  </p:cSld>
  <p:clrMapOvr>
    <a:masterClrMapping/>
  </p:clrMapOvr>
</p:sld>
</file>

<file path=ppt/theme/theme1.xml><?xml version="1.0" encoding="utf-8"?>
<a:theme xmlns:a="http://schemas.openxmlformats.org/drawingml/2006/main" name="SE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</Template>
  <TotalTime>1755</TotalTime>
  <Pages>42</Pages>
  <Words>1750</Words>
  <Application>Microsoft Office PowerPoint</Application>
  <PresentationFormat>Custom</PresentationFormat>
  <Paragraphs>295</Paragraphs>
  <Slides>29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Formata Regular</vt:lpstr>
      <vt:lpstr>Times</vt:lpstr>
      <vt:lpstr>Wingdings</vt:lpstr>
      <vt:lpstr>SE</vt:lpstr>
      <vt:lpstr>Công nghệ phần mềm</vt:lpstr>
      <vt:lpstr>Nội dung</vt:lpstr>
      <vt:lpstr>Các khái niệm</vt:lpstr>
      <vt:lpstr>Các mô hình tiến trình</vt:lpstr>
      <vt:lpstr>Waterfall model</vt:lpstr>
      <vt:lpstr>Ưu, nhược điểm của mô hình thác nước</vt:lpstr>
      <vt:lpstr>Evolutionary development</vt:lpstr>
      <vt:lpstr>Evolutionary development</vt:lpstr>
      <vt:lpstr>Evolutionary development</vt:lpstr>
      <vt:lpstr>Component-based software engineering</vt:lpstr>
      <vt:lpstr>Component-based software engineering</vt:lpstr>
      <vt:lpstr>Component-based software engineering</vt:lpstr>
      <vt:lpstr>Reuse-oriented development</vt:lpstr>
      <vt:lpstr>Các hoạt động chung nhất của mọi tiến trình</vt:lpstr>
      <vt:lpstr>Các hoạt động chung nhất của mọi tiến trình</vt:lpstr>
      <vt:lpstr>Các hoạt động chung nhất của mọi tiến trình</vt:lpstr>
      <vt:lpstr>Các hoạt động chung nhất của mọi tiến trình</vt:lpstr>
      <vt:lpstr>Các hoạt động chung nhất của mọi tiến trình</vt:lpstr>
      <vt:lpstr>Đối phó với sự thay đổi yêu cầu phần mềm</vt:lpstr>
      <vt:lpstr>Tránh sự thay đổi</vt:lpstr>
      <vt:lpstr>Chấp nhận thay đổi</vt:lpstr>
      <vt:lpstr>Incremental delivery</vt:lpstr>
      <vt:lpstr>Incremental development</vt:lpstr>
      <vt:lpstr>Ưu điểm</vt:lpstr>
      <vt:lpstr>Mô hình phát triển xoắn ốc Spiral model of the software process</vt:lpstr>
      <vt:lpstr>Spiral development</vt:lpstr>
      <vt:lpstr>Bài tập thực hành</vt:lpstr>
      <vt:lpstr>Bài tập về nhà</vt:lpstr>
      <vt:lpstr>Tổng kết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Processes</dc:title>
  <dc:creator>Ian Sommerville</dc:creator>
  <cp:lastModifiedBy>Trần Hoàng Việt</cp:lastModifiedBy>
  <cp:revision>213</cp:revision>
  <cp:lastPrinted>2004-04-23T15:45:57Z</cp:lastPrinted>
  <dcterms:created xsi:type="dcterms:W3CDTF">2000-04-28T08:06:41Z</dcterms:created>
  <dcterms:modified xsi:type="dcterms:W3CDTF">2026-02-13T07:08:59Z</dcterms:modified>
</cp:coreProperties>
</file>