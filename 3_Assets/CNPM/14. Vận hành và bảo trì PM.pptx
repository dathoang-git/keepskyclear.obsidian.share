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75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310" r:id="rId4"/>
    <p:sldId id="309" r:id="rId5"/>
    <p:sldId id="311" r:id="rId6"/>
    <p:sldId id="312" r:id="rId7"/>
    <p:sldId id="317" r:id="rId8"/>
    <p:sldId id="313" r:id="rId9"/>
    <p:sldId id="314" r:id="rId10"/>
    <p:sldId id="315" r:id="rId11"/>
    <p:sldId id="316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08" r:id="rId37"/>
  </p:sldIdLst>
  <p:sldSz cx="9105900" cy="6832600"/>
  <p:notesSz cx="6858000" cy="97663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28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99"/>
    <a:srgbClr val="FFFF00"/>
    <a:srgbClr val="FF00FF"/>
    <a:srgbClr val="00FFFF"/>
    <a:srgbClr val="0000FF"/>
    <a:srgbClr val="00FF00"/>
    <a:srgbClr val="FF0000"/>
    <a:srgbClr val="FFFFFF"/>
    <a:srgbClr val="653A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2" autoAdjust="0"/>
    <p:restoredTop sz="82874" autoAdjust="0"/>
  </p:normalViewPr>
  <p:slideViewPr>
    <p:cSldViewPr>
      <p:cViewPr varScale="1">
        <p:scale>
          <a:sx n="68" d="100"/>
          <a:sy n="68" d="100"/>
        </p:scale>
        <p:origin x="1598" y="72"/>
      </p:cViewPr>
      <p:guideLst>
        <p:guide orient="horz" pos="2152"/>
        <p:guide pos="28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-1696" y="-104"/>
      </p:cViewPr>
      <p:guideLst>
        <p:guide orient="horz" pos="3076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295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185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notes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2525" y="854075"/>
            <a:ext cx="455295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1319417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71625" y="833438"/>
            <a:ext cx="3689350" cy="2768600"/>
          </a:xfrm>
          <a:ln cap="flat"/>
        </p:spPr>
      </p:sp>
    </p:spTree>
    <p:extLst>
      <p:ext uri="{BB962C8B-B14F-4D97-AF65-F5344CB8AC3E}">
        <p14:creationId xmlns:p14="http://schemas.microsoft.com/office/powerpoint/2010/main" val="2971029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11661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11661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2943" y="2122536"/>
            <a:ext cx="7740015" cy="1464580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5885" y="3871807"/>
            <a:ext cx="6374130" cy="1746109"/>
          </a:xfrm>
        </p:spPr>
        <p:txBody>
          <a:bodyPr/>
          <a:lstStyle>
            <a:lvl1pPr marL="0" indent="0" algn="ctr">
              <a:buNone/>
              <a:defRPr b="1">
                <a:solidFill>
                  <a:srgbClr val="C00000"/>
                </a:solidFill>
                <a:effectLst/>
              </a:defRPr>
            </a:lvl1pPr>
            <a:lvl2pPr marL="434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69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03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3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73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07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42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7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3C10A8-E8AC-48CD-A28F-9D45A71FB9C5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66950" y="6332809"/>
            <a:ext cx="43433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9886A4-4ACE-4E07-8C07-313BEFE829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188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26840" y="1352286"/>
            <a:ext cx="818108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810" y="213496"/>
            <a:ext cx="8195310" cy="1138767"/>
          </a:xfrm>
        </p:spPr>
        <p:txBody>
          <a:bodyPr>
            <a:normAutofit/>
          </a:bodyPr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1ACCF-4D73-40D4-9B06-21FCB2DC743E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66950" y="6332809"/>
            <a:ext cx="44195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029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304" y="4390580"/>
            <a:ext cx="7740015" cy="1357030"/>
          </a:xfrm>
        </p:spPr>
        <p:txBody>
          <a:bodyPr anchor="t"/>
          <a:lstStyle>
            <a:lvl1pPr algn="l">
              <a:defRPr sz="3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304" y="2895948"/>
            <a:ext cx="7740015" cy="1494631"/>
          </a:xfrm>
        </p:spPr>
        <p:txBody>
          <a:bodyPr anchor="b"/>
          <a:lstStyle>
            <a:lvl1pPr marL="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1pPr>
            <a:lvl2pPr marL="4346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693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30398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73864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1733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60796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304262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47728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0BF2D8-EC31-4985-A2AD-C512D89C0FB2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66950" y="6332809"/>
            <a:ext cx="44195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7F873-6AAF-4FAD-930F-0A383F3CB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79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26840" y="1352286"/>
            <a:ext cx="818108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295" y="1594275"/>
            <a:ext cx="4021773" cy="4509200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8832" y="1594275"/>
            <a:ext cx="4021773" cy="4509200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33B8D-75BF-4D27-81F7-CBE6D1577887}" type="datetime1">
              <a:rPr lang="en-US" smtClean="0"/>
              <a:t>2/13/2026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66950" y="6332809"/>
            <a:ext cx="43433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5E3E2-4364-4633-A996-4ACFBEBDB5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8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426840" y="1352286"/>
            <a:ext cx="818108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295" y="1529427"/>
            <a:ext cx="4023354" cy="63739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4660" indent="0">
              <a:buNone/>
              <a:defRPr sz="1900" b="1"/>
            </a:lvl2pPr>
            <a:lvl3pPr marL="869320" indent="0">
              <a:buNone/>
              <a:defRPr sz="1700" b="1"/>
            </a:lvl3pPr>
            <a:lvl4pPr marL="1303980" indent="0">
              <a:buNone/>
              <a:defRPr sz="1500" b="1"/>
            </a:lvl4pPr>
            <a:lvl5pPr marL="1738640" indent="0">
              <a:buNone/>
              <a:defRPr sz="1500" b="1"/>
            </a:lvl5pPr>
            <a:lvl6pPr marL="2173300" indent="0">
              <a:buNone/>
              <a:defRPr sz="1500" b="1"/>
            </a:lvl6pPr>
            <a:lvl7pPr marL="2607960" indent="0">
              <a:buNone/>
              <a:defRPr sz="1500" b="1"/>
            </a:lvl7pPr>
            <a:lvl8pPr marL="3042620" indent="0">
              <a:buNone/>
              <a:defRPr sz="1500" b="1"/>
            </a:lvl8pPr>
            <a:lvl9pPr marL="347728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295" y="2166820"/>
            <a:ext cx="4023354" cy="3936654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5671" y="1529427"/>
            <a:ext cx="4024935" cy="63739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4660" indent="0">
              <a:buNone/>
              <a:defRPr sz="1900" b="1"/>
            </a:lvl2pPr>
            <a:lvl3pPr marL="869320" indent="0">
              <a:buNone/>
              <a:defRPr sz="1700" b="1"/>
            </a:lvl3pPr>
            <a:lvl4pPr marL="1303980" indent="0">
              <a:buNone/>
              <a:defRPr sz="1500" b="1"/>
            </a:lvl4pPr>
            <a:lvl5pPr marL="1738640" indent="0">
              <a:buNone/>
              <a:defRPr sz="1500" b="1"/>
            </a:lvl5pPr>
            <a:lvl6pPr marL="2173300" indent="0">
              <a:buNone/>
              <a:defRPr sz="1500" b="1"/>
            </a:lvl6pPr>
            <a:lvl7pPr marL="2607960" indent="0">
              <a:buNone/>
              <a:defRPr sz="1500" b="1"/>
            </a:lvl7pPr>
            <a:lvl8pPr marL="3042620" indent="0">
              <a:buNone/>
              <a:defRPr sz="1500" b="1"/>
            </a:lvl8pPr>
            <a:lvl9pPr marL="347728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5671" y="2166820"/>
            <a:ext cx="4024935" cy="3936654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D87539-43A3-4110-AAAE-B8BA5CCA02F7}" type="datetime1">
              <a:rPr lang="en-US" smtClean="0"/>
              <a:t>2/13/2026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266950" y="6332809"/>
            <a:ext cx="44195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978B3-9D9A-4ED8-888E-FD7CF5FBB1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5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426840" y="1352286"/>
            <a:ext cx="818108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215900"/>
            <a:ext cx="8195310" cy="11387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1447D-F67B-48BF-9ED7-1ADFF801AD1B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0" y="6332809"/>
            <a:ext cx="43433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4AC4C-135F-4522-8940-2B69BB186A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2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975AD2-A4BF-4A30-95E8-A7ACF1B34F6D}" type="datetime1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66950" y="6332809"/>
            <a:ext cx="44195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031BC6-5C94-4CD4-B195-0CCA50D364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9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272039"/>
            <a:ext cx="2995779" cy="1157746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0155" y="272040"/>
            <a:ext cx="5090451" cy="583143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295" y="1429786"/>
            <a:ext cx="2995779" cy="4673689"/>
          </a:xfrm>
        </p:spPr>
        <p:txBody>
          <a:bodyPr/>
          <a:lstStyle>
            <a:lvl1pPr marL="0" indent="0">
              <a:buNone/>
              <a:defRPr sz="1300"/>
            </a:lvl1pPr>
            <a:lvl2pPr marL="434660" indent="0">
              <a:buNone/>
              <a:defRPr sz="1100"/>
            </a:lvl2pPr>
            <a:lvl3pPr marL="869320" indent="0">
              <a:buNone/>
              <a:defRPr sz="1000"/>
            </a:lvl3pPr>
            <a:lvl4pPr marL="1303980" indent="0">
              <a:buNone/>
              <a:defRPr sz="900"/>
            </a:lvl4pPr>
            <a:lvl5pPr marL="1738640" indent="0">
              <a:buNone/>
              <a:defRPr sz="900"/>
            </a:lvl5pPr>
            <a:lvl6pPr marL="2173300" indent="0">
              <a:buNone/>
              <a:defRPr sz="900"/>
            </a:lvl6pPr>
            <a:lvl7pPr marL="2607960" indent="0">
              <a:buNone/>
              <a:defRPr sz="900"/>
            </a:lvl7pPr>
            <a:lvl8pPr marL="3042620" indent="0">
              <a:buNone/>
              <a:defRPr sz="900"/>
            </a:lvl8pPr>
            <a:lvl9pPr marL="347728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925A51-6E63-47AE-A2B1-53485B86BBCE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41CBC-9904-4263-9153-B1006F3BD4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5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4820" y="4782820"/>
            <a:ext cx="5463540" cy="564639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84820" y="610505"/>
            <a:ext cx="5463540" cy="4099560"/>
          </a:xfrm>
        </p:spPr>
        <p:txBody>
          <a:bodyPr rtlCol="0">
            <a:normAutofit/>
          </a:bodyPr>
          <a:lstStyle>
            <a:lvl1pPr marL="0" indent="0">
              <a:buNone/>
              <a:defRPr sz="3000"/>
            </a:lvl1pPr>
            <a:lvl2pPr marL="434660" indent="0">
              <a:buNone/>
              <a:defRPr sz="2700"/>
            </a:lvl2pPr>
            <a:lvl3pPr marL="869320" indent="0">
              <a:buNone/>
              <a:defRPr sz="2300"/>
            </a:lvl3pPr>
            <a:lvl4pPr marL="1303980" indent="0">
              <a:buNone/>
              <a:defRPr sz="1900"/>
            </a:lvl4pPr>
            <a:lvl5pPr marL="1738640" indent="0">
              <a:buNone/>
              <a:defRPr sz="1900"/>
            </a:lvl5pPr>
            <a:lvl6pPr marL="2173300" indent="0">
              <a:buNone/>
              <a:defRPr sz="1900"/>
            </a:lvl6pPr>
            <a:lvl7pPr marL="2607960" indent="0">
              <a:buNone/>
              <a:defRPr sz="1900"/>
            </a:lvl7pPr>
            <a:lvl8pPr marL="3042620" indent="0">
              <a:buNone/>
              <a:defRPr sz="1900"/>
            </a:lvl8pPr>
            <a:lvl9pPr marL="3477280" indent="0">
              <a:buNone/>
              <a:defRPr sz="19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84820" y="5347459"/>
            <a:ext cx="5463540" cy="801881"/>
          </a:xfrm>
        </p:spPr>
        <p:txBody>
          <a:bodyPr/>
          <a:lstStyle>
            <a:lvl1pPr marL="0" indent="0">
              <a:buNone/>
              <a:defRPr sz="1300"/>
            </a:lvl1pPr>
            <a:lvl2pPr marL="434660" indent="0">
              <a:buNone/>
              <a:defRPr sz="1100"/>
            </a:lvl2pPr>
            <a:lvl3pPr marL="869320" indent="0">
              <a:buNone/>
              <a:defRPr sz="1000"/>
            </a:lvl3pPr>
            <a:lvl4pPr marL="1303980" indent="0">
              <a:buNone/>
              <a:defRPr sz="900"/>
            </a:lvl4pPr>
            <a:lvl5pPr marL="1738640" indent="0">
              <a:buNone/>
              <a:defRPr sz="900"/>
            </a:lvl5pPr>
            <a:lvl6pPr marL="2173300" indent="0">
              <a:buNone/>
              <a:defRPr sz="900"/>
            </a:lvl6pPr>
            <a:lvl7pPr marL="2607960" indent="0">
              <a:buNone/>
              <a:defRPr sz="900"/>
            </a:lvl7pPr>
            <a:lvl8pPr marL="3042620" indent="0">
              <a:buNone/>
              <a:defRPr sz="900"/>
            </a:lvl8pPr>
            <a:lvl9pPr marL="347728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AEA83D-6637-41FE-96CA-692E5B242456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F4961-C020-4071-8C36-0E057DC90E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24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CD1246-F718-4F44-89A1-8C515957CC2B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E2097-9A97-4296-A839-7902B94E44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95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1777" y="273622"/>
            <a:ext cx="2048828" cy="58298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295" y="273622"/>
            <a:ext cx="5994718" cy="5829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C9A6-B035-4824-A755-CA40C86C740E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9E2E0B-A0B9-4072-B062-59BFD7EFA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1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134" y="305255"/>
            <a:ext cx="7771633" cy="9141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86473" y="1670193"/>
            <a:ext cx="3809934" cy="4115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8171" y="1670193"/>
            <a:ext cx="3809934" cy="4115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935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5295" y="273621"/>
            <a:ext cx="8195310" cy="1138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932" tIns="43466" rIns="86932" bIns="4346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5295" y="1594275"/>
            <a:ext cx="8195310" cy="4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932" tIns="43466" rIns="86932" bIns="434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5295" y="6332809"/>
            <a:ext cx="2124710" cy="363773"/>
          </a:xfrm>
          <a:prstGeom prst="rect">
            <a:avLst/>
          </a:prstGeom>
        </p:spPr>
        <p:txBody>
          <a:bodyPr vert="horz" lIns="86932" tIns="43466" rIns="86932" bIns="43466" rtlCol="0" anchor="ctr"/>
          <a:lstStyle>
            <a:lvl1pPr algn="l">
              <a:defRPr sz="11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2DD626F-1C97-4385-BE05-1B68D2334FF0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90750" y="6332809"/>
            <a:ext cx="4495799" cy="363773"/>
          </a:xfrm>
          <a:prstGeom prst="rect">
            <a:avLst/>
          </a:prstGeom>
        </p:spPr>
        <p:txBody>
          <a:bodyPr vert="horz" lIns="86932" tIns="43466" rIns="86932" bIns="43466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25895" y="6332809"/>
            <a:ext cx="2124710" cy="363773"/>
          </a:xfrm>
          <a:prstGeom prst="rect">
            <a:avLst/>
          </a:prstGeom>
        </p:spPr>
        <p:txBody>
          <a:bodyPr vert="horz" lIns="86932" tIns="43466" rIns="86932" bIns="43466" rtlCol="0" anchor="ctr"/>
          <a:lstStyle>
            <a:lvl1pPr algn="r">
              <a:defRPr sz="11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B8533C3-56C4-45CF-801B-3778A560EF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19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200" kern="1200">
          <a:solidFill>
            <a:srgbClr val="0070C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5pPr>
      <a:lvl6pPr marL="434660"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6pPr>
      <a:lvl7pPr marL="869320"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7pPr>
      <a:lvl8pPr marL="1303980"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8pPr>
      <a:lvl9pPr marL="1738640"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9pPr>
    </p:titleStyle>
    <p:bodyStyle>
      <a:lvl1pPr marL="325995" indent="-32599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06323" indent="-27166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7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1086650" indent="-21733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21310" indent="-21733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970" indent="-21733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630" indent="-217330" algn="l" defTabSz="8693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25290" indent="-217330" algn="l" defTabSz="8693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59950" indent="-217330" algn="l" defTabSz="8693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94610" indent="-217330" algn="l" defTabSz="8693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466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932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398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864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7330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796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4262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7728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Công nghệ phần mềm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65885" y="3871807"/>
            <a:ext cx="6374130" cy="916093"/>
          </a:xfrm>
        </p:spPr>
        <p:txBody>
          <a:bodyPr/>
          <a:lstStyle/>
          <a:p>
            <a:r>
              <a:rPr lang="en-GB"/>
              <a:t>Vận hành và bảo trì phần mềm</a:t>
            </a:r>
            <a:endParaRPr lang="en-GB" dirty="0"/>
          </a:p>
        </p:txBody>
      </p:sp>
      <p:pic>
        <p:nvPicPr>
          <p:cNvPr id="4" name="Picture 4" descr="C:\Users\hoangta\AppData\Local\Microsoft\Windows\Temporary Internet Files\Content.IE5\E9MDPTKA\MCBD06929_000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5192368"/>
            <a:ext cx="3795713" cy="109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Nội dung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/>
              <a:t>Tầm quan trọng của vận hành và bảo trì PM</a:t>
            </a:r>
          </a:p>
          <a:p>
            <a:pPr>
              <a:lnSpc>
                <a:spcPct val="90000"/>
              </a:lnSpc>
            </a:pPr>
            <a:r>
              <a:rPr lang="en-US"/>
              <a:t>Vận hành phần mềm</a:t>
            </a:r>
          </a:p>
          <a:p>
            <a:pPr lvl="1">
              <a:lnSpc>
                <a:spcPct val="90000"/>
              </a:lnSpc>
            </a:pPr>
            <a:r>
              <a:rPr lang="vi-VN"/>
              <a:t>Khái niệm về vận hành phần mềm</a:t>
            </a:r>
          </a:p>
          <a:p>
            <a:pPr lvl="1">
              <a:lnSpc>
                <a:spcPct val="90000"/>
              </a:lnSpc>
            </a:pPr>
            <a:r>
              <a:rPr lang="vi-VN"/>
              <a:t>Quy trình vận hành phần mềm</a:t>
            </a:r>
          </a:p>
          <a:p>
            <a:pPr lvl="1">
              <a:lnSpc>
                <a:spcPct val="90000"/>
              </a:lnSpc>
            </a:pPr>
            <a:r>
              <a:rPr lang="vi-VN"/>
              <a:t>Các nhóm công việc trong vận hành phần mềm</a:t>
            </a:r>
          </a:p>
          <a:p>
            <a:pPr lvl="1">
              <a:lnSpc>
                <a:spcPct val="90000"/>
              </a:lnSpc>
            </a:pPr>
            <a:r>
              <a:rPr lang="vi-VN"/>
              <a:t>Một số công việc thường gặp trong vận hành phần mềm</a:t>
            </a:r>
          </a:p>
          <a:p>
            <a:pPr>
              <a:lnSpc>
                <a:spcPct val="90000"/>
              </a:lnSpc>
            </a:pPr>
            <a:r>
              <a:rPr lang="vi-VN"/>
              <a:t>Khái niệm về bảo trì phần mềm</a:t>
            </a:r>
          </a:p>
          <a:p>
            <a:pPr lvl="1">
              <a:lnSpc>
                <a:spcPct val="90000"/>
              </a:lnSpc>
            </a:pPr>
            <a:r>
              <a:rPr lang="vi-VN"/>
              <a:t>Quy trình bảo trì phần mềm</a:t>
            </a:r>
          </a:p>
          <a:p>
            <a:pPr lvl="1">
              <a:lnSpc>
                <a:spcPct val="90000"/>
              </a:lnSpc>
            </a:pPr>
            <a:r>
              <a:rPr lang="vi-VN"/>
              <a:t>Một số thách thức trong bảo trì phần mềm.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Tầm quan trọng của vận hành và bảo trì phần mềm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96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Vận hành và bảo trì</a:t>
            </a:r>
          </a:p>
          <a:p>
            <a:pPr lvl="1"/>
            <a:r>
              <a:rPr lang="en-US"/>
              <a:t>Sau khi phần mềm đã được bàn giao và cài đặt trên môi trường thật</a:t>
            </a:r>
          </a:p>
          <a:p>
            <a:pPr lvl="1"/>
            <a:r>
              <a:rPr lang="en-US"/>
              <a:t>Hỗ trợ khách hàng, người dùng cuối</a:t>
            </a:r>
          </a:p>
          <a:p>
            <a:pPr lvl="1"/>
            <a:r>
              <a:rPr lang="en-US"/>
              <a:t>Theo dõi, xử lý các vấn đề phát sinh về hệ thống</a:t>
            </a:r>
          </a:p>
          <a:p>
            <a:pPr lvl="1"/>
            <a:r>
              <a:rPr lang="en-US"/>
              <a:t>Các nhu cầu mới phát sinh</a:t>
            </a:r>
          </a:p>
          <a:p>
            <a:pPr lvl="1"/>
            <a:r>
              <a:rPr lang="en-US"/>
              <a:t>Các lỗi mới được phát hiện</a:t>
            </a:r>
          </a:p>
          <a:p>
            <a:pPr lvl="1"/>
            <a:r>
              <a:rPr lang="en-US"/>
              <a:t>V.v.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840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Khái niệm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295" y="1594274"/>
            <a:ext cx="8195310" cy="4946225"/>
          </a:xfrm>
        </p:spPr>
        <p:txBody>
          <a:bodyPr>
            <a:normAutofit fontScale="92500"/>
          </a:bodyPr>
          <a:lstStyle/>
          <a:p>
            <a:r>
              <a:rPr lang="en-US"/>
              <a:t>Khái niệm vận hành và bảo trì</a:t>
            </a:r>
          </a:p>
          <a:p>
            <a:pPr lvl="1" algn="just"/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Theo IEEE, vận hành và bảo trì phần mềm là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một giai đoạn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 trong vòng đời phần mềm mà trong đó phần mềm được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sử dụng 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trong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môi trường vận hành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, được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giám sát 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để đạt yêu cầu về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hiệu năng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, và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được chỉnh sửa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 để sửa các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lỗi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 cần thiết hoặc để đáp ứng các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yêu cầu thay đổi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Như vậy, các yếu tố quan trọng gồm</a:t>
            </a:r>
          </a:p>
          <a:p>
            <a:pPr lvl="1" algn="just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Phần mềm được dùng trong môi trường vận hành</a:t>
            </a:r>
          </a:p>
          <a:p>
            <a:pPr lvl="1" algn="just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Được giám sát để tạo ra giá trị như mong đợi</a:t>
            </a:r>
          </a:p>
          <a:p>
            <a:pPr lvl="1" algn="just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Được cập nhật để sửa lỗi hoặc đáp ứng yêu cầu thay đổi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78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Tầm quan trọng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Tầm quan trọng thể hiện qua các con số trong cả </a:t>
            </a:r>
            <a:r>
              <a:rPr lang="en-US">
                <a:solidFill>
                  <a:srgbClr val="0070C0"/>
                </a:solidFill>
              </a:rPr>
              <a:t>vòng đời </a:t>
            </a:r>
            <a:r>
              <a:rPr lang="en-US"/>
              <a:t>của phần mềm.</a:t>
            </a:r>
          </a:p>
          <a:p>
            <a:pPr lvl="1"/>
            <a:r>
              <a:rPr lang="en-US"/>
              <a:t>Cusumano (1988): VH&amp;BT chiếm đến 67%.</a:t>
            </a:r>
          </a:p>
          <a:p>
            <a:pPr lvl="1"/>
            <a:r>
              <a:rPr lang="en-US"/>
              <a:t>Rüdiger &amp; Walter (2005): VH&amp;BT chiếm đến 79%.</a:t>
            </a:r>
          </a:p>
          <a:p>
            <a:pPr lvl="1"/>
            <a:r>
              <a:rPr lang="en-US"/>
              <a:t>Pressman (2009): VH&amp;BT chiếm 60-70%.</a:t>
            </a:r>
          </a:p>
          <a:p>
            <a:pPr lvl="1"/>
            <a:r>
              <a:rPr lang="en-US"/>
              <a:t>Eric (2011): VH&amp;BT chiếm 40-90%.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 Ta cần </a:t>
            </a:r>
            <a:r>
              <a:rPr lang="en-US">
                <a:solidFill>
                  <a:srgbClr val="0070C0"/>
                </a:solidFill>
                <a:sym typeface="Wingdings" panose="05000000000000000000" pitchFamily="2" charset="2"/>
              </a:rPr>
              <a:t>hiểu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>
                <a:solidFill>
                  <a:srgbClr val="0070C0"/>
                </a:solidFill>
                <a:sym typeface="Wingdings" panose="05000000000000000000" pitchFamily="2" charset="2"/>
              </a:rPr>
              <a:t>quản lý </a:t>
            </a:r>
            <a:r>
              <a:rPr lang="en-US">
                <a:sym typeface="Wingdings" panose="05000000000000000000" pitchFamily="2" charset="2"/>
              </a:rPr>
              <a:t>và </a:t>
            </a:r>
            <a:r>
              <a:rPr lang="en-US">
                <a:solidFill>
                  <a:srgbClr val="0070C0"/>
                </a:solidFill>
                <a:sym typeface="Wingdings" panose="05000000000000000000" pitchFamily="2" charset="2"/>
              </a:rPr>
              <a:t>tiến hành </a:t>
            </a:r>
            <a:r>
              <a:rPr lang="en-US">
                <a:sym typeface="Wingdings" panose="05000000000000000000" pitchFamily="2" charset="2"/>
              </a:rPr>
              <a:t>VH&amp;BT một cách bài bản và có hệ thống để đạt hiệu quả cao.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951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vận hành phần mềm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045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Vận hành phần mềm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132" y="1594276"/>
            <a:ext cx="8441055" cy="4738534"/>
          </a:xfrm>
        </p:spPr>
        <p:txBody>
          <a:bodyPr>
            <a:normAutofit/>
          </a:bodyPr>
          <a:lstStyle/>
          <a:p>
            <a:pPr algn="just"/>
            <a:r>
              <a:rPr lang="en-US"/>
              <a:t>Theo IEEE, vận hành phần mềm là toàn bộ các </a:t>
            </a:r>
            <a:r>
              <a:rPr lang="en-US">
                <a:solidFill>
                  <a:srgbClr val="0070C0"/>
                </a:solidFill>
              </a:rPr>
              <a:t>quy trình</a:t>
            </a:r>
            <a:r>
              <a:rPr lang="en-US"/>
              <a:t>, </a:t>
            </a:r>
            <a:r>
              <a:rPr lang="en-US">
                <a:solidFill>
                  <a:srgbClr val="0070C0"/>
                </a:solidFill>
              </a:rPr>
              <a:t>hoạt động </a:t>
            </a:r>
            <a:r>
              <a:rPr lang="en-US"/>
              <a:t>và </a:t>
            </a:r>
            <a:r>
              <a:rPr lang="en-US">
                <a:solidFill>
                  <a:srgbClr val="0070C0"/>
                </a:solidFill>
              </a:rPr>
              <a:t>công cụ </a:t>
            </a:r>
            <a:r>
              <a:rPr lang="en-US"/>
              <a:t>liên quan đến việc </a:t>
            </a:r>
            <a:r>
              <a:rPr lang="en-US">
                <a:solidFill>
                  <a:srgbClr val="0070C0"/>
                </a:solidFill>
              </a:rPr>
              <a:t>cài đặt</a:t>
            </a:r>
            <a:r>
              <a:rPr lang="en-US"/>
              <a:t>, </a:t>
            </a:r>
            <a:r>
              <a:rPr lang="en-US">
                <a:solidFill>
                  <a:srgbClr val="0070C0"/>
                </a:solidFill>
              </a:rPr>
              <a:t>vận hành </a:t>
            </a:r>
            <a:r>
              <a:rPr lang="en-US"/>
              <a:t>và </a:t>
            </a:r>
            <a:r>
              <a:rPr lang="en-US">
                <a:solidFill>
                  <a:srgbClr val="0070C0"/>
                </a:solidFill>
              </a:rPr>
              <a:t>hỗ trợ </a:t>
            </a:r>
            <a:r>
              <a:rPr lang="en-US"/>
              <a:t>các hệ thống phần mềm trong suốt vòng đời của chúng.</a:t>
            </a:r>
          </a:p>
          <a:p>
            <a:pPr algn="just"/>
            <a:r>
              <a:rPr lang="en-US"/>
              <a:t>Vận hành phần mềm gồm</a:t>
            </a:r>
          </a:p>
          <a:p>
            <a:pPr lvl="1" algn="just"/>
            <a:r>
              <a:rPr lang="en-US"/>
              <a:t>Cài đặt</a:t>
            </a:r>
          </a:p>
          <a:p>
            <a:pPr lvl="1" algn="just"/>
            <a:r>
              <a:rPr lang="en-US"/>
              <a:t>Thiết lập cấu hình</a:t>
            </a:r>
          </a:p>
          <a:p>
            <a:pPr lvl="1" algn="just"/>
            <a:r>
              <a:rPr lang="en-US"/>
              <a:t>Kiểm thử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750026" y="3956098"/>
            <a:ext cx="3551737" cy="1670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932" tIns="43466" rIns="86932" bIns="43466" numCol="1" anchor="t" anchorCtr="0" compatLnSpc="1">
            <a:prstTxWarp prst="textNoShape">
              <a:avLst/>
            </a:prstTxWarp>
            <a:normAutofit/>
          </a:bodyPr>
          <a:lstStyle>
            <a:lvl1pPr marL="325995" indent="-32599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06323" indent="-271663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6650" indent="-21733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1310" indent="-21733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5970" indent="-21733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0630" indent="-217330" algn="l" defTabSz="86932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25290" indent="-217330" algn="l" defTabSz="86932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9950" indent="-217330" algn="l" defTabSz="86932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94610" indent="-217330" algn="l" defTabSz="86932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n-US"/>
              <a:t> Phát hành</a:t>
            </a:r>
          </a:p>
          <a:p>
            <a:pPr lvl="1" algn="just"/>
            <a:r>
              <a:rPr lang="en-US"/>
              <a:t>Giám sát</a:t>
            </a:r>
          </a:p>
          <a:p>
            <a:pPr lvl="1" algn="just"/>
            <a:r>
              <a:rPr lang="en-US"/>
              <a:t>Bảo trì</a:t>
            </a:r>
          </a:p>
        </p:txBody>
      </p:sp>
    </p:spTree>
    <p:extLst>
      <p:ext uri="{BB962C8B-B14F-4D97-AF65-F5344CB8AC3E}">
        <p14:creationId xmlns:p14="http://schemas.microsoft.com/office/powerpoint/2010/main" val="2455180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Mục tiêu vận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Đảm bảo PM hoạt động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 cậy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sẵn sàng 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khi cần và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đáp ứng yêu cầu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 của người d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ù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ng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/>
              <a:t>ISO/IEC/IEEE 12207, mục tiêu của quy trình vận hành phần mềm là </a:t>
            </a:r>
            <a:r>
              <a:rPr lang="en-US">
                <a:solidFill>
                  <a:srgbClr val="0070C0"/>
                </a:solidFill>
              </a:rPr>
              <a:t>sử dụng</a:t>
            </a:r>
            <a:r>
              <a:rPr lang="en-US"/>
              <a:t> hệ thống phần mềm để cung cấp các </a:t>
            </a:r>
            <a:r>
              <a:rPr lang="en-US">
                <a:solidFill>
                  <a:srgbClr val="0070C0"/>
                </a:solidFill>
              </a:rPr>
              <a:t>dịch vụ </a:t>
            </a:r>
            <a:r>
              <a:rPr lang="en-US"/>
              <a:t>của nó.</a:t>
            </a:r>
          </a:p>
          <a:p>
            <a:pPr algn="just"/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Kiểm soát 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hoặc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giảm chi phí 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vận hành trong khi vẫn duy trì hoặc cải thiện chất lượng dịch vụ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82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Quy trình vận hành thành công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50" y="1594275"/>
            <a:ext cx="8762999" cy="4509200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Theo ISO/IEC/IEEE 12207, quy trình VH thành công mang lại các giá trị sau</a:t>
            </a:r>
          </a:p>
          <a:p>
            <a:pPr lvl="1"/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Xác định các ràng buộc vận hành ảnh hưởng đến các yêu cầu, kiến trúc hoặc thiết kế phần mềm.</a:t>
            </a:r>
          </a:p>
          <a:p>
            <a:pPr lvl="1"/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Luôn sẵn có hệ thống, dịch vụ và tài liệu vận hành.</a:t>
            </a:r>
          </a:p>
          <a:p>
            <a:pPr lvl="1"/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Luôn sẵn có những người vận hành được đào tạo và có trình độ đáp ứng yêu cầu.</a:t>
            </a:r>
          </a:p>
          <a:p>
            <a:pPr lvl="1"/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Cung cấp các dịch vụ phần mềm đáp ứng yêu cầu của các bên liên quan được cung cấp.</a:t>
            </a:r>
          </a:p>
          <a:p>
            <a:pPr lvl="1"/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Giám sát hiệu suất của sản phẩm trong quá trình vận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hành.</a:t>
            </a:r>
          </a:p>
          <a:p>
            <a:pPr lvl="1"/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Cung cấp những hỗ trợ cho khách hàng.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 Xem xét về </a:t>
            </a:r>
            <a:r>
              <a:rPr lang="en-US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quy trình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và </a:t>
            </a:r>
            <a:r>
              <a:rPr lang="en-US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con người</a:t>
            </a:r>
            <a:endParaRPr lang="en-US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000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Quy trình vận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295" y="1435100"/>
            <a:ext cx="8195310" cy="5102307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Quy trình vận hành thường chỉ có hai bước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Gồm nhiều nhóm công việc</a:t>
            </a:r>
          </a:p>
          <a:p>
            <a:pPr lvl="1"/>
            <a:r>
              <a:rPr lang="en-US"/>
              <a:t>Phát triển nhân lực</a:t>
            </a:r>
          </a:p>
          <a:p>
            <a:pPr lvl="1"/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Cung cấp cơ sở hạ tầng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ự động hóa việc triển khai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iám sát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&amp;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 xử lý sự cố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uản lý thay đổi và phát hành phiên bản mới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2044700"/>
            <a:ext cx="6429733" cy="143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43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nhóm công việc vận hành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65" y="1373722"/>
            <a:ext cx="7315200" cy="509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16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Người vận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837" y="1462784"/>
            <a:ext cx="8517255" cy="4870025"/>
          </a:xfrm>
        </p:spPr>
        <p:txBody>
          <a:bodyPr>
            <a:normAutofit lnSpcReduction="10000"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Khái niệm</a:t>
            </a:r>
          </a:p>
          <a:p>
            <a:pPr lvl="1" algn="just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gười vận hành phần mềm là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cá nhân 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hay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nhóm người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 chịu trách nhiệm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thực hiện 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các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quy trình 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và </a:t>
            </a:r>
            <a:r>
              <a:rPr lang="vi-VN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công việc 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vận hành phần mềm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Vai trò</a:t>
            </a:r>
          </a:p>
          <a:p>
            <a:pPr lvl="1" algn="just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Khỏa lấp khoảng cách giữa việc </a:t>
            </a:r>
            <a:r>
              <a:rPr lang="en-US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phát triển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phần mềm &amp; môi trường </a:t>
            </a:r>
            <a:r>
              <a:rPr lang="en-US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thực tế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 algn="just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Đội phát triển tập trung vào công nghệ, ít chú trọng vào kinh nghiệm và góc nhìn của người dùng.</a:t>
            </a:r>
          </a:p>
          <a:p>
            <a:pPr lvl="1" algn="just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Người vận hành hỗ trợ khoảng cách này, mang lại sự tin cậy và tiến hóa của phần mềm.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664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Yêu cầu đối với người vận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Người vận hành cần thành thạo một số kỹ năng</a:t>
            </a:r>
          </a:p>
          <a:p>
            <a:pPr lvl="1"/>
            <a:r>
              <a:rPr lang="en-US"/>
              <a:t>Tự động hóa hạ tầng hệ thống</a:t>
            </a:r>
          </a:p>
          <a:p>
            <a:pPr lvl="1"/>
            <a:r>
              <a:rPr lang="en-US"/>
              <a:t>Giám sát hệ thống</a:t>
            </a:r>
          </a:p>
          <a:p>
            <a:pPr lvl="1"/>
            <a:r>
              <a:rPr lang="en-US"/>
              <a:t>Các phương pháp triển khai hệ thống</a:t>
            </a:r>
          </a:p>
          <a:p>
            <a:pPr lvl="1"/>
            <a:r>
              <a:rPr lang="en-US"/>
              <a:t>Gỡ lỗi</a:t>
            </a:r>
          </a:p>
          <a:p>
            <a:pPr lvl="1"/>
            <a:r>
              <a:rPr lang="en-US"/>
              <a:t>Kiến thức về an ninh mạng</a:t>
            </a:r>
          </a:p>
          <a:p>
            <a:pPr lvl="1"/>
            <a:r>
              <a:rPr lang="en-US"/>
              <a:t>Bảo vệ dữ liệu</a:t>
            </a:r>
          </a:p>
          <a:p>
            <a:pPr lvl="1"/>
            <a:r>
              <a:rPr lang="en-US"/>
              <a:t>Các kĩ năng mềm: giao tiếp, trao đổi với KH, đội phát triển, v.v.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524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Vai trò người vận hành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Đóng góp vào vòng đời của phần mềm</a:t>
            </a:r>
          </a:p>
          <a:p>
            <a:pPr lvl="1"/>
            <a:r>
              <a:rPr lang="en-US"/>
              <a:t>Tư vấn, thiết kế mô hình triển khai</a:t>
            </a:r>
          </a:p>
          <a:p>
            <a:pPr lvl="1"/>
            <a:r>
              <a:rPr lang="en-US"/>
              <a:t>Tự động hóa triển khai trên hạ tầng phù hợp</a:t>
            </a:r>
          </a:p>
          <a:p>
            <a:pPr lvl="1"/>
            <a:r>
              <a:rPr lang="en-US"/>
              <a:t>Chuẩn bị môi trường vận hành đáp ứng các tiêu chuẩn</a:t>
            </a:r>
          </a:p>
          <a:p>
            <a:r>
              <a:rPr lang="en-US"/>
              <a:t>Giám sát hoạt động hệ thống</a:t>
            </a:r>
          </a:p>
          <a:p>
            <a:pPr lvl="1"/>
            <a:r>
              <a:rPr lang="en-US"/>
              <a:t>Các thông số hệ thống, nhật kí, cảnh báo</a:t>
            </a:r>
          </a:p>
          <a:p>
            <a:pPr lvl="1"/>
            <a:r>
              <a:rPr lang="en-US"/>
              <a:t>Quản lý tài khoản, dữ liệu, sao lưu</a:t>
            </a:r>
          </a:p>
          <a:p>
            <a:pPr lvl="1"/>
            <a:r>
              <a:rPr lang="en-US"/>
              <a:t>Phân tích dữ liệu hệ thống để giảm thiểu thời gian dừng hoạt động của hệ thống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394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Vai trò người vận hành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294" y="1594275"/>
            <a:ext cx="8650605" cy="4509200"/>
          </a:xfrm>
        </p:spPr>
        <p:txBody>
          <a:bodyPr>
            <a:normAutofit lnSpcReduction="10000"/>
          </a:bodyPr>
          <a:lstStyle/>
          <a:p>
            <a:r>
              <a:rPr lang="en-US"/>
              <a:t>Nâng cấp hệ thống</a:t>
            </a:r>
          </a:p>
          <a:p>
            <a:pPr lvl="1"/>
            <a:r>
              <a:rPr lang="en-US"/>
              <a:t>Hỗ trợ đưa những bản mới vào hoạt động</a:t>
            </a:r>
          </a:p>
          <a:p>
            <a:pPr lvl="1"/>
            <a:r>
              <a:rPr lang="en-US"/>
              <a:t>Xây dựng kế hoạch triển khai, bảo trì hệ thống</a:t>
            </a:r>
          </a:p>
          <a:p>
            <a:pPr lvl="1"/>
            <a:r>
              <a:rPr lang="en-US"/>
              <a:t>Cân bằng việc triển khai bản mới &amp; hiệu quả mang lại</a:t>
            </a:r>
          </a:p>
          <a:p>
            <a:r>
              <a:rPr lang="en-US"/>
              <a:t>Cung cấp dịch vụ liên quan đến vận hành</a:t>
            </a:r>
          </a:p>
          <a:p>
            <a:pPr lvl="1"/>
            <a:r>
              <a:rPr lang="en-US"/>
              <a:t>Tối ưu hiệu năng hệ thống</a:t>
            </a:r>
          </a:p>
          <a:p>
            <a:pPr lvl="1"/>
            <a:r>
              <a:rPr lang="en-US"/>
              <a:t>Quản lý thay đổi</a:t>
            </a:r>
          </a:p>
          <a:p>
            <a:pPr lvl="1"/>
            <a:r>
              <a:rPr lang="en-US"/>
              <a:t>Cung cấp tài liệu đào tạo nhân sự</a:t>
            </a:r>
          </a:p>
          <a:p>
            <a:pPr lvl="1"/>
            <a:r>
              <a:rPr lang="en-US"/>
              <a:t>V.v.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24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Cung cấp cơ sở hạ tầng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Cung cấp cơ sở hạ tầng đáp ứng các yêu cầu</a:t>
            </a:r>
          </a:p>
          <a:p>
            <a:pPr lvl="1"/>
            <a:r>
              <a:rPr lang="en-US"/>
              <a:t>Chịu tải</a:t>
            </a:r>
          </a:p>
          <a:p>
            <a:pPr lvl="1"/>
            <a:r>
              <a:rPr lang="en-US"/>
              <a:t>Có khả năng mở rộng</a:t>
            </a:r>
          </a:p>
          <a:p>
            <a:pPr lvl="1"/>
            <a:r>
              <a:rPr lang="en-US"/>
              <a:t>Có khả năng chịu lỗi</a:t>
            </a:r>
          </a:p>
          <a:p>
            <a:pPr lvl="1"/>
            <a:r>
              <a:rPr lang="en-US"/>
              <a:t>Khả năng sao lưu, phòng chống thảm họa</a:t>
            </a:r>
          </a:p>
          <a:p>
            <a:pPr lvl="1"/>
            <a:r>
              <a:rPr lang="en-US"/>
              <a:t>V.v.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466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Phát triển và triển khai tự động (CI/CD)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550" y="1542700"/>
            <a:ext cx="8195310" cy="4509200"/>
          </a:xfrm>
        </p:spPr>
        <p:txBody>
          <a:bodyPr>
            <a:normAutofit lnSpcReduction="10000"/>
          </a:bodyPr>
          <a:lstStyle/>
          <a:p>
            <a:r>
              <a:rPr lang="en-US">
                <a:latin typeface="Calibri (Body)"/>
              </a:rPr>
              <a:t>Phối hợp triển khai mô hình CI/CD gồm 8 bước</a:t>
            </a:r>
          </a:p>
          <a:p>
            <a:pPr lvl="1"/>
            <a:r>
              <a:rPr lang="en-US">
                <a:latin typeface="Calibri (Body)"/>
              </a:rPr>
              <a:t>Phát triển: </a:t>
            </a:r>
          </a:p>
          <a:p>
            <a:pPr lvl="2"/>
            <a:r>
              <a:rPr lang="vi-VN">
                <a:latin typeface="Calibri (Body)"/>
              </a:rPr>
              <a:t>Lập kế hoạch</a:t>
            </a:r>
          </a:p>
          <a:p>
            <a:pPr lvl="2"/>
            <a:r>
              <a:rPr lang="vi-VN">
                <a:latin typeface="Calibri (Body)"/>
              </a:rPr>
              <a:t>Phát triển</a:t>
            </a:r>
          </a:p>
          <a:p>
            <a:pPr lvl="2"/>
            <a:r>
              <a:rPr lang="vi-VN">
                <a:latin typeface="Calibri (Body)"/>
              </a:rPr>
              <a:t>Biên dịch </a:t>
            </a:r>
          </a:p>
          <a:p>
            <a:pPr lvl="2"/>
            <a:r>
              <a:rPr lang="vi-VN">
                <a:latin typeface="Calibri (Body)"/>
              </a:rPr>
              <a:t>Kiểm thử </a:t>
            </a:r>
          </a:p>
          <a:p>
            <a:pPr lvl="1"/>
            <a:r>
              <a:rPr lang="en-US">
                <a:latin typeface="Calibri (Body)"/>
              </a:rPr>
              <a:t>T</a:t>
            </a:r>
            <a:r>
              <a:rPr lang="vi-VN">
                <a:latin typeface="Calibri (Body)"/>
              </a:rPr>
              <a:t>riển khai: </a:t>
            </a:r>
          </a:p>
          <a:p>
            <a:pPr lvl="2"/>
            <a:r>
              <a:rPr lang="vi-VN">
                <a:latin typeface="Calibri (Body)"/>
              </a:rPr>
              <a:t>Bàn giao </a:t>
            </a:r>
          </a:p>
          <a:p>
            <a:pPr lvl="2"/>
            <a:r>
              <a:rPr lang="vi-VN">
                <a:latin typeface="Calibri (Body)"/>
              </a:rPr>
              <a:t>Triển khai </a:t>
            </a:r>
          </a:p>
          <a:p>
            <a:pPr lvl="2"/>
            <a:r>
              <a:rPr lang="vi-VN">
                <a:latin typeface="Calibri (Body)"/>
              </a:rPr>
              <a:t>Vận hành</a:t>
            </a:r>
          </a:p>
          <a:p>
            <a:pPr lvl="2"/>
            <a:r>
              <a:rPr lang="vi-VN">
                <a:latin typeface="Calibri (Body)"/>
              </a:rPr>
              <a:t>Đánh giá</a:t>
            </a:r>
            <a:endParaRPr lang="en-US">
              <a:latin typeface="Calibri (Body)"/>
            </a:endParaRPr>
          </a:p>
          <a:p>
            <a:pPr lvl="1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0" y="2327312"/>
            <a:ext cx="5717373" cy="293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86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Ưu/nhược điểm của mô hình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Ưu điểm</a:t>
            </a:r>
          </a:p>
          <a:p>
            <a:pPr lvl="1"/>
            <a:r>
              <a:rPr lang="en-US"/>
              <a:t>Chuẩn hóa mã nguồn</a:t>
            </a:r>
          </a:p>
          <a:p>
            <a:pPr lvl="1"/>
            <a:r>
              <a:rPr lang="en-US"/>
              <a:t>Chuyên môn hóa</a:t>
            </a:r>
          </a:p>
          <a:p>
            <a:pPr lvl="1"/>
            <a:r>
              <a:rPr lang="en-US"/>
              <a:t>Đảm bảo chất lượng</a:t>
            </a:r>
          </a:p>
          <a:p>
            <a:r>
              <a:rPr lang="en-US"/>
              <a:t>Nhược điểm</a:t>
            </a:r>
          </a:p>
          <a:p>
            <a:pPr lvl="1"/>
            <a:r>
              <a:rPr lang="en-US"/>
              <a:t>Chi phí cao</a:t>
            </a:r>
          </a:p>
          <a:p>
            <a:pPr lvl="1"/>
            <a:r>
              <a:rPr lang="en-US"/>
              <a:t>Khó giải quyết sự cố</a:t>
            </a:r>
          </a:p>
          <a:p>
            <a:pPr lvl="1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552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Giám sát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Giám sát hoạt động của hệ thống, gồm</a:t>
            </a:r>
          </a:p>
          <a:p>
            <a:pPr lvl="1"/>
            <a:r>
              <a:rPr lang="en-US"/>
              <a:t>Sự sẵn sàng</a:t>
            </a:r>
          </a:p>
          <a:p>
            <a:pPr lvl="1"/>
            <a:r>
              <a:rPr lang="en-US"/>
              <a:t>Hiệu năng</a:t>
            </a:r>
          </a:p>
          <a:p>
            <a:pPr lvl="1"/>
            <a:r>
              <a:rPr lang="en-US"/>
              <a:t>Lỗi</a:t>
            </a:r>
          </a:p>
          <a:p>
            <a:pPr lvl="1"/>
            <a:r>
              <a:rPr lang="en-US"/>
              <a:t>Các thay đổi và cấu hình của hệ thống</a:t>
            </a:r>
          </a:p>
          <a:p>
            <a:r>
              <a:rPr lang="en-US"/>
              <a:t>Các thông số phụ thuộc vào từng hệ thống, ví dụ,</a:t>
            </a:r>
          </a:p>
          <a:p>
            <a:pPr lvl="1"/>
            <a:r>
              <a:rPr lang="en-US"/>
              <a:t>Website bán hàng: số lượng đơn hàng, số truy vấn tìm kiếm hàng hóa, số đăng nhập lỗi, số đơn đặt hàng bị lỗi, v.v.</a:t>
            </a:r>
          </a:p>
          <a:p>
            <a:pPr lvl="1"/>
            <a:r>
              <a:rPr lang="en-US"/>
              <a:t>Những thông tin này khác với các thông tin của chủ cửa hang quan tâm.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665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Công cụ giám sát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Một số công cụ hỗ trợ giám sát hệ thống</a:t>
            </a:r>
          </a:p>
          <a:p>
            <a:pPr lvl="1"/>
            <a:r>
              <a:rPr lang="en-US"/>
              <a:t>Ghi chép hệ thống (system log)</a:t>
            </a:r>
          </a:p>
          <a:p>
            <a:pPr lvl="1"/>
            <a:r>
              <a:rPr lang="en-US"/>
              <a:t>Nhật kí của hệ quản trị CSDL</a:t>
            </a:r>
          </a:p>
          <a:p>
            <a:pPr lvl="1"/>
            <a:r>
              <a:rPr lang="en-US"/>
              <a:t>Công cụ quản trị dịch vụ hệ thống (service monitor)</a:t>
            </a:r>
          </a:p>
          <a:p>
            <a:pPr lvl="1"/>
            <a:r>
              <a:rPr lang="en-US"/>
              <a:t>Công cụ xem sự kiện hệ thống (event viewer).</a:t>
            </a:r>
          </a:p>
          <a:p>
            <a:pPr lvl="1"/>
            <a:r>
              <a:rPr lang="en-US"/>
              <a:t>Dashboard của hệ thống (nếu có)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969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Xử lý sự cố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Quá trình xử lý sự cố gồm:</a:t>
            </a:r>
          </a:p>
          <a:p>
            <a:pPr lvl="1"/>
            <a:r>
              <a:rPr lang="en-US"/>
              <a:t>Ghi nhật kí</a:t>
            </a:r>
          </a:p>
          <a:p>
            <a:pPr lvl="1"/>
            <a:r>
              <a:rPr lang="en-US"/>
              <a:t>Truy cập nhật kí để kiểm tra sự cố</a:t>
            </a:r>
          </a:p>
          <a:p>
            <a:pPr lvl="1"/>
            <a:r>
              <a:rPr lang="en-US"/>
              <a:t>Sắp xếp độ ưu tiên</a:t>
            </a:r>
          </a:p>
          <a:p>
            <a:pPr lvl="1"/>
            <a:r>
              <a:rPr lang="en-US"/>
              <a:t>Xử lý sự cố</a:t>
            </a:r>
          </a:p>
          <a:p>
            <a:pPr lvl="1"/>
            <a:r>
              <a:rPr lang="en-US"/>
              <a:t>Đóng sự cố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585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công việc để xử lý sự cố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294" y="1594275"/>
            <a:ext cx="8364855" cy="4738534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Nhận diện sự cố</a:t>
            </a:r>
          </a:p>
          <a:p>
            <a:pPr lvl="1"/>
            <a:r>
              <a:rPr lang="en-US"/>
              <a:t>Nhận diện một sự kiện là lỗi, ngoại lệ hay sự kiện bình thường</a:t>
            </a:r>
          </a:p>
          <a:p>
            <a:r>
              <a:rPr lang="en-US"/>
              <a:t>Phân loại</a:t>
            </a:r>
          </a:p>
          <a:p>
            <a:pPr lvl="1"/>
            <a:r>
              <a:rPr lang="en-US"/>
              <a:t>Phân loại theo độ ưu tiên của sự cố: sơ bộ, cấp trung hay cấp cao.</a:t>
            </a:r>
          </a:p>
          <a:p>
            <a:r>
              <a:rPr lang="en-US"/>
              <a:t>Phân tích</a:t>
            </a:r>
          </a:p>
          <a:p>
            <a:pPr lvl="1"/>
            <a:r>
              <a:rPr lang="en-US"/>
              <a:t>Phân tích nguyên nhân gốc rễ (root cause) của sự cố</a:t>
            </a:r>
          </a:p>
          <a:p>
            <a:r>
              <a:rPr lang="en-US"/>
              <a:t>Sửa lỗi</a:t>
            </a:r>
          </a:p>
          <a:p>
            <a:pPr lvl="1"/>
            <a:r>
              <a:rPr lang="en-US"/>
              <a:t>Sửa lỗi được phát hiện</a:t>
            </a:r>
          </a:p>
          <a:p>
            <a:r>
              <a:rPr lang="en-US"/>
              <a:t>Ngăn chặn</a:t>
            </a:r>
          </a:p>
          <a:p>
            <a:pPr lvl="1"/>
            <a:r>
              <a:rPr lang="en-US"/>
              <a:t>Ngăn lỗi tương tự xảy ra trong tương lai</a:t>
            </a:r>
          </a:p>
          <a:p>
            <a:r>
              <a:rPr lang="en-US"/>
              <a:t>Kiểm tra</a:t>
            </a:r>
          </a:p>
          <a:p>
            <a:pPr lvl="1"/>
            <a:r>
              <a:rPr lang="en-US"/>
              <a:t>Đảm bảo lỗi đã được sửa</a:t>
            </a:r>
          </a:p>
          <a:p>
            <a:r>
              <a:rPr lang="en-US"/>
              <a:t>Trao đổi với các bên liên quan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537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Quản lý thay đổi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Cần quản lý toàn bộ thay đổi của hệ thống phần mềm trong vòng đời của nó</a:t>
            </a:r>
          </a:p>
          <a:p>
            <a:r>
              <a:rPr lang="en-US"/>
              <a:t>Một số nội dung cần quản lý</a:t>
            </a:r>
          </a:p>
          <a:p>
            <a:pPr lvl="1"/>
            <a:r>
              <a:rPr lang="en-US"/>
              <a:t>Nội dung thay đổi</a:t>
            </a:r>
          </a:p>
          <a:p>
            <a:pPr lvl="1"/>
            <a:r>
              <a:rPr lang="en-US"/>
              <a:t>Các bên liên quan</a:t>
            </a:r>
          </a:p>
          <a:p>
            <a:pPr lvl="1"/>
            <a:r>
              <a:rPr lang="en-US"/>
              <a:t>Công cụ quản lý thay đổi</a:t>
            </a:r>
          </a:p>
          <a:p>
            <a:pPr lvl="1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943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Phát hành phiên bản mới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Việc triển khai phiên bản mới vào môi trường vận hành cần quy trình chặt chẽ</a:t>
            </a:r>
          </a:p>
          <a:p>
            <a:pPr lvl="1"/>
            <a:r>
              <a:rPr lang="en-US"/>
              <a:t>Phê duyệt phiên bản mới</a:t>
            </a:r>
          </a:p>
          <a:p>
            <a:pPr lvl="1"/>
            <a:r>
              <a:rPr lang="en-US"/>
              <a:t>Quyết định thời gian nâng cấp hệ thống</a:t>
            </a:r>
          </a:p>
          <a:p>
            <a:pPr lvl="1"/>
            <a:r>
              <a:rPr lang="en-US"/>
              <a:t>Hệ thống tài liệu</a:t>
            </a:r>
          </a:p>
          <a:p>
            <a:pPr lvl="1"/>
            <a:r>
              <a:rPr lang="en-US"/>
              <a:t>Người nâng cấp hệ thống</a:t>
            </a:r>
          </a:p>
          <a:p>
            <a:pPr lvl="1"/>
            <a:r>
              <a:rPr lang="en-US"/>
              <a:t>Người hỗ trợ nâng cấp: thường là đội phát triển</a:t>
            </a:r>
          </a:p>
          <a:p>
            <a:pPr lvl="1"/>
            <a:r>
              <a:rPr lang="en-US"/>
              <a:t>Phương pháp sao lưu và khôi phục hệ thống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27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405" y="226174"/>
            <a:ext cx="8679090" cy="1138767"/>
          </a:xfrm>
        </p:spPr>
        <p:txBody>
          <a:bodyPr>
            <a:noAutofit/>
          </a:bodyPr>
          <a:lstStyle/>
          <a:p>
            <a:r>
              <a:rPr lang="en-US" sz="3600"/>
              <a:t>Một số công việc thường gặp trong vận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Quản trị hệ thống</a:t>
            </a:r>
          </a:p>
          <a:p>
            <a:pPr lvl="1"/>
            <a:r>
              <a:rPr lang="en-US"/>
              <a:t>Đảm bảo hệ thống chạy và cung cấp dịch vụ như thiết kế</a:t>
            </a:r>
          </a:p>
          <a:p>
            <a:r>
              <a:rPr lang="en-US"/>
              <a:t>Hỗ trợ người dùng</a:t>
            </a:r>
          </a:p>
          <a:p>
            <a:pPr lvl="1"/>
            <a:r>
              <a:rPr lang="en-US"/>
              <a:t>Hỗ trợ và hướng dẫn người dùng cuối</a:t>
            </a:r>
          </a:p>
          <a:p>
            <a:r>
              <a:rPr lang="en-US"/>
              <a:t>Báo cáo</a:t>
            </a:r>
          </a:p>
          <a:p>
            <a:pPr lvl="1"/>
            <a:r>
              <a:rPr lang="en-US"/>
              <a:t>Tổng hợp báo cáo về tình trạng của phần mềm</a:t>
            </a:r>
          </a:p>
          <a:p>
            <a:r>
              <a:rPr lang="en-US"/>
              <a:t>Tiền xử lý yêu cầu</a:t>
            </a:r>
          </a:p>
          <a:p>
            <a:pPr lvl="1"/>
            <a:r>
              <a:rPr lang="en-US"/>
              <a:t>Tiếp nhận các đề xuất thay đổi, nâng cấp phần mềm</a:t>
            </a:r>
          </a:p>
          <a:p>
            <a:r>
              <a:rPr lang="en-US"/>
              <a:t>Phối hợp điều tra</a:t>
            </a:r>
          </a:p>
          <a:p>
            <a:pPr lvl="1"/>
            <a:r>
              <a:rPr lang="en-US"/>
              <a:t>Phối hợp cơ quan chủ quản, cơ quan điều tra cung cấp thông tin cần thiết về các vấn đề phát sinh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161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Bảo trì phần mềm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529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Khái niệm bảo trì phần mềm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Calibri (Body)"/>
              </a:rPr>
              <a:t>Công việc bảo trì phần mềm</a:t>
            </a:r>
          </a:p>
          <a:p>
            <a:pPr lvl="1"/>
            <a:r>
              <a:rPr lang="en-US" sz="2400">
                <a:latin typeface="Calibri (Body)"/>
              </a:rPr>
              <a:t>Xử lý lỗi tồn đọng</a:t>
            </a:r>
          </a:p>
          <a:p>
            <a:pPr lvl="1"/>
            <a:r>
              <a:rPr lang="en-US" sz="2400">
                <a:latin typeface="Calibri (Body)"/>
              </a:rPr>
              <a:t>Chỉnh sửa và nâng cấp hệ thống</a:t>
            </a:r>
          </a:p>
          <a:p>
            <a:r>
              <a:rPr lang="en-US" sz="2800">
                <a:latin typeface="Calibri (Body)"/>
              </a:rPr>
              <a:t>Khái niệm</a:t>
            </a:r>
          </a:p>
          <a:p>
            <a:pPr lvl="1" algn="just"/>
            <a:r>
              <a:rPr lang="en-US" sz="2400">
                <a:latin typeface="Calibri (Body)"/>
              </a:rPr>
              <a:t>Theo IEEE, </a:t>
            </a:r>
            <a:r>
              <a:rPr lang="vi-VN" sz="2400">
                <a:latin typeface="Calibri (Body)"/>
              </a:rPr>
              <a:t>bảo trì phần mềm là “quá trình </a:t>
            </a:r>
            <a:r>
              <a:rPr lang="vi-VN" sz="2400">
                <a:solidFill>
                  <a:srgbClr val="0070C0"/>
                </a:solidFill>
                <a:latin typeface="Calibri (Body)"/>
              </a:rPr>
              <a:t>sửa đổi </a:t>
            </a:r>
            <a:r>
              <a:rPr lang="vi-VN" sz="2400">
                <a:latin typeface="Calibri (Body)"/>
              </a:rPr>
              <a:t>hệ thống</a:t>
            </a:r>
            <a:r>
              <a:rPr lang="en-US" sz="2400">
                <a:latin typeface="Calibri (Body)"/>
              </a:rPr>
              <a:t> </a:t>
            </a:r>
            <a:r>
              <a:rPr lang="vi-VN" sz="2400">
                <a:latin typeface="Calibri (Body)"/>
              </a:rPr>
              <a:t>hoặc thành phần phần mềm sau khi phát hành để </a:t>
            </a:r>
            <a:r>
              <a:rPr lang="vi-VN" sz="2400">
                <a:solidFill>
                  <a:srgbClr val="0070C0"/>
                </a:solidFill>
                <a:latin typeface="Calibri (Body)"/>
              </a:rPr>
              <a:t>sửa lỗi</a:t>
            </a:r>
            <a:r>
              <a:rPr lang="vi-VN" sz="2400">
                <a:latin typeface="Calibri (Body)"/>
              </a:rPr>
              <a:t>, </a:t>
            </a:r>
            <a:r>
              <a:rPr lang="vi-VN" sz="2400">
                <a:solidFill>
                  <a:srgbClr val="0070C0"/>
                </a:solidFill>
                <a:latin typeface="Calibri (Body)"/>
              </a:rPr>
              <a:t>cải thiện</a:t>
            </a:r>
            <a:r>
              <a:rPr lang="en-US" sz="2400">
                <a:solidFill>
                  <a:srgbClr val="0070C0"/>
                </a:solidFill>
                <a:latin typeface="Calibri (Body)"/>
              </a:rPr>
              <a:t> </a:t>
            </a:r>
            <a:r>
              <a:rPr lang="vi-VN" sz="2400">
                <a:solidFill>
                  <a:srgbClr val="0070C0"/>
                </a:solidFill>
                <a:latin typeface="Calibri (Body)"/>
              </a:rPr>
              <a:t>hiệu năng </a:t>
            </a:r>
            <a:r>
              <a:rPr lang="vi-VN" sz="2400">
                <a:latin typeface="Calibri (Body)"/>
              </a:rPr>
              <a:t>hoặc </a:t>
            </a:r>
            <a:r>
              <a:rPr lang="vi-VN" sz="2400">
                <a:solidFill>
                  <a:srgbClr val="0070C0"/>
                </a:solidFill>
                <a:latin typeface="Calibri (Body)"/>
              </a:rPr>
              <a:t>các thuộc tính khác</a:t>
            </a:r>
            <a:r>
              <a:rPr lang="vi-VN" sz="2400">
                <a:latin typeface="Calibri (Body)"/>
              </a:rPr>
              <a:t>, hoặc </a:t>
            </a:r>
            <a:r>
              <a:rPr lang="vi-VN" sz="2400">
                <a:solidFill>
                  <a:srgbClr val="0070C0"/>
                </a:solidFill>
                <a:latin typeface="Calibri (Body)"/>
              </a:rPr>
              <a:t>thích ứng với môi trường</a:t>
            </a:r>
            <a:r>
              <a:rPr lang="en-US" sz="2400">
                <a:solidFill>
                  <a:srgbClr val="0070C0"/>
                </a:solidFill>
                <a:latin typeface="Calibri (Body)"/>
              </a:rPr>
              <a:t> </a:t>
            </a:r>
            <a:r>
              <a:rPr lang="vi-VN" sz="2400">
                <a:latin typeface="Calibri (Body)"/>
              </a:rPr>
              <a:t>đã thay đổi”</a:t>
            </a:r>
            <a:endParaRPr lang="en-US" sz="2400">
              <a:latin typeface="Calibri (Body)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F7F873-6AAF-4FAD-930F-0A383F3CB85E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80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công việc bảo trì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Bảo trì thường bao gồm bốn nhóm công việc</a:t>
            </a:r>
          </a:p>
          <a:p>
            <a:pPr lvl="1"/>
            <a:r>
              <a:rPr lang="en-US"/>
              <a:t>Sửa lỗi </a:t>
            </a:r>
          </a:p>
          <a:p>
            <a:pPr lvl="2"/>
            <a:r>
              <a:rPr lang="en-US"/>
              <a:t>Sửa lỗi còn tồn đọng</a:t>
            </a:r>
          </a:p>
          <a:p>
            <a:pPr lvl="1"/>
            <a:r>
              <a:rPr lang="en-US"/>
              <a:t>Làm cho tương thích	</a:t>
            </a:r>
          </a:p>
          <a:p>
            <a:pPr lvl="2"/>
            <a:r>
              <a:rPr lang="en-US"/>
              <a:t>Chỉnh sửa phần mềm để tương thích với phần cứng, môi trường mới</a:t>
            </a:r>
          </a:p>
          <a:p>
            <a:pPr lvl="1"/>
            <a:r>
              <a:rPr lang="en-US"/>
              <a:t>Nâng cấp</a:t>
            </a:r>
          </a:p>
          <a:p>
            <a:pPr lvl="2"/>
            <a:r>
              <a:rPr lang="en-US"/>
              <a:t>Thêm tính năng mới</a:t>
            </a:r>
          </a:p>
          <a:p>
            <a:pPr lvl="1"/>
            <a:r>
              <a:rPr lang="en-US"/>
              <a:t>Cải thiện</a:t>
            </a:r>
          </a:p>
          <a:p>
            <a:pPr lvl="2"/>
            <a:r>
              <a:rPr lang="en-US"/>
              <a:t>Cải thiện các tính năng đã có của phần mềm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785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Quy trình bảo trì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578" y="1968500"/>
            <a:ext cx="7657774" cy="2749837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002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Quy trình bảo trì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Quy trình bảo trì gồm sáu bước</a:t>
            </a:r>
          </a:p>
          <a:p>
            <a:pPr lvl="1"/>
            <a:r>
              <a:rPr lang="en-US"/>
              <a:t>Bước 1: Tiếp nhận yêu cầu thay đổi</a:t>
            </a:r>
          </a:p>
          <a:p>
            <a:pPr lvl="1"/>
            <a:r>
              <a:rPr lang="en-US"/>
              <a:t>Bước 2: Phân tích yêu cầu thay đổi</a:t>
            </a:r>
          </a:p>
          <a:p>
            <a:pPr lvl="1"/>
            <a:r>
              <a:rPr lang="en-US"/>
              <a:t>Bước 3: Lập kế hoạch tiến hành thay đổi</a:t>
            </a:r>
          </a:p>
          <a:p>
            <a:pPr lvl="1"/>
            <a:r>
              <a:rPr lang="en-US"/>
              <a:t>Bước 4: Thực hiện thay đổi</a:t>
            </a:r>
          </a:p>
          <a:p>
            <a:pPr lvl="1"/>
            <a:r>
              <a:rPr lang="en-US"/>
              <a:t>Bước 5: Kiểm thử thay đổi</a:t>
            </a:r>
          </a:p>
          <a:p>
            <a:pPr lvl="1"/>
            <a:r>
              <a:rPr lang="en-US"/>
              <a:t>Bước 6: Triển khai phiên bản mới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103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Một số thách thức trong bảo trì phần mềm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Bảo trì phần mềm tốt đảm bảo cho hoạt động kinh doanh của tổ chức. Vì vậy, việc bảo trì PM đối mặt một số thách thức sau:</a:t>
            </a:r>
          </a:p>
          <a:p>
            <a:pPr lvl="1"/>
            <a:r>
              <a:rPr lang="en-US"/>
              <a:t>Về công nghệ: công nghệ cũ, không còn được hỗ trợ </a:t>
            </a:r>
            <a:r>
              <a:rPr lang="en-US">
                <a:sym typeface="Wingdings" panose="05000000000000000000" pitchFamily="2" charset="2"/>
              </a:rPr>
              <a:t> cần nâng cấp, thay đổi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Về quản lý: Cần xây dựng quy trình để quản lý thay đổi, phát triển, nâng cấp phần mềm.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Độ phức tạp của phần mềm: vòng đời của phần mềm là lâu dài, nên đảm bảo chất lượng khi nâng cấp là khó khan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Tái cấu trúc phần mềm: phù hợp công nghệ mới, nâng cao chất lượng, v.v.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554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Một số thách thức trong bảo trì phần mềm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/>
              <a:t>Tài liệu của phần mềm: Cần đồng bộ và nhất quán với tất cả các phiên bản đi kèm</a:t>
            </a:r>
          </a:p>
          <a:p>
            <a:pPr lvl="1"/>
            <a:r>
              <a:rPr lang="en-US"/>
              <a:t>Đảm bảo chất lượng: khi phần mềm thay đổi, làm sao để đảm bảo chất lượng những phần ko thay đổi?</a:t>
            </a:r>
          </a:p>
          <a:p>
            <a:pPr lvl="1"/>
            <a:r>
              <a:rPr lang="en-US"/>
              <a:t>Nhân lực cho bảo trì: Công việc bảo trì nhàm chán, công nghệ cũ </a:t>
            </a:r>
            <a:r>
              <a:rPr lang="en-US">
                <a:sym typeface="Wingdings" panose="05000000000000000000" pitchFamily="2" charset="2"/>
              </a:rPr>
              <a:t> nhân sự luôn bị thay đổi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7587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C48A-EFD9-9143-E1DB-2A26EE0AD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24F1B-2388-6043-7EDE-299829B6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Tạo bộ cài cho phần mềm đơn giản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18D7D0-DB6B-7172-28E2-1C6B68B73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FAB227-C8AD-814D-4D5F-C510FC19B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7554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DA71-BDAD-98F5-6271-EA1C7C5B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về nhà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55BEB-A123-4D63-53D1-8B9BA21DC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Tìm hiểu và thử nghiệm lập trình Vibe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9E676-F99E-FF11-133F-CCA47374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BBD9C-5FFE-2A09-9156-C95AD842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3757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dirty="0" err="1"/>
              <a:t>Tổng</a:t>
            </a:r>
            <a:r>
              <a:rPr lang="en-GB" dirty="0"/>
              <a:t> </a:t>
            </a:r>
            <a:r>
              <a:rPr lang="en-GB" dirty="0" err="1"/>
              <a:t>kết</a:t>
            </a:r>
            <a:endParaRPr lang="en-GB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/>
              <a:t>Tầm quan trọng của vận hành và bảo trì PM</a:t>
            </a:r>
          </a:p>
          <a:p>
            <a:pPr>
              <a:lnSpc>
                <a:spcPct val="90000"/>
              </a:lnSpc>
            </a:pPr>
            <a:r>
              <a:rPr lang="en-US"/>
              <a:t>Vận hành phần mềm</a:t>
            </a:r>
          </a:p>
          <a:p>
            <a:pPr lvl="1">
              <a:lnSpc>
                <a:spcPct val="90000"/>
              </a:lnSpc>
            </a:pPr>
            <a:r>
              <a:rPr lang="vi-VN"/>
              <a:t>Khái niệm về vận hành phần mềm</a:t>
            </a:r>
          </a:p>
          <a:p>
            <a:pPr lvl="1">
              <a:lnSpc>
                <a:spcPct val="90000"/>
              </a:lnSpc>
            </a:pPr>
            <a:r>
              <a:rPr lang="vi-VN"/>
              <a:t>Quy trình vận hành phần mềm</a:t>
            </a:r>
          </a:p>
          <a:p>
            <a:pPr lvl="1">
              <a:lnSpc>
                <a:spcPct val="90000"/>
              </a:lnSpc>
            </a:pPr>
            <a:r>
              <a:rPr lang="vi-VN"/>
              <a:t>Các nhóm công việc trong vận hành phần mềm</a:t>
            </a:r>
          </a:p>
          <a:p>
            <a:pPr lvl="1">
              <a:lnSpc>
                <a:spcPct val="90000"/>
              </a:lnSpc>
            </a:pPr>
            <a:r>
              <a:rPr lang="vi-VN"/>
              <a:t>Một số công việc thường gặp trong vận hành phần mềm</a:t>
            </a:r>
          </a:p>
          <a:p>
            <a:pPr>
              <a:lnSpc>
                <a:spcPct val="90000"/>
              </a:lnSpc>
            </a:pPr>
            <a:r>
              <a:rPr lang="vi-VN"/>
              <a:t>Khái niệm về bảo trì phần mềm</a:t>
            </a:r>
          </a:p>
          <a:p>
            <a:pPr lvl="1">
              <a:lnSpc>
                <a:spcPct val="90000"/>
              </a:lnSpc>
            </a:pPr>
            <a:r>
              <a:rPr lang="vi-VN"/>
              <a:t>Quy trình bảo trì phần mềm</a:t>
            </a:r>
          </a:p>
          <a:p>
            <a:pPr lvl="1">
              <a:lnSpc>
                <a:spcPct val="90000"/>
              </a:lnSpc>
            </a:pPr>
            <a:r>
              <a:rPr lang="vi-VN"/>
              <a:t>Một số thách thức trong bảo trì phần mềm.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9752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SE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1812</TotalTime>
  <Pages>42</Pages>
  <Words>2670</Words>
  <Application>Microsoft Office PowerPoint</Application>
  <PresentationFormat>Custom</PresentationFormat>
  <Paragraphs>315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(Body)</vt:lpstr>
      <vt:lpstr>Times</vt:lpstr>
      <vt:lpstr>Wingdings</vt:lpstr>
      <vt:lpstr>1_SE</vt:lpstr>
      <vt:lpstr>Công nghệ phần mềm</vt:lpstr>
      <vt:lpstr>Nội dung</vt:lpstr>
      <vt:lpstr>Tầm quan trọng của vận hành và bảo trì phần mềm</vt:lpstr>
      <vt:lpstr>Giới thiệu</vt:lpstr>
      <vt:lpstr>Khái niệm</vt:lpstr>
      <vt:lpstr>Tầm quan trọng</vt:lpstr>
      <vt:lpstr>vận hành phần mềm</vt:lpstr>
      <vt:lpstr>Vận hành phần mềm</vt:lpstr>
      <vt:lpstr>Mục tiêu vận hành</vt:lpstr>
      <vt:lpstr>Quy trình vận hành thành công</vt:lpstr>
      <vt:lpstr>Quy trình vận hành</vt:lpstr>
      <vt:lpstr>Các nhóm công việc vận hành</vt:lpstr>
      <vt:lpstr>Người vận hành</vt:lpstr>
      <vt:lpstr>Yêu cầu đối với người vận hành</vt:lpstr>
      <vt:lpstr>Vai trò người vận hành (1/2)</vt:lpstr>
      <vt:lpstr>Vai trò người vận hành (2/2)</vt:lpstr>
      <vt:lpstr>Cung cấp cơ sở hạ tầng</vt:lpstr>
      <vt:lpstr>Phát triển và triển khai tự động (CI/CD)</vt:lpstr>
      <vt:lpstr>Ưu/nhược điểm của mô hình CI/CD</vt:lpstr>
      <vt:lpstr>Giám sát hệ thống</vt:lpstr>
      <vt:lpstr>Công cụ giám sát hệ thống</vt:lpstr>
      <vt:lpstr>Xử lý sự cố</vt:lpstr>
      <vt:lpstr>Các công việc để xử lý sự cố</vt:lpstr>
      <vt:lpstr>Quản lý thay đổi</vt:lpstr>
      <vt:lpstr>Phát hành phiên bản mới</vt:lpstr>
      <vt:lpstr>Một số công việc thường gặp trong vận hành</vt:lpstr>
      <vt:lpstr>Bảo trì phần mềm</vt:lpstr>
      <vt:lpstr>Khái niệm bảo trì phần mềm</vt:lpstr>
      <vt:lpstr>Các công việc bảo trì</vt:lpstr>
      <vt:lpstr>Quy trình bảo trì</vt:lpstr>
      <vt:lpstr>Quy trình bảo trì</vt:lpstr>
      <vt:lpstr>Một số thách thức trong bảo trì phần mềm (1/2)</vt:lpstr>
      <vt:lpstr>Một số thách thức trong bảo trì phần mềm (2/2)</vt:lpstr>
      <vt:lpstr>Bài tập thực hành</vt:lpstr>
      <vt:lpstr>Bài tập về nhà</vt:lpstr>
      <vt:lpstr>Tổng kết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Processes</dc:title>
  <dc:creator>Ian Sommerville</dc:creator>
  <cp:lastModifiedBy>Trần Hoàng Việt</cp:lastModifiedBy>
  <cp:revision>362</cp:revision>
  <cp:lastPrinted>2004-04-23T15:45:57Z</cp:lastPrinted>
  <dcterms:created xsi:type="dcterms:W3CDTF">2000-04-28T08:06:41Z</dcterms:created>
  <dcterms:modified xsi:type="dcterms:W3CDTF">2026-02-13T07:49:06Z</dcterms:modified>
</cp:coreProperties>
</file>